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99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6-01-05T17:10:18.187"/>
    </inkml:context>
    <inkml:brush xml:id="br0">
      <inkml:brushProperty name="width" value="0.05292" units="cm"/>
      <inkml:brushProperty name="height" value="0.05292" units="cm"/>
      <inkml:brushProperty name="color" value="#FF0000"/>
    </inkml:brush>
  </inkml:definitions>
  <inkml:trace contextRef="#ctx0" brushRef="#br0">1517 318 0,'-18'17'109,"1"18"-93,-19 18-1,19 0-15,-1-35 0,0 0 16,18 17-16,-17 18 16,-1-36-16,1 1 15,-1 17-15,-17 18 16,17-18-16,0 1 15,1 52-15,17-70 0,0 17 16,-18 18-16,18-36 16,0 19-16,-18-19 15,18 19-15,-17-19 16,17 1-16,-18 17 16,18 0-16,0 18 15,-17-17-15,-1-19 31,18 19-31,0-19 0,-18 1 32,1-1-32,17 19 0,0-1 15,0-17-15,-36-1 16,36 19-16,-17-19 16,17 1-16,0 35 15,-18-18-15,18 0 16,-18 18-16,18-17 15,0-1-15,0 18 16,-17 0-16,17 0 16,-18-18-16,0 0 15,18 0-15,-17 18 16,-1-17-16,18-19 16,0 1-16,0-1 15,0 1-15,0 0 16,0 17-1,0-17-15,0-1 16,0 1-16,0 0 16,0 17-16,0-17 15,0-1-15,0 1 16,0 17-16,0 0 16,0-17-16,0 17 0,0 1 15,0-1-15,0-18 16,0 1-16,0 17 15,0 1-15,0 17 16,0 0-16,0-1 16,0-34-1,18 0-15,-18 17 16,17 18-16,1-35 0,0 17 16,-1 18-16,1 0 15,0-18-15,-18 18 16,53 0-16,-53 0 15,0-18-15,17 18 16,-17 0-16,0-36 16,0 36-16,0 0 15,0-35-15,0 0 16,0-1-16,0 18 328,0 71-312,0-18-16,0-17 15,0 70-15,-17-88 0,17 0 16,0 35-16,0-53 16,-18 54-16,18 16 15,0-16-15,0-54 16,0 53-16,0 18 15,0-18-15,0-53 16,0 18-16,0-35 16,0 17-16,-18-17 15,18 0-15,0 17 0,0 18 16,0-36-16,0 36 16,0-35-1,0 35-15,-17 17 16,17-52-1,0 17 1,-18 18-16,18-17 0,0-1 0,0 18 16,0-18-16,0-17 15,0 17-15,0 18 32,0-36-32,0 36 15,0 0-15,0-35 16,0 0-16,0 17 15,0 18-15,0 70 16,0-87-16,-18-1 16,18 0-16,0 18 15,0-18 1,0 36-16,-17-71 16,17 17-16,0 19 15,0-19-15,0 19 16,0-19-16,0 19 0,0-19 15,0 1-15,0 0 16,0-1-16,0 18 16,0-17-16,0 53 15,0-54-15,0 1 16,0 17-16,0 18 16,0-18-16,0 71 15,0-88-15,0-1 16,0 1-16,0 35 15,0-35-15,0 17 16,0 0-16,0 0 16,0-17-16,0 0 15,0 52 1,0-17-16,0-35 16,0 17-16,0 0 15,0 1-15,17 17 16,1 70-16,-18-88 15,18 18 1,-18 0-16,0 0 16,17-18-16,-17 89 0,0-89 15,18 18-15,0 0 32,-1 53-32,1-53 0,0 70 0,-18-88 31,17-17-31,-17 0 15,0-1 1,0 1-16,0 17 266,18 1-251,-18 17-15,0-36 16,0 18-16,0-17 16,17 0-1,1-1-15,-18 1 16,18-18-16,-1 35 15,19-17-15,-19 0 16,1 17 0,0-35-16,-1 17 0,1-17 15,-1 18-15,-17 0 16,18-18 0,0 0-1,-18 17-15,17-17 16,1 0-1,17 36-15,-17-36 16,0 0-16,-1 0 16,-17 17-1,18-17-15,17 0 16,0 0-16,-17 0 31,0 0-31,17 0 0,0 0 0,-17 0 31,0 0-31,-1 0 0,1 0 16,-1 0-16,1 0 16,0 0-16,17 0 15,-17 0 1,-1 0-16,1 0 16,0-17-16,-1-1 31,1 18-31,-18-18 15,17 1-15,19-1 16,-36 0-16,17 1 16,19-18-16,-36-1 15,17 19-15,1-1 0,-18 0 16,18 1 0,-18-1-16,35 0 15,-35 1-15,17 17 0,-17-18 16,18 1-16,0-1 15,-18-17-15,35 17 16,-35 0-16,0 1 16,18 17-1,-1 0 1,-17-18-16,18 18 31,-18-18 0,18 18 1,17 0 30,-17 0-31,-18 18-15,17-18 0,-17 18-16,0-1 15,0 1 1,0 0-16,0 17 16,0-17-16,0-1 15,0 1 1,0-1-16,0 19 15,0-19 1,0 1 0,0 0 15,0-1-15,0 1 15,0 0-16,0-1 17,18-17-32,-18 18 0,17-18 15,1 0 32,0 0-31,-1 0-16,1 0 0,0 0 15,-1 0-15,19 0 16,-19-18-16,1 1 16,-1-1-16,1-17 15,0 17-15,17-17 16,-17 17-16,-1-17 0,1 17 16,-18 1-16,18 17 15,-1-18 1,1-35-16,-18 35 15,18-17 1,-1 35 0,-17-18-16,0 1 15,0-1 1,18 0-16,-18 1 16,0-1-1,0 1 1,17-1-16,-17 0 15,0 1-15,18-1 16,-18-35-16,0 35 16,18-17-1,-18 18 1,0-1 0,0 0-16,0 1 15,0-1 1,0 0-16,0 1 15,0-19 329,0-16-328,-18-90-16,0 125 15,18-107-15,-17 89 16,17-36-16,0 36 0,0 18 16,0-19-16,0 19 15,0-1 1,0 0-16,-18 1 16,18-1-1,-17-17-15,17-18 16,0 35-16,0-52 0,0 52 15,0-17-15,0 17 16,0-17-16,0 17 16,0 1-16,0-1 31,0 0-15,0 1-1,0-1-15,0-17 16,0-1-16,0 19 15,0-1 1,0 1-16,0-1 16,0-17-16,0 17 15,0 0-15,0 1 32,0-19-32,0 19 0,0-1 15,0 1 1,17-19-16,-17 19 15,0-1-15,0 0 0,0-35 16,18 36 0,-18-18-16,17 17 31,-17-17-31,18-1 16,-18 19-16,0-1 0,0 0 31,18-17-31,-18 0 15,0 17-15,0 1 16,0-1-16,0-17 16,17 17-16,-17 0 15,18 1 1,-18-1-16,0 0 16,0 1-16,0-1 15,0 1 1,0-1-1,18 18-15,-18-35 16,0 17-16,17-17 16,-17 17-16,0 0 15,0 1-15,0-1 16,18 0 0,-18 1-16,0-18 15,18-1-15,-18 19 16,0-19-16,0 19 15,0-19-15,0 19 16,0-1-16,17 1 16,-17-1-1,0-35-15,0 35 16,0 1-16,0-1 16,0 0-16,0-17 15,0 18 1,0-1-16,0-53 390,0 36-390,0-53 16,0 70-16,0-35 16,0 0-16,0 36 15,0-36-15,0 35 16,0 1-16,0-1 16,0 0-16,0 1 15,0-1 1,0 0-16,0-17 15,-17-53-15,17 53 16,0 17-16,0 0 16,0 1-16,0-1 15,0 0-15,0 1 32,0-1-32,0 0 31,0-17-31,0 0 15,0 0 1,0-1 0,0 1-16,0 17 0,0 1 15,0-1 1,0-35-16,0 0 16,0 0-16,0-17 31,0 35-31,0-1 15,0 1-15,0 17 16,0-17-16,0 0 0,0-53 16,0 52-16,0 19 0,0-54 15,0 36 1,0 0 0,0 17-16,0 0 0,0-17 0,0-18 31,0 36-16,0-19 360,0 1-375,0-53 16,0 52-16,0 19 16,0-18-16,17-1 15,-17 19-15,0-1 16,0 0-16,0 1 16,0-1-1,0 0-15,18-17 31,-18 18-31,0-19 0,0 19 16,17-1-16,-17-17 16,18 17-16,-18-17 0,0 17 15,0-17 1,0 17-16,18-52 31,-18 34-31,0 19 0,0-36 0,0 35 31,0-17-31,0 17 16,0-35-16,0 36 16,35-19-16,-35 19 15,18-18-15,-18-1 0,17 1 16,-17 0 0,18-1-16,-18 19 15,0-1-15,0 1 31,0-1 1,0 0-17,0 1-15,0-1 16,0 0 31,0 1-47,0-1 15,0 0-15,0 1 16,0-1-16,0-17 16,0 17-16,0-17 15,0 17-15,0 1 16,0-36-16,0 17 0,0 19 16,0-18-1,0 17-15,0 0 16,0 1-16,0-1 0,0 0 15,0 1 1,0-19-16,0 1 16,0 18-16,0-1 0,0-17 15,0 17-15,0 0 16,0 1-16,0-1 16,0-17-16,0 0 15,0 17 16,-18-35 266,18 35-297,0-52 16,0 52-16,0-17 16,0 0-16,0 17 15,0 0-15,0 1 31,0-1-15,0 0 31,0 1-31,0-19-16,0 19 15,0-1 1,0 1-16,-17-1 15,17-17-15,0 17 32,-18 0-32,18 1 15,0-1-15,0 0 32,-18 1-17,1-19 1,17 19-16,-18-1 47,18 1-32,-18 17-15,18-18 16,-17 0 15,17 1-31,-18 17 16,18-18-16,-17-17 0,-1-1 15,18 19 1,-35-1-16,35 1 16,-18-1-16,0 0 0,18 1 15,0-1 1,-17 18-16,17-18 16,0 1-16,-18 17 0,18-18 15,-35-17 1,35 17-1,-18 18-15,18-17 0,-17-1 16,-1 0 0,0 1-1,18-1-15,0 0 16,-35 18-16,35-17 16,-18 17-16,18-18 15,0 0-15,-17 18 16,-1-17-16,18-1 15,-18 1-15,-17-1 16,17 0 0,18 1-16,-17-19 15,-1 36-15,1-17 16,-1 17 0,0-18-16,1 18 15,17-18-15,-18 1 16,0-1-1,1 0 1,-1 1-16,0 17 16,1-18-1,-1 18-15,1 0 16,-1-17-16,0 17 16,-17-18-16,17 18 15,1 0-15,-19-35 16,1 35-16,17-18 31,1 18-31,-1 0 0,1 0 0,-1 0 31,-17 0-31,17 0 0,-17 0 32,17 0-17,-17 0-15,17 0 16,-17 0-16,17 0 15,-17 0 1,17 0-16,1 18 16,-1-18-16,0 35 15,1-35-15,-1 18 16,-17-1-16,17 1 16,1-18-16,-1 17 15,0 1-15,-17 0 16,17-1-16,1-17 15,17 18-15,-18 0 0,1-18 16,-1 17-16,0 1 16,1 0-1,17-1-15,-18-17 0,18 18 16,-18-18 0,18 18-16,0-1 15,-35-17-15,35 35 16,-18-17-16,1 0 15,-1-18 1,18 17-16,0 1 16,0 0-16,-18-1 15,18 1-15,0 0 32,-35-1-17,35 1 1,-17-18 15,17 35-15,0-17 15,-18-1 0,18 1-15,0 0-1,-18 17-15,18-17 0,-17-1 32,17 1-32,0-1 15,0 19-15,0-19 32</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6-01-05T17:35:33.497"/>
    </inkml:context>
    <inkml:brush xml:id="br0">
      <inkml:brushProperty name="width" value="0.05292" units="cm"/>
      <inkml:brushProperty name="height" value="0.05292" units="cm"/>
      <inkml:brushProperty name="color" value="#FF0000"/>
    </inkml:brush>
  </inkml:definitions>
  <inkml:trace contextRef="#ctx0" brushRef="#br0">12559 1640 0,'0'0'0,"-18"0"16,-17 0-1,17 0 1,1 0-16,-1 18 16,0-18-1,-17 18 1,17-1-16,1 1 16,17 0-1,-18-18-15,-17 35 0,0-17 31,35 34-31,-18-52 0,0 18 0,18 0 32,-17-1-32,-1 1 15,-17 0 1,35-1-16,0 1 0,-18 0 16,18-1-1,0 1 1,0-1-1,0 1-15,0 0 16,0-1-16,0 1 16,0 0-16,0-1 15,0 19-15,0-19 16,0 1-16,0-1 0,0 1 16,0 0-1,0-1-15,0 1 16,0 0-16,0-1 15,0 1 1,0 0 0,0-1-16,0 1 15,35 0 1,-17-1 0,0 1-1,-1 17-15,1-35 16,-18 18-16,35-1 15,-17 1-15,-18 0 16,18 17 0,-1-17-1,1-18 1,-1 17-16,1 1 16,0-18-16,-1 0 15,-17 17 1,18-17-16,0 36 0,-1-36 15,19 17 1,-1-17 0,-17 0-1,-1 0-15,36 18 16,-53 0-16,18-18 16,-1 0-16,1 0 31,0 0 0,-1 0-15,1 0-1,0 0-15,-1 0 0,1 0 16,-1 0 0,19-18 15,-19 18-16,-17-18 1,36 18-16,-19-35 16,1 35-16,-18-18 15,18 18-15,-18-17 16,35-1-16,-17 1 16,-1-19-16,-17 19 15,18 17-15,-1-36 0,-17 1 16,18-35-1,-18 52-15,0 0 16,0-17-16,0-18 16,0 18-16,-18-36 15,18 54-15,0-19 16,-17-34-16,-1 52 16,18-17-16,0 17 15,-35-35 1,17 18-16,1 17 15,17-17 1,0 17-16,-18 1 16,0-1-16,1 1 31,-1 17-31,0-18 16,-35 0-16,36 18 15,-36-35-15,35 35 16,1-18-16,-1 18 15,0 0-15,1 0 32,-19 0-32,19-17 0,-1 17 15,1 0-15,-1 0 16,0 0 0,1 0 77</inkml:trace>
  <inkml:trace contextRef="#ctx0" brushRef="#br0" timeOffset="4277.68">13229 1588 0,'18'0'47,"-1"0"-31,19 0-16,-1-18 16,0 0-16,-17 18 15,35-17-15,17-1 16,-52 18-16,53-18 15,-54 18-15,18 0 0,-17-17 16,0-1-16,35 0 16,-36 1-16,1 17 15,17-18-15,1 18 16,-19 0-16,1-18 16,-1 18-16,19 0 15,-1-17 1,-17 17-16,-1-18 15,1 18-15,35-17 16,-18 17-16,-17-18 16,17 18-16,0 0 15,1 0 1,-19 0-16,1 0 16,0 0-16,17-18 0,-18 18 15,1-17-15,17 17 16,18 0-16,-17 0 15,-1 0-15,0 0 32,-17 0-32,17 0 15,36 0-15,-54 0 16,1 0-16,17 0 16,0 0-1,-17-18-15,0 18 0,-1 0 0,1 0 16,0 0-16,-1 0 15,1 0-15,-1 0 32,19 0-32,-1 0 15,-17 0-15,-1 0 16,1 0 0,0 0-1,-1 0 16,1 0-15,0 0-16,-1 18 16,1-18-1,-1 0-15,1 0 16,0 17 0,-1-17-1,1 0 1,0 0-16,-1 0 15,1 0-15,0 0 16,17 18-16,-18-18 16,1 18-1,0-18-15,17 17 16,-35 1 15,18-18-15,-1 0 46,1 0 32,0 0-63,-18 17-31,17-17 63,1 0-32,0 0 32,-36 0 62,0 0-110,1 0 1,-1-17-1,18-1-15,-18 1 16,1-1 0,-19 0-1,19 1 1,-1-1 0,0 0-16,1 1 15,-1 17-15,1-18 16,-1 18-16,0-18 15,1 18 1,17-17 15,-18 17 16,18-18-31,0 36 421,0-1-421,0 1 15,18-18-15,-18 18 15,17-18-31,1 0 47,-18 17-47,18 1 78,-18 0-62,0-1 31,17-17-47,1 0 156,-1 18-125,-17 0-15,36-18-1,-19 0 17,-17 17 30,18-17-62,-18 18 16,18-18-1,-1 35-15,19-35 16,-36 18 0,17-18 15,-17 17-16,0 1 17,18-18-17,0 0 63,-1 0-46,-17 18-17,18-18 48,-18 35 93,-18-35-140,1 18-16,-1-18 15,0 0 1,-17 0 0,17 0-1,1 17 1,-1-17-16,0 0 15,1 18 1,-1-18 0,0 0-16,1 18 15,-1-18 1,1 0 0,-19 0-16,19 0 15,-1 0 1,0 17-1,1-17-15,-19 0 16,36 18 15,-17-18-15,-1 0 0,1 0-1,17 17 48</inkml:trace>
  <inkml:trace contextRef="#ctx0" brushRef="#br0" timeOffset="15434.91">12506 4939 0,'-35'0'0,"35"18"15,-18-1-15,-17-17 16,35 18-16,-18-18 16,0 35-16,1-35 15,17 18 1,-18-1-16,1 19 0,-1-19 0,0 1 15,18 0-15,-17-1 16,-1 36-16,0-53 31,18 18-31,0 17 0,0-17 16,0 17-16,0 0 31,0-17-15,0 17-16,0 0 15,18-17-15,0 35 16,17 0-16,0-35 16,0 34-16,-17-34 15,17 17-15,-17 1 0,17-19 16,1 1-16,-1 0 16,-17-18-16,17 17 15,0 1-15,0-1 16,-17 1-16,0-18 15,-1 0 1,1 0-16,0 0 16,-1 0-1,1 0-15,-1 0 16,1 0-16,0 0 16,35-53-1,-36 18-15,19 17 16,-19-17-16,19-18 15,-36 35-15,52-140 16,-52 122 0,0 1-1,0 18-15,-17-19 0,-1 19 16,18-19-16,-17 1 16,-1 17-16,0-17 15,-17 17-15,17-17 16,1 35-1,-1-17-15,0-1 16,1 0-16,-1 18 16,0-17-16,1-1 15,-1 0-15,18 1 16,-17 17-16,-19-18 16,19 18-1,-1 0 1,0 0-16,1 0 47,-1 0 31</inkml:trace>
  <inkml:trace contextRef="#ctx0" brushRef="#br0" timeOffset="-157216.41">15875 5733 0,'0'-18'125,"18"0"-110,-1 18-15,19 0 16,-19 0-16,1 0 16,-1 0-16,1-17 0,17 17 15,1-18-15,-19 18 16,1 0-16,0 0 15,17 0-15,0 0 16,-17 0 0,-1 0-1,1 0-15,0 0 16,-1 0 0,1-18-1,0 18 1,-1 0-1,1 0 1,0 0 31,-1 0 0,1 0 31,-18 18-31,0 0-32,0-1-15,0 1 16,0 0 0,0-1-1,0 1-15,0 0 16,0-1 0,0 1-16,0-1 15,0 1-15,0 0 16,0-1-16,0 1 15,0 0 1,0-1-16,0 19 16,0-19-16,0 1 15,0 17 1,0-17 0,0-1-1,0 1-15,0 0 31,0-1-31,0 1 0,0 0 16,0-1 15,0 1-15,0 17 0,0-17-1,0-1 16,0 1-31,0 0 16,0-1 15,0 1-15,0 0 0,0-1-1,0 1 16,0 0 1,0-1-32,0 1 31,0-1 16,0 1 15,0 0 95,-18-18-95,1 0-46,-1 0-1,0 0-15,1 0 32,-1 0-17,0 17 1,1-17-1,-1 0-15,0 36 16,1-36 0,-1 0-16,0 0 15,-17 0-15,18 0 16,17 17 0,-18-17-1,0 0-15,1 0 16,-1 0-1,0 18 1,1-18-16,-1 0 47,0 0 15,1 0 17,-1 0-17,1 0-46,-1 0 31,18-18-32,0-17-15,-18 17 16,18-17-1,0-18 1,0 18-16,0 17 16,0-17-16,0-18 15,0 35-15,0 1 0,0-1 16,0 1 0,0-19-1,0 19 16,0-1 16,0 0-31,0 1-16,0-1 16,0 0-1,0 1-15,0-1 16,0 0-1,0 1 1,0-1-16,0 1 16,0-1 15,0 0-15,0 1-16,0-1 15,0 0 16,0 1-15,0-1-16,0 0 31,0 1 1,0-18 46,0 17 94</inkml:trace>
  <inkml:trace contextRef="#ctx0" brushRef="#br0" timeOffset="-152253.41">16828 4516 0,'17'0'0,"107"0"16,-89 0-16,18 0 0,17 0 15,-17 0-15,18 0 16,-18 0-16,88 0 15,-71 0-15,1 0 16,-53 0 0,70-36-16,-35 19 15,35 17-15,-70 0 16,-1 0-16,18 0 16,-17 0-16,0 0 15,-1 0-15,1 0 31,17 0 1,-17 0 30,53 0 469,-36 0-515,35-18-16,-34 0 16,-1 18-16,0 0 15,-17 0 1,-1 0 15,1 0 47,-18-17 94,0-1-156,0-17-1,-18 17 17,1 1-17,-18 17-15,17-18 0,0 0 16,1 18-16,-1-35 16,0 35-16,1-18 15,-19 1 1,19 17-16,-1 0 15,1 0 1,-1 0 0,0 0 15,36 0 94,17 0-125,0 0 16,36 0-16,-36 17 15,18 1-15,-18 0 16,-17 17-16,17-35 15,-17 18-15,0-18 16,-18 17-16,35-17 16,-17 0-16,-1 0 15,-17 18 1,18-18 15,-1 0 63,-17 35-78,0-17 77,0-1-77,0 19 0,0-1-16,-17-17 15,-1 17-15,18-18 31,-35 36-31,17-17 16,1-19-16,-1 1 16,0 17-16,18-17 15,-17-1-15,17 1 16,-18 0 0,0-1-16,18 1 15,0 0-15,-17-1 16,17 1-16,-18-18 31,18 18 0</inkml:trace>
  <inkml:trace contextRef="#ctx0" brushRef="#br0" timeOffset="-137781.31">18856 9984 0,'0'-18'125,"18"18"-125,17-18 16,-17 1-16,-1 17 15,18 0-15,-17 0 16,0 0-16,-1-18 16,1 0-16,17 18 15,1 0 1,-19 0-16,1 0 16,-1 0-16,1 0 15,0 0-15,-1 0 31,1 0-15,0 0 0,-1 0 15,19 0 0,-19 0 0,1 0 32,0 18-32,-1 17-31,-17-17 16,0 0-16,0 17 15,0-17-15,0-1 16,0 18-16,0 1 0,0-19 16,0 1-1,0 0-15,0-1 16,0 54-16,0-54 16,0 1-16,0 0 15,0 17-15,0-17 16,0-1-16,0 1 15,0 0-15,0-1 16,0 1-16,0 0 16,0-1-1,0 1 17,0-1 14,0 1-14,0 0 15,0-1-1,0 1-46,35 0 32,-35-1 30,0 1-31,18-18 1,-18 18-32,0-1 31,0 1-15,0-1 46,0 1-15,0 0-16,0-1 16,-35 1-47,17-18 16,1 0-1,-1 18 1,0-18 0,-17 0-16,17 17 15,1 1-15,-1-18 16,0 0-16,-35 35 15,36-35 1,-1 0-16,1 0 16,-1 0-1,-17 0 1,17 18 15,0-18-15,1 0-1,-1 0-15,0 0 16,1 0 0,-1 0 15,1 0-31,-1 0 31,0 0 0,1 0 32,-1 0-16,18-35 15,0 17-62,0-35 16,0-18-16,0 19 0,0-1 16,0-36-16,0 72 15,0-54-15,0 36 16,0-18-16,0 0 15,0 0-15,18-17 16,-18 34-16,0 19 16,0-1-16,0 0 15,0-17 1,0 18 0,0-1 46,0 0-15,0 1-16,0-1 47,0 0-62,0 1 31,0-1-16</inkml:trace>
  <inkml:trace contextRef="#ctx0" brushRef="#br0" timeOffset="-131287.35">12347 12365 0,'0'35'78,"-17"53"-78,-1-52 16,0-1-1,18-17-15,0-1 0,0 36 16,0-35 0,0 17-16,0-17 15,0 17-15,0-17 16,0 17-16,0 18 0,0 0 15,0-36-15,0 1 16,0 17-16,0 1 16,0-19-1,0 18-15,0-17 32,0 17-32,0-17 0,0 0 31,0-1-31,0 1 15,0 0 1,0-1 0,0 1 15,0-1 16,0 1 62,18-18-46,17 0-63,0-18 15,1 1-15,-1 17 16,0 0-16,-17 0 0,35 0 16,-18 0-16,-17 0 15,-1 0-15,1 0 16,0 0-16,17 0 15,-17 0-15,17 0 0,-17 0 16,17 0-16,-18 0 16,1 0-16,0 0 15,17 0 1,-17 0-16,-1 0 16,1 0-1,0-18-15,17 18 0,-17 0 16,-1 0-1,1 0-15,-1 0 16,1 0 62,-18-17-47,0-19 32,0-17-47,0 36-16,0-19 15,0 19-15,0-36 16,0 18-16,0-36 15,0 36-15,0 17 16,0-17-16,0 0 16,0 17-16,0-17 15,0 17-15,0 0 16,0 1-16,0-1 16,0 0-16,0 1 15,0-1 1,0 1-16,0-1 15,0 0 1,0 1 15,0-19 1,0 19-1,-18 17-31,18-18 47,0 0-32,-17 18-15,17-17 16,-18 17 15,18-18-15,-17 0 46,17 1-30,-18 17 14,0 0-46,1 0 0,-1 0 0,-35-18 16,35 18-16,-35 0 16,36 0-16,-18 0 0,-1 0 31,19 0-31,-19 0 16,19 0-16,-1 0 15,0 0-15,-34 0 16,-19 0-16,53 0 15,-17 18-15,0-18 16,17 0 0,0 0-16,18 17 15,-17-17-15,-1 0 16,1 0 31,-1 0 0,18 18-32</inkml:trace>
  <inkml:trace contextRef="#ctx0" brushRef="#br0" timeOffset="-128759.12">19491 13282 0,'35'0'47,"89"-18"-47,52-52 16,-35 35-16,53-36 15,-17 36-15,-19-53 16,-16 35-16,34 17 16,-70 19-16,35-19 0,-18 1 15,-35 18-15,54-19 16,-37 19-16,-69 17 16,87 0-1,-88 0-15,18 0 16,0 0-16,-35 0 15,35 0-15,17 0 32,-52 0-32,35 0 0,-35 0 0,-1 0 15,1 0 17,0 0-32,-1 0 31,1 0-31,-1 0 15,1 0-15,0 0 32,-1 0-1,1 0-31,0 0 62,-36-18 17,0 18-79,-17-35 15,17 17-15,-17-17 16,-18 0-16,18 17 15,0 0-15,-1 1 16,19 17-16,-1 0 16,1-18-16,-19 0 15,19 18-15,-1 0 16,0 0 0,1-17-16,70 17 140,-18 0-140,18 35 0,-18-17 16,0-18-16,18 35 15,0-17-15,-18-1 16,-17 1-16,35-1 16,0 1-16,-53 0 15,35-18-15,-17 17 0,-18 1 16,17-18-16,1 18 16,0-18 15,-18 35-31,0-17 0,0-1 31,0 1-15,0-1-1,0 1-15,0 0 16,-18-1-16,0 1 16,1 0 15,-1-1-31,1 1 0,-19 17 31,1-17-31,35 0 0,-35-1 0,35 18 16,-53-17-16,53 0 31,-18-1-15,1-17-16,17 18 15,-18-18-15,18 35 16,-18-35-16,18 18 31</inkml:trace>
  <inkml:trace contextRef="#ctx0" brushRef="#br0" timeOffset="-119804.81">22542 15099 0,'-17'0'78,"-1"0"-78,1 0 16,-19 0-16,19 0 15,-19 18 1,1-18 0,17 17-16,1 1 15,-1-18-15,1 35 16,-1-35-16,0 0 15,18 18 1,-17-18-16,-1 0 16,0 0-16,1 17 62,-1-17 16,18 18-62,0 0 31,-18-18-32,1 0 1,-1 0 0,1 0-1,-1 0 1,18 17 0,-18-17-1,1 0 32,-19 18 0,36 0-16,-17-18-15,17 17 62,0 1-62,0-1-1,0 1 1,0 17-16,0-17 15,0 0-15,0-1 16,0 1-16,35 0 16,-35-1-16,18 1 15,-18 0 1,0-1-16,17 18 0,-17-17 16,0 0-1,18 88-15,-18-89 16,0 1-1,0-1-15,0 1 0,0 0 16,0-1 15,0 1-31,0 0 78</inkml:trace>
  <inkml:trace contextRef="#ctx0" brushRef="#br0" timeOffset="-117277.25">22454 15152 0,'53'-18'62,"-18"1"-46,1 17-16,-19 0 15,1 0-15,17 0 16,-17 0-16,17 0 16,-17 0-16,0 0 0,-1 0 15,1 0 1,-1 0-16,1 0 0,0 0 15,-1 0 32,1 0 16,-18 17-16,0 1-16,0-1 0,0 1-31,0 0 0,0-1 16,0 36-1,0-35-15,0 0 16,0-1-16,0 36 16,0-35-16,0-1 0,0 54 15,0-53-15,0 35 16,0-18 0,0-18-16,0 1 15,0 0-15,0-1 16,0 19-1,0-19 1,0 1 15,0 0 1,0-1-32,0 1 78,0-1-47,0 1 16,0 0-47,0-1 31,0 1 16,0 0-16,0-1 0,0 1 48,-18-18-64,1 0 16,-1 0-15,0 0 0,-17 0-16,18 18 15,-1-18 1,-17 0-16,-1 17 16,19-17-16,-1 0 0,-35 0 15,18 18-15,17-18 16,-35 0-16,36 0 15,-19 35-15,1-35 32,0 0-32,17 0 0,1 0 0,-1 0 15,-17 0 17,17 0-32,0 0 0,1 0 93,34 0-15</inkml:trace>
  <inkml:trace contextRef="#ctx0" brushRef="#br0" timeOffset="-115181.17">23389 15152 0,'141'-18'16,"-53"18"-16,54-17 0,-1 17 15,-53 0-15,35-18 16,-34 18-16,-1 0 16,-18 0-16,19 0 0,34 0 15,18 0-15,-53-18 16,0 18-16,18 0 16,0 0-16,123 0 15,-158 0-15,35 0 16,-36 0-1,54-17-15,-54 17 16,1 0-16,-53 0 16,52 0-16,-35 0 15,18 0-15,-35 0 16,17 0-16,-17 0 0,0 0 16,-1 0 62,-34 0 62,-19-18-140,-17-17 16,18 35 0,17 0-16,1 0 0,-18 0 15,17 0 1,18-18-16,-18 18 0,1-18 15,-19 18-15,1-17 16,0-1-16,17 18 16,-17 0-16,-18-18 0,35-17 15,1 35-15,-1-17 32,0 17-32,-17 0 15,17 0-15,1-18 0,-1 18 78,36 0 0,35 0-78,17 0 16,36 0-16,0 18 16,-88-18-16,105 52 15,-88-52-15,36 0 0,-53 0 16,17 0 0,-18 0-16,1 18 15,0-18-15,-18 18 16,17-18-1,-17 17-15,18-17 16,-18 18-16,0 0 16,0-1-1,0 1-15,0 0 16,-18-1 31,1-17-32,-1 18 1,0-18-16,1 0 16,-1 18-1,1-1 1,-1-17-16,-17 18 16,-1-1-16,19 1 15,-1-18-15,0 18 16,1-1-16,-1 1 15,1-18-15,17 18 16,-18-18 0,18 17 31,-18-17-32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ADD1D-A152-4BB9-BF9D-A08B1E7911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C8C6327-8713-4625-80C4-B10C59CCAF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0F5D225-0B4E-4762-98D3-8B5F1B6BEAC8}"/>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5" name="Footer Placeholder 4">
            <a:extLst>
              <a:ext uri="{FF2B5EF4-FFF2-40B4-BE49-F238E27FC236}">
                <a16:creationId xmlns:a16="http://schemas.microsoft.com/office/drawing/2014/main" id="{DDAEB5B1-07B6-496C-8A82-FB4198B863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D816B7-350C-4CC4-9806-3ABD7539964F}"/>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399514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9876F-DD2D-4037-B2CF-51EED7E167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24B2107-A760-464F-B70B-241255575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DD6548-9F3A-496B-B2BE-A81214B98E8D}"/>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5" name="Footer Placeholder 4">
            <a:extLst>
              <a:ext uri="{FF2B5EF4-FFF2-40B4-BE49-F238E27FC236}">
                <a16:creationId xmlns:a16="http://schemas.microsoft.com/office/drawing/2014/main" id="{4DDB15DB-E5DF-4E9F-A15B-3269AF0350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86BAC1-B99E-4C61-99C2-CB8387BF5AAA}"/>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195489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054F6-704B-488A-919D-7915DF0982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1F4C8C1-5E4D-4457-A91C-0893CAE437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0C4023-259B-4492-8D34-08A4EC0E70AE}"/>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5" name="Footer Placeholder 4">
            <a:extLst>
              <a:ext uri="{FF2B5EF4-FFF2-40B4-BE49-F238E27FC236}">
                <a16:creationId xmlns:a16="http://schemas.microsoft.com/office/drawing/2014/main" id="{B778364B-3AD7-4062-9A1E-30228ABD9A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5C7459-9AD3-47D5-8A40-FC3879089526}"/>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3305821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A6D75-30E8-480D-B74E-C5ECC13E14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7225345-62D3-4310-B5D6-3FA88F8E74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9FC6161-BAB1-4F6F-A0AE-4817C2F27B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6306CDE-2546-40F8-8D49-9B72969EC6F0}"/>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6" name="Footer Placeholder 5">
            <a:extLst>
              <a:ext uri="{FF2B5EF4-FFF2-40B4-BE49-F238E27FC236}">
                <a16:creationId xmlns:a16="http://schemas.microsoft.com/office/drawing/2014/main" id="{4178ED73-EBB4-4C4D-83F9-0A0FFF4EB2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C11433-747A-410F-98BA-16A4ADFC7EAC}"/>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2742776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50D44-A396-4235-B1C9-6DB2B35CBD5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BD5075F-6D48-4EA2-8263-FB5891AB6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A7FF76-B271-4611-8BE9-3242895395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DC11859-62BF-4557-A46C-107A3B5385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A2F48C-32E8-404F-95AD-922C08AAF1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3D6D847-0D67-4C2C-9949-7F90E6E42BCD}"/>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8" name="Footer Placeholder 7">
            <a:extLst>
              <a:ext uri="{FF2B5EF4-FFF2-40B4-BE49-F238E27FC236}">
                <a16:creationId xmlns:a16="http://schemas.microsoft.com/office/drawing/2014/main" id="{CB74F190-3CA7-4B95-AC2D-C3E60EC4FDB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31169E-5F52-4CF5-9134-63B3CA29F738}"/>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3203837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C22F-068F-4DBE-A5CB-4D7F66868A9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D3431A5-23B0-4868-92C3-C5AB6528E58C}"/>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4" name="Footer Placeholder 3">
            <a:extLst>
              <a:ext uri="{FF2B5EF4-FFF2-40B4-BE49-F238E27FC236}">
                <a16:creationId xmlns:a16="http://schemas.microsoft.com/office/drawing/2014/main" id="{E9877152-C976-4110-A23C-AD693B67FFE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C621B95-FC1D-40EF-8052-7EB375962B44}"/>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3779497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2C472B-1DF2-4492-A767-6431960ECAEE}"/>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3" name="Footer Placeholder 2">
            <a:extLst>
              <a:ext uri="{FF2B5EF4-FFF2-40B4-BE49-F238E27FC236}">
                <a16:creationId xmlns:a16="http://schemas.microsoft.com/office/drawing/2014/main" id="{AEBDE95B-9589-483C-890A-62C8EA41DAB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50A146F-C5BF-44F3-A980-08E36305DFD5}"/>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242480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B624-13C9-4E2E-AB76-D875B9B002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AFD985C-3194-4BFF-878D-0390B7FF5A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5BD0EB1-677C-448C-8AD8-82D33AD17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1830D7-89F4-4776-B6E1-8BE2A1314E82}"/>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6" name="Footer Placeholder 5">
            <a:extLst>
              <a:ext uri="{FF2B5EF4-FFF2-40B4-BE49-F238E27FC236}">
                <a16:creationId xmlns:a16="http://schemas.microsoft.com/office/drawing/2014/main" id="{03728E33-25D4-4FF5-B9AF-1C5A3BCB5F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F12C82-AFED-46E8-8C97-8D1AEB931D3D}"/>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516107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D04C-BAA0-488B-87D2-4A03549599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616E26C-4A98-4631-B02B-6C166D6FB1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E63AC0-7730-412F-8A05-EBE3FF61FB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B2FB43-34EF-4027-B8CD-D3F099CCCF7A}"/>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6" name="Footer Placeholder 5">
            <a:extLst>
              <a:ext uri="{FF2B5EF4-FFF2-40B4-BE49-F238E27FC236}">
                <a16:creationId xmlns:a16="http://schemas.microsoft.com/office/drawing/2014/main" id="{2A982663-8BA0-47BA-9F85-E70A39D162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F088A2-A2E1-44FF-A8A4-34CD7D5E639A}"/>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1223181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F4ACA-9E7E-4DF9-A4DB-069DB379CAC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3DB9DED-2DB8-4F98-A197-662A35212E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DC716D-238E-4933-AE7C-469E16946248}"/>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5" name="Footer Placeholder 4">
            <a:extLst>
              <a:ext uri="{FF2B5EF4-FFF2-40B4-BE49-F238E27FC236}">
                <a16:creationId xmlns:a16="http://schemas.microsoft.com/office/drawing/2014/main" id="{E21791F2-AC27-415E-9420-3334772526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1BC89C-3C97-468A-9182-748E927B343A}"/>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299143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33F5F2-9753-4289-BE9A-55845C7D72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CC3C371-6A09-4225-B721-6867EC052C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E72A83-D713-4779-9B4D-54DA41E3B611}"/>
              </a:ext>
            </a:extLst>
          </p:cNvPr>
          <p:cNvSpPr>
            <a:spLocks noGrp="1"/>
          </p:cNvSpPr>
          <p:nvPr>
            <p:ph type="dt" sz="half" idx="10"/>
          </p:nvPr>
        </p:nvSpPr>
        <p:spPr/>
        <p:txBody>
          <a:bodyPr/>
          <a:lstStyle/>
          <a:p>
            <a:fld id="{6FB729B9-6572-40EB-8A29-3A856D5BCCD3}" type="datetimeFigureOut">
              <a:rPr lang="en-GB" smtClean="0"/>
              <a:t>05/01/2026</a:t>
            </a:fld>
            <a:endParaRPr lang="en-GB"/>
          </a:p>
        </p:txBody>
      </p:sp>
      <p:sp>
        <p:nvSpPr>
          <p:cNvPr id="5" name="Footer Placeholder 4">
            <a:extLst>
              <a:ext uri="{FF2B5EF4-FFF2-40B4-BE49-F238E27FC236}">
                <a16:creationId xmlns:a16="http://schemas.microsoft.com/office/drawing/2014/main" id="{248FDDF9-7DA5-4BC4-8A51-E5F381BD93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42FEF3-5BC4-43E1-AEE6-6666A927226F}"/>
              </a:ext>
            </a:extLst>
          </p:cNvPr>
          <p:cNvSpPr>
            <a:spLocks noGrp="1"/>
          </p:cNvSpPr>
          <p:nvPr>
            <p:ph type="sldNum" sz="quarter" idx="12"/>
          </p:nvPr>
        </p:nvSpPr>
        <p:spPr/>
        <p:txBody>
          <a:bodyPr/>
          <a:lstStyle/>
          <a:p>
            <a:fld id="{7C0D8C1E-6873-4134-ABBD-2D7EFFB6CC5E}" type="slidenum">
              <a:rPr lang="en-GB" smtClean="0"/>
              <a:t>‹#›</a:t>
            </a:fld>
            <a:endParaRPr lang="en-GB"/>
          </a:p>
        </p:txBody>
      </p:sp>
    </p:spTree>
    <p:extLst>
      <p:ext uri="{BB962C8B-B14F-4D97-AF65-F5344CB8AC3E}">
        <p14:creationId xmlns:p14="http://schemas.microsoft.com/office/powerpoint/2010/main" val="180781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0A3623-4EF8-4195-A605-97FF7899D8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1D71A2-F036-41F6-B9A0-DBEFEBA13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16B283-4041-44D4-88E8-7DB2BD8916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B729B9-6572-40EB-8A29-3A856D5BCCD3}" type="datetimeFigureOut">
              <a:rPr lang="en-GB" smtClean="0"/>
              <a:t>05/01/2026</a:t>
            </a:fld>
            <a:endParaRPr lang="en-GB"/>
          </a:p>
        </p:txBody>
      </p:sp>
      <p:sp>
        <p:nvSpPr>
          <p:cNvPr id="5" name="Footer Placeholder 4">
            <a:extLst>
              <a:ext uri="{FF2B5EF4-FFF2-40B4-BE49-F238E27FC236}">
                <a16:creationId xmlns:a16="http://schemas.microsoft.com/office/drawing/2014/main" id="{327F76DE-9757-4AAB-8412-1DAC3223D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6B9C025-F769-4256-8DCC-0D3E728FB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D8C1E-6873-4134-ABBD-2D7EFFB6CC5E}" type="slidenum">
              <a:rPr lang="en-GB" smtClean="0"/>
              <a:t>‹#›</a:t>
            </a:fld>
            <a:endParaRPr lang="en-GB"/>
          </a:p>
        </p:txBody>
      </p:sp>
    </p:spTree>
    <p:extLst>
      <p:ext uri="{BB962C8B-B14F-4D97-AF65-F5344CB8AC3E}">
        <p14:creationId xmlns:p14="http://schemas.microsoft.com/office/powerpoint/2010/main" val="243068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0611E01-B38E-4D45-90D9-CCE17888A346}"/>
              </a:ext>
            </a:extLst>
          </p:cNvPr>
          <p:cNvSpPr>
            <a:spLocks noGrp="1"/>
          </p:cNvSpPr>
          <p:nvPr>
            <p:ph idx="1"/>
          </p:nvPr>
        </p:nvSpPr>
        <p:spPr>
          <a:xfrm>
            <a:off x="71718" y="125506"/>
            <a:ext cx="12048564" cy="6669741"/>
          </a:xfrm>
        </p:spPr>
        <p:txBody>
          <a:bodyPr>
            <a:normAutofit/>
          </a:bodyPr>
          <a:lstStyle/>
          <a:p>
            <a:pPr algn="ctr"/>
            <a:endParaRPr lang="en-GB" b="1" u="none" strike="noStrike" baseline="0" dirty="0">
              <a:solidFill>
                <a:srgbClr val="FF0000"/>
              </a:solidFill>
              <a:latin typeface="Comic Sans MS" panose="030F0702030302020204" pitchFamily="66" charset="0"/>
            </a:endParaRPr>
          </a:p>
          <a:p>
            <a:pPr algn="ctr"/>
            <a:endParaRPr lang="en-GB" b="1" dirty="0">
              <a:solidFill>
                <a:srgbClr val="FF0000"/>
              </a:solidFill>
              <a:latin typeface="Comic Sans MS" panose="030F0702030302020204" pitchFamily="66" charset="0"/>
            </a:endParaRPr>
          </a:p>
          <a:p>
            <a:pPr algn="ctr"/>
            <a:r>
              <a:rPr lang="en-GB" sz="4400" b="1" u="none" strike="noStrike" baseline="0" dirty="0">
                <a:solidFill>
                  <a:srgbClr val="FF0000"/>
                </a:solidFill>
                <a:latin typeface="Comic Sans MS" panose="030F0702030302020204" pitchFamily="66" charset="0"/>
              </a:rPr>
              <a:t>Logic Functions and Gates</a:t>
            </a:r>
          </a:p>
          <a:p>
            <a:pPr algn="ctr"/>
            <a:endParaRPr lang="en-GB" sz="4000" b="1" dirty="0">
              <a:solidFill>
                <a:srgbClr val="FF0000"/>
              </a:solidFill>
              <a:latin typeface="Comic Sans MS" panose="030F0702030302020204" pitchFamily="66" charset="0"/>
            </a:endParaRPr>
          </a:p>
          <a:p>
            <a:pPr algn="ctr"/>
            <a:endParaRPr lang="en-GB" sz="4000" b="1" dirty="0">
              <a:solidFill>
                <a:srgbClr val="FF0000"/>
              </a:solidFill>
              <a:latin typeface="Comic Sans MS" panose="030F0702030302020204" pitchFamily="66" charset="0"/>
            </a:endParaRPr>
          </a:p>
          <a:p>
            <a:pPr algn="ctr"/>
            <a:r>
              <a:rPr lang="en-GB" sz="4000" b="1" dirty="0">
                <a:latin typeface="Comic Sans MS" panose="030F0702030302020204" pitchFamily="66" charset="0"/>
              </a:rPr>
              <a:t>Alamu Femi O PhD </a:t>
            </a:r>
          </a:p>
        </p:txBody>
      </p:sp>
    </p:spTree>
    <p:extLst>
      <p:ext uri="{BB962C8B-B14F-4D97-AF65-F5344CB8AC3E}">
        <p14:creationId xmlns:p14="http://schemas.microsoft.com/office/powerpoint/2010/main" val="2207236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5FF2A-541B-4DB1-9DEA-1E2439F62398}"/>
              </a:ext>
            </a:extLst>
          </p:cNvPr>
          <p:cNvSpPr>
            <a:spLocks noGrp="1"/>
          </p:cNvSpPr>
          <p:nvPr>
            <p:ph idx="1"/>
          </p:nvPr>
        </p:nvSpPr>
        <p:spPr>
          <a:xfrm>
            <a:off x="71718" y="62752"/>
            <a:ext cx="11985811" cy="6795247"/>
          </a:xfrm>
        </p:spPr>
        <p:txBody>
          <a:bodyPr>
            <a:normAutofit/>
          </a:bodyPr>
          <a:lstStyle/>
          <a:p>
            <a:pPr algn="just"/>
            <a:r>
              <a:rPr lang="en-GB" sz="3600" b="1" i="0" u="none" strike="noStrike" baseline="0" dirty="0">
                <a:solidFill>
                  <a:srgbClr val="FF0000"/>
                </a:solidFill>
                <a:latin typeface="Comic Sans MS" panose="030F0702030302020204" pitchFamily="66" charset="0"/>
              </a:rPr>
              <a:t>Introduction</a:t>
            </a:r>
            <a:r>
              <a:rPr lang="en-GB" b="0" i="0" u="none" strike="noStrike" baseline="0" dirty="0">
                <a:latin typeface="Comic Sans MS" panose="030F0702030302020204" pitchFamily="66" charset="0"/>
              </a:rPr>
              <a:t> </a:t>
            </a:r>
          </a:p>
          <a:p>
            <a:pPr algn="just"/>
            <a:r>
              <a:rPr lang="en-GB" b="0" i="0" u="none" strike="noStrike" baseline="0" dirty="0">
                <a:latin typeface="Comic Sans MS" panose="030F0702030302020204" pitchFamily="66" charset="0"/>
              </a:rPr>
              <a:t>Representing numbers using transistors is one thing, but getting the computer to do something with those numbers is an entirely different matter.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Digital circuitry is used to perform operations such as addition or multiplication, manage data, or execute programs.</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This lecture presents the circuitry that is the foundation of data manipulation and management within a computer</a:t>
            </a:r>
            <a:endParaRPr lang="en-GB" dirty="0">
              <a:latin typeface="Comic Sans MS" panose="030F0702030302020204" pitchFamily="66" charset="0"/>
            </a:endParaRPr>
          </a:p>
        </p:txBody>
      </p:sp>
    </p:spTree>
    <p:extLst>
      <p:ext uri="{BB962C8B-B14F-4D97-AF65-F5344CB8AC3E}">
        <p14:creationId xmlns:p14="http://schemas.microsoft.com/office/powerpoint/2010/main" val="3818680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5C36A-C58A-47E5-86B3-0F43CD2759F8}"/>
              </a:ext>
            </a:extLst>
          </p:cNvPr>
          <p:cNvSpPr>
            <a:spLocks noGrp="1"/>
          </p:cNvSpPr>
          <p:nvPr>
            <p:ph idx="1"/>
          </p:nvPr>
        </p:nvSpPr>
        <p:spPr>
          <a:xfrm>
            <a:off x="-1" y="0"/>
            <a:ext cx="12102353" cy="6786282"/>
          </a:xfrm>
        </p:spPr>
        <p:txBody>
          <a:bodyPr>
            <a:normAutofit/>
          </a:bodyPr>
          <a:lstStyle/>
          <a:p>
            <a:pPr algn="just"/>
            <a:r>
              <a:rPr lang="en-GB" sz="3200" b="1" i="0" u="none" strike="noStrike" baseline="0" dirty="0">
                <a:solidFill>
                  <a:srgbClr val="FF0000"/>
                </a:solidFill>
                <a:latin typeface="Comic Sans MS" panose="030F0702030302020204" pitchFamily="66" charset="0"/>
              </a:rPr>
              <a:t>Logic Gate Basics</a:t>
            </a:r>
          </a:p>
          <a:p>
            <a:pPr algn="just"/>
            <a:r>
              <a:rPr lang="en-GB" sz="2400" b="0" i="0" u="none" strike="noStrike" baseline="0" dirty="0">
                <a:latin typeface="Comic Sans MS" panose="030F0702030302020204" pitchFamily="66" charset="0"/>
              </a:rPr>
              <a:t>One level above the transistors, is a set of basic building blocks for digital circuitry. These building blocks are called </a:t>
            </a:r>
            <a:r>
              <a:rPr lang="en-GB" sz="2400" b="1" i="1" u="none" strike="noStrike" baseline="0" dirty="0">
                <a:solidFill>
                  <a:srgbClr val="FF0000"/>
                </a:solidFill>
                <a:latin typeface="Comic Sans MS" panose="030F0702030302020204" pitchFamily="66" charset="0"/>
              </a:rPr>
              <a:t>logic gates</a:t>
            </a:r>
            <a:r>
              <a:rPr lang="en-GB" sz="2400" b="0" i="0" u="none" strike="noStrike" baseline="0" dirty="0">
                <a:latin typeface="Comic Sans MS" panose="030F0702030302020204" pitchFamily="66" charset="0"/>
              </a:rPr>
              <a:t>.</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A logic gate has the basic format shown below in the Figure below. It takes one or more binary signals as its inputs, and using a </a:t>
            </a:r>
            <a:r>
              <a:rPr lang="en-GB" sz="2400" b="0" i="0" u="none" strike="noStrike" baseline="0" dirty="0">
                <a:solidFill>
                  <a:srgbClr val="FF0000"/>
                </a:solidFill>
                <a:latin typeface="Comic Sans MS" panose="030F0702030302020204" pitchFamily="66" charset="0"/>
              </a:rPr>
              <a:t>specific algorithm</a:t>
            </a:r>
            <a:r>
              <a:rPr lang="en-GB" sz="2400" b="0" i="0" u="none" strike="noStrike" baseline="0" dirty="0">
                <a:latin typeface="Comic Sans MS" panose="030F0702030302020204" pitchFamily="66" charset="0"/>
              </a:rPr>
              <a:t>, outputs a single bit as a result. </a:t>
            </a:r>
            <a:r>
              <a:rPr lang="en-GB" sz="2400" b="0" i="0" u="none" strike="noStrike" baseline="0" dirty="0">
                <a:solidFill>
                  <a:srgbClr val="FF0000"/>
                </a:solidFill>
                <a:latin typeface="Comic Sans MS" panose="030F0702030302020204" pitchFamily="66" charset="0"/>
              </a:rPr>
              <a:t>Each time the inputs change, the output bit changes in a predictable fashion.</a:t>
            </a:r>
            <a:endParaRPr lang="en-GB" sz="240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B7D6AD46-CFF4-4D67-A718-4AD45086A13E}"/>
              </a:ext>
            </a:extLst>
          </p:cNvPr>
          <p:cNvPicPr>
            <a:picLocks noChangeAspect="1"/>
          </p:cNvPicPr>
          <p:nvPr/>
        </p:nvPicPr>
        <p:blipFill>
          <a:blip r:embed="rId2"/>
          <a:stretch>
            <a:fillRect/>
          </a:stretch>
        </p:blipFill>
        <p:spPr>
          <a:xfrm>
            <a:off x="1009606" y="3530933"/>
            <a:ext cx="9526329" cy="259116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8EBE8F23-42A6-4573-89E0-9969CD2A985A}"/>
              </a:ext>
            </a:extLst>
          </p:cNvPr>
          <p:cNvSpPr txBox="1"/>
          <p:nvPr/>
        </p:nvSpPr>
        <p:spPr>
          <a:xfrm>
            <a:off x="3159559" y="6263295"/>
            <a:ext cx="3671047" cy="400110"/>
          </a:xfrm>
          <a:prstGeom prst="rect">
            <a:avLst/>
          </a:prstGeom>
          <a:noFill/>
        </p:spPr>
        <p:txBody>
          <a:bodyPr wrap="square">
            <a:spAutoFit/>
          </a:bodyPr>
          <a:lstStyle/>
          <a:p>
            <a:r>
              <a:rPr lang="en-GB" sz="2000" b="0" i="0" u="none" strike="noStrike" baseline="0" dirty="0">
                <a:solidFill>
                  <a:srgbClr val="FF0000"/>
                </a:solidFill>
                <a:latin typeface="Comic Sans MS" panose="030F0702030302020204" pitchFamily="66" charset="0"/>
              </a:rPr>
              <a:t>Basic Format of a Logic Gate</a:t>
            </a:r>
            <a:endParaRPr lang="en-GB" sz="2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887366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0C0562-C8AC-4F22-BBB4-F195BAEC9467}"/>
              </a:ext>
            </a:extLst>
          </p:cNvPr>
          <p:cNvSpPr>
            <a:spLocks noGrp="1"/>
          </p:cNvSpPr>
          <p:nvPr>
            <p:ph idx="1"/>
          </p:nvPr>
        </p:nvSpPr>
        <p:spPr>
          <a:xfrm>
            <a:off x="80682" y="0"/>
            <a:ext cx="12003742" cy="6858000"/>
          </a:xfrm>
        </p:spPr>
        <p:txBody>
          <a:bodyPr>
            <a:normAutofit/>
          </a:bodyPr>
          <a:lstStyle/>
          <a:p>
            <a:pPr algn="just"/>
            <a:r>
              <a:rPr lang="en-GB" b="0" i="0" u="none" strike="noStrike" baseline="0" dirty="0">
                <a:latin typeface="Comic Sans MS" panose="030F0702030302020204" pitchFamily="66" charset="0"/>
              </a:rPr>
              <a:t>A number of standard gates exist, each one of which has a specific symbol that uniquely identifies its function.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The Figure below presents the symbols for the </a:t>
            </a:r>
            <a:r>
              <a:rPr lang="en-GB" b="0" i="0" u="none" strike="noStrike" baseline="0" dirty="0">
                <a:solidFill>
                  <a:srgbClr val="FF0000"/>
                </a:solidFill>
                <a:latin typeface="Comic Sans MS" panose="030F0702030302020204" pitchFamily="66" charset="0"/>
              </a:rPr>
              <a:t>four primary types </a:t>
            </a:r>
            <a:r>
              <a:rPr lang="en-GB" b="0" i="0" u="none" strike="noStrike" baseline="0" dirty="0">
                <a:latin typeface="Comic Sans MS" panose="030F0702030302020204" pitchFamily="66" charset="0"/>
              </a:rPr>
              <a:t>of gates that are used in digital circuit design.</a:t>
            </a:r>
            <a:endParaRPr lang="en-GB" dirty="0">
              <a:latin typeface="Comic Sans MS" panose="030F0702030302020204" pitchFamily="66" charset="0"/>
            </a:endParaRPr>
          </a:p>
        </p:txBody>
      </p:sp>
      <p:pic>
        <p:nvPicPr>
          <p:cNvPr id="5" name="Picture 4">
            <a:extLst>
              <a:ext uri="{FF2B5EF4-FFF2-40B4-BE49-F238E27FC236}">
                <a16:creationId xmlns:a16="http://schemas.microsoft.com/office/drawing/2014/main" id="{5D9B349D-C3F5-45DE-AB23-289CE5152890}"/>
              </a:ext>
            </a:extLst>
          </p:cNvPr>
          <p:cNvPicPr>
            <a:picLocks noChangeAspect="1"/>
          </p:cNvPicPr>
          <p:nvPr/>
        </p:nvPicPr>
        <p:blipFill>
          <a:blip r:embed="rId2"/>
          <a:stretch>
            <a:fillRect/>
          </a:stretch>
        </p:blipFill>
        <p:spPr>
          <a:xfrm>
            <a:off x="242070" y="2723660"/>
            <a:ext cx="11707859" cy="246731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E4F6F2B8-9EDE-49A0-A333-9F472989DA76}"/>
              </a:ext>
            </a:extLst>
          </p:cNvPr>
          <p:cNvSpPr txBox="1"/>
          <p:nvPr/>
        </p:nvSpPr>
        <p:spPr>
          <a:xfrm>
            <a:off x="4422140" y="5685637"/>
            <a:ext cx="3655060" cy="523220"/>
          </a:xfrm>
          <a:prstGeom prst="rect">
            <a:avLst/>
          </a:prstGeom>
          <a:noFill/>
        </p:spPr>
        <p:txBody>
          <a:bodyPr wrap="square">
            <a:spAutoFit/>
          </a:bodyPr>
          <a:lstStyle/>
          <a:p>
            <a:r>
              <a:rPr lang="en-GB" sz="2800" b="0" i="0" u="none" strike="noStrike" baseline="0" dirty="0">
                <a:solidFill>
                  <a:srgbClr val="FF0000"/>
                </a:solidFill>
                <a:latin typeface="Comic Sans MS" panose="030F0702030302020204" pitchFamily="66" charset="0"/>
              </a:rPr>
              <a:t>Basic Logic Symbols</a:t>
            </a:r>
            <a:endParaRPr lang="en-GB"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900311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CE83D1-F855-49AC-8CBC-10D48F869EB6}"/>
              </a:ext>
            </a:extLst>
          </p:cNvPr>
          <p:cNvSpPr>
            <a:spLocks noGrp="1"/>
          </p:cNvSpPr>
          <p:nvPr>
            <p:ph idx="1"/>
          </p:nvPr>
        </p:nvSpPr>
        <p:spPr>
          <a:xfrm>
            <a:off x="0" y="0"/>
            <a:ext cx="12110720" cy="6858000"/>
          </a:xfrm>
        </p:spPr>
        <p:txBody>
          <a:bodyPr>
            <a:noAutofit/>
          </a:bodyPr>
          <a:lstStyle/>
          <a:p>
            <a:pPr algn="just"/>
            <a:r>
              <a:rPr lang="en-GB" b="1" u="none" strike="noStrike" baseline="0" dirty="0">
                <a:solidFill>
                  <a:srgbClr val="FF0000"/>
                </a:solidFill>
                <a:latin typeface="Comic Sans MS" panose="030F0702030302020204" pitchFamily="66" charset="0"/>
              </a:rPr>
              <a:t>NOT Gate</a:t>
            </a:r>
          </a:p>
          <a:p>
            <a:pPr algn="just"/>
            <a:r>
              <a:rPr lang="en-GB" sz="2600" b="0" i="0" u="none" strike="noStrike" baseline="0" dirty="0">
                <a:latin typeface="Comic Sans MS" panose="030F0702030302020204" pitchFamily="66" charset="0"/>
              </a:rPr>
              <a:t>This logic gate, sometimes referred to as an</a:t>
            </a:r>
            <a:r>
              <a:rPr lang="en-GB" sz="2600" b="0" i="0" u="none" strike="noStrike" baseline="0" dirty="0">
                <a:solidFill>
                  <a:srgbClr val="FF0000"/>
                </a:solidFill>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inverter</a:t>
            </a:r>
            <a:r>
              <a:rPr lang="en-GB" sz="2600" b="0" i="0" u="none" strike="noStrike" baseline="0" dirty="0">
                <a:latin typeface="Comic Sans MS" panose="030F0702030302020204" pitchFamily="66" charset="0"/>
              </a:rPr>
              <a:t>, is the only one that has a single input.</a:t>
            </a:r>
          </a:p>
          <a:p>
            <a:pPr algn="just"/>
            <a:endParaRPr lang="en-GB" sz="2600" b="0" i="0" u="none" strike="noStrike" baseline="0" dirty="0">
              <a:latin typeface="Comic Sans MS" panose="030F0702030302020204" pitchFamily="66" charset="0"/>
            </a:endParaRPr>
          </a:p>
          <a:p>
            <a:pPr algn="just"/>
            <a:r>
              <a:rPr lang="en-GB" sz="2600" b="0" i="0" u="none" strike="noStrike" baseline="0" dirty="0">
                <a:latin typeface="Comic Sans MS" panose="030F0702030302020204" pitchFamily="66" charset="0"/>
              </a:rPr>
              <a:t>Its input goes into the left side of a triangle symbol while its output exits the gate </a:t>
            </a:r>
            <a:r>
              <a:rPr lang="en-GB" sz="2600" b="0" i="0" u="none" strike="noStrike" baseline="0" dirty="0">
                <a:solidFill>
                  <a:srgbClr val="FF0000"/>
                </a:solidFill>
                <a:latin typeface="Comic Sans MS" panose="030F0702030302020204" pitchFamily="66" charset="0"/>
              </a:rPr>
              <a:t>through a small circle</a:t>
            </a:r>
            <a:r>
              <a:rPr lang="en-GB" sz="2600" b="0" i="0" u="none" strike="noStrike" baseline="0" dirty="0">
                <a:latin typeface="Comic Sans MS" panose="030F0702030302020204" pitchFamily="66" charset="0"/>
              </a:rPr>
              <a:t> placed at the tip of the opposite corner. </a:t>
            </a:r>
          </a:p>
          <a:p>
            <a:pPr algn="just"/>
            <a:endParaRPr lang="en-GB" sz="2600" dirty="0">
              <a:latin typeface="Comic Sans MS" panose="030F0702030302020204" pitchFamily="66" charset="0"/>
            </a:endParaRPr>
          </a:p>
          <a:p>
            <a:pPr algn="just"/>
            <a:r>
              <a:rPr lang="en-GB" sz="2600" b="0" i="0" u="none" strike="noStrike" baseline="0" dirty="0">
                <a:latin typeface="Comic Sans MS" panose="030F0702030302020204" pitchFamily="66" charset="0"/>
              </a:rPr>
              <a:t>Note that </a:t>
            </a:r>
            <a:r>
              <a:rPr lang="en-GB" sz="2600" b="0" i="0" u="none" strike="noStrike" baseline="0" dirty="0">
                <a:solidFill>
                  <a:srgbClr val="FF0000"/>
                </a:solidFill>
                <a:latin typeface="Comic Sans MS" panose="030F0702030302020204" pitchFamily="66" charset="0"/>
              </a:rPr>
              <a:t>it is the small circle that defines the operation of this gate</a:t>
            </a:r>
            <a:r>
              <a:rPr lang="en-GB" sz="2600" b="0" i="0" u="none" strike="noStrike" baseline="0" dirty="0">
                <a:latin typeface="Comic Sans MS" panose="030F0702030302020204" pitchFamily="66" charset="0"/>
              </a:rPr>
              <a:t>, so it should not be left out.</a:t>
            </a:r>
          </a:p>
          <a:p>
            <a:pPr algn="just"/>
            <a:endParaRPr lang="en-GB" sz="2600" b="0" i="0" u="none" strike="noStrike" baseline="0" dirty="0">
              <a:latin typeface="Comic Sans MS" panose="030F0702030302020204" pitchFamily="66" charset="0"/>
            </a:endParaRPr>
          </a:p>
          <a:p>
            <a:pPr algn="just"/>
            <a:r>
              <a:rPr lang="en-GB" sz="2600" b="0" i="0" u="none" strike="noStrike" baseline="0" dirty="0">
                <a:latin typeface="Comic Sans MS" panose="030F0702030302020204" pitchFamily="66" charset="0"/>
              </a:rPr>
              <a:t>The NOT gate is </a:t>
            </a:r>
            <a:r>
              <a:rPr lang="en-GB" sz="2600" b="0" i="0" u="none" strike="noStrike" baseline="0" dirty="0">
                <a:solidFill>
                  <a:srgbClr val="FF0000"/>
                </a:solidFill>
                <a:latin typeface="Comic Sans MS" panose="030F0702030302020204" pitchFamily="66" charset="0"/>
              </a:rPr>
              <a:t>used to flip the value of a digital signal</a:t>
            </a:r>
            <a:r>
              <a:rPr lang="en-GB" sz="2600" b="0" i="0" u="none" strike="noStrike" baseline="0" dirty="0">
                <a:latin typeface="Comic Sans MS" panose="030F0702030302020204" pitchFamily="66" charset="0"/>
              </a:rPr>
              <a:t>. In other words, it changes a logic 1 input to a logic 0 or it changes a logic 0 input to a logic 1. </a:t>
            </a:r>
          </a:p>
          <a:p>
            <a:pPr algn="just"/>
            <a:endParaRPr lang="en-GB" sz="2600" dirty="0">
              <a:latin typeface="Comic Sans MS" panose="030F0702030302020204" pitchFamily="66" charset="0"/>
            </a:endParaRPr>
          </a:p>
        </p:txBody>
      </p:sp>
      <p:pic>
        <p:nvPicPr>
          <p:cNvPr id="5" name="Picture 4">
            <a:extLst>
              <a:ext uri="{FF2B5EF4-FFF2-40B4-BE49-F238E27FC236}">
                <a16:creationId xmlns:a16="http://schemas.microsoft.com/office/drawing/2014/main" id="{7243A31F-730E-42C1-BF6C-0B57529AAC7F}"/>
              </a:ext>
            </a:extLst>
          </p:cNvPr>
          <p:cNvPicPr>
            <a:picLocks noChangeAspect="1"/>
          </p:cNvPicPr>
          <p:nvPr/>
        </p:nvPicPr>
        <p:blipFill>
          <a:blip r:embed="rId2"/>
          <a:stretch>
            <a:fillRect/>
          </a:stretch>
        </p:blipFill>
        <p:spPr>
          <a:xfrm>
            <a:off x="5207699" y="5315443"/>
            <a:ext cx="1776602" cy="145111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042928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94AEA-5927-416A-A46E-61F4C6B9C9CC}"/>
              </a:ext>
            </a:extLst>
          </p:cNvPr>
          <p:cNvSpPr>
            <a:spLocks noGrp="1"/>
          </p:cNvSpPr>
          <p:nvPr>
            <p:ph idx="1"/>
          </p:nvPr>
        </p:nvSpPr>
        <p:spPr>
          <a:xfrm>
            <a:off x="71120" y="0"/>
            <a:ext cx="11968480" cy="6766560"/>
          </a:xfrm>
        </p:spPr>
        <p:txBody>
          <a:bodyPr/>
          <a:lstStyle/>
          <a:p>
            <a:pPr algn="just"/>
            <a:r>
              <a:rPr lang="en-GB" sz="2800" b="0" i="0" u="none" strike="noStrike" baseline="0" dirty="0">
                <a:latin typeface="Comic Sans MS" panose="030F0702030302020204" pitchFamily="66" charset="0"/>
              </a:rPr>
              <a:t>An example of an inverter might be the light detection circuit used to control the automatic headlights of a car.</a:t>
            </a:r>
          </a:p>
          <a:p>
            <a:pPr algn="just"/>
            <a:endParaRPr lang="en-GB" sz="2800" b="0" i="0" u="none" strike="noStrike" baseline="0" dirty="0">
              <a:latin typeface="Comic Sans MS" panose="030F0702030302020204" pitchFamily="66" charset="0"/>
            </a:endParaRPr>
          </a:p>
          <a:p>
            <a:pPr algn="just"/>
            <a:r>
              <a:rPr lang="en-GB" sz="2800" b="0" i="0" u="none" strike="noStrike" baseline="0" dirty="0">
                <a:latin typeface="Comic Sans MS" panose="030F0702030302020204" pitchFamily="66" charset="0"/>
              </a:rPr>
              <a:t>During the daylight hours, sunshine enters the light detector which is typically installed on the top surface of the car's dashboard. This acts as a logic 1 input. Since it is daytime, the headlights need to be turned off, a logic 0. </a:t>
            </a:r>
          </a:p>
          <a:p>
            <a:pPr algn="just"/>
            <a:endParaRPr lang="en-GB" sz="2800" dirty="0">
              <a:latin typeface="Comic Sans MS" panose="030F0702030302020204" pitchFamily="66" charset="0"/>
            </a:endParaRPr>
          </a:p>
          <a:p>
            <a:pPr algn="just"/>
            <a:r>
              <a:rPr lang="en-GB" sz="2800" b="0" i="0" u="none" strike="noStrike" baseline="0" dirty="0">
                <a:latin typeface="Comic Sans MS" panose="030F0702030302020204" pitchFamily="66" charset="0"/>
              </a:rPr>
              <a:t>When the sun goes down and no light enters the light detector, a logic 0, then the headlights must be turned on, a logic 1.</a:t>
            </a:r>
            <a:endParaRPr lang="en-GB" sz="2800" dirty="0">
              <a:latin typeface="Comic Sans MS" panose="030F0702030302020204" pitchFamily="66" charset="0"/>
            </a:endParaRPr>
          </a:p>
          <a:p>
            <a:endParaRPr lang="en-GB" dirty="0"/>
          </a:p>
          <a:p>
            <a:endParaRPr lang="en-GB" dirty="0"/>
          </a:p>
        </p:txBody>
      </p:sp>
      <p:pic>
        <p:nvPicPr>
          <p:cNvPr id="5" name="Picture 4">
            <a:extLst>
              <a:ext uri="{FF2B5EF4-FFF2-40B4-BE49-F238E27FC236}">
                <a16:creationId xmlns:a16="http://schemas.microsoft.com/office/drawing/2014/main" id="{9CED070B-53F6-45A9-AE7F-C348A7449F15}"/>
              </a:ext>
            </a:extLst>
          </p:cNvPr>
          <p:cNvPicPr>
            <a:picLocks noChangeAspect="1"/>
          </p:cNvPicPr>
          <p:nvPr/>
        </p:nvPicPr>
        <p:blipFill>
          <a:blip r:embed="rId2"/>
          <a:stretch>
            <a:fillRect/>
          </a:stretch>
        </p:blipFill>
        <p:spPr>
          <a:xfrm>
            <a:off x="1869619" y="4606583"/>
            <a:ext cx="8049748" cy="1657581"/>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D0B3E6D5-B75F-4B51-AAA2-E5C74B013963}"/>
              </a:ext>
            </a:extLst>
          </p:cNvPr>
          <p:cNvSpPr txBox="1"/>
          <p:nvPr/>
        </p:nvSpPr>
        <p:spPr>
          <a:xfrm>
            <a:off x="3488267" y="6264164"/>
            <a:ext cx="3718560" cy="400110"/>
          </a:xfrm>
          <a:prstGeom prst="rect">
            <a:avLst/>
          </a:prstGeom>
          <a:noFill/>
        </p:spPr>
        <p:txBody>
          <a:bodyPr wrap="square">
            <a:spAutoFit/>
          </a:bodyPr>
          <a:lstStyle/>
          <a:p>
            <a:r>
              <a:rPr lang="en-GB" sz="2000" b="0" i="0" u="none" strike="noStrike" baseline="0" dirty="0">
                <a:solidFill>
                  <a:srgbClr val="FF0000"/>
                </a:solidFill>
                <a:latin typeface="Comic Sans MS" panose="030F0702030302020204" pitchFamily="66" charset="0"/>
              </a:rPr>
              <a:t>Operation of the NOT Gate</a:t>
            </a:r>
            <a:endParaRPr lang="en-GB" sz="2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1027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F4CE8-075E-455A-8166-36EB7B3A9427}"/>
              </a:ext>
            </a:extLst>
          </p:cNvPr>
          <p:cNvSpPr>
            <a:spLocks noGrp="1"/>
          </p:cNvSpPr>
          <p:nvPr>
            <p:ph idx="1"/>
          </p:nvPr>
        </p:nvSpPr>
        <p:spPr>
          <a:xfrm>
            <a:off x="81280" y="81280"/>
            <a:ext cx="11988800" cy="6776720"/>
          </a:xfrm>
        </p:spPr>
        <p:txBody>
          <a:bodyPr>
            <a:normAutofit/>
          </a:bodyPr>
          <a:lstStyle/>
          <a:p>
            <a:pPr marL="0" indent="0" algn="just">
              <a:buNone/>
            </a:pPr>
            <a:r>
              <a:rPr lang="en-GB" b="1" u="none" strike="noStrike" baseline="0" dirty="0">
                <a:solidFill>
                  <a:srgbClr val="FF0000"/>
                </a:solidFill>
                <a:latin typeface="Comic Sans MS" panose="030F0702030302020204" pitchFamily="66" charset="0"/>
              </a:rPr>
              <a:t>AND Gate</a:t>
            </a:r>
          </a:p>
          <a:p>
            <a:pPr algn="just"/>
            <a:r>
              <a:rPr lang="en-GB" sz="2400" b="0" i="0" u="none" strike="noStrike" baseline="0" dirty="0">
                <a:latin typeface="Comic Sans MS" panose="030F0702030302020204" pitchFamily="66" charset="0"/>
              </a:rPr>
              <a:t>The operation of the </a:t>
            </a:r>
            <a:r>
              <a:rPr lang="en-GB" sz="2400" b="1" i="1" u="none" strike="noStrike" baseline="0" dirty="0">
                <a:solidFill>
                  <a:srgbClr val="FF0000"/>
                </a:solidFill>
                <a:latin typeface="Comic Sans MS" panose="030F0702030302020204" pitchFamily="66" charset="0"/>
              </a:rPr>
              <a:t>AND gate </a:t>
            </a:r>
            <a:r>
              <a:rPr lang="en-GB" sz="2400" b="0" i="0" u="none" strike="noStrike" baseline="0" dirty="0">
                <a:latin typeface="Comic Sans MS" panose="030F0702030302020204" pitchFamily="66" charset="0"/>
              </a:rPr>
              <a:t>is such that its output is a </a:t>
            </a:r>
            <a:r>
              <a:rPr lang="en-GB" sz="2400" b="0" i="0" u="none" strike="noStrike" baseline="0" dirty="0">
                <a:solidFill>
                  <a:srgbClr val="FF0000"/>
                </a:solidFill>
                <a:latin typeface="Comic Sans MS" panose="030F0702030302020204" pitchFamily="66" charset="0"/>
              </a:rPr>
              <a:t>logic 1 </a:t>
            </a:r>
            <a:r>
              <a:rPr lang="en-GB" sz="2400" b="1" i="1" u="none" strike="noStrike" baseline="0" dirty="0">
                <a:solidFill>
                  <a:srgbClr val="FF0000"/>
                </a:solidFill>
                <a:latin typeface="Comic Sans MS" panose="030F0702030302020204" pitchFamily="66" charset="0"/>
              </a:rPr>
              <a:t>only </a:t>
            </a:r>
            <a:r>
              <a:rPr lang="en-GB" sz="2400" b="0" i="0" u="none" strike="noStrike" baseline="0" dirty="0">
                <a:solidFill>
                  <a:srgbClr val="FF0000"/>
                </a:solidFill>
                <a:latin typeface="Comic Sans MS" panose="030F0702030302020204" pitchFamily="66" charset="0"/>
              </a:rPr>
              <a:t>if all of its inputs are logic 1</a:t>
            </a:r>
            <a:r>
              <a:rPr lang="en-GB" sz="2400" b="0" i="0" u="none" strike="noStrike" baseline="0" dirty="0">
                <a:latin typeface="Comic Sans MS" panose="030F0702030302020204" pitchFamily="66" charset="0"/>
              </a:rPr>
              <a:t>. Otherwise the output is a logic 0.</a:t>
            </a:r>
          </a:p>
          <a:p>
            <a:pPr marL="0" indent="0" algn="just">
              <a:buNone/>
            </a:pPr>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The AND gate  </a:t>
            </a:r>
            <a:r>
              <a:rPr lang="en-GB" sz="2400" b="0" i="0" u="none" strike="noStrike" baseline="0" dirty="0">
                <a:solidFill>
                  <a:srgbClr val="FF0000"/>
                </a:solidFill>
                <a:latin typeface="Comic Sans MS" panose="030F0702030302020204" pitchFamily="66" charset="0"/>
              </a:rPr>
              <a:t>has only two inputs</a:t>
            </a:r>
            <a:r>
              <a:rPr lang="en-GB" sz="2400" b="0" i="0" u="none" strike="noStrike" baseline="0" dirty="0">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but</a:t>
            </a:r>
            <a:r>
              <a:rPr lang="en-GB" sz="2400" b="0" i="0" u="none" strike="noStrike" baseline="0" dirty="0">
                <a:latin typeface="Comic Sans MS" panose="030F0702030302020204" pitchFamily="66" charset="0"/>
              </a:rPr>
              <a:t> an AND gate may have </a:t>
            </a:r>
            <a:r>
              <a:rPr lang="en-GB" sz="2400" b="0" i="0" u="none" strike="noStrike" baseline="0" dirty="0">
                <a:solidFill>
                  <a:srgbClr val="FF0000"/>
                </a:solidFill>
                <a:latin typeface="Comic Sans MS" panose="030F0702030302020204" pitchFamily="66" charset="0"/>
              </a:rPr>
              <a:t>as many inputs as the circuit requires</a:t>
            </a:r>
            <a:r>
              <a:rPr lang="en-GB" sz="2400" b="0" i="0" u="none" strike="noStrike" baseline="0" dirty="0">
                <a:latin typeface="Comic Sans MS" panose="030F0702030302020204" pitchFamily="66" charset="0"/>
              </a:rPr>
              <a:t>. Regardless of the number of inputs, all inputs must be a logic 1 for the output to be a logic 1.</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As an example, picture a lamp that is connected to a plug in the wall that is subsequently controlled by the light switch that is protected with a circuit breaker. In order for the lamp to be on (logic 1), the switch at the lamp must be on, the wall switch must be on, and the circuit breaker must be on. </a:t>
            </a: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If any of the switches turns to off (logic 0), then the lamp will turn off. Another way to describe the operation of this circuit might be to say, "The lamp is on if and only if the lamp switch is on </a:t>
            </a:r>
            <a:r>
              <a:rPr lang="en-GB" sz="2400" b="1" i="1" u="none" strike="noStrike" baseline="0" dirty="0">
                <a:latin typeface="Comic Sans MS" panose="030F0702030302020204" pitchFamily="66" charset="0"/>
              </a:rPr>
              <a:t>and </a:t>
            </a:r>
            <a:r>
              <a:rPr lang="en-GB" sz="2400" b="0" i="0" u="none" strike="noStrike" baseline="0" dirty="0">
                <a:latin typeface="Comic Sans MS" panose="030F0702030302020204" pitchFamily="66" charset="0"/>
              </a:rPr>
              <a:t>the wall switch is on </a:t>
            </a:r>
            <a:r>
              <a:rPr lang="en-GB" sz="2400" b="1" i="1" u="none" strike="noStrike" baseline="0" dirty="0">
                <a:latin typeface="Comic Sans MS" panose="030F0702030302020204" pitchFamily="66" charset="0"/>
              </a:rPr>
              <a:t>and </a:t>
            </a:r>
            <a:r>
              <a:rPr lang="en-GB" sz="2400" b="0" i="0" u="none" strike="noStrike" baseline="0" dirty="0">
                <a:latin typeface="Comic Sans MS" panose="030F0702030302020204" pitchFamily="66" charset="0"/>
              </a:rPr>
              <a:t>the circuit breaker is on."</a:t>
            </a:r>
            <a:endParaRPr lang="en-GB" sz="2400" dirty="0">
              <a:latin typeface="Comic Sans MS" panose="030F0702030302020204" pitchFamily="66" charset="0"/>
            </a:endParaRPr>
          </a:p>
        </p:txBody>
      </p:sp>
    </p:spTree>
    <p:extLst>
      <p:ext uri="{BB962C8B-B14F-4D97-AF65-F5344CB8AC3E}">
        <p14:creationId xmlns:p14="http://schemas.microsoft.com/office/powerpoint/2010/main" val="1506392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EFC014-27E7-4C6F-B353-FBFC4FC890F6}"/>
              </a:ext>
            </a:extLst>
          </p:cNvPr>
          <p:cNvSpPr>
            <a:spLocks noGrp="1"/>
          </p:cNvSpPr>
          <p:nvPr>
            <p:ph idx="1"/>
          </p:nvPr>
        </p:nvSpPr>
        <p:spPr>
          <a:xfrm>
            <a:off x="0" y="0"/>
            <a:ext cx="12049760" cy="6756400"/>
          </a:xfrm>
        </p:spPr>
        <p:txBody>
          <a:bodyPr>
            <a:normAutofit/>
          </a:bodyPr>
          <a:lstStyle/>
          <a:p>
            <a:r>
              <a:rPr lang="en-GB" sz="2400" dirty="0">
                <a:latin typeface="Comic Sans MS" panose="030F0702030302020204" pitchFamily="66" charset="0"/>
              </a:rPr>
              <a:t>A</a:t>
            </a:r>
            <a:r>
              <a:rPr lang="en-GB" sz="2400" b="0" i="0" u="none" strike="noStrike" baseline="0" dirty="0">
                <a:latin typeface="Comic Sans MS" panose="030F0702030302020204" pitchFamily="66" charset="0"/>
              </a:rPr>
              <a:t>ll 2</a:t>
            </a:r>
            <a:r>
              <a:rPr lang="en-GB" sz="2400" b="0" i="0" u="none" strike="noStrike" baseline="30000" dirty="0">
                <a:latin typeface="Comic Sans MS" panose="030F0702030302020204" pitchFamily="66" charset="0"/>
              </a:rPr>
              <a:t>2</a:t>
            </a:r>
            <a:r>
              <a:rPr lang="en-GB" sz="2400" b="0" i="0" u="none" strike="noStrike" baseline="0" dirty="0">
                <a:latin typeface="Comic Sans MS" panose="030F0702030302020204" pitchFamily="66" charset="0"/>
              </a:rPr>
              <a:t> = 4 states for a two-input AND gate</a:t>
            </a:r>
            <a:endParaRPr lang="en-GB" sz="3600" dirty="0">
              <a:latin typeface="Comic Sans MS" panose="030F0702030302020204" pitchFamily="66" charset="0"/>
            </a:endParaRPr>
          </a:p>
        </p:txBody>
      </p:sp>
      <p:pic>
        <p:nvPicPr>
          <p:cNvPr id="5" name="Picture 4">
            <a:extLst>
              <a:ext uri="{FF2B5EF4-FFF2-40B4-BE49-F238E27FC236}">
                <a16:creationId xmlns:a16="http://schemas.microsoft.com/office/drawing/2014/main" id="{146B6857-3F23-4F03-9676-AEE194749A97}"/>
              </a:ext>
            </a:extLst>
          </p:cNvPr>
          <p:cNvPicPr>
            <a:picLocks noChangeAspect="1"/>
          </p:cNvPicPr>
          <p:nvPr/>
        </p:nvPicPr>
        <p:blipFill>
          <a:blip r:embed="rId2"/>
          <a:stretch>
            <a:fillRect/>
          </a:stretch>
        </p:blipFill>
        <p:spPr>
          <a:xfrm>
            <a:off x="1008433" y="1372665"/>
            <a:ext cx="9655247" cy="340253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4129EFA2-B7AD-4A3B-B947-9D3BC147C891}"/>
              </a:ext>
            </a:extLst>
          </p:cNvPr>
          <p:cNvSpPr txBox="1"/>
          <p:nvPr/>
        </p:nvSpPr>
        <p:spPr>
          <a:xfrm>
            <a:off x="3271520" y="5581134"/>
            <a:ext cx="5699760" cy="461665"/>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Operation of a Two-Input AND Gate</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4292788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84A6E-B4B4-4081-9334-ACFD4314EC4C}"/>
              </a:ext>
            </a:extLst>
          </p:cNvPr>
          <p:cNvSpPr>
            <a:spLocks noGrp="1"/>
          </p:cNvSpPr>
          <p:nvPr>
            <p:ph idx="1"/>
          </p:nvPr>
        </p:nvSpPr>
        <p:spPr>
          <a:xfrm>
            <a:off x="0" y="0"/>
            <a:ext cx="12090400" cy="6786880"/>
          </a:xfrm>
        </p:spPr>
        <p:txBody>
          <a:bodyPr>
            <a:noAutofit/>
          </a:bodyPr>
          <a:lstStyle/>
          <a:p>
            <a:pPr marL="0" indent="0" algn="just">
              <a:buNone/>
            </a:pPr>
            <a:r>
              <a:rPr lang="en-GB" sz="3200" b="1" u="none" strike="noStrike" baseline="0" dirty="0">
                <a:solidFill>
                  <a:srgbClr val="FF0000"/>
                </a:solidFill>
                <a:latin typeface="Comic Sans MS" panose="030F0702030302020204" pitchFamily="66" charset="0"/>
              </a:rPr>
              <a:t>OR Gate</a:t>
            </a:r>
          </a:p>
          <a:p>
            <a:pPr algn="just"/>
            <a:r>
              <a:rPr lang="en-GB" sz="2400" b="0" i="0" u="none" strike="noStrike" baseline="0" dirty="0">
                <a:latin typeface="Comic Sans MS" panose="030F0702030302020204" pitchFamily="66" charset="0"/>
              </a:rPr>
              <a:t>An </a:t>
            </a:r>
            <a:r>
              <a:rPr lang="en-GB" sz="2400" b="1" i="1" u="none" strike="noStrike" baseline="0" dirty="0">
                <a:solidFill>
                  <a:srgbClr val="FF0000"/>
                </a:solidFill>
                <a:latin typeface="Comic Sans MS" panose="030F0702030302020204" pitchFamily="66" charset="0"/>
              </a:rPr>
              <a:t>OR gate </a:t>
            </a:r>
            <a:r>
              <a:rPr lang="en-GB" sz="2400" b="0" i="0" u="none" strike="noStrike" baseline="0" dirty="0">
                <a:solidFill>
                  <a:srgbClr val="FF0000"/>
                </a:solidFill>
                <a:latin typeface="Comic Sans MS" panose="030F0702030302020204" pitchFamily="66" charset="0"/>
              </a:rPr>
              <a:t>outputs a logic 1 if </a:t>
            </a:r>
            <a:r>
              <a:rPr lang="en-GB" sz="2400" b="1" i="1" u="none" strike="noStrike" baseline="0" dirty="0">
                <a:solidFill>
                  <a:srgbClr val="FF0000"/>
                </a:solidFill>
                <a:latin typeface="Comic Sans MS" panose="030F0702030302020204" pitchFamily="66" charset="0"/>
              </a:rPr>
              <a:t>any </a:t>
            </a:r>
            <a:r>
              <a:rPr lang="en-GB" sz="2400" b="0" i="0" u="none" strike="noStrike" baseline="0" dirty="0">
                <a:solidFill>
                  <a:srgbClr val="FF0000"/>
                </a:solidFill>
                <a:latin typeface="Comic Sans MS" panose="030F0702030302020204" pitchFamily="66" charset="0"/>
              </a:rPr>
              <a:t>of its inputs are a logic 1</a:t>
            </a:r>
            <a:r>
              <a:rPr lang="en-GB" sz="2400" b="0" i="0" u="none" strike="noStrike" baseline="0" dirty="0">
                <a:latin typeface="Comic Sans MS" panose="030F0702030302020204" pitchFamily="66" charset="0"/>
              </a:rPr>
              <a:t>. An OR gate only outputs a logic 0 if all of its inputs are logic 0.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 OR gate has only two inputs, but just like the AND gate, an OR gate may have as many inputs as the circuit requires.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Regardless of the number of inputs, if any input is a logic 1, the output is a logic 1.</a:t>
            </a:r>
          </a:p>
          <a:p>
            <a:pPr algn="just"/>
            <a:r>
              <a:rPr lang="en-GB" sz="2400" b="0" i="0" u="none" strike="noStrike" baseline="0" dirty="0">
                <a:latin typeface="Comic Sans MS" panose="030F0702030302020204" pitchFamily="66" charset="0"/>
              </a:rPr>
              <a:t>A common example of an OR gate circuit is a security system. Assume that a room is protected by a system that watches three inputs: a door open sensor, a glass break sensor, and a motion sensor.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If none of these sensors detects a break-in condition, i.e., they all send a logic 0 to the OR gate, the alarm is off (logic 0). If any of the sensors detects a break-in, it will send a logic 1 to the OR gate which in turn will output a logic 1 indicating an alarm condition. </a:t>
            </a:r>
          </a:p>
          <a:p>
            <a:pPr algn="just"/>
            <a:endParaRPr lang="en-GB" sz="600" dirty="0">
              <a:latin typeface="Comic Sans MS" panose="030F0702030302020204" pitchFamily="66" charset="0"/>
            </a:endParaRPr>
          </a:p>
        </p:txBody>
      </p:sp>
    </p:spTree>
    <p:extLst>
      <p:ext uri="{BB962C8B-B14F-4D97-AF65-F5344CB8AC3E}">
        <p14:creationId xmlns:p14="http://schemas.microsoft.com/office/powerpoint/2010/main" val="1101079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3E2D5-3E56-4ED3-9BE6-5053637A4106}"/>
              </a:ext>
            </a:extLst>
          </p:cNvPr>
          <p:cNvSpPr>
            <a:spLocks noGrp="1"/>
          </p:cNvSpPr>
          <p:nvPr>
            <p:ph idx="1"/>
          </p:nvPr>
        </p:nvSpPr>
        <p:spPr>
          <a:xfrm>
            <a:off x="71120" y="0"/>
            <a:ext cx="11978640" cy="6756400"/>
          </a:xfrm>
        </p:spPr>
        <p:txBody>
          <a:bodyPr/>
          <a:lstStyle/>
          <a:p>
            <a:pPr algn="just"/>
            <a:r>
              <a:rPr lang="en-GB" sz="2800" b="0" i="0" u="none" strike="noStrike" baseline="0" dirty="0">
                <a:latin typeface="Comic Sans MS" panose="030F0702030302020204" pitchFamily="66" charset="0"/>
              </a:rPr>
              <a:t>It doesn't matter what the other sensors are reading, if any sensor sends a logic 1 to the gate, the alarm should be going off. </a:t>
            </a:r>
          </a:p>
          <a:p>
            <a:pPr algn="just"/>
            <a:endParaRPr lang="en-GB" sz="200" dirty="0">
              <a:latin typeface="Comic Sans MS" panose="030F0702030302020204" pitchFamily="66" charset="0"/>
            </a:endParaRPr>
          </a:p>
          <a:p>
            <a:pPr algn="just"/>
            <a:r>
              <a:rPr lang="en-GB" sz="2800" b="0" i="0" u="none" strike="noStrike" baseline="0" dirty="0">
                <a:latin typeface="Comic Sans MS" panose="030F0702030302020204" pitchFamily="66" charset="0"/>
              </a:rPr>
              <a:t>Another way to describe the operation of this circuit might be to say, "The alarm goes off if the door opens </a:t>
            </a:r>
            <a:r>
              <a:rPr lang="en-GB" sz="2800" b="1" i="1" u="none" strike="noStrike" baseline="0" dirty="0">
                <a:latin typeface="Comic Sans MS" panose="030F0702030302020204" pitchFamily="66" charset="0"/>
              </a:rPr>
              <a:t>or </a:t>
            </a:r>
            <a:r>
              <a:rPr lang="en-GB" sz="2800" b="0" i="0" u="none" strike="noStrike" baseline="0" dirty="0">
                <a:latin typeface="Comic Sans MS" panose="030F0702030302020204" pitchFamily="66" charset="0"/>
              </a:rPr>
              <a:t>the glass breaks </a:t>
            </a:r>
            <a:r>
              <a:rPr lang="en-GB" sz="2800" b="1" i="1" u="none" strike="noStrike" baseline="0" dirty="0">
                <a:latin typeface="Comic Sans MS" panose="030F0702030302020204" pitchFamily="66" charset="0"/>
              </a:rPr>
              <a:t>or </a:t>
            </a:r>
            <a:r>
              <a:rPr lang="en-GB" sz="2800" b="0" i="0" u="none" strike="noStrike" baseline="0" dirty="0">
                <a:latin typeface="Comic Sans MS" panose="030F0702030302020204" pitchFamily="66" charset="0"/>
              </a:rPr>
              <a:t>motion is detected." Once again, the use of the word "or" suggests that this circuit should be implemented with an OR gate.</a:t>
            </a:r>
            <a:endParaRPr lang="en-GB" sz="2800" dirty="0">
              <a:latin typeface="Comic Sans MS" panose="030F0702030302020204" pitchFamily="66" charset="0"/>
            </a:endParaRPr>
          </a:p>
          <a:p>
            <a:endParaRPr lang="en-GB" dirty="0"/>
          </a:p>
        </p:txBody>
      </p:sp>
      <p:pic>
        <p:nvPicPr>
          <p:cNvPr id="7" name="Picture 6">
            <a:extLst>
              <a:ext uri="{FF2B5EF4-FFF2-40B4-BE49-F238E27FC236}">
                <a16:creationId xmlns:a16="http://schemas.microsoft.com/office/drawing/2014/main" id="{E552B14E-6834-4C53-A00E-ADA40768E823}"/>
              </a:ext>
            </a:extLst>
          </p:cNvPr>
          <p:cNvPicPr>
            <a:picLocks noChangeAspect="1"/>
          </p:cNvPicPr>
          <p:nvPr/>
        </p:nvPicPr>
        <p:blipFill>
          <a:blip r:embed="rId2"/>
          <a:stretch>
            <a:fillRect/>
          </a:stretch>
        </p:blipFill>
        <p:spPr>
          <a:xfrm>
            <a:off x="1804388" y="3057162"/>
            <a:ext cx="8583223" cy="292458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8">
            <a:extLst>
              <a:ext uri="{FF2B5EF4-FFF2-40B4-BE49-F238E27FC236}">
                <a16:creationId xmlns:a16="http://schemas.microsoft.com/office/drawing/2014/main" id="{A1FCF691-7B95-4A8A-BF0B-6B1800828E5E}"/>
              </a:ext>
            </a:extLst>
          </p:cNvPr>
          <p:cNvSpPr txBox="1"/>
          <p:nvPr/>
        </p:nvSpPr>
        <p:spPr>
          <a:xfrm>
            <a:off x="2763520" y="6261854"/>
            <a:ext cx="5212080" cy="461665"/>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Operation of a Two-Input OR Gate</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09415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D690CF-16A8-4F1D-B42D-03B6606FA6EE}"/>
              </a:ext>
            </a:extLst>
          </p:cNvPr>
          <p:cNvSpPr>
            <a:spLocks noGrp="1"/>
          </p:cNvSpPr>
          <p:nvPr>
            <p:ph idx="1"/>
          </p:nvPr>
        </p:nvSpPr>
        <p:spPr>
          <a:xfrm>
            <a:off x="0" y="0"/>
            <a:ext cx="12192000" cy="6858000"/>
          </a:xfrm>
        </p:spPr>
        <p:txBody>
          <a:bodyPr>
            <a:noAutofit/>
          </a:bodyPr>
          <a:lstStyle/>
          <a:p>
            <a:pPr algn="just"/>
            <a:r>
              <a:rPr lang="en-GB" b="1" u="none" strike="noStrike" baseline="0" dirty="0">
                <a:solidFill>
                  <a:srgbClr val="FF0000"/>
                </a:solidFill>
                <a:latin typeface="Comic Sans MS" panose="030F0702030302020204" pitchFamily="66" charset="0"/>
              </a:rPr>
              <a:t>Exclusive-OR (XOR) Gate</a:t>
            </a:r>
          </a:p>
          <a:p>
            <a:pPr algn="just"/>
            <a:r>
              <a:rPr lang="en-GB" b="0" i="0" u="none" strike="noStrike" baseline="0" dirty="0">
                <a:latin typeface="Comic Sans MS" panose="030F0702030302020204" pitchFamily="66" charset="0"/>
              </a:rPr>
              <a:t>An </a:t>
            </a:r>
            <a:r>
              <a:rPr lang="en-GB" b="1" i="1" u="none" strike="noStrike" baseline="0" dirty="0">
                <a:latin typeface="Comic Sans MS" panose="030F0702030302020204" pitchFamily="66" charset="0"/>
              </a:rPr>
              <a:t>Exclusive-OR gate </a:t>
            </a:r>
            <a:r>
              <a:rPr lang="en-GB" b="0" i="0" u="none" strike="noStrike" baseline="0" dirty="0">
                <a:latin typeface="Comic Sans MS" panose="030F0702030302020204" pitchFamily="66" charset="0"/>
              </a:rPr>
              <a:t>is sometimes called a </a:t>
            </a:r>
            <a:r>
              <a:rPr lang="en-GB" b="0" i="0" u="none" strike="noStrike" baseline="0" dirty="0">
                <a:solidFill>
                  <a:srgbClr val="FF0000"/>
                </a:solidFill>
                <a:latin typeface="Comic Sans MS" panose="030F0702030302020204" pitchFamily="66" charset="0"/>
              </a:rPr>
              <a:t>parity checker</a:t>
            </a:r>
            <a:r>
              <a:rPr lang="en-GB" b="0" i="0" u="none" strike="noStrike" baseline="0" dirty="0">
                <a:latin typeface="Comic Sans MS" panose="030F0702030302020204" pitchFamily="66" charset="0"/>
              </a:rPr>
              <a:t>. </a:t>
            </a:r>
            <a:r>
              <a:rPr lang="en-GB" b="0" i="0" u="none" strike="noStrike" baseline="0" dirty="0">
                <a:solidFill>
                  <a:srgbClr val="FF0000"/>
                </a:solidFill>
                <a:latin typeface="Comic Sans MS" panose="030F0702030302020204" pitchFamily="66" charset="0"/>
              </a:rPr>
              <a:t>Parity</a:t>
            </a:r>
            <a:r>
              <a:rPr lang="en-GB" b="0" i="0" u="none" strike="noStrike" baseline="0" dirty="0">
                <a:latin typeface="Comic Sans MS" panose="030F0702030302020204" pitchFamily="66" charset="0"/>
              </a:rPr>
              <a:t> </a:t>
            </a:r>
            <a:r>
              <a:rPr lang="en-GB" b="0" i="0" u="none" strike="noStrike" baseline="0" dirty="0">
                <a:solidFill>
                  <a:srgbClr val="FF0000"/>
                </a:solidFill>
                <a:latin typeface="Comic Sans MS" panose="030F0702030302020204" pitchFamily="66" charset="0"/>
              </a:rPr>
              <a:t>checkers count the number of ones being input </a:t>
            </a:r>
            <a:r>
              <a:rPr lang="en-GB" b="0" i="0" u="none" strike="noStrike" baseline="0" dirty="0">
                <a:latin typeface="Comic Sans MS" panose="030F0702030302020204" pitchFamily="66" charset="0"/>
              </a:rPr>
              <a:t>to a circuit and output a logic 1 or 0 based on whether the number of ones is </a:t>
            </a:r>
            <a:r>
              <a:rPr lang="en-GB" b="0" i="0" u="none" strike="noStrike" baseline="0" dirty="0">
                <a:solidFill>
                  <a:srgbClr val="FF0000"/>
                </a:solidFill>
                <a:latin typeface="Comic Sans MS" panose="030F0702030302020204" pitchFamily="66" charset="0"/>
              </a:rPr>
              <a:t>odd</a:t>
            </a:r>
            <a:r>
              <a:rPr lang="en-GB" b="0" i="0" u="none" strike="noStrike" baseline="0" dirty="0">
                <a:latin typeface="Comic Sans MS" panose="030F0702030302020204" pitchFamily="66" charset="0"/>
              </a:rPr>
              <a:t> or </a:t>
            </a:r>
            <a:r>
              <a:rPr lang="en-GB" b="0" i="0" u="none" strike="noStrike" baseline="0" dirty="0">
                <a:solidFill>
                  <a:srgbClr val="FF0000"/>
                </a:solidFill>
                <a:latin typeface="Comic Sans MS" panose="030F0702030302020204" pitchFamily="66" charset="0"/>
              </a:rPr>
              <a:t>even</a:t>
            </a:r>
            <a:r>
              <a:rPr lang="en-GB" b="0" i="0" u="none" strike="noStrike" baseline="0" dirty="0">
                <a:latin typeface="Comic Sans MS" panose="030F0702030302020204" pitchFamily="66" charset="0"/>
              </a:rPr>
              <a:t>.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a:t>
            </a:r>
            <a:r>
              <a:rPr lang="en-GB" dirty="0">
                <a:latin typeface="Comic Sans MS" panose="030F0702030302020204" pitchFamily="66" charset="0"/>
              </a:rPr>
              <a:t> </a:t>
            </a:r>
            <a:r>
              <a:rPr lang="en-GB" b="0" i="0" u="none" strike="noStrike" baseline="0" dirty="0">
                <a:latin typeface="Comic Sans MS" panose="030F0702030302020204" pitchFamily="66" charset="0"/>
              </a:rPr>
              <a:t>Exclusive-OR (XOR) gate counts the number of ones at its input and </a:t>
            </a:r>
            <a:r>
              <a:rPr lang="en-GB" b="0" i="0" u="none" strike="noStrike" baseline="0" dirty="0">
                <a:solidFill>
                  <a:srgbClr val="FF0000"/>
                </a:solidFill>
                <a:latin typeface="Comic Sans MS" panose="030F0702030302020204" pitchFamily="66" charset="0"/>
              </a:rPr>
              <a:t>outputs a logic 1 for an odd count </a:t>
            </a:r>
            <a:r>
              <a:rPr lang="en-GB" b="0" i="0" u="none" strike="noStrike" baseline="0" dirty="0">
                <a:latin typeface="Comic Sans MS" panose="030F0702030302020204" pitchFamily="66" charset="0"/>
              </a:rPr>
              <a:t>and a </a:t>
            </a:r>
            <a:r>
              <a:rPr lang="en-GB" b="0" i="0" u="none" strike="noStrike" baseline="0" dirty="0">
                <a:solidFill>
                  <a:srgbClr val="FF0000"/>
                </a:solidFill>
                <a:latin typeface="Comic Sans MS" panose="030F0702030302020204" pitchFamily="66" charset="0"/>
              </a:rPr>
              <a:t>logic 0 for an even count.</a:t>
            </a:r>
          </a:p>
          <a:p>
            <a:pPr algn="just"/>
            <a:endParaRPr lang="en-GB"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A common application for XOR gates is in error checking circuits.</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If two digital signals are compared bit-by-bit, an error free condition means that a logic 0 will be compared to a logic 0 and a logic 1 will be compared with a logic 1. In both of these cases, there is an even number of logic 1's being input to the XOR gate. </a:t>
            </a:r>
          </a:p>
          <a:p>
            <a:pPr algn="just"/>
            <a:r>
              <a:rPr lang="en-GB" sz="100" dirty="0">
                <a:latin typeface="Comic Sans MS" panose="030F0702030302020204" pitchFamily="66" charset="0"/>
              </a:rPr>
              <a:t>[</a:t>
            </a:r>
          </a:p>
        </p:txBody>
      </p:sp>
    </p:spTree>
    <p:extLst>
      <p:ext uri="{BB962C8B-B14F-4D97-AF65-F5344CB8AC3E}">
        <p14:creationId xmlns:p14="http://schemas.microsoft.com/office/powerpoint/2010/main" val="1467012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F17751-C3D8-4963-9B4D-DCB7A089E96D}"/>
              </a:ext>
            </a:extLst>
          </p:cNvPr>
          <p:cNvSpPr>
            <a:spLocks noGrp="1"/>
          </p:cNvSpPr>
          <p:nvPr>
            <p:ph idx="1"/>
          </p:nvPr>
        </p:nvSpPr>
        <p:spPr>
          <a:xfrm>
            <a:off x="-1" y="81022"/>
            <a:ext cx="12107119" cy="6776977"/>
          </a:xfrm>
        </p:spPr>
        <p:txBody>
          <a:bodyPr/>
          <a:lstStyle/>
          <a:p>
            <a:pPr algn="just"/>
            <a:r>
              <a:rPr lang="en-GB" sz="2800" b="0" i="0" u="none" strike="noStrike" baseline="0" dirty="0">
                <a:latin typeface="Comic Sans MS" panose="030F0702030302020204" pitchFamily="66" charset="0"/>
              </a:rPr>
              <a:t>Therefore, as long as the XOR gate outputs a logic 0, there is no error. If, however, an error has occurred, then one signal will be logic 1 and the other will be a logic 0. This odd number of logic 1's will cause the XOR gate to output a logic 1 indicating an error condition.</a:t>
            </a:r>
          </a:p>
          <a:p>
            <a:pPr algn="just"/>
            <a:endParaRPr lang="en-GB" sz="2800" b="0" i="0" u="none" strike="noStrike" baseline="0" dirty="0">
              <a:latin typeface="Comic Sans MS" panose="030F0702030302020204" pitchFamily="66" charset="0"/>
            </a:endParaRPr>
          </a:p>
          <a:p>
            <a:pPr algn="just"/>
            <a:r>
              <a:rPr lang="en-GB" sz="2800" b="0" i="0" u="none" strike="noStrike" baseline="0" dirty="0">
                <a:latin typeface="Comic Sans MS" panose="030F0702030302020204" pitchFamily="66" charset="0"/>
              </a:rPr>
              <a:t>Just as with the AND </a:t>
            </a:r>
            <a:r>
              <a:rPr lang="en-GB" sz="2800" b="0" i="0" u="none" strike="noStrike" baseline="0" dirty="0" err="1">
                <a:latin typeface="Comic Sans MS" panose="030F0702030302020204" pitchFamily="66" charset="0"/>
              </a:rPr>
              <a:t>and</a:t>
            </a:r>
            <a:r>
              <a:rPr lang="en-GB" sz="2800" b="0" i="0" u="none" strike="noStrike" baseline="0" dirty="0">
                <a:latin typeface="Comic Sans MS" panose="030F0702030302020204" pitchFamily="66" charset="0"/>
              </a:rPr>
              <a:t> OR gates, the XOR gate may have two or more inputs. </a:t>
            </a:r>
            <a:endParaRPr lang="en-GB" sz="2800" dirty="0">
              <a:latin typeface="Comic Sans MS" panose="030F0702030302020204" pitchFamily="66" charset="0"/>
            </a:endParaRPr>
          </a:p>
          <a:p>
            <a:endParaRPr lang="en-GB" dirty="0"/>
          </a:p>
        </p:txBody>
      </p:sp>
      <p:pic>
        <p:nvPicPr>
          <p:cNvPr id="5" name="Picture 4">
            <a:extLst>
              <a:ext uri="{FF2B5EF4-FFF2-40B4-BE49-F238E27FC236}">
                <a16:creationId xmlns:a16="http://schemas.microsoft.com/office/drawing/2014/main" id="{E2971AC6-8912-4779-A425-DEE2539EE0C4}"/>
              </a:ext>
            </a:extLst>
          </p:cNvPr>
          <p:cNvPicPr>
            <a:picLocks noChangeAspect="1"/>
          </p:cNvPicPr>
          <p:nvPr/>
        </p:nvPicPr>
        <p:blipFill>
          <a:blip r:embed="rId2"/>
          <a:stretch>
            <a:fillRect/>
          </a:stretch>
        </p:blipFill>
        <p:spPr>
          <a:xfrm>
            <a:off x="1310205" y="3255496"/>
            <a:ext cx="8992855" cy="263879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C2C740F4-F0EE-4190-9B8B-6C85F50DC01C}"/>
              </a:ext>
            </a:extLst>
          </p:cNvPr>
          <p:cNvSpPr txBox="1"/>
          <p:nvPr/>
        </p:nvSpPr>
        <p:spPr>
          <a:xfrm>
            <a:off x="2966010" y="6006812"/>
            <a:ext cx="6490505" cy="523220"/>
          </a:xfrm>
          <a:prstGeom prst="rect">
            <a:avLst/>
          </a:prstGeom>
          <a:noFill/>
        </p:spPr>
        <p:txBody>
          <a:bodyPr wrap="square">
            <a:spAutoFit/>
          </a:bodyPr>
          <a:lstStyle/>
          <a:p>
            <a:r>
              <a:rPr lang="en-GB" sz="2800" b="0" i="0" u="none" strike="noStrike" baseline="0" dirty="0">
                <a:solidFill>
                  <a:srgbClr val="FF0000"/>
                </a:solidFill>
                <a:latin typeface="Comic Sans MS" panose="030F0702030302020204" pitchFamily="66" charset="0"/>
              </a:rPr>
              <a:t>Operation of a Two-Input XOR Gate</a:t>
            </a:r>
            <a:endParaRPr lang="en-GB"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222270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61854A-0FDB-42AB-9219-1A032D5225E3}"/>
              </a:ext>
            </a:extLst>
          </p:cNvPr>
          <p:cNvSpPr>
            <a:spLocks noGrp="1"/>
          </p:cNvSpPr>
          <p:nvPr>
            <p:ph idx="1"/>
          </p:nvPr>
        </p:nvSpPr>
        <p:spPr>
          <a:xfrm>
            <a:off x="92597" y="92597"/>
            <a:ext cx="12002947" cy="6667018"/>
          </a:xfrm>
        </p:spPr>
        <p:txBody>
          <a:bodyPr>
            <a:normAutofit lnSpcReduction="10000"/>
          </a:bodyPr>
          <a:lstStyle/>
          <a:p>
            <a:pPr algn="just"/>
            <a:r>
              <a:rPr lang="en-GB" sz="3600" b="1" i="0" u="none" strike="noStrike" baseline="0" dirty="0">
                <a:solidFill>
                  <a:srgbClr val="FF0000"/>
                </a:solidFill>
                <a:latin typeface="Comic Sans MS" panose="030F0702030302020204" pitchFamily="66" charset="0"/>
              </a:rPr>
              <a:t>Truth Tables</a:t>
            </a:r>
            <a:endParaRPr lang="en-FI" sz="3600" b="1" i="0" u="none" strike="noStrike" baseline="0"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The previous </a:t>
            </a:r>
            <a:r>
              <a:rPr lang="en-FI" b="0" i="0" u="none" strike="noStrike" baseline="0" dirty="0">
                <a:latin typeface="Comic Sans MS" panose="030F0702030302020204" pitchFamily="66" charset="0"/>
              </a:rPr>
              <a:t>slides</a:t>
            </a:r>
            <a:r>
              <a:rPr lang="en-GB" b="0" i="0" u="none" strike="noStrike" baseline="0" dirty="0">
                <a:latin typeface="Comic Sans MS" panose="030F0702030302020204" pitchFamily="66" charset="0"/>
              </a:rPr>
              <a:t> described the operation of each logic gate with</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words. This method isn't efficient and is prone to misinterpretation.</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FI" dirty="0">
                <a:latin typeface="Comic Sans MS" panose="030F0702030302020204" pitchFamily="66" charset="0"/>
              </a:rPr>
              <a:t>A</a:t>
            </a:r>
            <a:r>
              <a:rPr lang="en-GB" b="0" i="0" u="none" strike="noStrike" baseline="0" dirty="0">
                <a:latin typeface="Comic Sans MS" panose="030F0702030302020204" pitchFamily="66" charset="0"/>
              </a:rPr>
              <a:t> method to show the output of a digital system based</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on each of the possible input patterns of ones and zeros</a:t>
            </a:r>
            <a:r>
              <a:rPr lang="en-FI" b="0" i="0" u="none" strike="noStrike" baseline="0" dirty="0">
                <a:latin typeface="Comic Sans MS" panose="030F0702030302020204" pitchFamily="66" charset="0"/>
              </a:rPr>
              <a:t> is needed</a:t>
            </a:r>
            <a:r>
              <a:rPr lang="en-GB" b="0" i="0" u="none" strike="noStrike" baseline="0" dirty="0">
                <a:latin typeface="Comic Sans MS" panose="030F0702030302020204" pitchFamily="66" charset="0"/>
              </a:rPr>
              <a:t>.</a:t>
            </a:r>
            <a:endParaRPr lang="en-FI" b="0" i="0" u="none" strike="noStrike" baseline="0" dirty="0">
              <a:latin typeface="Comic Sans MS" panose="030F0702030302020204" pitchFamily="66" charset="0"/>
            </a:endParaRPr>
          </a:p>
          <a:p>
            <a:pPr marL="0" indent="0" algn="just">
              <a:buNone/>
            </a:pPr>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A </a:t>
            </a:r>
            <a:r>
              <a:rPr lang="en-GB" b="1" i="1" u="none" strike="noStrike" baseline="0" dirty="0">
                <a:solidFill>
                  <a:srgbClr val="FF0000"/>
                </a:solidFill>
                <a:latin typeface="Comic Sans MS" panose="030F0702030302020204" pitchFamily="66" charset="0"/>
              </a:rPr>
              <a:t>truth table </a:t>
            </a:r>
            <a:r>
              <a:rPr lang="en-GB" b="0" i="0" u="none" strike="noStrike" baseline="0" dirty="0">
                <a:latin typeface="Comic Sans MS" panose="030F0702030302020204" pitchFamily="66" charset="0"/>
              </a:rPr>
              <a:t>serves this purpose by making a column for each of</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the inputs to a digital circuit and a column for the resulting output. </a:t>
            </a:r>
            <a:endParaRPr lang="en-FI" b="0" i="0" u="none" strike="noStrike" baseline="0" dirty="0">
              <a:latin typeface="Comic Sans MS" panose="030F0702030302020204" pitchFamily="66" charset="0"/>
            </a:endParaRP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A</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row is added for each of the possible patterns of ones and zeros that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could be input to the circuit.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For example, a circuit with three inputs, A,</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B, and C, </a:t>
            </a:r>
            <a:r>
              <a:rPr lang="en-GB" b="0" i="0" u="none" strike="noStrike" baseline="0" dirty="0">
                <a:solidFill>
                  <a:srgbClr val="FF0000"/>
                </a:solidFill>
                <a:latin typeface="Comic Sans MS" panose="030F0702030302020204" pitchFamily="66" charset="0"/>
              </a:rPr>
              <a:t>would have 2</a:t>
            </a:r>
            <a:r>
              <a:rPr lang="en-GB" b="0" i="0" u="none" strike="noStrike" baseline="30000" dirty="0">
                <a:solidFill>
                  <a:srgbClr val="FF0000"/>
                </a:solidFill>
                <a:latin typeface="Comic Sans MS" panose="030F0702030302020204" pitchFamily="66" charset="0"/>
              </a:rPr>
              <a:t>3</a:t>
            </a:r>
            <a:r>
              <a:rPr lang="en-GB" b="0" i="0" u="none" strike="noStrike" baseline="0" dirty="0">
                <a:solidFill>
                  <a:srgbClr val="FF0000"/>
                </a:solidFill>
                <a:latin typeface="Comic Sans MS" panose="030F0702030302020204" pitchFamily="66" charset="0"/>
              </a:rPr>
              <a:t> = 8 possible patterns of ones and zeros</a:t>
            </a:r>
            <a:r>
              <a:rPr lang="en-GB" sz="1800" b="0" i="0" u="none" strike="noStrike" baseline="0" dirty="0">
                <a:solidFill>
                  <a:srgbClr val="FF0000"/>
                </a:solidFill>
                <a:latin typeface="TimesNewRomanPSMT"/>
              </a:rPr>
              <a:t>:</a:t>
            </a:r>
            <a:endParaRPr lang="en-GB" sz="4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548899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D7429F-32C2-41E9-AE93-769B46A70F28}"/>
              </a:ext>
            </a:extLst>
          </p:cNvPr>
          <p:cNvSpPr>
            <a:spLocks noGrp="1"/>
          </p:cNvSpPr>
          <p:nvPr>
            <p:ph idx="1"/>
          </p:nvPr>
        </p:nvSpPr>
        <p:spPr>
          <a:xfrm>
            <a:off x="161365" y="98612"/>
            <a:ext cx="11949953" cy="6759388"/>
          </a:xfrm>
        </p:spPr>
        <p:txBody>
          <a:bodyPr>
            <a:normAutofit fontScale="92500" lnSpcReduction="10000"/>
          </a:bodyPr>
          <a:lstStyle/>
          <a:p>
            <a:pPr algn="l"/>
            <a:r>
              <a:rPr lang="pt-BR" sz="2400" b="0" i="0" u="none" strike="noStrike" baseline="0" dirty="0">
                <a:latin typeface="Comic Sans MS" panose="030F0702030302020204" pitchFamily="66" charset="0"/>
              </a:rPr>
              <a:t>A=0, B=0, C=0</a:t>
            </a:r>
          </a:p>
          <a:p>
            <a:pPr algn="l"/>
            <a:r>
              <a:rPr lang="pt-BR" sz="2400" b="0" i="0" u="none" strike="noStrike" baseline="0" dirty="0">
                <a:latin typeface="Comic Sans MS" panose="030F0702030302020204" pitchFamily="66" charset="0"/>
              </a:rPr>
              <a:t>A=0, B=0, C=1</a:t>
            </a:r>
          </a:p>
          <a:p>
            <a:pPr algn="l"/>
            <a:r>
              <a:rPr lang="pt-BR" sz="2400" b="0" i="0" u="none" strike="noStrike" baseline="0" dirty="0">
                <a:latin typeface="Comic Sans MS" panose="030F0702030302020204" pitchFamily="66" charset="0"/>
              </a:rPr>
              <a:t>A=0, B=1, C=0</a:t>
            </a:r>
          </a:p>
          <a:p>
            <a:pPr algn="l"/>
            <a:r>
              <a:rPr lang="pt-BR" sz="2400" b="0" i="0" u="none" strike="noStrike" baseline="0" dirty="0">
                <a:latin typeface="Comic Sans MS" panose="030F0702030302020204" pitchFamily="66" charset="0"/>
              </a:rPr>
              <a:t>A=0, B=1, C=1</a:t>
            </a:r>
          </a:p>
          <a:p>
            <a:pPr algn="l"/>
            <a:r>
              <a:rPr lang="pt-BR" sz="2400" b="0" i="0" u="none" strike="noStrike" baseline="0" dirty="0">
                <a:latin typeface="Comic Sans MS" panose="030F0702030302020204" pitchFamily="66" charset="0"/>
              </a:rPr>
              <a:t>A=1, B=0, C=0</a:t>
            </a:r>
          </a:p>
          <a:p>
            <a:pPr algn="l"/>
            <a:r>
              <a:rPr lang="pt-BR" sz="2400" b="0" i="0" u="none" strike="noStrike" baseline="0" dirty="0">
                <a:latin typeface="Comic Sans MS" panose="030F0702030302020204" pitchFamily="66" charset="0"/>
              </a:rPr>
              <a:t>A=1, B=0, C=1</a:t>
            </a:r>
          </a:p>
          <a:p>
            <a:pPr algn="l"/>
            <a:r>
              <a:rPr lang="pt-BR" sz="2400" b="0" i="0" u="none" strike="noStrike" baseline="0" dirty="0">
                <a:latin typeface="Comic Sans MS" panose="030F0702030302020204" pitchFamily="66" charset="0"/>
              </a:rPr>
              <a:t>A=1, B=1, C=0</a:t>
            </a:r>
          </a:p>
          <a:p>
            <a:pPr algn="l"/>
            <a:r>
              <a:rPr lang="pt-BR" sz="2400" b="0" i="0" u="none" strike="noStrike" baseline="0" dirty="0">
                <a:latin typeface="Comic Sans MS" panose="030F0702030302020204" pitchFamily="66" charset="0"/>
              </a:rPr>
              <a:t>A=1, B=1, C=1</a:t>
            </a:r>
            <a:endParaRPr lang="en-FI" sz="2400" dirty="0">
              <a:latin typeface="Comic Sans MS" panose="030F0702030302020204" pitchFamily="66" charset="0"/>
            </a:endParaRPr>
          </a:p>
          <a:p>
            <a:pPr marL="0" indent="0" algn="l">
              <a:buNone/>
            </a:pPr>
            <a:endParaRPr lang="en-FI" sz="2400" dirty="0">
              <a:latin typeface="Comic Sans MS" panose="030F0702030302020204" pitchFamily="66" charset="0"/>
            </a:endParaRPr>
          </a:p>
          <a:p>
            <a:pPr algn="l"/>
            <a:r>
              <a:rPr lang="en-GB" b="0" i="0" u="none" strike="noStrike" baseline="0" dirty="0">
                <a:latin typeface="Comic Sans MS" panose="030F0702030302020204" pitchFamily="66" charset="0"/>
              </a:rPr>
              <a:t>This means that a truth table representing a circuit with three inputs</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would have 8 rows.</a:t>
            </a:r>
            <a:r>
              <a:rPr lang="en-FI" b="0" i="0" u="none" strike="noStrike" baseline="0" dirty="0">
                <a:latin typeface="Comic Sans MS" panose="030F0702030302020204" pitchFamily="66" charset="0"/>
              </a:rPr>
              <a:t> </a:t>
            </a:r>
          </a:p>
          <a:p>
            <a:pPr algn="l"/>
            <a:endParaRPr lang="en-FI" dirty="0">
              <a:latin typeface="Comic Sans MS" panose="030F0702030302020204" pitchFamily="66" charset="0"/>
            </a:endParaRPr>
          </a:p>
          <a:p>
            <a:pPr algn="l"/>
            <a:r>
              <a:rPr lang="en-GB" b="0" i="0" u="none" strike="noStrike" baseline="0" dirty="0">
                <a:latin typeface="Comic Sans MS" panose="030F0702030302020204" pitchFamily="66" charset="0"/>
              </a:rPr>
              <a:t>T</a:t>
            </a:r>
            <a:r>
              <a:rPr lang="en-FI" b="0" i="0" u="none" strike="noStrike" baseline="0" dirty="0">
                <a:latin typeface="Comic Sans MS" panose="030F0702030302020204" pitchFamily="66" charset="0"/>
              </a:rPr>
              <a:t>he </a:t>
            </a:r>
            <a:r>
              <a:rPr lang="en-GB" b="0" i="0" u="none" strike="noStrike" baseline="0" dirty="0">
                <a:latin typeface="Comic Sans MS" panose="030F0702030302020204" pitchFamily="66" charset="0"/>
              </a:rPr>
              <a:t>Figure </a:t>
            </a:r>
            <a:r>
              <a:rPr lang="en-FI" b="0" i="0" u="none" strike="noStrike" baseline="0" dirty="0">
                <a:latin typeface="Comic Sans MS" panose="030F0702030302020204" pitchFamily="66" charset="0"/>
              </a:rPr>
              <a:t>below</a:t>
            </a:r>
            <a:r>
              <a:rPr lang="en-GB" b="0" i="0" u="none" strike="noStrike" baseline="0" dirty="0">
                <a:latin typeface="Comic Sans MS" panose="030F0702030302020204" pitchFamily="66" charset="0"/>
              </a:rPr>
              <a:t> presents a sample truth table for a</a:t>
            </a:r>
            <a:r>
              <a:rPr lang="en-FI" dirty="0">
                <a:latin typeface="Comic Sans MS" panose="030F0702030302020204" pitchFamily="66" charset="0"/>
              </a:rPr>
              <a:t> </a:t>
            </a:r>
            <a:r>
              <a:rPr lang="en-GB" b="0" i="0" u="none" strike="noStrike" baseline="0" dirty="0">
                <a:latin typeface="Comic Sans MS" panose="030F0702030302020204" pitchFamily="66" charset="0"/>
              </a:rPr>
              <a:t>digital circuit with three </a:t>
            </a:r>
            <a:r>
              <a:rPr lang="en-GB" b="0" i="0" u="none" strike="noStrike" baseline="0" dirty="0">
                <a:solidFill>
                  <a:srgbClr val="FF0000"/>
                </a:solidFill>
                <a:latin typeface="Comic Sans MS" panose="030F0702030302020204" pitchFamily="66" charset="0"/>
              </a:rPr>
              <a:t>inputs, A, B, and C</a:t>
            </a:r>
            <a:r>
              <a:rPr lang="en-GB" b="0" i="0" u="none" strike="noStrike" baseline="0" dirty="0">
                <a:latin typeface="Comic Sans MS" panose="030F0702030302020204" pitchFamily="66" charset="0"/>
              </a:rPr>
              <a:t>, and one </a:t>
            </a:r>
            <a:r>
              <a:rPr lang="en-GB" b="0" i="0" u="none" strike="noStrike" baseline="0" dirty="0">
                <a:solidFill>
                  <a:srgbClr val="FF0000"/>
                </a:solidFill>
                <a:latin typeface="Comic Sans MS" panose="030F0702030302020204" pitchFamily="66" charset="0"/>
              </a:rPr>
              <a:t>output, X</a:t>
            </a:r>
            <a:r>
              <a:rPr lang="en-GB" b="0" i="0" u="none" strike="noStrike" baseline="0" dirty="0">
                <a:latin typeface="Comic Sans MS" panose="030F0702030302020204" pitchFamily="66" charset="0"/>
              </a:rPr>
              <a:t>. </a:t>
            </a:r>
            <a:endParaRPr lang="en-FI" b="0" i="0" u="none" strike="noStrike" baseline="0" dirty="0">
              <a:latin typeface="Comic Sans MS" panose="030F0702030302020204" pitchFamily="66" charset="0"/>
            </a:endParaRPr>
          </a:p>
          <a:p>
            <a:pPr algn="l"/>
            <a:endParaRPr lang="en-FI" dirty="0">
              <a:latin typeface="Comic Sans MS" panose="030F0702030302020204" pitchFamily="66" charset="0"/>
            </a:endParaRPr>
          </a:p>
          <a:p>
            <a:pPr algn="l"/>
            <a:r>
              <a:rPr lang="en-GB" b="0" i="0" u="none" strike="noStrike" baseline="0" dirty="0">
                <a:latin typeface="Comic Sans MS" panose="030F0702030302020204" pitchFamily="66" charset="0"/>
              </a:rPr>
              <a:t>Note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that the output X doesn't represent anything in particular. It is just</a:t>
            </a:r>
            <a:r>
              <a:rPr lang="en-FI" dirty="0">
                <a:latin typeface="Comic Sans MS" panose="030F0702030302020204" pitchFamily="66" charset="0"/>
              </a:rPr>
              <a:t> </a:t>
            </a:r>
            <a:r>
              <a:rPr lang="en-GB" b="0" i="0" u="none" strike="noStrike" baseline="0" dirty="0">
                <a:latin typeface="Comic Sans MS" panose="030F0702030302020204" pitchFamily="66" charset="0"/>
              </a:rPr>
              <a:t>added to show how the output might appear in a truth table.</a:t>
            </a:r>
            <a:endParaRPr lang="en-GB" dirty="0">
              <a:latin typeface="Comic Sans MS" panose="030F0702030302020204" pitchFamily="66"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E1D1914-7FE2-4554-8581-986F5EAE7C9E}"/>
                  </a:ext>
                </a:extLst>
              </p14:cNvPr>
              <p14:cNvContentPartPr/>
              <p14:nvPr/>
            </p14:nvContentPartPr>
            <p14:xfrm>
              <a:off x="330120" y="0"/>
              <a:ext cx="832320" cy="3283200"/>
            </p14:xfrm>
          </p:contentPart>
        </mc:Choice>
        <mc:Fallback>
          <p:pic>
            <p:nvPicPr>
              <p:cNvPr id="2" name="Ink 1">
                <a:extLst>
                  <a:ext uri="{FF2B5EF4-FFF2-40B4-BE49-F238E27FC236}">
                    <a16:creationId xmlns:a16="http://schemas.microsoft.com/office/drawing/2014/main" id="{BE1D1914-7FE2-4554-8581-986F5EAE7C9E}"/>
                  </a:ext>
                </a:extLst>
              </p:cNvPr>
              <p:cNvPicPr/>
              <p:nvPr/>
            </p:nvPicPr>
            <p:blipFill>
              <a:blip r:embed="rId3"/>
              <a:stretch>
                <a:fillRect/>
              </a:stretch>
            </p:blipFill>
            <p:spPr>
              <a:xfrm>
                <a:off x="320760" y="-9360"/>
                <a:ext cx="851040" cy="3301920"/>
              </a:xfrm>
              <a:prstGeom prst="rect">
                <a:avLst/>
              </a:prstGeom>
            </p:spPr>
          </p:pic>
        </mc:Fallback>
      </mc:AlternateContent>
    </p:spTree>
    <p:extLst>
      <p:ext uri="{BB962C8B-B14F-4D97-AF65-F5344CB8AC3E}">
        <p14:creationId xmlns:p14="http://schemas.microsoft.com/office/powerpoint/2010/main" val="1199336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D2676E-95DF-4A58-B5C2-345B29FF973D}"/>
              </a:ext>
            </a:extLst>
          </p:cNvPr>
          <p:cNvPicPr>
            <a:picLocks noGrp="1" noChangeAspect="1"/>
          </p:cNvPicPr>
          <p:nvPr>
            <p:ph idx="1"/>
          </p:nvPr>
        </p:nvPicPr>
        <p:blipFill>
          <a:blip r:embed="rId2"/>
          <a:stretch>
            <a:fillRect/>
          </a:stretch>
        </p:blipFill>
        <p:spPr>
          <a:xfrm>
            <a:off x="429820" y="340660"/>
            <a:ext cx="4348368" cy="5495364"/>
          </a:xfrm>
        </p:spPr>
      </p:pic>
      <p:sp>
        <p:nvSpPr>
          <p:cNvPr id="7" name="TextBox 6">
            <a:extLst>
              <a:ext uri="{FF2B5EF4-FFF2-40B4-BE49-F238E27FC236}">
                <a16:creationId xmlns:a16="http://schemas.microsoft.com/office/drawing/2014/main" id="{F47B4FE7-528E-4047-B199-C0771F17DA48}"/>
              </a:ext>
            </a:extLst>
          </p:cNvPr>
          <p:cNvSpPr txBox="1"/>
          <p:nvPr/>
        </p:nvSpPr>
        <p:spPr>
          <a:xfrm>
            <a:off x="107576" y="6216151"/>
            <a:ext cx="5522259" cy="461665"/>
          </a:xfrm>
          <a:prstGeom prst="rect">
            <a:avLst/>
          </a:prstGeom>
          <a:noFill/>
        </p:spPr>
        <p:txBody>
          <a:bodyPr wrap="square">
            <a:spAutoFit/>
          </a:bodyPr>
          <a:lstStyle/>
          <a:p>
            <a:r>
              <a:rPr lang="en-GB" sz="2400" b="1" i="0" u="none" strike="noStrike" baseline="0" dirty="0">
                <a:solidFill>
                  <a:srgbClr val="FF0000"/>
                </a:solidFill>
                <a:latin typeface="Comic Sans MS" panose="030F0702030302020204" pitchFamily="66" charset="0"/>
              </a:rPr>
              <a:t>Sample Three-Input Truth Table</a:t>
            </a:r>
            <a:endParaRPr lang="en-GB" sz="2400" b="1" dirty="0">
              <a:solidFill>
                <a:srgbClr val="FF0000"/>
              </a:solidFill>
              <a:latin typeface="Comic Sans MS" panose="030F0702030302020204" pitchFamily="66" charset="0"/>
            </a:endParaRPr>
          </a:p>
        </p:txBody>
      </p:sp>
      <p:sp>
        <p:nvSpPr>
          <p:cNvPr id="9" name="TextBox 8">
            <a:extLst>
              <a:ext uri="{FF2B5EF4-FFF2-40B4-BE49-F238E27FC236}">
                <a16:creationId xmlns:a16="http://schemas.microsoft.com/office/drawing/2014/main" id="{3C0A0A9D-E626-4CCE-809E-4F482BC7E619}"/>
              </a:ext>
            </a:extLst>
          </p:cNvPr>
          <p:cNvSpPr txBox="1"/>
          <p:nvPr/>
        </p:nvSpPr>
        <p:spPr>
          <a:xfrm>
            <a:off x="5477435" y="206189"/>
            <a:ext cx="6535271" cy="6740307"/>
          </a:xfrm>
          <a:prstGeom prst="rect">
            <a:avLst/>
          </a:prstGeom>
          <a:noFill/>
        </p:spPr>
        <p:txBody>
          <a:bodyPr wrap="square">
            <a:spAutoFit/>
          </a:bodyPr>
          <a:lstStyle/>
          <a:p>
            <a:pPr algn="just"/>
            <a:r>
              <a:rPr lang="en-GB" sz="2400" b="0" i="0" u="none" strike="noStrike" baseline="0" dirty="0">
                <a:latin typeface="Comic Sans MS" panose="030F0702030302020204" pitchFamily="66" charset="0"/>
              </a:rPr>
              <a:t>For some, the hardest part of creating a truth table is being able to</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list all possible patterns of ones and zeros for the inputs.</a:t>
            </a:r>
            <a:endParaRPr lang="en-FI" sz="240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One thing that</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can help us is that we know that </a:t>
            </a:r>
            <a:r>
              <a:rPr lang="en-GB" sz="2400" b="0" i="0" u="none" strike="noStrike" baseline="0" dirty="0">
                <a:solidFill>
                  <a:srgbClr val="FF0000"/>
                </a:solidFill>
                <a:latin typeface="Comic Sans MS" panose="030F0702030302020204" pitchFamily="66" charset="0"/>
              </a:rPr>
              <a:t>for n inputs</a:t>
            </a:r>
            <a:r>
              <a:rPr lang="en-GB" sz="2400" b="0" i="0" u="none" strike="noStrike" baseline="0" dirty="0">
                <a:latin typeface="Comic Sans MS" panose="030F0702030302020204" pitchFamily="66" charset="0"/>
              </a:rPr>
              <a:t>, there must be 2</a:t>
            </a:r>
            <a:r>
              <a:rPr lang="en-GB" sz="2400" b="0" i="0" u="none" strike="noStrike" baseline="30000" dirty="0">
                <a:latin typeface="Comic Sans MS" panose="030F0702030302020204" pitchFamily="66" charset="0"/>
              </a:rPr>
              <a:t>n</a:t>
            </a:r>
            <a:r>
              <a:rPr lang="en-GB" sz="2400" b="0" i="0" u="none" strike="noStrike" baseline="0" dirty="0">
                <a:latin typeface="Comic Sans MS" panose="030F0702030302020204" pitchFamily="66" charset="0"/>
              </a:rPr>
              <a:t> different</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patterns of inputs.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Therefore, if your truth table doesn't have exactly 2</a:t>
            </a:r>
            <a:r>
              <a:rPr lang="en-GB" sz="2400" b="0" i="0" u="none" strike="noStrike" baseline="30000" dirty="0">
                <a:latin typeface="Comic Sans MS" panose="030F0702030302020204" pitchFamily="66" charset="0"/>
              </a:rPr>
              <a:t>n</a:t>
            </a:r>
            <a:r>
              <a:rPr lang="en-FI" sz="2400" b="0" i="0" u="none" strike="noStrike" baseline="30000" dirty="0">
                <a:latin typeface="Comic Sans MS" panose="030F0702030302020204" pitchFamily="66" charset="0"/>
              </a:rPr>
              <a:t> </a:t>
            </a:r>
            <a:r>
              <a:rPr lang="en-GB" sz="2400" b="0" i="0" u="none" strike="noStrike" baseline="0" dirty="0">
                <a:latin typeface="Comic Sans MS" panose="030F0702030302020204" pitchFamily="66" charset="0"/>
              </a:rPr>
              <a:t>rows, then a pattern is either missing or one has been duplicated.</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There is also a trick to deriving the combinations. Assume we need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to build a truth table with four</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inputs, A, B, C, and D. Since 2</a:t>
            </a:r>
            <a:r>
              <a:rPr lang="en-GB" sz="2400" b="0" i="0" u="none" strike="noStrike" baseline="30000" dirty="0">
                <a:latin typeface="Comic Sans MS" panose="030F0702030302020204" pitchFamily="66" charset="0"/>
              </a:rPr>
              <a:t>4</a:t>
            </a:r>
            <a:r>
              <a:rPr lang="en-GB" sz="2400" b="0" i="0" u="none" strike="noStrike" baseline="0" dirty="0">
                <a:latin typeface="Comic Sans MS" panose="030F0702030302020204" pitchFamily="66" charset="0"/>
              </a:rPr>
              <a:t> = 16, we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know that there will be sixteen possible combinations of ones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and</a:t>
            </a:r>
            <a:r>
              <a:rPr lang="en-FI" sz="2400" dirty="0">
                <a:latin typeface="Comic Sans MS" panose="030F0702030302020204" pitchFamily="66" charset="0"/>
              </a:rPr>
              <a:t> </a:t>
            </a:r>
            <a:r>
              <a:rPr lang="en-GB" sz="2400" b="0" i="0" u="none" strike="noStrike" baseline="0" dirty="0">
                <a:latin typeface="Comic Sans MS" panose="030F0702030302020204" pitchFamily="66" charset="0"/>
              </a:rPr>
              <a:t>zeros</a:t>
            </a:r>
          </a:p>
        </p:txBody>
      </p:sp>
    </p:spTree>
    <p:extLst>
      <p:ext uri="{BB962C8B-B14F-4D97-AF65-F5344CB8AC3E}">
        <p14:creationId xmlns:p14="http://schemas.microsoft.com/office/powerpoint/2010/main" val="908576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0F49C-E7DF-4AEA-A5C0-604C9137BB0C}"/>
              </a:ext>
            </a:extLst>
          </p:cNvPr>
          <p:cNvSpPr>
            <a:spLocks noGrp="1"/>
          </p:cNvSpPr>
          <p:nvPr>
            <p:ph idx="1"/>
          </p:nvPr>
        </p:nvSpPr>
        <p:spPr>
          <a:xfrm>
            <a:off x="89647" y="80682"/>
            <a:ext cx="11985812" cy="6687671"/>
          </a:xfrm>
        </p:spPr>
        <p:txBody>
          <a:bodyPr>
            <a:normAutofit fontScale="92500" lnSpcReduction="20000"/>
          </a:bodyPr>
          <a:lstStyle/>
          <a:p>
            <a:pPr algn="just"/>
            <a:r>
              <a:rPr lang="en-GB" b="0" i="0" u="none" strike="noStrike" baseline="0" dirty="0">
                <a:latin typeface="Comic Sans MS" panose="030F0702030302020204" pitchFamily="66" charset="0"/>
              </a:rPr>
              <a:t>For half of those combinations, A will equal zero, and for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other half, A will equal one.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When A equals zero, the remaining three inputs, B, C, and D, will</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go through every possible combination of ones and zeros for three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inputs.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Three inputs have 2</a:t>
            </a:r>
            <a:r>
              <a:rPr lang="en-GB" b="0" i="0" u="none" strike="noStrike" baseline="30000" dirty="0">
                <a:latin typeface="Comic Sans MS" panose="030F0702030302020204" pitchFamily="66" charset="0"/>
              </a:rPr>
              <a:t>3</a:t>
            </a:r>
            <a:r>
              <a:rPr lang="en-GB" b="0" i="0" u="none" strike="noStrike" baseline="0" dirty="0">
                <a:latin typeface="Comic Sans MS" panose="030F0702030302020204" pitchFamily="66" charset="0"/>
              </a:rPr>
              <a:t> = 8 patterns, which coincidentally, is half</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of 16. For half of the 8 combinations, B will equal zero, and for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other half, B will equal one. Repeat this for C and then D.</a:t>
            </a: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This gives us a process to create a truth table for four inputs. Begin</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with the A column and list eight zeros followed by eight ones. Half of</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eight is four, so in the B column write four zeros followed by four ones</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in the rows where A equals zero, then write four zeros followed by four</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ones in the rows where A equals one.</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Half of four equals two, so the C</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column will have two zeros followed by two ones followed by two</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zeros then two ones and so on. The process should end with the last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column having alternating ones and zeros. If done properly, the first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row should have all zeros and the last row should have all ones.</a:t>
            </a:r>
            <a:endParaRPr lang="en-GB" sz="4000" dirty="0">
              <a:latin typeface="Comic Sans MS" panose="030F0702030302020204" pitchFamily="66" charset="0"/>
            </a:endParaRPr>
          </a:p>
        </p:txBody>
      </p:sp>
    </p:spTree>
    <p:extLst>
      <p:ext uri="{BB962C8B-B14F-4D97-AF65-F5344CB8AC3E}">
        <p14:creationId xmlns:p14="http://schemas.microsoft.com/office/powerpoint/2010/main" val="2143939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9D08C1-68EE-4918-BBFB-0EF0F4C51E0D}"/>
              </a:ext>
            </a:extLst>
          </p:cNvPr>
          <p:cNvPicPr>
            <a:picLocks noGrp="1" noChangeAspect="1"/>
          </p:cNvPicPr>
          <p:nvPr>
            <p:ph idx="1"/>
          </p:nvPr>
        </p:nvPicPr>
        <p:blipFill>
          <a:blip r:embed="rId2"/>
          <a:stretch>
            <a:fillRect/>
          </a:stretch>
        </p:blipFill>
        <p:spPr>
          <a:xfrm>
            <a:off x="288154" y="98611"/>
            <a:ext cx="4928021" cy="6660777"/>
          </a:xfrm>
        </p:spPr>
      </p:pic>
      <p:sp>
        <p:nvSpPr>
          <p:cNvPr id="7" name="TextBox 6">
            <a:extLst>
              <a:ext uri="{FF2B5EF4-FFF2-40B4-BE49-F238E27FC236}">
                <a16:creationId xmlns:a16="http://schemas.microsoft.com/office/drawing/2014/main" id="{6D7B7AE7-6B53-4953-BBED-10447235A73B}"/>
              </a:ext>
            </a:extLst>
          </p:cNvPr>
          <p:cNvSpPr txBox="1"/>
          <p:nvPr/>
        </p:nvSpPr>
        <p:spPr>
          <a:xfrm>
            <a:off x="4464424" y="6027003"/>
            <a:ext cx="6096000" cy="830997"/>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Listing All Bit Patterns for a Four-Input Truth Table</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240471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4336E9-513F-4DF3-921C-F7E6F0AE0FC0}"/>
              </a:ext>
            </a:extLst>
          </p:cNvPr>
          <p:cNvSpPr>
            <a:spLocks noGrp="1"/>
          </p:cNvSpPr>
          <p:nvPr>
            <p:ph idx="1"/>
          </p:nvPr>
        </p:nvSpPr>
        <p:spPr>
          <a:xfrm>
            <a:off x="98612" y="80682"/>
            <a:ext cx="11994776" cy="6777318"/>
          </a:xfrm>
        </p:spPr>
        <p:txBody>
          <a:bodyPr>
            <a:normAutofit/>
          </a:bodyPr>
          <a:lstStyle/>
          <a:p>
            <a:pPr algn="l"/>
            <a:r>
              <a:rPr lang="en-FI" b="0" i="0" u="none" strike="noStrike" baseline="0" dirty="0">
                <a:solidFill>
                  <a:srgbClr val="FF0000"/>
                </a:solidFill>
                <a:latin typeface="Comic Sans MS" panose="030F0702030302020204" pitchFamily="66" charset="0"/>
              </a:rPr>
              <a:t>Truth table for Not gate or inverter </a:t>
            </a:r>
          </a:p>
          <a:p>
            <a:pPr algn="just"/>
            <a:r>
              <a:rPr lang="en-GB" b="0" i="0" u="none" strike="noStrike" baseline="0" dirty="0">
                <a:latin typeface="Comic Sans MS" panose="030F0702030302020204" pitchFamily="66" charset="0"/>
              </a:rPr>
              <a:t>The inverter has one input and</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one output. Therefore, there is one column for inputs and one column</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for outputs. </a:t>
            </a:r>
            <a:endParaRPr lang="en-FI" dirty="0">
              <a:latin typeface="Comic Sans MS" panose="030F0702030302020204" pitchFamily="66" charset="0"/>
            </a:endParaRP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For single input, there are exactly two possible states: logic</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1 and logic 0. Therefore, there will be two rows of data for the inverter</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truth table.</a:t>
            </a:r>
            <a:r>
              <a:rPr lang="en-GB" sz="1800" b="0" i="0" u="none" strike="noStrike" baseline="0" dirty="0">
                <a:latin typeface="TimesNewRomanPSMT"/>
              </a:rPr>
              <a:t> </a:t>
            </a:r>
            <a:endParaRPr lang="en-FI" sz="1800" b="0" i="0" u="none" strike="noStrike" baseline="0" dirty="0">
              <a:latin typeface="TimesNewRomanPSMT"/>
            </a:endParaRPr>
          </a:p>
          <a:p>
            <a:pPr algn="just"/>
            <a:endParaRPr lang="en-FI" sz="1800" dirty="0">
              <a:latin typeface="TimesNewRomanPSMT"/>
            </a:endParaRPr>
          </a:p>
          <a:p>
            <a:pPr algn="just"/>
            <a:endParaRPr lang="en-FI" sz="1800" b="0" i="0" u="none" strike="noStrike" baseline="0" dirty="0">
              <a:latin typeface="TimesNewRomanPSMT"/>
            </a:endParaRPr>
          </a:p>
          <a:p>
            <a:pPr algn="just"/>
            <a:endParaRPr lang="en-FI" sz="1800" dirty="0">
              <a:latin typeface="TimesNewRomanPSMT"/>
            </a:endParaRPr>
          </a:p>
          <a:p>
            <a:pPr algn="just"/>
            <a:endParaRPr lang="en-FI" sz="1800" b="0" i="0" u="none" strike="noStrike" baseline="0" dirty="0">
              <a:latin typeface="TimesNewRomanPSMT"/>
            </a:endParaRPr>
          </a:p>
          <a:p>
            <a:pPr algn="just"/>
            <a:endParaRPr lang="en-FI" sz="1800" dirty="0">
              <a:latin typeface="TimesNewRomanPSMT"/>
            </a:endParaRPr>
          </a:p>
          <a:p>
            <a:pPr algn="just"/>
            <a:endParaRPr lang="en-FI" sz="1800" b="0" i="0" u="none" strike="noStrike" baseline="0" dirty="0">
              <a:latin typeface="TimesNewRomanPSMT"/>
            </a:endParaRPr>
          </a:p>
          <a:p>
            <a:pPr algn="just"/>
            <a:endParaRPr lang="en-FI" sz="1800" dirty="0">
              <a:latin typeface="TimesNewRomanPSMT"/>
            </a:endParaRPr>
          </a:p>
          <a:p>
            <a:pPr algn="just"/>
            <a:r>
              <a:rPr lang="en-GB" sz="2000" b="0" i="0" u="none" strike="noStrike" baseline="0" dirty="0">
                <a:solidFill>
                  <a:srgbClr val="FF0000"/>
                </a:solidFill>
                <a:latin typeface="Comic Sans MS" panose="030F0702030302020204" pitchFamily="66" charset="0"/>
              </a:rPr>
              <a:t>Inverter Truth Table</a:t>
            </a:r>
            <a:endParaRPr lang="en-GB" sz="440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3E15DD0D-C68C-4891-B23F-2FB00AA5FB43}"/>
              </a:ext>
            </a:extLst>
          </p:cNvPr>
          <p:cNvPicPr>
            <a:picLocks noChangeAspect="1"/>
          </p:cNvPicPr>
          <p:nvPr/>
        </p:nvPicPr>
        <p:blipFill>
          <a:blip r:embed="rId2"/>
          <a:stretch>
            <a:fillRect/>
          </a:stretch>
        </p:blipFill>
        <p:spPr>
          <a:xfrm>
            <a:off x="2868266" y="3760005"/>
            <a:ext cx="2295845" cy="1848108"/>
          </a:xfrm>
          <a:prstGeom prst="rect">
            <a:avLst/>
          </a:prstGeom>
        </p:spPr>
      </p:pic>
    </p:spTree>
    <p:extLst>
      <p:ext uri="{BB962C8B-B14F-4D97-AF65-F5344CB8AC3E}">
        <p14:creationId xmlns:p14="http://schemas.microsoft.com/office/powerpoint/2010/main" val="3912407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69C3C9-60B7-4863-935D-D152469BBABA}"/>
              </a:ext>
            </a:extLst>
          </p:cNvPr>
          <p:cNvSpPr>
            <a:spLocks noGrp="1"/>
          </p:cNvSpPr>
          <p:nvPr>
            <p:ph sz="half" idx="1"/>
          </p:nvPr>
        </p:nvSpPr>
        <p:spPr>
          <a:xfrm>
            <a:off x="98613" y="62752"/>
            <a:ext cx="5199528" cy="6629401"/>
          </a:xfrm>
        </p:spPr>
        <p:txBody>
          <a:bodyPr/>
          <a:lstStyle/>
          <a:p>
            <a:pPr algn="just"/>
            <a:r>
              <a:rPr lang="en-GB" b="0" i="0" u="none" strike="noStrike" baseline="0" dirty="0">
                <a:solidFill>
                  <a:srgbClr val="FF0000"/>
                </a:solidFill>
                <a:latin typeface="Comic Sans MS" panose="030F0702030302020204" pitchFamily="66" charset="0"/>
              </a:rPr>
              <a:t>AND GATE</a:t>
            </a:r>
            <a:endParaRPr lang="en-FI" b="0"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AND gate outputs a logic 1 </a:t>
            </a:r>
            <a:r>
              <a:rPr lang="en-GB" sz="2400" b="0" i="1" u="none" strike="noStrike" baseline="0" dirty="0">
                <a:latin typeface="Comic Sans MS" panose="030F0702030302020204" pitchFamily="66" charset="0"/>
              </a:rPr>
              <a:t>only </a:t>
            </a:r>
            <a:r>
              <a:rPr lang="en-GB" sz="2400" b="0" i="0" u="none" strike="noStrike" baseline="0" dirty="0">
                <a:latin typeface="Comic Sans MS" panose="030F0702030302020204" pitchFamily="66" charset="0"/>
              </a:rPr>
              <a:t>if all of its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inputs are logic 1.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 operation of a two-input AND gate can be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represented with the truth table shown in Figure</a:t>
            </a:r>
            <a:r>
              <a:rPr lang="en-FI" sz="2400" b="0" i="0" u="none" strike="noStrike" baseline="0" dirty="0">
                <a:latin typeface="Comic Sans MS" panose="030F0702030302020204" pitchFamily="66" charset="0"/>
              </a:rPr>
              <a:t> below </a:t>
            </a:r>
            <a:endParaRPr lang="en-GB" sz="3600" dirty="0">
              <a:latin typeface="Comic Sans MS" panose="030F0702030302020204" pitchFamily="66" charset="0"/>
            </a:endParaRPr>
          </a:p>
        </p:txBody>
      </p:sp>
      <p:sp>
        <p:nvSpPr>
          <p:cNvPr id="5" name="Content Placeholder 4">
            <a:extLst>
              <a:ext uri="{FF2B5EF4-FFF2-40B4-BE49-F238E27FC236}">
                <a16:creationId xmlns:a16="http://schemas.microsoft.com/office/drawing/2014/main" id="{09314D22-E7DD-4566-BD0F-69A841AA9157}"/>
              </a:ext>
            </a:extLst>
          </p:cNvPr>
          <p:cNvSpPr>
            <a:spLocks noGrp="1"/>
          </p:cNvSpPr>
          <p:nvPr>
            <p:ph sz="half" idx="2"/>
          </p:nvPr>
        </p:nvSpPr>
        <p:spPr>
          <a:xfrm>
            <a:off x="6642846" y="62752"/>
            <a:ext cx="5289177" cy="6696635"/>
          </a:xfrm>
        </p:spPr>
        <p:txBody>
          <a:bodyPr/>
          <a:lstStyle/>
          <a:p>
            <a:pPr algn="just"/>
            <a:r>
              <a:rPr lang="en-GB" b="0" i="0" u="none" strike="noStrike" baseline="0" dirty="0">
                <a:solidFill>
                  <a:srgbClr val="FF0000"/>
                </a:solidFill>
                <a:latin typeface="Comic Sans MS" panose="030F0702030302020204" pitchFamily="66" charset="0"/>
              </a:rPr>
              <a:t>OR GATE</a:t>
            </a:r>
            <a:endParaRPr lang="en-FI" b="0"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The output of an OR gate is set to logic 1 if any of its inputs equal 1.</a:t>
            </a:r>
            <a:endParaRPr lang="en-FI" sz="2400" b="0" i="0" u="none" strike="noStrike" baseline="0" dirty="0">
              <a:latin typeface="Comic Sans MS" panose="030F0702030302020204" pitchFamily="66" charset="0"/>
            </a:endParaRPr>
          </a:p>
          <a:p>
            <a:pPr marL="0" indent="0" algn="just">
              <a:buNone/>
            </a:pPr>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The OR gate truth table is shown in Figure</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000" b="0" i="0" u="none" strike="noStrike" baseline="0" dirty="0">
                <a:solidFill>
                  <a:srgbClr val="FF0000"/>
                </a:solidFill>
                <a:latin typeface="Comic Sans MS" panose="030F0702030302020204" pitchFamily="66" charset="0"/>
              </a:rPr>
              <a:t>Two-Input OR Gate Truth Table</a:t>
            </a:r>
            <a:endParaRPr lang="en-FI" sz="2000" b="0" i="0" u="none" strike="noStrike" baseline="0" dirty="0">
              <a:solidFill>
                <a:srgbClr val="FF0000"/>
              </a:solidFill>
              <a:latin typeface="Comic Sans MS" panose="030F0702030302020204" pitchFamily="66" charset="0"/>
            </a:endParaRPr>
          </a:p>
          <a:p>
            <a:pPr algn="just"/>
            <a:endParaRPr lang="en-GB" sz="3600" dirty="0">
              <a:latin typeface="Comic Sans MS" panose="030F0702030302020204" pitchFamily="66" charset="0"/>
            </a:endParaRPr>
          </a:p>
        </p:txBody>
      </p:sp>
      <p:pic>
        <p:nvPicPr>
          <p:cNvPr id="7" name="Picture 6">
            <a:extLst>
              <a:ext uri="{FF2B5EF4-FFF2-40B4-BE49-F238E27FC236}">
                <a16:creationId xmlns:a16="http://schemas.microsoft.com/office/drawing/2014/main" id="{D427E997-C164-400B-BE14-F30DE5413EDF}"/>
              </a:ext>
            </a:extLst>
          </p:cNvPr>
          <p:cNvPicPr>
            <a:picLocks noChangeAspect="1"/>
          </p:cNvPicPr>
          <p:nvPr/>
        </p:nvPicPr>
        <p:blipFill>
          <a:blip r:embed="rId2"/>
          <a:stretch>
            <a:fillRect/>
          </a:stretch>
        </p:blipFill>
        <p:spPr>
          <a:xfrm>
            <a:off x="973940" y="3130186"/>
            <a:ext cx="3305636" cy="2534004"/>
          </a:xfrm>
          <a:prstGeom prst="rect">
            <a:avLst/>
          </a:prstGeom>
        </p:spPr>
      </p:pic>
      <p:sp>
        <p:nvSpPr>
          <p:cNvPr id="9" name="TextBox 8">
            <a:extLst>
              <a:ext uri="{FF2B5EF4-FFF2-40B4-BE49-F238E27FC236}">
                <a16:creationId xmlns:a16="http://schemas.microsoft.com/office/drawing/2014/main" id="{942A7B96-39A3-421F-93A5-124F4C3B3918}"/>
              </a:ext>
            </a:extLst>
          </p:cNvPr>
          <p:cNvSpPr txBox="1"/>
          <p:nvPr/>
        </p:nvSpPr>
        <p:spPr>
          <a:xfrm>
            <a:off x="973940" y="6108557"/>
            <a:ext cx="4118013" cy="369332"/>
          </a:xfrm>
          <a:prstGeom prst="rect">
            <a:avLst/>
          </a:prstGeom>
          <a:noFill/>
        </p:spPr>
        <p:txBody>
          <a:bodyPr wrap="square">
            <a:spAutoFit/>
          </a:bodyPr>
          <a:lstStyle/>
          <a:p>
            <a:pPr algn="just"/>
            <a:r>
              <a:rPr lang="en-GB" sz="1800" b="0" i="0" u="none" strike="noStrike" baseline="0" dirty="0">
                <a:solidFill>
                  <a:srgbClr val="FF0000"/>
                </a:solidFill>
                <a:latin typeface="Comic Sans MS" panose="030F0702030302020204" pitchFamily="66" charset="0"/>
              </a:rPr>
              <a:t>Two-Input AND Gate Truth Table</a:t>
            </a:r>
            <a:endParaRPr lang="en-GB" dirty="0">
              <a:solidFill>
                <a:srgbClr val="FF0000"/>
              </a:solidFill>
              <a:latin typeface="Comic Sans MS" panose="030F0702030302020204" pitchFamily="66" charset="0"/>
            </a:endParaRPr>
          </a:p>
        </p:txBody>
      </p:sp>
      <p:pic>
        <p:nvPicPr>
          <p:cNvPr id="11" name="Picture 10">
            <a:extLst>
              <a:ext uri="{FF2B5EF4-FFF2-40B4-BE49-F238E27FC236}">
                <a16:creationId xmlns:a16="http://schemas.microsoft.com/office/drawing/2014/main" id="{850D7357-676B-4314-868F-7F590CE4E6A6}"/>
              </a:ext>
            </a:extLst>
          </p:cNvPr>
          <p:cNvPicPr>
            <a:picLocks noChangeAspect="1"/>
          </p:cNvPicPr>
          <p:nvPr/>
        </p:nvPicPr>
        <p:blipFill>
          <a:blip r:embed="rId3"/>
          <a:stretch>
            <a:fillRect/>
          </a:stretch>
        </p:blipFill>
        <p:spPr>
          <a:xfrm>
            <a:off x="6976553" y="2771036"/>
            <a:ext cx="3277057" cy="2553056"/>
          </a:xfrm>
          <a:prstGeom prst="rect">
            <a:avLst/>
          </a:prstGeom>
        </p:spPr>
      </p:pic>
    </p:spTree>
    <p:extLst>
      <p:ext uri="{BB962C8B-B14F-4D97-AF65-F5344CB8AC3E}">
        <p14:creationId xmlns:p14="http://schemas.microsoft.com/office/powerpoint/2010/main" val="1681355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08133-28D8-46C3-AC36-0A2CB20A8030}"/>
              </a:ext>
            </a:extLst>
          </p:cNvPr>
          <p:cNvSpPr>
            <a:spLocks noGrp="1"/>
          </p:cNvSpPr>
          <p:nvPr>
            <p:ph idx="1"/>
          </p:nvPr>
        </p:nvSpPr>
        <p:spPr>
          <a:xfrm>
            <a:off x="125505" y="62752"/>
            <a:ext cx="11976847" cy="6723529"/>
          </a:xfrm>
        </p:spPr>
        <p:txBody>
          <a:bodyPr>
            <a:normAutofit/>
          </a:bodyPr>
          <a:lstStyle/>
          <a:p>
            <a:pPr algn="l"/>
            <a:r>
              <a:rPr lang="en-GB" sz="2400" b="0" i="0" u="none" strike="noStrike" baseline="0" dirty="0">
                <a:latin typeface="Comic Sans MS" panose="030F0702030302020204" pitchFamily="66" charset="0"/>
              </a:rPr>
              <a:t>The XOR gate's output is set to logic 1 if there are an odd number of</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ones being input to the circuit. </a:t>
            </a:r>
            <a:r>
              <a:rPr lang="en-FI" sz="2400" b="0" i="0" u="none" strike="noStrike" baseline="0" dirty="0">
                <a:latin typeface="Comic Sans MS" panose="030F0702030302020204" pitchFamily="66" charset="0"/>
              </a:rPr>
              <a:t> </a:t>
            </a:r>
          </a:p>
          <a:p>
            <a:pPr algn="l"/>
            <a:endParaRPr lang="en-FI" sz="2400" dirty="0">
              <a:latin typeface="Comic Sans MS" panose="030F0702030302020204" pitchFamily="66" charset="0"/>
            </a:endParaRPr>
          </a:p>
          <a:p>
            <a:pPr algn="l"/>
            <a:r>
              <a:rPr lang="en-FI" sz="2400" b="0" i="0" u="none" strike="noStrike" baseline="0" dirty="0">
                <a:latin typeface="Comic Sans MS" panose="030F0702030302020204" pitchFamily="66" charset="0"/>
              </a:rPr>
              <a:t>The </a:t>
            </a:r>
            <a:r>
              <a:rPr lang="en-GB" sz="2400" b="0" i="0" u="none" strike="noStrike" baseline="0" dirty="0">
                <a:latin typeface="Comic Sans MS" panose="030F0702030302020204" pitchFamily="66" charset="0"/>
              </a:rPr>
              <a:t>Figure below shows that for a two</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input</a:t>
            </a:r>
            <a:r>
              <a:rPr lang="en-FI" sz="2400" dirty="0">
                <a:latin typeface="Comic Sans MS" panose="030F0702030302020204" pitchFamily="66" charset="0"/>
              </a:rPr>
              <a:t> </a:t>
            </a:r>
            <a:r>
              <a:rPr lang="en-GB" sz="2400" b="0" i="0" u="none" strike="noStrike" baseline="0" dirty="0">
                <a:latin typeface="Comic Sans MS" panose="030F0702030302020204" pitchFamily="66" charset="0"/>
              </a:rPr>
              <a:t>XOR gate, this occurs twice, once for A=0 and B=1 and once for</a:t>
            </a:r>
            <a:r>
              <a:rPr lang="en-FI" sz="2400" b="0" i="0" u="none" strike="noStrike" baseline="0" dirty="0">
                <a:latin typeface="Comic Sans MS" panose="030F0702030302020204" pitchFamily="66" charset="0"/>
              </a:rPr>
              <a:t>m </a:t>
            </a:r>
            <a:r>
              <a:rPr lang="en-GB" sz="2400" b="0" i="0" u="none" strike="noStrike" baseline="0" dirty="0">
                <a:latin typeface="Comic Sans MS" panose="030F0702030302020204" pitchFamily="66" charset="0"/>
              </a:rPr>
              <a:t>A=1 and B=0.</a:t>
            </a:r>
            <a:endParaRPr lang="en-GB" sz="3600" dirty="0">
              <a:latin typeface="Comic Sans MS" panose="030F0702030302020204" pitchFamily="66" charset="0"/>
            </a:endParaRPr>
          </a:p>
        </p:txBody>
      </p:sp>
      <p:pic>
        <p:nvPicPr>
          <p:cNvPr id="5" name="Picture 4">
            <a:extLst>
              <a:ext uri="{FF2B5EF4-FFF2-40B4-BE49-F238E27FC236}">
                <a16:creationId xmlns:a16="http://schemas.microsoft.com/office/drawing/2014/main" id="{642FFB8D-7D2E-4F94-9F55-029B0FF0C129}"/>
              </a:ext>
            </a:extLst>
          </p:cNvPr>
          <p:cNvPicPr>
            <a:picLocks noChangeAspect="1"/>
          </p:cNvPicPr>
          <p:nvPr/>
        </p:nvPicPr>
        <p:blipFill>
          <a:blip r:embed="rId2"/>
          <a:stretch>
            <a:fillRect/>
          </a:stretch>
        </p:blipFill>
        <p:spPr>
          <a:xfrm>
            <a:off x="2033361" y="2355020"/>
            <a:ext cx="3248478" cy="2524477"/>
          </a:xfrm>
          <a:prstGeom prst="rect">
            <a:avLst/>
          </a:prstGeom>
        </p:spPr>
      </p:pic>
      <p:sp>
        <p:nvSpPr>
          <p:cNvPr id="7" name="TextBox 6">
            <a:extLst>
              <a:ext uri="{FF2B5EF4-FFF2-40B4-BE49-F238E27FC236}">
                <a16:creationId xmlns:a16="http://schemas.microsoft.com/office/drawing/2014/main" id="{9B0A50C6-2E28-4040-B9B8-A0157A1AEC2A}"/>
              </a:ext>
            </a:extLst>
          </p:cNvPr>
          <p:cNvSpPr txBox="1"/>
          <p:nvPr/>
        </p:nvSpPr>
        <p:spPr>
          <a:xfrm>
            <a:off x="609600" y="4879497"/>
            <a:ext cx="6096000" cy="369332"/>
          </a:xfrm>
          <a:prstGeom prst="rect">
            <a:avLst/>
          </a:prstGeom>
          <a:noFill/>
        </p:spPr>
        <p:txBody>
          <a:bodyPr wrap="square">
            <a:spAutoFit/>
          </a:bodyPr>
          <a:lstStyle/>
          <a:p>
            <a:r>
              <a:rPr lang="en-GB" sz="1800" b="0" i="0" u="none" strike="noStrike" baseline="0" dirty="0">
                <a:solidFill>
                  <a:srgbClr val="FF0000"/>
                </a:solidFill>
                <a:latin typeface="Comic Sans MS" panose="030F0702030302020204" pitchFamily="66" charset="0"/>
              </a:rPr>
              <a:t>Two-Input XOR Gate Truth Table</a:t>
            </a:r>
            <a:endParaRPr lang="en-GB"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696231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E748CA-0DF0-4152-92DE-568FB2ACABE3}"/>
              </a:ext>
            </a:extLst>
          </p:cNvPr>
          <p:cNvSpPr>
            <a:spLocks noGrp="1"/>
          </p:cNvSpPr>
          <p:nvPr>
            <p:ph idx="1"/>
          </p:nvPr>
        </p:nvSpPr>
        <p:spPr>
          <a:xfrm>
            <a:off x="89647" y="0"/>
            <a:ext cx="12030635" cy="6786282"/>
          </a:xfrm>
        </p:spPr>
        <p:txBody>
          <a:bodyPr>
            <a:normAutofit/>
          </a:bodyPr>
          <a:lstStyle/>
          <a:p>
            <a:r>
              <a:rPr lang="en-GB" b="1" i="0" u="none" strike="noStrike" baseline="0" dirty="0">
                <a:solidFill>
                  <a:srgbClr val="FF0000"/>
                </a:solidFill>
                <a:latin typeface="Comic Sans MS" panose="030F0702030302020204" pitchFamily="66" charset="0"/>
              </a:rPr>
              <a:t>Timing Diagrams for Gates</a:t>
            </a:r>
            <a:endParaRPr lang="en-FI" b="1" dirty="0">
              <a:solidFill>
                <a:srgbClr val="FF0000"/>
              </a:solidFill>
              <a:latin typeface="Comic Sans MS" panose="030F0702030302020204" pitchFamily="66" charset="0"/>
            </a:endParaRPr>
          </a:p>
          <a:p>
            <a:pPr algn="l"/>
            <a:r>
              <a:rPr lang="en-GB" sz="2000" b="0" i="0" u="none" strike="noStrike" baseline="0" dirty="0">
                <a:latin typeface="Comic Sans MS" panose="030F0702030302020204" pitchFamily="66" charset="0"/>
              </a:rPr>
              <a:t>The operation of a logic gate can also be represented with a timing</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diagram. </a:t>
            </a:r>
            <a:r>
              <a:rPr lang="en-FI" sz="2000" b="0" i="0" u="none" strike="noStrike" baseline="0" dirty="0">
                <a:latin typeface="Comic Sans MS" panose="030F0702030302020204" pitchFamily="66" charset="0"/>
              </a:rPr>
              <a:t>The three figures below </a:t>
            </a:r>
            <a:r>
              <a:rPr lang="en-GB" sz="2000" b="0" i="0" u="none" strike="noStrike" baseline="0" dirty="0">
                <a:latin typeface="Comic Sans MS" panose="030F0702030302020204" pitchFamily="66" charset="0"/>
              </a:rPr>
              <a:t>show the output that results from</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three binary input signals for an AND gate, OR gate, and XOR gate</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respectively. </a:t>
            </a:r>
          </a:p>
          <a:p>
            <a:pPr algn="l"/>
            <a:r>
              <a:rPr lang="en-GB" sz="2000" b="0" i="0" u="none" strike="noStrike" baseline="0" dirty="0">
                <a:latin typeface="Comic Sans MS" panose="030F0702030302020204" pitchFamily="66" charset="0"/>
              </a:rPr>
              <a:t>Remember that the AND gate outputs a one only if all its</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inputs equal one, the OR gate outputs a one if any input equals one, and</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the XOR gate outputs a one if an odd number of ones is present at the</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input. Use these rules to verify the outputs shown in the figures.</a:t>
            </a:r>
            <a:endParaRPr lang="en-GB" sz="200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924477DB-565F-465C-8ACB-D40404D55B15}"/>
              </a:ext>
            </a:extLst>
          </p:cNvPr>
          <p:cNvPicPr>
            <a:picLocks noChangeAspect="1"/>
          </p:cNvPicPr>
          <p:nvPr/>
        </p:nvPicPr>
        <p:blipFill>
          <a:blip r:embed="rId2"/>
          <a:stretch>
            <a:fillRect/>
          </a:stretch>
        </p:blipFill>
        <p:spPr>
          <a:xfrm>
            <a:off x="265913" y="2474597"/>
            <a:ext cx="4817075" cy="1618439"/>
          </a:xfrm>
          <a:prstGeom prst="rect">
            <a:avLst/>
          </a:prstGeom>
        </p:spPr>
      </p:pic>
      <p:sp>
        <p:nvSpPr>
          <p:cNvPr id="7" name="TextBox 6">
            <a:extLst>
              <a:ext uri="{FF2B5EF4-FFF2-40B4-BE49-F238E27FC236}">
                <a16:creationId xmlns:a16="http://schemas.microsoft.com/office/drawing/2014/main" id="{96801877-7E59-49B4-B27E-A66505D25D27}"/>
              </a:ext>
            </a:extLst>
          </p:cNvPr>
          <p:cNvSpPr txBox="1"/>
          <p:nvPr/>
        </p:nvSpPr>
        <p:spPr>
          <a:xfrm>
            <a:off x="265913" y="4074582"/>
            <a:ext cx="5449130" cy="646331"/>
          </a:xfrm>
          <a:prstGeom prst="rect">
            <a:avLst/>
          </a:prstGeom>
          <a:noFill/>
        </p:spPr>
        <p:txBody>
          <a:bodyPr wrap="square">
            <a:spAutoFit/>
          </a:bodyPr>
          <a:lstStyle/>
          <a:p>
            <a:r>
              <a:rPr lang="en-GB" sz="1800" b="0" i="0" u="none" strike="noStrike" baseline="0" dirty="0">
                <a:solidFill>
                  <a:srgbClr val="FF0000"/>
                </a:solidFill>
                <a:latin typeface="Comic Sans MS" panose="030F0702030302020204" pitchFamily="66" charset="0"/>
              </a:rPr>
              <a:t>Sample Timing Diagram for a Three-Input AND Gate</a:t>
            </a:r>
            <a:endParaRPr lang="en-GB" dirty="0">
              <a:solidFill>
                <a:srgbClr val="FF0000"/>
              </a:solidFill>
              <a:latin typeface="Comic Sans MS" panose="030F0702030302020204" pitchFamily="66" charset="0"/>
            </a:endParaRPr>
          </a:p>
        </p:txBody>
      </p:sp>
      <p:pic>
        <p:nvPicPr>
          <p:cNvPr id="9" name="Picture 8">
            <a:extLst>
              <a:ext uri="{FF2B5EF4-FFF2-40B4-BE49-F238E27FC236}">
                <a16:creationId xmlns:a16="http://schemas.microsoft.com/office/drawing/2014/main" id="{729ED9C9-6DCB-4A14-AC70-F86F8C13C5FC}"/>
              </a:ext>
            </a:extLst>
          </p:cNvPr>
          <p:cNvPicPr>
            <a:picLocks noChangeAspect="1"/>
          </p:cNvPicPr>
          <p:nvPr/>
        </p:nvPicPr>
        <p:blipFill>
          <a:blip r:embed="rId3"/>
          <a:stretch>
            <a:fillRect/>
          </a:stretch>
        </p:blipFill>
        <p:spPr>
          <a:xfrm>
            <a:off x="5635902" y="2364693"/>
            <a:ext cx="5855698" cy="1902507"/>
          </a:xfrm>
          <a:prstGeom prst="rect">
            <a:avLst/>
          </a:prstGeom>
        </p:spPr>
      </p:pic>
      <p:pic>
        <p:nvPicPr>
          <p:cNvPr id="11" name="Picture 10">
            <a:extLst>
              <a:ext uri="{FF2B5EF4-FFF2-40B4-BE49-F238E27FC236}">
                <a16:creationId xmlns:a16="http://schemas.microsoft.com/office/drawing/2014/main" id="{5DDD84DE-B020-4A2B-AF14-B114982DBA04}"/>
              </a:ext>
            </a:extLst>
          </p:cNvPr>
          <p:cNvPicPr>
            <a:picLocks noChangeAspect="1"/>
          </p:cNvPicPr>
          <p:nvPr/>
        </p:nvPicPr>
        <p:blipFill>
          <a:blip r:embed="rId4"/>
          <a:stretch>
            <a:fillRect/>
          </a:stretch>
        </p:blipFill>
        <p:spPr>
          <a:xfrm>
            <a:off x="1661104" y="4675699"/>
            <a:ext cx="5855699" cy="2182301"/>
          </a:xfrm>
          <a:prstGeom prst="rect">
            <a:avLst/>
          </a:prstGeom>
        </p:spPr>
      </p:pic>
      <p:sp>
        <p:nvSpPr>
          <p:cNvPr id="13" name="TextBox 12">
            <a:extLst>
              <a:ext uri="{FF2B5EF4-FFF2-40B4-BE49-F238E27FC236}">
                <a16:creationId xmlns:a16="http://schemas.microsoft.com/office/drawing/2014/main" id="{9C1E146C-C3D7-455D-93F8-785B4B7BC36E}"/>
              </a:ext>
            </a:extLst>
          </p:cNvPr>
          <p:cNvSpPr txBox="1"/>
          <p:nvPr/>
        </p:nvSpPr>
        <p:spPr>
          <a:xfrm>
            <a:off x="6343726" y="4261543"/>
            <a:ext cx="5855699" cy="369332"/>
          </a:xfrm>
          <a:prstGeom prst="rect">
            <a:avLst/>
          </a:prstGeom>
          <a:noFill/>
        </p:spPr>
        <p:txBody>
          <a:bodyPr wrap="square">
            <a:spAutoFit/>
          </a:bodyPr>
          <a:lstStyle/>
          <a:p>
            <a:r>
              <a:rPr lang="en-GB" sz="1800" b="0" i="0" u="none" strike="noStrike" baseline="0" dirty="0">
                <a:solidFill>
                  <a:srgbClr val="FF0000"/>
                </a:solidFill>
                <a:latin typeface="Comic Sans MS" panose="030F0702030302020204" pitchFamily="66" charset="0"/>
              </a:rPr>
              <a:t>Sample Timing Diagram for a Three-Input OR Gate</a:t>
            </a:r>
            <a:endParaRPr lang="en-GB" dirty="0">
              <a:solidFill>
                <a:srgbClr val="FF0000"/>
              </a:solidFill>
              <a:latin typeface="Comic Sans MS" panose="030F0702030302020204" pitchFamily="66" charset="0"/>
            </a:endParaRPr>
          </a:p>
        </p:txBody>
      </p:sp>
      <p:sp>
        <p:nvSpPr>
          <p:cNvPr id="15" name="TextBox 14">
            <a:extLst>
              <a:ext uri="{FF2B5EF4-FFF2-40B4-BE49-F238E27FC236}">
                <a16:creationId xmlns:a16="http://schemas.microsoft.com/office/drawing/2014/main" id="{B2B6B395-6BC1-4AB8-B896-7CD09F2A461B}"/>
              </a:ext>
            </a:extLst>
          </p:cNvPr>
          <p:cNvSpPr txBox="1"/>
          <p:nvPr/>
        </p:nvSpPr>
        <p:spPr>
          <a:xfrm>
            <a:off x="7516803" y="6175810"/>
            <a:ext cx="4193500" cy="646331"/>
          </a:xfrm>
          <a:prstGeom prst="rect">
            <a:avLst/>
          </a:prstGeom>
          <a:noFill/>
        </p:spPr>
        <p:txBody>
          <a:bodyPr wrap="square">
            <a:spAutoFit/>
          </a:bodyPr>
          <a:lstStyle/>
          <a:p>
            <a:r>
              <a:rPr lang="en-GB" sz="1800" b="0" i="0" u="none" strike="noStrike" baseline="0" dirty="0">
                <a:solidFill>
                  <a:srgbClr val="FF0000"/>
                </a:solidFill>
                <a:latin typeface="Comic Sans MS" panose="030F0702030302020204" pitchFamily="66" charset="0"/>
              </a:rPr>
              <a:t>Sample Timing Diagram for a Three-Input XOR Gate</a:t>
            </a:r>
            <a:endParaRPr lang="en-GB"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602279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88A8D-696B-4184-8D60-DA708A0D1DBA}"/>
              </a:ext>
            </a:extLst>
          </p:cNvPr>
          <p:cNvSpPr>
            <a:spLocks noGrp="1"/>
          </p:cNvSpPr>
          <p:nvPr>
            <p:ph idx="1"/>
          </p:nvPr>
        </p:nvSpPr>
        <p:spPr>
          <a:xfrm>
            <a:off x="89647" y="0"/>
            <a:ext cx="12102353" cy="6795247"/>
          </a:xfrm>
        </p:spPr>
        <p:txBody>
          <a:bodyPr>
            <a:normAutofit/>
          </a:bodyPr>
          <a:lstStyle/>
          <a:p>
            <a:pPr algn="just"/>
            <a:r>
              <a:rPr lang="en-GB" b="1" u="none" strike="noStrike" baseline="0" dirty="0">
                <a:solidFill>
                  <a:srgbClr val="FF0000"/>
                </a:solidFill>
                <a:latin typeface="Comic Sans MS" panose="030F0702030302020204" pitchFamily="66" charset="0"/>
              </a:rPr>
              <a:t>Combinational Logic</a:t>
            </a:r>
          </a:p>
          <a:p>
            <a:pPr algn="just"/>
            <a:r>
              <a:rPr lang="en-GB" b="0" u="none" strike="noStrike" baseline="0" dirty="0">
                <a:latin typeface="Comic Sans MS" panose="030F0702030302020204" pitchFamily="66" charset="0"/>
              </a:rPr>
              <a:t>By themselves, logic gates are not very practical. Their power comes when you combine them </a:t>
            </a:r>
            <a:r>
              <a:rPr lang="en-GB" b="0" u="none" strike="noStrike" baseline="0" dirty="0">
                <a:solidFill>
                  <a:srgbClr val="FF0000"/>
                </a:solidFill>
                <a:latin typeface="Comic Sans MS" panose="030F0702030302020204" pitchFamily="66" charset="0"/>
              </a:rPr>
              <a:t>to create </a:t>
            </a:r>
            <a:r>
              <a:rPr lang="en-GB" b="1" u="none" strike="noStrike" baseline="0" dirty="0">
                <a:solidFill>
                  <a:srgbClr val="FF0000"/>
                </a:solidFill>
                <a:latin typeface="Comic Sans MS" panose="030F0702030302020204" pitchFamily="66" charset="0"/>
              </a:rPr>
              <a:t>combinational logic</a:t>
            </a:r>
            <a:r>
              <a:rPr lang="en-GB" b="0" u="none" strike="noStrike" baseline="0" dirty="0">
                <a:solidFill>
                  <a:srgbClr val="FF0000"/>
                </a:solidFill>
                <a:latin typeface="Comic Sans MS" panose="030F0702030302020204" pitchFamily="66" charset="0"/>
              </a:rPr>
              <a:t>.</a:t>
            </a:r>
          </a:p>
          <a:p>
            <a:pPr algn="just"/>
            <a:endParaRPr lang="en-GB" b="0" u="none" strike="noStrike" baseline="0" dirty="0">
              <a:solidFill>
                <a:srgbClr val="FF0000"/>
              </a:solidFill>
              <a:latin typeface="Comic Sans MS" panose="030F0702030302020204" pitchFamily="66" charset="0"/>
            </a:endParaRPr>
          </a:p>
          <a:p>
            <a:pPr algn="just"/>
            <a:r>
              <a:rPr lang="en-GB" b="0" u="none" strike="noStrike" baseline="0" dirty="0">
                <a:latin typeface="Comic Sans MS" panose="030F0702030302020204" pitchFamily="66" charset="0"/>
              </a:rPr>
              <a:t>Combinational logic connects multiple logic gates by using the outputs from some of the gates as the inputs to others. </a:t>
            </a:r>
            <a:endParaRPr lang="en-GB"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F9CB1A78-0EF4-44C9-A0F0-21080B16E816}"/>
              </a:ext>
            </a:extLst>
          </p:cNvPr>
          <p:cNvPicPr>
            <a:picLocks noChangeAspect="1"/>
          </p:cNvPicPr>
          <p:nvPr/>
        </p:nvPicPr>
        <p:blipFill>
          <a:blip r:embed="rId2"/>
          <a:stretch>
            <a:fillRect/>
          </a:stretch>
        </p:blipFill>
        <p:spPr>
          <a:xfrm>
            <a:off x="1950696" y="2971111"/>
            <a:ext cx="7573432" cy="1848108"/>
          </a:xfrm>
          <a:prstGeom prst="rect">
            <a:avLst/>
          </a:prstGeom>
        </p:spPr>
      </p:pic>
      <p:sp>
        <p:nvSpPr>
          <p:cNvPr id="7" name="TextBox 6">
            <a:extLst>
              <a:ext uri="{FF2B5EF4-FFF2-40B4-BE49-F238E27FC236}">
                <a16:creationId xmlns:a16="http://schemas.microsoft.com/office/drawing/2014/main" id="{0C6C9521-D942-46BE-86AA-A62FED692D77}"/>
              </a:ext>
            </a:extLst>
          </p:cNvPr>
          <p:cNvSpPr txBox="1"/>
          <p:nvPr/>
        </p:nvSpPr>
        <p:spPr>
          <a:xfrm>
            <a:off x="3245224" y="4911770"/>
            <a:ext cx="6167716" cy="369332"/>
          </a:xfrm>
          <a:prstGeom prst="rect">
            <a:avLst/>
          </a:prstGeom>
          <a:noFill/>
        </p:spPr>
        <p:txBody>
          <a:bodyPr wrap="square">
            <a:spAutoFit/>
          </a:bodyPr>
          <a:lstStyle/>
          <a:p>
            <a:r>
              <a:rPr lang="en-GB" sz="1800" b="0" i="0" u="none" strike="noStrike" baseline="0" dirty="0">
                <a:solidFill>
                  <a:srgbClr val="FF0000"/>
                </a:solidFill>
                <a:latin typeface="Comic Sans MS" panose="030F0702030302020204" pitchFamily="66" charset="0"/>
              </a:rPr>
              <a:t>Sample Combinational Logic</a:t>
            </a:r>
            <a:endParaRPr lang="en-GB"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024377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D69D4F-3299-4023-B49A-574DF4A753D9}"/>
              </a:ext>
            </a:extLst>
          </p:cNvPr>
          <p:cNvSpPr>
            <a:spLocks noGrp="1"/>
          </p:cNvSpPr>
          <p:nvPr>
            <p:ph idx="1"/>
          </p:nvPr>
        </p:nvSpPr>
        <p:spPr>
          <a:xfrm>
            <a:off x="135467" y="118532"/>
            <a:ext cx="11938000" cy="6663267"/>
          </a:xfrm>
        </p:spPr>
        <p:txBody>
          <a:bodyPr>
            <a:normAutofit/>
          </a:bodyPr>
          <a:lstStyle/>
          <a:p>
            <a:pPr algn="just"/>
            <a:r>
              <a:rPr lang="en-GB" sz="2400" b="0" i="0" u="none" strike="noStrike" baseline="0" dirty="0">
                <a:latin typeface="Comic Sans MS" panose="030F0702030302020204" pitchFamily="66" charset="0"/>
              </a:rPr>
              <a:t>There are three combinational logic circuits that are so common that they are considered gates in themselves. </a:t>
            </a:r>
          </a:p>
          <a:p>
            <a:pPr algn="just"/>
            <a:r>
              <a:rPr lang="en-GB" sz="2400" b="0" i="0" u="none" strike="noStrike" baseline="0" dirty="0">
                <a:latin typeface="Comic Sans MS" panose="030F0702030302020204" pitchFamily="66" charset="0"/>
              </a:rPr>
              <a:t>By adding an inverter to the output of each of the three logic gates, AND, OR, and XOR, three new combinational logic circuits are created. </a:t>
            </a:r>
          </a:p>
          <a:p>
            <a:pPr algn="just"/>
            <a:r>
              <a:rPr lang="en-GB" sz="2400" dirty="0">
                <a:latin typeface="Comic Sans MS" panose="030F0702030302020204" pitchFamily="66" charset="0"/>
              </a:rPr>
              <a:t>The </a:t>
            </a:r>
            <a:r>
              <a:rPr lang="en-GB" sz="2400" b="0" i="0" u="none" strike="noStrike" baseline="0" dirty="0">
                <a:latin typeface="Comic Sans MS" panose="030F0702030302020204" pitchFamily="66" charset="0"/>
              </a:rPr>
              <a:t>Figure below shows the new logic symbols</a:t>
            </a:r>
            <a:endParaRPr lang="en-GB" sz="3600" dirty="0">
              <a:latin typeface="Comic Sans MS" panose="030F0702030302020204" pitchFamily="66" charset="0"/>
            </a:endParaRPr>
          </a:p>
        </p:txBody>
      </p:sp>
      <p:pic>
        <p:nvPicPr>
          <p:cNvPr id="5" name="Picture 4">
            <a:extLst>
              <a:ext uri="{FF2B5EF4-FFF2-40B4-BE49-F238E27FC236}">
                <a16:creationId xmlns:a16="http://schemas.microsoft.com/office/drawing/2014/main" id="{75B9E19B-A848-4FA8-8692-75EC39B94C13}"/>
              </a:ext>
            </a:extLst>
          </p:cNvPr>
          <p:cNvPicPr>
            <a:picLocks noChangeAspect="1"/>
          </p:cNvPicPr>
          <p:nvPr/>
        </p:nvPicPr>
        <p:blipFill>
          <a:blip r:embed="rId2"/>
          <a:stretch>
            <a:fillRect/>
          </a:stretch>
        </p:blipFill>
        <p:spPr>
          <a:xfrm>
            <a:off x="812798" y="2182032"/>
            <a:ext cx="6934201" cy="447758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902635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DBBF5C-1EB7-46CB-AEB5-739EC8C5FAE4}"/>
              </a:ext>
            </a:extLst>
          </p:cNvPr>
          <p:cNvSpPr>
            <a:spLocks noGrp="1"/>
          </p:cNvSpPr>
          <p:nvPr>
            <p:ph idx="1"/>
          </p:nvPr>
        </p:nvSpPr>
        <p:spPr>
          <a:xfrm>
            <a:off x="76199" y="84667"/>
            <a:ext cx="12031133" cy="6714066"/>
          </a:xfrm>
        </p:spPr>
        <p:txBody>
          <a:bodyPr>
            <a:normAutofit fontScale="85000" lnSpcReduction="20000"/>
          </a:bodyPr>
          <a:lstStyle/>
          <a:p>
            <a:pPr algn="just"/>
            <a:r>
              <a:rPr lang="en-GB" b="0" i="0" u="none" strike="noStrike" baseline="0" dirty="0">
                <a:latin typeface="Comic Sans MS" panose="030F0702030302020204" pitchFamily="66" charset="0"/>
              </a:rPr>
              <a:t>The NAND gate outputs a 1 if </a:t>
            </a:r>
            <a:r>
              <a:rPr lang="en-GB" b="0" i="1" u="none" strike="noStrike" baseline="0" dirty="0">
                <a:latin typeface="Comic Sans MS" panose="030F0702030302020204" pitchFamily="66" charset="0"/>
              </a:rPr>
              <a:t>any </a:t>
            </a:r>
            <a:r>
              <a:rPr lang="en-GB" b="0" i="0" u="none" strike="noStrike" baseline="0" dirty="0">
                <a:latin typeface="Comic Sans MS" panose="030F0702030302020204" pitchFamily="66" charset="0"/>
              </a:rPr>
              <a:t>input is a zero, this gate is in fact a very important gate in the design of digital circuitry.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It has two important characteristics: </a:t>
            </a:r>
          </a:p>
          <a:p>
            <a:pPr marL="1371600" lvl="2" indent="-457200" algn="just">
              <a:buAutoNum type="arabicParenBoth"/>
            </a:pPr>
            <a:r>
              <a:rPr lang="en-GB" sz="2400" b="0" i="0" u="none" strike="noStrike" baseline="0" dirty="0">
                <a:solidFill>
                  <a:srgbClr val="FF0000"/>
                </a:solidFill>
                <a:latin typeface="Comic Sans MS" panose="030F0702030302020204" pitchFamily="66" charset="0"/>
              </a:rPr>
              <a:t>the transistor circuit that realizes the NAND gate is typically one of the fastest circuits and </a:t>
            </a:r>
          </a:p>
          <a:p>
            <a:pPr marL="914400" lvl="2" indent="0" algn="just">
              <a:buNone/>
            </a:pPr>
            <a:endParaRPr lang="en-GB" sz="2400" b="0" i="0" u="none" strike="noStrike" baseline="0" dirty="0">
              <a:solidFill>
                <a:srgbClr val="FF0000"/>
              </a:solidFill>
              <a:latin typeface="Comic Sans MS" panose="030F0702030302020204" pitchFamily="66" charset="0"/>
            </a:endParaRPr>
          </a:p>
          <a:p>
            <a:pPr marL="914400" lvl="2" indent="0" algn="just">
              <a:buNone/>
            </a:pPr>
            <a:r>
              <a:rPr lang="en-GB" sz="2400" b="0" i="0" u="none" strike="noStrike" baseline="0" dirty="0">
                <a:solidFill>
                  <a:srgbClr val="FF0000"/>
                </a:solidFill>
                <a:latin typeface="Comic Sans MS" panose="030F0702030302020204" pitchFamily="66" charset="0"/>
              </a:rPr>
              <a:t>(2) every digital circuit can be realized with combinational logic made entirely of NAND gates.</a:t>
            </a:r>
          </a:p>
          <a:p>
            <a:pPr algn="just"/>
            <a:r>
              <a:rPr lang="en-GB" b="0" i="0" u="none" strike="noStrike" baseline="0" dirty="0">
                <a:latin typeface="Comic Sans MS" panose="030F0702030302020204" pitchFamily="66" charset="0"/>
              </a:rPr>
              <a:t>The NOR gate outputs a 1 </a:t>
            </a:r>
            <a:r>
              <a:rPr lang="en-GB" b="0" i="1" u="none" strike="noStrike" baseline="0" dirty="0">
                <a:latin typeface="Comic Sans MS" panose="030F0702030302020204" pitchFamily="66" charset="0"/>
              </a:rPr>
              <a:t>only </a:t>
            </a:r>
            <a:r>
              <a:rPr lang="en-GB" b="0" i="0" u="none" strike="noStrike" baseline="0" dirty="0">
                <a:latin typeface="Comic Sans MS" panose="030F0702030302020204" pitchFamily="66" charset="0"/>
              </a:rPr>
              <a:t>if all of the inputs are zero.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Exclusive-NOR gate outputs a 1 as an indication that an even number of ones is being input to the gate.</a:t>
            </a:r>
          </a:p>
          <a:p>
            <a:pPr marL="0" indent="0" algn="just">
              <a:buNone/>
            </a:pPr>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A similar method is used to represent inverted inputs.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Instead of inserting the NOT gate symbol in a line going to the input of a gate, a circle can be placed at the gate's input to show that the signal is inverted before entering the gate. An example of this is shown in the circuit on the right in the Figure below</a:t>
            </a:r>
            <a:endParaRPr lang="en-GB" sz="4000" dirty="0">
              <a:latin typeface="Comic Sans MS" panose="030F0702030302020204" pitchFamily="66" charset="0"/>
            </a:endParaRPr>
          </a:p>
        </p:txBody>
      </p:sp>
    </p:spTree>
    <p:extLst>
      <p:ext uri="{BB962C8B-B14F-4D97-AF65-F5344CB8AC3E}">
        <p14:creationId xmlns:p14="http://schemas.microsoft.com/office/powerpoint/2010/main" val="3223065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C90196-32AA-4C89-96D5-7A69A91C52EB}"/>
              </a:ext>
            </a:extLst>
          </p:cNvPr>
          <p:cNvPicPr>
            <a:picLocks noGrp="1" noChangeAspect="1"/>
          </p:cNvPicPr>
          <p:nvPr>
            <p:ph idx="1"/>
          </p:nvPr>
        </p:nvPicPr>
        <p:blipFill>
          <a:blip r:embed="rId2"/>
          <a:stretch>
            <a:fillRect/>
          </a:stretch>
        </p:blipFill>
        <p:spPr>
          <a:xfrm>
            <a:off x="1843681" y="1028338"/>
            <a:ext cx="6658904" cy="1390844"/>
          </a:xfrm>
        </p:spPr>
      </p:pic>
    </p:spTree>
    <p:extLst>
      <p:ext uri="{BB962C8B-B14F-4D97-AF65-F5344CB8AC3E}">
        <p14:creationId xmlns:p14="http://schemas.microsoft.com/office/powerpoint/2010/main" val="3570284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6C0FF2-3CCF-4911-AAB7-8410EBC6892E}"/>
              </a:ext>
            </a:extLst>
          </p:cNvPr>
          <p:cNvSpPr>
            <a:spLocks noGrp="1"/>
          </p:cNvSpPr>
          <p:nvPr>
            <p:ph idx="1"/>
          </p:nvPr>
        </p:nvSpPr>
        <p:spPr>
          <a:xfrm>
            <a:off x="84667" y="93133"/>
            <a:ext cx="11963400" cy="6680200"/>
          </a:xfrm>
        </p:spPr>
        <p:txBody>
          <a:bodyPr>
            <a:normAutofit/>
          </a:bodyPr>
          <a:lstStyle/>
          <a:p>
            <a:pPr algn="ctr"/>
            <a:r>
              <a:rPr lang="en-GB" b="1" i="0" u="none" strike="noStrike" baseline="0" dirty="0">
                <a:solidFill>
                  <a:srgbClr val="FF0000"/>
                </a:solidFill>
                <a:latin typeface="Comic Sans MS" panose="030F0702030302020204" pitchFamily="66" charset="0"/>
              </a:rPr>
              <a:t>Truth Tables for Combinational Logic</a:t>
            </a:r>
            <a:endParaRPr lang="en-GB" sz="4000" b="1"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Not all digital circuits lend themselves to quick conversion to a truth table. For example, input B in the digital circuit shown in the Figure below passes through four logic gates before its effect is seen at the output.</a:t>
            </a:r>
          </a:p>
          <a:p>
            <a:pPr algn="just"/>
            <a:endParaRPr lang="en-GB" sz="2400" dirty="0">
              <a:solidFill>
                <a:srgbClr val="FF0000"/>
              </a:solidFill>
              <a:latin typeface="Comic Sans MS" panose="030F0702030302020204" pitchFamily="66" charset="0"/>
            </a:endParaRPr>
          </a:p>
          <a:p>
            <a:pPr algn="just"/>
            <a:endParaRPr lang="en-GB" sz="2400" b="1" i="0" u="none" strike="noStrike" baseline="0" dirty="0">
              <a:solidFill>
                <a:srgbClr val="FF0000"/>
              </a:solidFill>
              <a:latin typeface="Comic Sans MS" panose="030F0702030302020204" pitchFamily="66" charset="0"/>
            </a:endParaRPr>
          </a:p>
          <a:p>
            <a:pPr marL="0" indent="0" algn="just">
              <a:buNone/>
            </a:pPr>
            <a:endParaRPr lang="en-GB" sz="2400" b="1"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So how do we convert this circuit to a truth table? One method is to go through each pattern of ones and zeros at the input and fill in the resulting output in the truth table row by row. The following Figures depict the processes it takes A=0, B=0, and C=0 through each gate to determine its corresponding output.</a:t>
            </a:r>
            <a:endParaRPr lang="en-GB" sz="3200" b="1" i="0" u="none" strike="noStrike" baseline="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F5E113E7-8390-4227-BF0E-26A4ADC5D907}"/>
              </a:ext>
            </a:extLst>
          </p:cNvPr>
          <p:cNvPicPr>
            <a:picLocks noChangeAspect="1"/>
          </p:cNvPicPr>
          <p:nvPr/>
        </p:nvPicPr>
        <p:blipFill>
          <a:blip r:embed="rId2"/>
          <a:stretch>
            <a:fillRect/>
          </a:stretch>
        </p:blipFill>
        <p:spPr>
          <a:xfrm>
            <a:off x="2078418" y="1702239"/>
            <a:ext cx="5541582" cy="1421961"/>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02865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328C1F9-0F53-4BC2-A07F-380857315977}"/>
              </a:ext>
            </a:extLst>
          </p:cNvPr>
          <p:cNvPicPr>
            <a:picLocks noGrp="1" noChangeAspect="1"/>
          </p:cNvPicPr>
          <p:nvPr>
            <p:ph idx="1"/>
          </p:nvPr>
        </p:nvPicPr>
        <p:blipFill>
          <a:blip r:embed="rId2"/>
          <a:stretch>
            <a:fillRect/>
          </a:stretch>
        </p:blipFill>
        <p:spPr>
          <a:xfrm>
            <a:off x="468726" y="54312"/>
            <a:ext cx="9589674" cy="666473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DF8D7FC1-5D0A-4A05-BF42-DD3747392877}"/>
                  </a:ext>
                </a:extLst>
              </p14:cNvPr>
              <p14:cNvContentPartPr/>
              <p14:nvPr/>
            </p14:nvContentPartPr>
            <p14:xfrm>
              <a:off x="4375080" y="419040"/>
              <a:ext cx="5067720" cy="5347080"/>
            </p14:xfrm>
          </p:contentPart>
        </mc:Choice>
        <mc:Fallback>
          <p:pic>
            <p:nvPicPr>
              <p:cNvPr id="6" name="Ink 5">
                <a:extLst>
                  <a:ext uri="{FF2B5EF4-FFF2-40B4-BE49-F238E27FC236}">
                    <a16:creationId xmlns:a16="http://schemas.microsoft.com/office/drawing/2014/main" id="{DF8D7FC1-5D0A-4A05-BF42-DD3747392877}"/>
                  </a:ext>
                </a:extLst>
              </p:cNvPr>
              <p:cNvPicPr/>
              <p:nvPr/>
            </p:nvPicPr>
            <p:blipFill>
              <a:blip r:embed="rId4"/>
              <a:stretch>
                <a:fillRect/>
              </a:stretch>
            </p:blipFill>
            <p:spPr>
              <a:xfrm>
                <a:off x="4365720" y="409680"/>
                <a:ext cx="5086440" cy="5365800"/>
              </a:xfrm>
              <a:prstGeom prst="rect">
                <a:avLst/>
              </a:prstGeom>
            </p:spPr>
          </p:pic>
        </mc:Fallback>
      </mc:AlternateContent>
    </p:spTree>
    <p:extLst>
      <p:ext uri="{BB962C8B-B14F-4D97-AF65-F5344CB8AC3E}">
        <p14:creationId xmlns:p14="http://schemas.microsoft.com/office/powerpoint/2010/main" val="3492415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FF84DB-BCEE-465D-B58F-ED63A599E0C7}"/>
              </a:ext>
            </a:extLst>
          </p:cNvPr>
          <p:cNvSpPr>
            <a:spLocks noGrp="1"/>
          </p:cNvSpPr>
          <p:nvPr>
            <p:ph idx="1"/>
          </p:nvPr>
        </p:nvSpPr>
        <p:spPr>
          <a:xfrm>
            <a:off x="66675" y="0"/>
            <a:ext cx="12049125" cy="6791325"/>
          </a:xfrm>
        </p:spPr>
        <p:txBody>
          <a:bodyPr>
            <a:normAutofit/>
          </a:bodyPr>
          <a:lstStyle/>
          <a:p>
            <a:pPr algn="just"/>
            <a:r>
              <a:rPr lang="en-GB" b="0" i="0" u="none" strike="noStrike" baseline="0" dirty="0">
                <a:latin typeface="Comic Sans MS" panose="030F0702030302020204" pitchFamily="66" charset="0"/>
              </a:rPr>
              <a:t>This process can be rather tedious, especially if there are more than three inputs to the combinational logic.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Note that the bit pattern in the Figure in the previous slides represents only one row of a truth table with eight rows. Add another input and the truth table doubles in size to sixteen rows.</a:t>
            </a:r>
          </a:p>
          <a:p>
            <a:pPr marL="0" indent="0" algn="just">
              <a:buNone/>
            </a:pPr>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There is another way to determine the truth table. Notice that in</a:t>
            </a:r>
          </a:p>
          <a:p>
            <a:pPr algn="just"/>
            <a:r>
              <a:rPr lang="en-GB" b="0" i="0" u="none" strike="noStrike" baseline="0" dirty="0">
                <a:latin typeface="Comic Sans MS" panose="030F0702030302020204" pitchFamily="66" charset="0"/>
              </a:rPr>
              <a:t>Figure above, we took the inputs through a sequence of steps passing it first through the inverter connected to the input B, then through the AND gate, then through the OR gate, and lastly through the inverter connected to the output of the OR gate.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These steps are labelled (a), (b), (c), and (d) in the Figure below.</a:t>
            </a:r>
            <a:endParaRPr lang="en-GB" sz="4000" dirty="0">
              <a:latin typeface="Comic Sans MS" panose="030F0702030302020204" pitchFamily="66" charset="0"/>
            </a:endParaRPr>
          </a:p>
        </p:txBody>
      </p:sp>
    </p:spTree>
    <p:extLst>
      <p:ext uri="{BB962C8B-B14F-4D97-AF65-F5344CB8AC3E}">
        <p14:creationId xmlns:p14="http://schemas.microsoft.com/office/powerpoint/2010/main" val="3270800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5538E8-8A76-4009-827F-0765E1DFA0C1}"/>
              </a:ext>
            </a:extLst>
          </p:cNvPr>
          <p:cNvPicPr>
            <a:picLocks noGrp="1" noChangeAspect="1"/>
          </p:cNvPicPr>
          <p:nvPr>
            <p:ph idx="1"/>
          </p:nvPr>
        </p:nvPicPr>
        <p:blipFill>
          <a:blip r:embed="rId2"/>
          <a:stretch>
            <a:fillRect/>
          </a:stretch>
        </p:blipFill>
        <p:spPr>
          <a:xfrm>
            <a:off x="1942657" y="453126"/>
            <a:ext cx="6344535" cy="1514686"/>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290C23F1-0020-4003-8C50-89BDEBDFCE8A}"/>
              </a:ext>
            </a:extLst>
          </p:cNvPr>
          <p:cNvSpPr txBox="1"/>
          <p:nvPr/>
        </p:nvSpPr>
        <p:spPr>
          <a:xfrm>
            <a:off x="171449" y="2274838"/>
            <a:ext cx="11887201" cy="2308324"/>
          </a:xfrm>
          <a:prstGeom prst="rect">
            <a:avLst/>
          </a:prstGeom>
          <a:noFill/>
        </p:spPr>
        <p:txBody>
          <a:bodyPr wrap="square">
            <a:spAutoFit/>
          </a:bodyPr>
          <a:lstStyle/>
          <a:p>
            <a:pPr algn="just"/>
            <a:r>
              <a:rPr lang="en-GB" sz="2400" b="0" i="0" u="none" strike="noStrike" baseline="0" dirty="0">
                <a:latin typeface="Comic Sans MS" panose="030F0702030302020204" pitchFamily="66" charset="0"/>
              </a:rPr>
              <a:t>If we apply those same steps to the individual columns of a truth table instead of using the schematic, the process becomes more orderly.</a:t>
            </a: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Begin by creating the input columns of the truth table listing all of the possible combinations of ones and zeros for the inputs. In the case of our sample circuit, that gives us a truth table with eight rows.</a:t>
            </a:r>
            <a:endParaRPr lang="en-GB" sz="2400" dirty="0">
              <a:latin typeface="Comic Sans MS" panose="030F0702030302020204" pitchFamily="66" charset="0"/>
            </a:endParaRPr>
          </a:p>
        </p:txBody>
      </p:sp>
    </p:spTree>
    <p:extLst>
      <p:ext uri="{BB962C8B-B14F-4D97-AF65-F5344CB8AC3E}">
        <p14:creationId xmlns:p14="http://schemas.microsoft.com/office/powerpoint/2010/main" val="306131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47A63C0-F98C-4F54-AB43-58B0DF29D30A}"/>
              </a:ext>
            </a:extLst>
          </p:cNvPr>
          <p:cNvPicPr>
            <a:picLocks noGrp="1" noChangeAspect="1"/>
          </p:cNvPicPr>
          <p:nvPr>
            <p:ph sz="half" idx="2"/>
          </p:nvPr>
        </p:nvPicPr>
        <p:blipFill>
          <a:blip r:embed="rId2"/>
          <a:stretch>
            <a:fillRect/>
          </a:stretch>
        </p:blipFill>
        <p:spPr>
          <a:xfrm>
            <a:off x="271262" y="88923"/>
            <a:ext cx="3038475" cy="5441411"/>
          </a:xfrm>
        </p:spPr>
      </p:pic>
      <p:sp>
        <p:nvSpPr>
          <p:cNvPr id="12" name="TextBox 11">
            <a:extLst>
              <a:ext uri="{FF2B5EF4-FFF2-40B4-BE49-F238E27FC236}">
                <a16:creationId xmlns:a16="http://schemas.microsoft.com/office/drawing/2014/main" id="{BF148E09-198E-4591-B993-CC0ABD0D0E93}"/>
              </a:ext>
            </a:extLst>
          </p:cNvPr>
          <p:cNvSpPr txBox="1"/>
          <p:nvPr/>
        </p:nvSpPr>
        <p:spPr>
          <a:xfrm>
            <a:off x="361950" y="5780127"/>
            <a:ext cx="3400425" cy="1015663"/>
          </a:xfrm>
          <a:prstGeom prst="rect">
            <a:avLst/>
          </a:prstGeom>
          <a:noFill/>
        </p:spPr>
        <p:txBody>
          <a:bodyPr wrap="square">
            <a:spAutoFit/>
          </a:bodyPr>
          <a:lstStyle/>
          <a:p>
            <a:pPr algn="just"/>
            <a:r>
              <a:rPr lang="en-GB" sz="2000" b="0" i="0" u="none" strike="noStrike" baseline="0" dirty="0">
                <a:solidFill>
                  <a:srgbClr val="FF0000"/>
                </a:solidFill>
                <a:latin typeface="Comic Sans MS" panose="030F0702030302020204" pitchFamily="66" charset="0"/>
              </a:rPr>
              <a:t>All Combinations of Ones and Zeros for Three Inputs</a:t>
            </a:r>
            <a:endParaRPr lang="en-GB" sz="2000" dirty="0">
              <a:solidFill>
                <a:srgbClr val="FF0000"/>
              </a:solidFill>
              <a:latin typeface="Comic Sans MS" panose="030F0702030302020204" pitchFamily="66" charset="0"/>
            </a:endParaRPr>
          </a:p>
        </p:txBody>
      </p:sp>
      <p:sp>
        <p:nvSpPr>
          <p:cNvPr id="14" name="TextBox 13">
            <a:extLst>
              <a:ext uri="{FF2B5EF4-FFF2-40B4-BE49-F238E27FC236}">
                <a16:creationId xmlns:a16="http://schemas.microsoft.com/office/drawing/2014/main" id="{3EFDF305-6CEC-4C59-926A-C6B723DB6F45}"/>
              </a:ext>
            </a:extLst>
          </p:cNvPr>
          <p:cNvSpPr txBox="1"/>
          <p:nvPr/>
        </p:nvSpPr>
        <p:spPr>
          <a:xfrm>
            <a:off x="4629149" y="88923"/>
            <a:ext cx="2886077" cy="6740307"/>
          </a:xfrm>
          <a:prstGeom prst="rect">
            <a:avLst/>
          </a:prstGeom>
          <a:noFill/>
        </p:spPr>
        <p:txBody>
          <a:bodyPr wrap="square">
            <a:spAutoFit/>
          </a:bodyPr>
          <a:lstStyle/>
          <a:p>
            <a:pPr algn="just"/>
            <a:r>
              <a:rPr lang="en-GB" sz="2400" b="0" i="0" u="none" strike="noStrike" baseline="0" dirty="0">
                <a:latin typeface="Comic Sans MS" panose="030F0702030302020204" pitchFamily="66" charset="0"/>
              </a:rPr>
              <a:t>Next, add a column for each layer of logic. Going back to staring Figure, we begin by making a column representing the (a) step. Since (a)</a:t>
            </a:r>
          </a:p>
          <a:p>
            <a:pPr algn="just"/>
            <a:r>
              <a:rPr lang="en-GB" sz="2400" b="0" i="0" u="none" strike="noStrike" baseline="0" dirty="0">
                <a:latin typeface="Comic Sans MS" panose="030F0702030302020204" pitchFamily="66" charset="0"/>
              </a:rPr>
              <a:t>represents the output of an inverter that has B as its input, fill the (a)</a:t>
            </a:r>
          </a:p>
          <a:p>
            <a:pPr algn="just"/>
            <a:r>
              <a:rPr lang="en-GB" sz="2400" b="0" i="0" u="none" strike="noStrike" baseline="0" dirty="0">
                <a:latin typeface="Comic Sans MS" panose="030F0702030302020204" pitchFamily="66" charset="0"/>
              </a:rPr>
              <a:t>column with the opposite or inverse of each condition in the B column.</a:t>
            </a:r>
            <a:endParaRPr lang="en-GB" sz="2400" dirty="0">
              <a:latin typeface="Comic Sans MS" panose="030F0702030302020204" pitchFamily="66" charset="0"/>
            </a:endParaRPr>
          </a:p>
        </p:txBody>
      </p:sp>
      <p:pic>
        <p:nvPicPr>
          <p:cNvPr id="16" name="Picture 15">
            <a:extLst>
              <a:ext uri="{FF2B5EF4-FFF2-40B4-BE49-F238E27FC236}">
                <a16:creationId xmlns:a16="http://schemas.microsoft.com/office/drawing/2014/main" id="{E189A53A-9368-4CF4-9EFE-6E9ABC9A1A1C}"/>
              </a:ext>
            </a:extLst>
          </p:cNvPr>
          <p:cNvPicPr>
            <a:picLocks noChangeAspect="1"/>
          </p:cNvPicPr>
          <p:nvPr/>
        </p:nvPicPr>
        <p:blipFill>
          <a:blip r:embed="rId3"/>
          <a:stretch>
            <a:fillRect/>
          </a:stretch>
        </p:blipFill>
        <p:spPr>
          <a:xfrm>
            <a:off x="8458200" y="88923"/>
            <a:ext cx="3462538" cy="5835627"/>
          </a:xfrm>
          <a:prstGeom prst="rect">
            <a:avLst/>
          </a:prstGeom>
        </p:spPr>
      </p:pic>
      <p:sp>
        <p:nvSpPr>
          <p:cNvPr id="18" name="TextBox 17">
            <a:extLst>
              <a:ext uri="{FF2B5EF4-FFF2-40B4-BE49-F238E27FC236}">
                <a16:creationId xmlns:a16="http://schemas.microsoft.com/office/drawing/2014/main" id="{C09D01E1-DB6B-44C2-B70F-E37B30AA57C7}"/>
              </a:ext>
            </a:extLst>
          </p:cNvPr>
          <p:cNvSpPr txBox="1"/>
          <p:nvPr/>
        </p:nvSpPr>
        <p:spPr>
          <a:xfrm>
            <a:off x="9263265" y="5621893"/>
            <a:ext cx="2724150" cy="1200329"/>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Step (a) in Sample Truth Table Creation</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5877212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ED64EEF-F831-47E6-8758-900966BB4032}"/>
              </a:ext>
            </a:extLst>
          </p:cNvPr>
          <p:cNvPicPr>
            <a:picLocks noGrp="1" noChangeAspect="1"/>
          </p:cNvPicPr>
          <p:nvPr>
            <p:ph sz="half" idx="1"/>
          </p:nvPr>
        </p:nvPicPr>
        <p:blipFill>
          <a:blip r:embed="rId2"/>
          <a:stretch>
            <a:fillRect/>
          </a:stretch>
        </p:blipFill>
        <p:spPr>
          <a:xfrm>
            <a:off x="400049" y="3219450"/>
            <a:ext cx="3381375" cy="3505200"/>
          </a:xfrm>
        </p:spPr>
      </p:pic>
      <p:sp>
        <p:nvSpPr>
          <p:cNvPr id="4" name="Content Placeholder 3">
            <a:extLst>
              <a:ext uri="{FF2B5EF4-FFF2-40B4-BE49-F238E27FC236}">
                <a16:creationId xmlns:a16="http://schemas.microsoft.com/office/drawing/2014/main" id="{CDA54363-D365-40F0-826A-530B992CC2AC}"/>
              </a:ext>
            </a:extLst>
          </p:cNvPr>
          <p:cNvSpPr>
            <a:spLocks noGrp="1"/>
          </p:cNvSpPr>
          <p:nvPr>
            <p:ph sz="half" idx="2"/>
          </p:nvPr>
        </p:nvSpPr>
        <p:spPr>
          <a:xfrm>
            <a:off x="76200" y="133350"/>
            <a:ext cx="3943347" cy="6724650"/>
          </a:xfrm>
        </p:spPr>
        <p:txBody>
          <a:bodyPr>
            <a:normAutofit/>
          </a:bodyPr>
          <a:lstStyle/>
          <a:p>
            <a:pPr algn="just"/>
            <a:r>
              <a:rPr lang="en-GB" sz="2400" b="0" i="0" u="none" strike="noStrike" baseline="0" dirty="0">
                <a:latin typeface="Comic Sans MS" panose="030F0702030302020204" pitchFamily="66" charset="0"/>
              </a:rPr>
              <a:t>Next, step (b) is the output of an AND gate that takes as its inputs step (a) and input A. </a:t>
            </a:r>
          </a:p>
          <a:p>
            <a:pPr marL="0" indent="0" algn="just">
              <a:buNone/>
            </a:pPr>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Add another column for step (b) and fill it with the AND of columns A and (a).</a:t>
            </a:r>
            <a:endParaRPr lang="en-GB" sz="3600" dirty="0">
              <a:latin typeface="Comic Sans MS" panose="030F0702030302020204" pitchFamily="66" charset="0"/>
            </a:endParaRPr>
          </a:p>
        </p:txBody>
      </p:sp>
      <p:sp>
        <p:nvSpPr>
          <p:cNvPr id="7" name="Content Placeholder 3">
            <a:extLst>
              <a:ext uri="{FF2B5EF4-FFF2-40B4-BE49-F238E27FC236}">
                <a16:creationId xmlns:a16="http://schemas.microsoft.com/office/drawing/2014/main" id="{1A95C768-DF89-4C0C-84D6-B0142D46F690}"/>
              </a:ext>
            </a:extLst>
          </p:cNvPr>
          <p:cNvSpPr txBox="1">
            <a:spLocks/>
          </p:cNvSpPr>
          <p:nvPr/>
        </p:nvSpPr>
        <p:spPr>
          <a:xfrm>
            <a:off x="4638673" y="133350"/>
            <a:ext cx="3105151" cy="65913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sz="2400" b="0" i="0" u="none" strike="noStrike" baseline="0" dirty="0">
                <a:latin typeface="Comic Sans MS" panose="030F0702030302020204" pitchFamily="66" charset="0"/>
              </a:rPr>
              <a:t>Step (c) is the output from the OR gate that takes as its inputs step (b) and the input C. Add another column for (c) and fill it with the OR of column C and column (b).</a:t>
            </a:r>
          </a:p>
          <a:p>
            <a:pPr algn="just"/>
            <a:r>
              <a:rPr lang="en-GB" sz="2400" b="0" i="0" u="none" strike="noStrike" baseline="0" dirty="0">
                <a:latin typeface="Comic Sans MS" panose="030F0702030302020204" pitchFamily="66" charset="0"/>
              </a:rPr>
              <a:t> </a:t>
            </a:r>
          </a:p>
          <a:p>
            <a:pPr algn="just"/>
            <a:r>
              <a:rPr lang="en-GB" sz="2400" b="0" i="0" u="none" strike="noStrike" baseline="0" dirty="0">
                <a:latin typeface="Comic Sans MS" panose="030F0702030302020204" pitchFamily="66" charset="0"/>
              </a:rPr>
              <a:t>Last of all, the final output is the inverse of the output of the OR gate of step (c). Make a final column and fill it with the inverse of column (c). </a:t>
            </a: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This will be the final output column for the truth table</a:t>
            </a:r>
            <a:r>
              <a:rPr lang="en-GB" sz="2000" b="0" i="0" u="none" strike="noStrike" baseline="0" dirty="0">
                <a:latin typeface="Comic Sans MS" panose="030F0702030302020204" pitchFamily="66" charset="0"/>
              </a:rPr>
              <a:t>.</a:t>
            </a:r>
            <a:endParaRPr lang="en-GB" sz="4000" dirty="0">
              <a:latin typeface="Comic Sans MS" panose="030F0702030302020204" pitchFamily="66" charset="0"/>
            </a:endParaRPr>
          </a:p>
        </p:txBody>
      </p:sp>
      <p:pic>
        <p:nvPicPr>
          <p:cNvPr id="9" name="Picture 8">
            <a:extLst>
              <a:ext uri="{FF2B5EF4-FFF2-40B4-BE49-F238E27FC236}">
                <a16:creationId xmlns:a16="http://schemas.microsoft.com/office/drawing/2014/main" id="{2E19E03C-AFBE-4DC9-9946-02134C89A78D}"/>
              </a:ext>
            </a:extLst>
          </p:cNvPr>
          <p:cNvPicPr>
            <a:picLocks noChangeAspect="1"/>
          </p:cNvPicPr>
          <p:nvPr/>
        </p:nvPicPr>
        <p:blipFill>
          <a:blip r:embed="rId3"/>
          <a:stretch>
            <a:fillRect/>
          </a:stretch>
        </p:blipFill>
        <p:spPr>
          <a:xfrm>
            <a:off x="8362950" y="237885"/>
            <a:ext cx="3662806" cy="2724390"/>
          </a:xfrm>
          <a:prstGeom prst="rect">
            <a:avLst/>
          </a:prstGeom>
        </p:spPr>
      </p:pic>
      <p:pic>
        <p:nvPicPr>
          <p:cNvPr id="11" name="Picture 10">
            <a:extLst>
              <a:ext uri="{FF2B5EF4-FFF2-40B4-BE49-F238E27FC236}">
                <a16:creationId xmlns:a16="http://schemas.microsoft.com/office/drawing/2014/main" id="{4C89DAB3-AE30-4F87-91C3-5517EA2B3B9C}"/>
              </a:ext>
            </a:extLst>
          </p:cNvPr>
          <p:cNvPicPr>
            <a:picLocks noChangeAspect="1"/>
          </p:cNvPicPr>
          <p:nvPr/>
        </p:nvPicPr>
        <p:blipFill>
          <a:blip r:embed="rId4"/>
          <a:stretch>
            <a:fillRect/>
          </a:stretch>
        </p:blipFill>
        <p:spPr>
          <a:xfrm>
            <a:off x="7943853" y="3205584"/>
            <a:ext cx="4171947" cy="3414531"/>
          </a:xfrm>
          <a:prstGeom prst="rect">
            <a:avLst/>
          </a:prstGeom>
        </p:spPr>
      </p:pic>
    </p:spTree>
    <p:extLst>
      <p:ext uri="{BB962C8B-B14F-4D97-AF65-F5344CB8AC3E}">
        <p14:creationId xmlns:p14="http://schemas.microsoft.com/office/powerpoint/2010/main" val="1237979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4656129-8280-44C9-85BA-09277045738C}"/>
              </a:ext>
            </a:extLst>
          </p:cNvPr>
          <p:cNvSpPr>
            <a:spLocks noGrp="1"/>
          </p:cNvSpPr>
          <p:nvPr>
            <p:ph idx="1"/>
          </p:nvPr>
        </p:nvSpPr>
        <p:spPr>
          <a:xfrm>
            <a:off x="95250" y="123824"/>
            <a:ext cx="12001500" cy="6657975"/>
          </a:xfrm>
        </p:spPr>
        <p:txBody>
          <a:bodyPr/>
          <a:lstStyle/>
          <a:p>
            <a:pPr marL="0" indent="0">
              <a:buNone/>
            </a:pPr>
            <a:r>
              <a:rPr lang="en-GB" dirty="0">
                <a:solidFill>
                  <a:srgbClr val="FF0000"/>
                </a:solidFill>
                <a:latin typeface="Comic Sans MS" panose="030F0702030302020204" pitchFamily="66" charset="0"/>
              </a:rPr>
              <a:t>Next </a:t>
            </a:r>
          </a:p>
          <a:p>
            <a:pPr algn="ctr"/>
            <a:r>
              <a:rPr lang="en-GB" sz="4000" dirty="0">
                <a:solidFill>
                  <a:srgbClr val="FF0000"/>
                </a:solidFill>
                <a:latin typeface="Comic Sans MS" panose="030F0702030302020204" pitchFamily="66" charset="0"/>
              </a:rPr>
              <a:t>Boolean Algebra</a:t>
            </a:r>
          </a:p>
          <a:p>
            <a:pPr algn="ctr"/>
            <a:endParaRPr lang="en-GB" dirty="0">
              <a:solidFill>
                <a:srgbClr val="FF0000"/>
              </a:solidFill>
              <a:latin typeface="Comic Sans MS" panose="030F0702030302020204" pitchFamily="66" charset="0"/>
            </a:endParaRPr>
          </a:p>
          <a:p>
            <a:pPr algn="ctr"/>
            <a:endParaRPr lang="en-GB" dirty="0">
              <a:solidFill>
                <a:srgbClr val="FF0000"/>
              </a:solidFill>
              <a:latin typeface="Comic Sans MS" panose="030F0702030302020204" pitchFamily="66" charset="0"/>
            </a:endParaRPr>
          </a:p>
          <a:p>
            <a:pPr marL="0" indent="0" algn="ctr">
              <a:buNone/>
            </a:pPr>
            <a:r>
              <a:rPr lang="en-GB" dirty="0">
                <a:solidFill>
                  <a:srgbClr val="FF0000"/>
                </a:solidFill>
                <a:latin typeface="Comic Sans MS" panose="030F0702030302020204" pitchFamily="66" charset="0"/>
              </a:rPr>
              <a:t> </a:t>
            </a:r>
          </a:p>
          <a:p>
            <a:pPr algn="ctr"/>
            <a:r>
              <a:rPr lang="en-GB" sz="3600" dirty="0">
                <a:latin typeface="Comic Sans MS" panose="030F0702030302020204" pitchFamily="66" charset="0"/>
              </a:rPr>
              <a:t>Thank you for listening </a:t>
            </a:r>
          </a:p>
          <a:p>
            <a:pPr algn="ctr"/>
            <a:endParaRPr lang="en-GB" sz="3600" dirty="0">
              <a:latin typeface="Comic Sans MS" panose="030F0702030302020204" pitchFamily="66" charset="0"/>
            </a:endParaRPr>
          </a:p>
          <a:p>
            <a:pPr algn="ctr"/>
            <a:endParaRPr lang="en-GB" sz="3600" dirty="0">
              <a:latin typeface="Comic Sans MS" panose="030F0702030302020204" pitchFamily="66" charset="0"/>
            </a:endParaRPr>
          </a:p>
          <a:p>
            <a:pPr marL="0" indent="0" algn="ctr">
              <a:buNone/>
            </a:pPr>
            <a:r>
              <a:rPr lang="en-GB" sz="3600" dirty="0">
                <a:latin typeface="Comic Sans MS" panose="030F0702030302020204" pitchFamily="66" charset="0"/>
              </a:rPr>
              <a:t>“?”</a:t>
            </a:r>
          </a:p>
        </p:txBody>
      </p:sp>
    </p:spTree>
    <p:extLst>
      <p:ext uri="{BB962C8B-B14F-4D97-AF65-F5344CB8AC3E}">
        <p14:creationId xmlns:p14="http://schemas.microsoft.com/office/powerpoint/2010/main" val="415948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2998</Words>
  <Application>Microsoft Office PowerPoint</Application>
  <PresentationFormat>Widescreen</PresentationFormat>
  <Paragraphs>210</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Comic Sans MS</vt:lpstr>
      <vt:lpstr>TimesNewRomanPSMT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Femi Alamu</dc:creator>
  <cp:lastModifiedBy>Femi Alamu</cp:lastModifiedBy>
  <cp:revision>31</cp:revision>
  <dcterms:created xsi:type="dcterms:W3CDTF">2025-12-08T18:32:27Z</dcterms:created>
  <dcterms:modified xsi:type="dcterms:W3CDTF">2026-01-05T18:12:11Z</dcterms:modified>
</cp:coreProperties>
</file>