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5"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1" autoAdjust="0"/>
    <p:restoredTop sz="94660"/>
  </p:normalViewPr>
  <p:slideViewPr>
    <p:cSldViewPr snapToGrid="0">
      <p:cViewPr varScale="1">
        <p:scale>
          <a:sx n="113" d="100"/>
          <a:sy n="113" d="100"/>
        </p:scale>
        <p:origin x="5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0" timeString="2026-01-08T09:03:04.299"/>
    </inkml:context>
    <inkml:brush xml:id="br0">
      <inkml:brushProperty name="width" value="0.05292" units="cm"/>
      <inkml:brushProperty name="height" value="0.05292" units="cm"/>
      <inkml:brushProperty name="color" value="#FF0000"/>
    </inkml:brush>
  </inkml:definitions>
  <inkml:trace contextRef="#ctx0" brushRef="#br0">9772 9208 0,'-18'0'94,"1"17"-94,-1-17 16,18 18-16,-18-18 15,1 0-15,17 35 16,-18-35-16,0 18 16,-17-1-1,35 1-15,-17-18 16,17 18-16,-18-18 15,0 35-15,18-17 16,-17-18 0,17 17-16,-36 1 15,36-1 1,-17 1-16,17 0 16,0-1-16,-18-17 0,18 18 15,-18-18 1,18 18-1,0-1 1,-17-17-16,17 36 0,0-19 31,-35 1-15,35-1 15,0 1-15,0 17 15,0-17-15,0 0-1,0-1 1,0 1-16,0 0 0,0-1 31,0 1 0,0-1-31,0 1 16,0 0 15,0 17-15,0-17 15,0-1-15,0 1-1,0 0 1,0-1 0,0 1-1,0 0 1,0-1 15,0 1 0,0-1-15,0 1 0,0 0-1,0-1 1,0 1 0,17-18-1,-17 18 16,0-1 1,18 1-17,-18 0 1,35-1 15,-35 1-15,0-1-16,18-17 15,17 18 32,-17 0-15,-18-1-1,17-17-31,1 0 15,0 0 17,-18 18-32,35-18 15,-18 0 17,1 0-17,-18 18 16,18-18-31,-1 0 16,1 0 15,0 17-31,-18 1 16,17-18-16,1 0 16,-18 18-16,18-18 0,-1 0 15,1 0 1,-18 17-16,17-17 15,1 0 1,0 0 0,-1 0-1,1 0 1,0 0 0,-1 0 15,1 0-31,0 18 15,-1-18 17,-17 18-17,18-18-15,0 0 16,-1 0-16,1 0 16,-1 0 15,1 0-16,0 0 1,-1 0 0,1 0-16,0 0 15,-1 0 1,1 0 0,0 0-1,-1 0-15,1 0 16,17 0-1,-17 17 1,-1-17 0,1 0-16,0 0 15,17 0-15,-17 0 16,17 0-16,-17 0 16,-1 0-1,1 0-15,-1 0 31,19 0-15,-19 0-16,19 0 16,-19 0-1,1 0-15,0 0 16,-1 0 0,1 0-1,-1 0 1,1 0 46,0 0-46,-1 0 15,1 0-31,0 0 31,-1 0-15,19 0 0,-19 0-16,1 0 15,-1 0-15,19 0 16,-19 0 0,19 0-16,-19 0 15,1 0-15,52 0 16,-34 0-16,-1 0 0,-17 0 15,52 0-15,-52 0 16,0 0 0,-1 0-1,1 0-15,-1 0 16,1 0 0,0 0 30,-1 0-46,1 0 16,0 0 0,-1 0-1,1 0 1,0 0 0,-18-17-16,17-1 15,1 18 1,-1 0-16,1 0 0,0 0 15,-1 0 1,1-18 15,0-17-15,-1 35 0,1 0-16,0-18 0,-1 18 31,-17-17-31,18 17 15,0-18 1,-1 0 0,1 18-1,-1-17 1,1 17 0,-18-18-1,18 18 16,-18-18-15,17 1 15,1-1-15,0 18 0,-18-17-16,0-1 15,0 0 1,17 1-16,-17-1 15,18 0-15,-18 1 32,18-1-32,-18 0 15,0 1 1,0-1 0,0 1-1,0-1 1,0 0-16,0 1 15,0-1 1,0 0 0,0 1-1,0-19-15,0 19 16,0-1 0,0 0-1,0 1 16,0-1-31,0 1 32,0-1-17,0 0 17,0 1-17,0-1 1,0 0 31,0 1-32,0-1-15,0 0 16,0 1 0,-18-1 15,18-17-16,-18 17 1,18 1 0,-17 17-16,-1-18 15,0 18 1,18-18 0,0 1-1,-17 17-15,17-18 16,-18 0-16,0 1 15,1-1 1,-1 18-16,1-17 16,-1-1-1,18 0-15,-18 1 16,1-1 0,-1 0-1,0 18-15,18-17 16,-17 17-1,17-18-15,-18 0 16,18 1-16,-18 17 0,1-18 31,-19 18-31,36-17 16,-17-1-16,17 0 16,-18 1-1,1-1-15,-1 0 31,0 18-15,1-17-16,-1 17 0,0-18 16,1 18-1,-1 0 1,18-18-16,-18 1 0,1 17 16,-1 0-16,1-18 15,17 0 1,-18 18-16,0 0 15,-17 0 1,-18 0-16,35-17 0,1 17 16,-36-18-1,35 18-15,-17 0 16,35-17 0,-35-1-16,-1 0 15,19 18-15,-1 0 0,-17 0 16,0 0-1,17 0-15,0 0 16,1 0-16,-1 0 0,-17 0 31,-1 0-31,19 0 16,-18 0-16,17 0 16,0 18-16,1 0 15,-1-18-15,0 0 16,-35 0-1,36 17-15,-1 1 16,1-18 0,-1 0-16,-17 17 15,-1-17-15,19 0 16,-1 0-16,0 0 16,1 18-1,-1 0-15,-35-1 16,18 1-16,17-18 15,-17 0-15,17 0 16,18 18 0,-17-18-16,-1 0 15,0 0-15,1 17 16,-1-17-16,1 0 16,-1 0-1,0 0-15,1 0 16,-1 0-1,0 0-15,1 0 16,-1 0 0,0 0 15,1 0 0,-1 0-15,0 0 31,1 0-16,-1 0 31,1 0-30,17 18-17,-18-18 17,18 18 30,-18-18-62,18 17 31,0 1 1,-17-18-17,-1 0 1,18 18-1,-18-18 48,18 17-63,-17-17 47,17 18-16,-18-18-15,18 17 15</inkml:trace>
  <inkml:trace contextRef="#ctx0" brushRef="#br0" timeOffset="1664.45">11624 7814 0,'-18'35'110,"1"1"-95,-1 17-15,-17-18 16,0 18-16,-1 0 16,19 0-16,-1-18 15,-17 18-15,-18 0 16,53-36-16,-18 1 15,1 17-15,-1-17 16,-17 17 0,-1-17-16,19-1 15,-1 1-15,18 0 16,0-1 0,-18 1-1,18 0 1,0-1-16,-17-17 0,17 35 15,-18-35 1,0 18-16,18 0 31,0-1-31,-17 1 16,-1-18 31,18 18-32,0-1 1,0 1-16,-17 0 16,17-1-1,0 1 1,-18-18-16,18 18 16,0-1-1,-35-17 32,35 18-47,0-1 16,-18-17-1,18 18-15,0 0 47,-18-18-47,18 35 63,-17-35 15,17 18-47,-18-18-31,18-18 125,0-17-109,18-1-1,-1-16-15</inkml:trace>
  <inkml:trace contextRef="#ctx0" brushRef="#br0" timeOffset="3688.96">11836 7849 0,'0'18'47,"0"0"-16,0-1-31,0 1 16,0 17-16,-18-17 15,0-1-15,-17 54 16,0-36 0,17 1-16,18-19 0,-35 36 15,17 0 1,1-35-16,-1-1 0,0 36 15,1-35-15,17-1 16,-36-17-16,36 18 16,-35 0-16,35-1 15,-17 19-15,-1-19 16,0 1 0,-17 0-16,17 34 15,1-16-15,-1-19 16,0-17-16,18 18 15,-17 0 1,-1-1-16,1 1 16,17 0-16,-18-18 0,18 17 15,0 1 1,-18-18 0,18 18 30,-17-18-14,17 17-32,0 1 62,-18-18-62,0 0 31,18 17-31,0 1 16,-17-18 0,17 18 15,-18-18-15,0 17-16,18 1 15,-17 0-15,17-1 16,-18-17-16,18 18 15,-18-18 1,18 18-16,-17-18 31</inkml:trace>
  <inkml:trace contextRef="#ctx0" brushRef="#br0" timeOffset="6360.3">11042 8326 0,'0'17'62,"0"1"-46,-18-1-1,18 19-15,-17-1 0,17 0 16,0 1-16,0-19 16,0 18-16,0 1 15,-18-1 1,18-17-16,0-1 16,0 1-16,0 17 15,0-17-15,0 0 16,0-1-1,0 1 1,0-1-16,0 1 16,0 0-1,0-1 1,0 1 31,0 17 0,0-17 0,0 0-16,0-1 47,0 1-47,0-36 219,18 18-234,-1-17-1,1 17-15,0 0 16,-1 0-16,1 0 16,-1 0-16,1 0 15,0 0 1,-1-18-16,1 18 16,0-18-16,-1 1 0,19-1 15,-1 18 1,-17-18-16,17 1 15,-18 17 1,1 0-16,0 0 0,-1 0 31,1 0-31,-18-18 0,18 18 16,-1 0-16,1 0 16,0 0-1,-1 0-15,1-18 31,-1 18-31,1-17 32,0 17-1,-18-18-31,35 18 31,-17 0 47,-18-17 47,0-1-78,17 18-16</inkml:trace>
  <inkml:trace contextRef="#ctx0" brushRef="#br0" timeOffset="53195.46">14340 16404 0,'0'-17'62,"-17"34"63,-1 1-109,1-1-16,-1 36 16,-17-17-16,35-1 0,-18-35 15,-17 35 1,35-17-16,-18-18 15,0 35-15,1-35 16,17 18-16,-18-18 0,-35 53 16,36-18-1,-1-35-15,18 18 16,-18-1-16,1 1 16,-1 0-16,0-1 15,1 1 1,-1-1-16,18 1 15,-18-18-15,18 18 16,-17-1-16,-1 1 16,1-18-16,17 35 15,-18-35-15,0 18 16,18 0 0,0-1-16,0 1 0,0-1 15,-17-17 1,17 18 46,0 0-15,-18-18-47,0 0 63,18 17-63,0 1 15,-17-18 1,17 18 0,0-36 109</inkml:trace>
  <inkml:trace contextRef="#ctx0" brushRef="#br0" timeOffset="54836.11">14429 16492 0,'-18'36'15,"36"-72"-15,-54 89 0,19-35 16,-19 17-16,1-17 16,18-1-16,-19 36 15,36-17-15,-17-19 16,-36 19 0,53-19-16,-18-17 15,0 36-15,18-19 16,-17-17-16,17 18 15,-18-18-15,0 17 0,1 1 16,17 0-16,-18-1 16,1 19-16,-1-19 15,0 1 1,18 0-16,-17 17 16,17-18-1,-18-17-15,18 18 16,-18-18-16,18 18 15,-17-1 1,-1 1-16,18 0 16,-18-1-1,1 1-15,-1-18 16,18 18 0,-17-18-16,17 17 15,-18-17-15,18 18 16,-18-18-1,18 17 1,-17-17 0,-19 0 31,36 18-32,0 0 1,-17-18 15,-1 0 110</inkml:trace>
  <inkml:trace contextRef="#ctx0" brushRef="#br0" timeOffset="56746.34">13723 16775 0,'0'17'78,"0"1"-63,0 0-15,0-1 16,0 1 0,-18-18-16,18 17 0,-17 36 15,17-35 1,0 0-16,0-1 0,0 1 16,0 0-16,0-1 15,0 1 1,0-1-16,0 1 15,0 0 1,0 17 31,0-17-31,0-1 15,0 1-16,0 0-15,0-1 32,0 1-1,0-1 16,0 1-16,0 0 32,0-1-48,-18 1 1,18 0-16,0-1 31,18-17 157,-1 0-173,19 0-15,34 0 16,-34 0-16,-1 0 15,18 0-15,0 0 16,-36 0-16,19-17 16,-1-1-16,0 18 15,-17 0-15,17 0 16,-17 0 15,-1 0-15,1 0-1,0 0-15,-1 0 32,1 0-17,0 0 1,-1 0 0,1 0 30,-1 0 48</inkml:trace>
  <inkml:trace contextRef="#ctx0" brushRef="#br0" timeOffset="87109.14">3775 1393 0,'70'0'62,"-34"0"-46,-19 0 15,1 0-15,-1 0-16,1 0 31,-18-17 0,18 17-31,-1 0 16,1 0 0,0 0-1,-1-18 17,-17 1-32,18 17 15,0 0 1,-1 0-1,19 0 17,-19 0 46</inkml:trace>
  <inkml:trace contextRef="#ctx0" brushRef="#br0" timeOffset="88511.75">3828 1499 0,'35'0'63,"-17"0"-48,-1 0 1,36-17 0,-35 17-16,17 0 15,-17-18-15,-1 18 16,1 0-16,-18-18 0,35 18 16,-17 0-1,0-17 1,-1 17-16,1 0 15,-18-18-15,17 18 16,1 0 0,0 0-1,-1 0 48,-17-18-32,18 18 63</inkml:trace>
  <inkml:trace contextRef="#ctx0" brushRef="#br0" timeOffset="90267.37">4251 1341 0,'0'-36'16,"0"19"-16,-18-1 16,1 0-1,17 1 1,-18 17-16,18-18 15,-18 18-15,1-18 16,-1 18-16,1 0 16,-1-17-16,0 17 31,1 0-31,17-18 16,-18 18-16,0 0 31,1 0 16,34 0 78,1 18-110,0-1 1,-1-17-16,-17 18 16,18-18-16,-18 18 15,18-1-15,-1-17 16,-17 18-16,18-18 15,-18 18-15,17-18 16,-17 17-16,0 1 16,0 0 15,18-18-15,0 0 15,-18 17 0,17-17 0,-17 18-15,0-1 31,18-17-32,-18 18 17,0 0-1,0-1-31,0 1 47,0 0-32,0-1 1,0 1 0,0 0-1,0-1 17,0 1-32,0 0 15,-18-18 1,18 17-1,-17-17 17,17 18 15,0-1-16,0 1 0</inkml:trace>
  <inkml:trace contextRef="#ctx0" brushRef="#br0" timeOffset="94778.42">7479 3722 0,'18'17'157,"-18"1"-157,35-18 15,-35 18-15,17-1 16,1 1-16,0 0 16,-18-1-16,17-17 15,1 18-15,0 0 16,-1-1-1,1 1-15,-18-1 16,0 1 0,18 0-1,-1-1 17,1 1-32,-18 0 15,17-1 1,1-17-1,-18 18-15,18-18 32,-18 18-17,17-18 1,-17 17-16,0 1 16,18-18 30,-18 18-30,0-54 125</inkml:trace>
  <inkml:trace contextRef="#ctx0" brushRef="#br0" timeOffset="96191.86">7638 3616 0,'0'18'78,"17"-1"-62,1 19-16,0-1 15,-1-18 1,-17 36-16,18-35 16,-1 0-16,1-1 0,-18 1 15,18 0-15,-18-1 16,0 1-1,17-18-15,-17 17 16,0 1 0,0 0-16,18-18 15,-18 17 1,0 1-16,18-18 16,-18 18-16,0-1 15,0 1-15,0 0 16,0 17-1,35-35 1,-35 18 0,0-1 31,0 1-32,18-18-15,-18 17 63,0 1 46,17-18-109,-17 18 63,18-18-48,-18 17 1,18-17-1,-18 18 32</inkml:trace>
  <inkml:trace contextRef="#ctx0" brushRef="#br0" timeOffset="98550.28">7938 4286 0,'-18'0'281,"0"0"-250,1 0 32,17-17-63,-18 17 15,0 0 17,18-18-17,-17 18-15,-1 0 16,0 0 0,18-35-1,-17 35-15,-1 0 47,0 0 0,1 0-16,-1 0 32,1 0-32,34 0 110,1 0-126,-1 0-15,1 0 16,0 0 15,-1 0-31,1 0 16,0 0-16,-1 0 15,1 0 1,0 0 31,-1 0 15,1 0 16,0 0-62,-1 0 47,-17 17-63,18-17 62,-18-17 63,17-1-94,-17 0-15,0 1-16,0-1 16,0-17-1,0 17-15,0 1 16,0-1-16,0 0 15,0 1 17,0-1-1,0 0 0,0 1 0,0-1 1,0 0 15,0 1-16,0-1 0</inkml:trace>
  <inkml:trace contextRef="#ctx0" brushRef="#br0" timeOffset="104110.31">13000 8308 0,'0'18'141,"0"-1"-141,-18 1 16,1-1-16,17 1 15,-18-18-15,18 35 16,-35-35-16,35 36 15,-18-19-15,0 1 0,18 0 16,-17-1 0,-1 1-16,18-1 15,-18 1-15,18 0 16,-17-18-16,-1 17 16,18 19-16,-17-1 15,-1 0 1,18 1-16,-18-19 0,1 1 15,-1-18 1,18 17-16,-18-17 16,18 18-16,-17 0 0,-1 17 15,18-17-15,-18-1 16,1 1 0,-1 0-1,18 17 1,-17-35-16,17 17 15,-18 1 17,0 0-17,18-1 1,0 1-16,-17 0 16,17-1 30,-18-17-14,0 18-32,1 0 31,17-1-15,0 1-1,-18-18 1,18 18-1,-18-18 48,18 17-63,0 1 16,-17-1-1,-1 1 16,0-18-31,18 35 16,0-17 15,-17-18-15,-1 18 15,18-1 0,0 1-15,-17-18 31,17 18-16,0-1 0,0 1 1,0-1 46,0-34 94,0-1-157,0 1-15,0-1 16,0 0-16,0 1 16,0-19-1,0 1-15,0 17 16,0 1-16,0-1 15,0 1 1,0-1-16,0 0 16,0 1-16,0-1 0,0 0 31,0 1 0,0-19 47,0 19-62,0-1 31,0 0-16,0 1 16,0 34-16,0 1-15,0 0-1,0 17 1,0-17-16,0 17 16,0-17-1,0 17 1,0-17 0,0-1-1,0 1 1,0-1-1,0 1 48</inkml:trace>
  <inkml:trace contextRef="#ctx0" brushRef="#br0" timeOffset="105891.35">12312 9366 0,'18'0'63,"-1"0"-63,18-17 15,-35-1-15,18 18 16,35-18-16,-35 18 15,-1 0 1,1-17-16,0 17 16,17-18-1,-17 18 1,-1 0 15,1 0-15,-1 0-16,1-18 47,0 18-32,-1 0 17,-17-35 14,18 35-14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C9F5F-EBEA-4D3F-BF55-9099A36313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9F1513A-6540-418D-B3DD-50255CE283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A873135-A246-4FB4-BA90-3775B3E02C4C}"/>
              </a:ext>
            </a:extLst>
          </p:cNvPr>
          <p:cNvSpPr>
            <a:spLocks noGrp="1"/>
          </p:cNvSpPr>
          <p:nvPr>
            <p:ph type="dt" sz="half" idx="10"/>
          </p:nvPr>
        </p:nvSpPr>
        <p:spPr/>
        <p:txBody>
          <a:bodyPr/>
          <a:lstStyle/>
          <a:p>
            <a:fld id="{1D315742-D0C3-4A03-B901-C7D066744EC1}" type="datetimeFigureOut">
              <a:rPr lang="en-GB" smtClean="0"/>
              <a:t>14/01/2026</a:t>
            </a:fld>
            <a:endParaRPr lang="en-GB"/>
          </a:p>
        </p:txBody>
      </p:sp>
      <p:sp>
        <p:nvSpPr>
          <p:cNvPr id="5" name="Footer Placeholder 4">
            <a:extLst>
              <a:ext uri="{FF2B5EF4-FFF2-40B4-BE49-F238E27FC236}">
                <a16:creationId xmlns:a16="http://schemas.microsoft.com/office/drawing/2014/main" id="{01CCD6F2-5764-451F-81E1-F2BA0388ABE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4E3E5D2-7190-493A-85A5-23F9145E6B22}"/>
              </a:ext>
            </a:extLst>
          </p:cNvPr>
          <p:cNvSpPr>
            <a:spLocks noGrp="1"/>
          </p:cNvSpPr>
          <p:nvPr>
            <p:ph type="sldNum" sz="quarter" idx="12"/>
          </p:nvPr>
        </p:nvSpPr>
        <p:spPr/>
        <p:txBody>
          <a:bodyPr/>
          <a:lstStyle/>
          <a:p>
            <a:fld id="{7FC5EC75-3CB3-4BAE-BC98-5FF4966379B9}" type="slidenum">
              <a:rPr lang="en-GB" smtClean="0"/>
              <a:t>‹#›</a:t>
            </a:fld>
            <a:endParaRPr lang="en-GB"/>
          </a:p>
        </p:txBody>
      </p:sp>
    </p:spTree>
    <p:extLst>
      <p:ext uri="{BB962C8B-B14F-4D97-AF65-F5344CB8AC3E}">
        <p14:creationId xmlns:p14="http://schemas.microsoft.com/office/powerpoint/2010/main" val="1222005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A1315-389B-49E9-BFFE-D438FB6FA3C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701123D-1A30-454B-8CE3-3C8B3F44CD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CDB52B0-7470-4AAC-8C3A-2D45D93A904C}"/>
              </a:ext>
            </a:extLst>
          </p:cNvPr>
          <p:cNvSpPr>
            <a:spLocks noGrp="1"/>
          </p:cNvSpPr>
          <p:nvPr>
            <p:ph type="dt" sz="half" idx="10"/>
          </p:nvPr>
        </p:nvSpPr>
        <p:spPr/>
        <p:txBody>
          <a:bodyPr/>
          <a:lstStyle/>
          <a:p>
            <a:fld id="{1D315742-D0C3-4A03-B901-C7D066744EC1}" type="datetimeFigureOut">
              <a:rPr lang="en-GB" smtClean="0"/>
              <a:t>14/01/2026</a:t>
            </a:fld>
            <a:endParaRPr lang="en-GB"/>
          </a:p>
        </p:txBody>
      </p:sp>
      <p:sp>
        <p:nvSpPr>
          <p:cNvPr id="5" name="Footer Placeholder 4">
            <a:extLst>
              <a:ext uri="{FF2B5EF4-FFF2-40B4-BE49-F238E27FC236}">
                <a16:creationId xmlns:a16="http://schemas.microsoft.com/office/drawing/2014/main" id="{56F2C0C2-7CC7-4E17-AABD-357B062FD5B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DA482B-5070-45EC-ACEA-8D7BC2B16C02}"/>
              </a:ext>
            </a:extLst>
          </p:cNvPr>
          <p:cNvSpPr>
            <a:spLocks noGrp="1"/>
          </p:cNvSpPr>
          <p:nvPr>
            <p:ph type="sldNum" sz="quarter" idx="12"/>
          </p:nvPr>
        </p:nvSpPr>
        <p:spPr/>
        <p:txBody>
          <a:bodyPr/>
          <a:lstStyle/>
          <a:p>
            <a:fld id="{7FC5EC75-3CB3-4BAE-BC98-5FF4966379B9}" type="slidenum">
              <a:rPr lang="en-GB" smtClean="0"/>
              <a:t>‹#›</a:t>
            </a:fld>
            <a:endParaRPr lang="en-GB"/>
          </a:p>
        </p:txBody>
      </p:sp>
    </p:spTree>
    <p:extLst>
      <p:ext uri="{BB962C8B-B14F-4D97-AF65-F5344CB8AC3E}">
        <p14:creationId xmlns:p14="http://schemas.microsoft.com/office/powerpoint/2010/main" val="1723526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C510D-34FE-45B7-B62D-91BDD4E6EF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D61FBEF-832D-4D26-B608-DD802486D3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ABFC83-FCD8-4CF0-BC17-4D8CEFBEF17E}"/>
              </a:ext>
            </a:extLst>
          </p:cNvPr>
          <p:cNvSpPr>
            <a:spLocks noGrp="1"/>
          </p:cNvSpPr>
          <p:nvPr>
            <p:ph type="dt" sz="half" idx="10"/>
          </p:nvPr>
        </p:nvSpPr>
        <p:spPr/>
        <p:txBody>
          <a:bodyPr/>
          <a:lstStyle/>
          <a:p>
            <a:fld id="{1D315742-D0C3-4A03-B901-C7D066744EC1}" type="datetimeFigureOut">
              <a:rPr lang="en-GB" smtClean="0"/>
              <a:t>14/01/2026</a:t>
            </a:fld>
            <a:endParaRPr lang="en-GB"/>
          </a:p>
        </p:txBody>
      </p:sp>
      <p:sp>
        <p:nvSpPr>
          <p:cNvPr id="5" name="Footer Placeholder 4">
            <a:extLst>
              <a:ext uri="{FF2B5EF4-FFF2-40B4-BE49-F238E27FC236}">
                <a16:creationId xmlns:a16="http://schemas.microsoft.com/office/drawing/2014/main" id="{AD998093-6484-4088-AE2A-2696654EA9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FB5A0C4-A1BB-47BA-B740-915F98B9B3D0}"/>
              </a:ext>
            </a:extLst>
          </p:cNvPr>
          <p:cNvSpPr>
            <a:spLocks noGrp="1"/>
          </p:cNvSpPr>
          <p:nvPr>
            <p:ph type="sldNum" sz="quarter" idx="12"/>
          </p:nvPr>
        </p:nvSpPr>
        <p:spPr/>
        <p:txBody>
          <a:bodyPr/>
          <a:lstStyle/>
          <a:p>
            <a:fld id="{7FC5EC75-3CB3-4BAE-BC98-5FF4966379B9}" type="slidenum">
              <a:rPr lang="en-GB" smtClean="0"/>
              <a:t>‹#›</a:t>
            </a:fld>
            <a:endParaRPr lang="en-GB"/>
          </a:p>
        </p:txBody>
      </p:sp>
    </p:spTree>
    <p:extLst>
      <p:ext uri="{BB962C8B-B14F-4D97-AF65-F5344CB8AC3E}">
        <p14:creationId xmlns:p14="http://schemas.microsoft.com/office/powerpoint/2010/main" val="549113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B5E9-1E4A-4C68-9232-CB7C73A5B27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9B553A6-F983-48E3-A41B-1FEBC8440D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89D7C00-3C6F-4912-9BD7-F4B243DD00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F359AB5-E86C-4B58-AFAB-90D6AEBB5BEF}"/>
              </a:ext>
            </a:extLst>
          </p:cNvPr>
          <p:cNvSpPr>
            <a:spLocks noGrp="1"/>
          </p:cNvSpPr>
          <p:nvPr>
            <p:ph type="dt" sz="half" idx="10"/>
          </p:nvPr>
        </p:nvSpPr>
        <p:spPr/>
        <p:txBody>
          <a:bodyPr/>
          <a:lstStyle/>
          <a:p>
            <a:fld id="{1D315742-D0C3-4A03-B901-C7D066744EC1}" type="datetimeFigureOut">
              <a:rPr lang="en-GB" smtClean="0"/>
              <a:t>14/01/2026</a:t>
            </a:fld>
            <a:endParaRPr lang="en-GB"/>
          </a:p>
        </p:txBody>
      </p:sp>
      <p:sp>
        <p:nvSpPr>
          <p:cNvPr id="6" name="Footer Placeholder 5">
            <a:extLst>
              <a:ext uri="{FF2B5EF4-FFF2-40B4-BE49-F238E27FC236}">
                <a16:creationId xmlns:a16="http://schemas.microsoft.com/office/drawing/2014/main" id="{5DFA6F88-DAA9-4167-B3C6-CC359E16F8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ABF7A88-0821-41EB-B08E-D7500B52E21E}"/>
              </a:ext>
            </a:extLst>
          </p:cNvPr>
          <p:cNvSpPr>
            <a:spLocks noGrp="1"/>
          </p:cNvSpPr>
          <p:nvPr>
            <p:ph type="sldNum" sz="quarter" idx="12"/>
          </p:nvPr>
        </p:nvSpPr>
        <p:spPr/>
        <p:txBody>
          <a:bodyPr/>
          <a:lstStyle/>
          <a:p>
            <a:fld id="{7FC5EC75-3CB3-4BAE-BC98-5FF4966379B9}" type="slidenum">
              <a:rPr lang="en-GB" smtClean="0"/>
              <a:t>‹#›</a:t>
            </a:fld>
            <a:endParaRPr lang="en-GB"/>
          </a:p>
        </p:txBody>
      </p:sp>
    </p:spTree>
    <p:extLst>
      <p:ext uri="{BB962C8B-B14F-4D97-AF65-F5344CB8AC3E}">
        <p14:creationId xmlns:p14="http://schemas.microsoft.com/office/powerpoint/2010/main" val="2329139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1AF90-61E0-4DCC-8FBC-C9C0E0B411C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D133BE8-071F-4708-97F1-8149F5CA69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F58579-3D5F-4736-B99D-9F44E04B12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1083CAF-ABAD-4BCA-B4C5-EB22643C53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3D7D47-A91D-45FB-A19A-660506DEFE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3C136AA-F870-44DA-AA5E-C692E8D1A72F}"/>
              </a:ext>
            </a:extLst>
          </p:cNvPr>
          <p:cNvSpPr>
            <a:spLocks noGrp="1"/>
          </p:cNvSpPr>
          <p:nvPr>
            <p:ph type="dt" sz="half" idx="10"/>
          </p:nvPr>
        </p:nvSpPr>
        <p:spPr/>
        <p:txBody>
          <a:bodyPr/>
          <a:lstStyle/>
          <a:p>
            <a:fld id="{1D315742-D0C3-4A03-B901-C7D066744EC1}" type="datetimeFigureOut">
              <a:rPr lang="en-GB" smtClean="0"/>
              <a:t>14/01/2026</a:t>
            </a:fld>
            <a:endParaRPr lang="en-GB"/>
          </a:p>
        </p:txBody>
      </p:sp>
      <p:sp>
        <p:nvSpPr>
          <p:cNvPr id="8" name="Footer Placeholder 7">
            <a:extLst>
              <a:ext uri="{FF2B5EF4-FFF2-40B4-BE49-F238E27FC236}">
                <a16:creationId xmlns:a16="http://schemas.microsoft.com/office/drawing/2014/main" id="{9B921FA4-2BD1-4948-9485-93239D6484C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AA29CB9-6768-4333-BECE-CDA00F6FA6D5}"/>
              </a:ext>
            </a:extLst>
          </p:cNvPr>
          <p:cNvSpPr>
            <a:spLocks noGrp="1"/>
          </p:cNvSpPr>
          <p:nvPr>
            <p:ph type="sldNum" sz="quarter" idx="12"/>
          </p:nvPr>
        </p:nvSpPr>
        <p:spPr/>
        <p:txBody>
          <a:bodyPr/>
          <a:lstStyle/>
          <a:p>
            <a:fld id="{7FC5EC75-3CB3-4BAE-BC98-5FF4966379B9}" type="slidenum">
              <a:rPr lang="en-GB" smtClean="0"/>
              <a:t>‹#›</a:t>
            </a:fld>
            <a:endParaRPr lang="en-GB"/>
          </a:p>
        </p:txBody>
      </p:sp>
    </p:spTree>
    <p:extLst>
      <p:ext uri="{BB962C8B-B14F-4D97-AF65-F5344CB8AC3E}">
        <p14:creationId xmlns:p14="http://schemas.microsoft.com/office/powerpoint/2010/main" val="897889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D982C-9B74-4486-9450-33D5A240348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04CCF9E-121F-4D92-8FC7-54C94BAED781}"/>
              </a:ext>
            </a:extLst>
          </p:cNvPr>
          <p:cNvSpPr>
            <a:spLocks noGrp="1"/>
          </p:cNvSpPr>
          <p:nvPr>
            <p:ph type="dt" sz="half" idx="10"/>
          </p:nvPr>
        </p:nvSpPr>
        <p:spPr/>
        <p:txBody>
          <a:bodyPr/>
          <a:lstStyle/>
          <a:p>
            <a:fld id="{1D315742-D0C3-4A03-B901-C7D066744EC1}" type="datetimeFigureOut">
              <a:rPr lang="en-GB" smtClean="0"/>
              <a:t>14/01/2026</a:t>
            </a:fld>
            <a:endParaRPr lang="en-GB"/>
          </a:p>
        </p:txBody>
      </p:sp>
      <p:sp>
        <p:nvSpPr>
          <p:cNvPr id="4" name="Footer Placeholder 3">
            <a:extLst>
              <a:ext uri="{FF2B5EF4-FFF2-40B4-BE49-F238E27FC236}">
                <a16:creationId xmlns:a16="http://schemas.microsoft.com/office/drawing/2014/main" id="{F1A4CCF6-924B-48B5-8438-E2205F2550A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7F03A9C-E669-46B7-BC17-F702F88A7BAF}"/>
              </a:ext>
            </a:extLst>
          </p:cNvPr>
          <p:cNvSpPr>
            <a:spLocks noGrp="1"/>
          </p:cNvSpPr>
          <p:nvPr>
            <p:ph type="sldNum" sz="quarter" idx="12"/>
          </p:nvPr>
        </p:nvSpPr>
        <p:spPr/>
        <p:txBody>
          <a:bodyPr/>
          <a:lstStyle/>
          <a:p>
            <a:fld id="{7FC5EC75-3CB3-4BAE-BC98-5FF4966379B9}" type="slidenum">
              <a:rPr lang="en-GB" smtClean="0"/>
              <a:t>‹#›</a:t>
            </a:fld>
            <a:endParaRPr lang="en-GB"/>
          </a:p>
        </p:txBody>
      </p:sp>
    </p:spTree>
    <p:extLst>
      <p:ext uri="{BB962C8B-B14F-4D97-AF65-F5344CB8AC3E}">
        <p14:creationId xmlns:p14="http://schemas.microsoft.com/office/powerpoint/2010/main" val="1542243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19CD3D-867D-438D-AE82-4DA26C1A1F69}"/>
              </a:ext>
            </a:extLst>
          </p:cNvPr>
          <p:cNvSpPr>
            <a:spLocks noGrp="1"/>
          </p:cNvSpPr>
          <p:nvPr>
            <p:ph type="dt" sz="half" idx="10"/>
          </p:nvPr>
        </p:nvSpPr>
        <p:spPr/>
        <p:txBody>
          <a:bodyPr/>
          <a:lstStyle/>
          <a:p>
            <a:fld id="{1D315742-D0C3-4A03-B901-C7D066744EC1}" type="datetimeFigureOut">
              <a:rPr lang="en-GB" smtClean="0"/>
              <a:t>14/01/2026</a:t>
            </a:fld>
            <a:endParaRPr lang="en-GB"/>
          </a:p>
        </p:txBody>
      </p:sp>
      <p:sp>
        <p:nvSpPr>
          <p:cNvPr id="3" name="Footer Placeholder 2">
            <a:extLst>
              <a:ext uri="{FF2B5EF4-FFF2-40B4-BE49-F238E27FC236}">
                <a16:creationId xmlns:a16="http://schemas.microsoft.com/office/drawing/2014/main" id="{7C7DB3AA-2578-4D5D-BF25-6514A8CDEF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4414838-54B1-45D4-808E-3F9548C02A9D}"/>
              </a:ext>
            </a:extLst>
          </p:cNvPr>
          <p:cNvSpPr>
            <a:spLocks noGrp="1"/>
          </p:cNvSpPr>
          <p:nvPr>
            <p:ph type="sldNum" sz="quarter" idx="12"/>
          </p:nvPr>
        </p:nvSpPr>
        <p:spPr/>
        <p:txBody>
          <a:bodyPr/>
          <a:lstStyle/>
          <a:p>
            <a:fld id="{7FC5EC75-3CB3-4BAE-BC98-5FF4966379B9}" type="slidenum">
              <a:rPr lang="en-GB" smtClean="0"/>
              <a:t>‹#›</a:t>
            </a:fld>
            <a:endParaRPr lang="en-GB"/>
          </a:p>
        </p:txBody>
      </p:sp>
    </p:spTree>
    <p:extLst>
      <p:ext uri="{BB962C8B-B14F-4D97-AF65-F5344CB8AC3E}">
        <p14:creationId xmlns:p14="http://schemas.microsoft.com/office/powerpoint/2010/main" val="3661431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667C4-597A-4C52-9236-BAF551862E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D2D7DBC-1941-486A-BA85-6EE94FEA57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736E8C6-A20B-4210-A514-AF7BBE7782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CFC60C-BD4A-421D-8103-08C2B852B695}"/>
              </a:ext>
            </a:extLst>
          </p:cNvPr>
          <p:cNvSpPr>
            <a:spLocks noGrp="1"/>
          </p:cNvSpPr>
          <p:nvPr>
            <p:ph type="dt" sz="half" idx="10"/>
          </p:nvPr>
        </p:nvSpPr>
        <p:spPr/>
        <p:txBody>
          <a:bodyPr/>
          <a:lstStyle/>
          <a:p>
            <a:fld id="{1D315742-D0C3-4A03-B901-C7D066744EC1}" type="datetimeFigureOut">
              <a:rPr lang="en-GB" smtClean="0"/>
              <a:t>14/01/2026</a:t>
            </a:fld>
            <a:endParaRPr lang="en-GB"/>
          </a:p>
        </p:txBody>
      </p:sp>
      <p:sp>
        <p:nvSpPr>
          <p:cNvPr id="6" name="Footer Placeholder 5">
            <a:extLst>
              <a:ext uri="{FF2B5EF4-FFF2-40B4-BE49-F238E27FC236}">
                <a16:creationId xmlns:a16="http://schemas.microsoft.com/office/drawing/2014/main" id="{7F1808E2-4DEF-4B98-8090-4B0645D8132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D8FD481-922E-486B-9680-68285713274E}"/>
              </a:ext>
            </a:extLst>
          </p:cNvPr>
          <p:cNvSpPr>
            <a:spLocks noGrp="1"/>
          </p:cNvSpPr>
          <p:nvPr>
            <p:ph type="sldNum" sz="quarter" idx="12"/>
          </p:nvPr>
        </p:nvSpPr>
        <p:spPr/>
        <p:txBody>
          <a:bodyPr/>
          <a:lstStyle/>
          <a:p>
            <a:fld id="{7FC5EC75-3CB3-4BAE-BC98-5FF4966379B9}" type="slidenum">
              <a:rPr lang="en-GB" smtClean="0"/>
              <a:t>‹#›</a:t>
            </a:fld>
            <a:endParaRPr lang="en-GB"/>
          </a:p>
        </p:txBody>
      </p:sp>
    </p:spTree>
    <p:extLst>
      <p:ext uri="{BB962C8B-B14F-4D97-AF65-F5344CB8AC3E}">
        <p14:creationId xmlns:p14="http://schemas.microsoft.com/office/powerpoint/2010/main" val="757370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E5659-5813-448D-920A-E4079A5E1B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4A14D30-E08F-4382-A170-319C09C146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00D1212-03CD-4128-B057-7BEA8B041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7D765F-515D-4508-90CD-E8C79E60D5F4}"/>
              </a:ext>
            </a:extLst>
          </p:cNvPr>
          <p:cNvSpPr>
            <a:spLocks noGrp="1"/>
          </p:cNvSpPr>
          <p:nvPr>
            <p:ph type="dt" sz="half" idx="10"/>
          </p:nvPr>
        </p:nvSpPr>
        <p:spPr/>
        <p:txBody>
          <a:bodyPr/>
          <a:lstStyle/>
          <a:p>
            <a:fld id="{1D315742-D0C3-4A03-B901-C7D066744EC1}" type="datetimeFigureOut">
              <a:rPr lang="en-GB" smtClean="0"/>
              <a:t>14/01/2026</a:t>
            </a:fld>
            <a:endParaRPr lang="en-GB"/>
          </a:p>
        </p:txBody>
      </p:sp>
      <p:sp>
        <p:nvSpPr>
          <p:cNvPr id="6" name="Footer Placeholder 5">
            <a:extLst>
              <a:ext uri="{FF2B5EF4-FFF2-40B4-BE49-F238E27FC236}">
                <a16:creationId xmlns:a16="http://schemas.microsoft.com/office/drawing/2014/main" id="{91087D58-2DCB-4B26-B24A-A7B2E537B5A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F1E3DAA-C208-4ECB-B58E-89AEDA3A5BB9}"/>
              </a:ext>
            </a:extLst>
          </p:cNvPr>
          <p:cNvSpPr>
            <a:spLocks noGrp="1"/>
          </p:cNvSpPr>
          <p:nvPr>
            <p:ph type="sldNum" sz="quarter" idx="12"/>
          </p:nvPr>
        </p:nvSpPr>
        <p:spPr/>
        <p:txBody>
          <a:bodyPr/>
          <a:lstStyle/>
          <a:p>
            <a:fld id="{7FC5EC75-3CB3-4BAE-BC98-5FF4966379B9}" type="slidenum">
              <a:rPr lang="en-GB" smtClean="0"/>
              <a:t>‹#›</a:t>
            </a:fld>
            <a:endParaRPr lang="en-GB"/>
          </a:p>
        </p:txBody>
      </p:sp>
    </p:spTree>
    <p:extLst>
      <p:ext uri="{BB962C8B-B14F-4D97-AF65-F5344CB8AC3E}">
        <p14:creationId xmlns:p14="http://schemas.microsoft.com/office/powerpoint/2010/main" val="32857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8367C-E4D2-4C17-B3FF-8C453E7B61A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025F6C5-4159-4B05-9F56-1325C65E0A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9490F9C-0D4A-4153-AB3F-006CFD536D83}"/>
              </a:ext>
            </a:extLst>
          </p:cNvPr>
          <p:cNvSpPr>
            <a:spLocks noGrp="1"/>
          </p:cNvSpPr>
          <p:nvPr>
            <p:ph type="dt" sz="half" idx="10"/>
          </p:nvPr>
        </p:nvSpPr>
        <p:spPr/>
        <p:txBody>
          <a:bodyPr/>
          <a:lstStyle/>
          <a:p>
            <a:fld id="{1D315742-D0C3-4A03-B901-C7D066744EC1}" type="datetimeFigureOut">
              <a:rPr lang="en-GB" smtClean="0"/>
              <a:t>14/01/2026</a:t>
            </a:fld>
            <a:endParaRPr lang="en-GB"/>
          </a:p>
        </p:txBody>
      </p:sp>
      <p:sp>
        <p:nvSpPr>
          <p:cNvPr id="5" name="Footer Placeholder 4">
            <a:extLst>
              <a:ext uri="{FF2B5EF4-FFF2-40B4-BE49-F238E27FC236}">
                <a16:creationId xmlns:a16="http://schemas.microsoft.com/office/drawing/2014/main" id="{D8E4CF54-B387-49F4-BA24-A3667BE3C6B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FB2DAC2-89EB-47A4-AD38-485268F12089}"/>
              </a:ext>
            </a:extLst>
          </p:cNvPr>
          <p:cNvSpPr>
            <a:spLocks noGrp="1"/>
          </p:cNvSpPr>
          <p:nvPr>
            <p:ph type="sldNum" sz="quarter" idx="12"/>
          </p:nvPr>
        </p:nvSpPr>
        <p:spPr/>
        <p:txBody>
          <a:bodyPr/>
          <a:lstStyle/>
          <a:p>
            <a:fld id="{7FC5EC75-3CB3-4BAE-BC98-5FF4966379B9}" type="slidenum">
              <a:rPr lang="en-GB" smtClean="0"/>
              <a:t>‹#›</a:t>
            </a:fld>
            <a:endParaRPr lang="en-GB"/>
          </a:p>
        </p:txBody>
      </p:sp>
    </p:spTree>
    <p:extLst>
      <p:ext uri="{BB962C8B-B14F-4D97-AF65-F5344CB8AC3E}">
        <p14:creationId xmlns:p14="http://schemas.microsoft.com/office/powerpoint/2010/main" val="2503855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151105-7DC0-44ED-831F-3C5EB8E141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A44DD0A-F568-4F3C-8CF8-ABCE380F86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4F5017B-2DA3-41BB-BC5E-E7EDFAE3A63B}"/>
              </a:ext>
            </a:extLst>
          </p:cNvPr>
          <p:cNvSpPr>
            <a:spLocks noGrp="1"/>
          </p:cNvSpPr>
          <p:nvPr>
            <p:ph type="dt" sz="half" idx="10"/>
          </p:nvPr>
        </p:nvSpPr>
        <p:spPr/>
        <p:txBody>
          <a:bodyPr/>
          <a:lstStyle/>
          <a:p>
            <a:fld id="{1D315742-D0C3-4A03-B901-C7D066744EC1}" type="datetimeFigureOut">
              <a:rPr lang="en-GB" smtClean="0"/>
              <a:t>14/01/2026</a:t>
            </a:fld>
            <a:endParaRPr lang="en-GB"/>
          </a:p>
        </p:txBody>
      </p:sp>
      <p:sp>
        <p:nvSpPr>
          <p:cNvPr id="5" name="Footer Placeholder 4">
            <a:extLst>
              <a:ext uri="{FF2B5EF4-FFF2-40B4-BE49-F238E27FC236}">
                <a16:creationId xmlns:a16="http://schemas.microsoft.com/office/drawing/2014/main" id="{94EB3E52-5631-4312-B227-CBD569DB44B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AD0147E-3CA5-4B63-B034-0B5A96F14B3E}"/>
              </a:ext>
            </a:extLst>
          </p:cNvPr>
          <p:cNvSpPr>
            <a:spLocks noGrp="1"/>
          </p:cNvSpPr>
          <p:nvPr>
            <p:ph type="sldNum" sz="quarter" idx="12"/>
          </p:nvPr>
        </p:nvSpPr>
        <p:spPr/>
        <p:txBody>
          <a:bodyPr/>
          <a:lstStyle/>
          <a:p>
            <a:fld id="{7FC5EC75-3CB3-4BAE-BC98-5FF4966379B9}" type="slidenum">
              <a:rPr lang="en-GB" smtClean="0"/>
              <a:t>‹#›</a:t>
            </a:fld>
            <a:endParaRPr lang="en-GB"/>
          </a:p>
        </p:txBody>
      </p:sp>
    </p:spTree>
    <p:extLst>
      <p:ext uri="{BB962C8B-B14F-4D97-AF65-F5344CB8AC3E}">
        <p14:creationId xmlns:p14="http://schemas.microsoft.com/office/powerpoint/2010/main" val="1890977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D10A95-2B05-488C-BEAD-2702FB9010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883D35D-63D2-422E-B444-183515088E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83B7000-FF48-4BA4-8644-55FBEC9EC0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315742-D0C3-4A03-B901-C7D066744EC1}" type="datetimeFigureOut">
              <a:rPr lang="en-GB" smtClean="0"/>
              <a:t>14/01/2026</a:t>
            </a:fld>
            <a:endParaRPr lang="en-GB"/>
          </a:p>
        </p:txBody>
      </p:sp>
      <p:sp>
        <p:nvSpPr>
          <p:cNvPr id="5" name="Footer Placeholder 4">
            <a:extLst>
              <a:ext uri="{FF2B5EF4-FFF2-40B4-BE49-F238E27FC236}">
                <a16:creationId xmlns:a16="http://schemas.microsoft.com/office/drawing/2014/main" id="{44EDAC5B-EF83-4A5E-803C-83440E7E8C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941EB3C-99D9-4572-ABEF-A9F2FAC213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C5EC75-3CB3-4BAE-BC98-5FF4966379B9}" type="slidenum">
              <a:rPr lang="en-GB" smtClean="0"/>
              <a:t>‹#›</a:t>
            </a:fld>
            <a:endParaRPr lang="en-GB"/>
          </a:p>
        </p:txBody>
      </p:sp>
    </p:spTree>
    <p:extLst>
      <p:ext uri="{BB962C8B-B14F-4D97-AF65-F5344CB8AC3E}">
        <p14:creationId xmlns:p14="http://schemas.microsoft.com/office/powerpoint/2010/main" val="22685951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 Id="rId5" Type="http://schemas.openxmlformats.org/officeDocument/2006/relationships/image" Target="../media/image47.png"/><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2195C74-3CDD-43E0-9D74-6C3F677368C2}"/>
              </a:ext>
            </a:extLst>
          </p:cNvPr>
          <p:cNvSpPr>
            <a:spLocks noGrp="1"/>
          </p:cNvSpPr>
          <p:nvPr>
            <p:ph idx="1"/>
          </p:nvPr>
        </p:nvSpPr>
        <p:spPr>
          <a:xfrm>
            <a:off x="1" y="0"/>
            <a:ext cx="12192000" cy="6858000"/>
          </a:xfrm>
        </p:spPr>
        <p:txBody>
          <a:bodyPr/>
          <a:lstStyle/>
          <a:p>
            <a:pPr algn="ctr"/>
            <a:endParaRPr lang="en-FI" sz="4400" b="1" u="none" strike="noStrike" baseline="0" dirty="0">
              <a:solidFill>
                <a:srgbClr val="FF0000"/>
              </a:solidFill>
              <a:latin typeface="Comic Sans MS" panose="030F0702030302020204" pitchFamily="66" charset="0"/>
            </a:endParaRPr>
          </a:p>
          <a:p>
            <a:pPr algn="ctr"/>
            <a:r>
              <a:rPr lang="en-GB" sz="5400" b="1" u="none" strike="noStrike" baseline="0" dirty="0">
                <a:solidFill>
                  <a:srgbClr val="FF0000"/>
                </a:solidFill>
                <a:latin typeface="Comic Sans MS" panose="030F0702030302020204" pitchFamily="66" charset="0"/>
              </a:rPr>
              <a:t>Boolean Algebra</a:t>
            </a:r>
            <a:endParaRPr lang="en-GB" sz="5400" b="1" dirty="0">
              <a:solidFill>
                <a:srgbClr val="FF0000"/>
              </a:solidFill>
              <a:latin typeface="Comic Sans MS" panose="030F0702030302020204" pitchFamily="66" charset="0"/>
            </a:endParaRPr>
          </a:p>
          <a:p>
            <a:pPr algn="ctr"/>
            <a:endParaRPr lang="en-GB" sz="4000" b="1" dirty="0">
              <a:solidFill>
                <a:srgbClr val="FF0000"/>
              </a:solidFill>
              <a:latin typeface="Comic Sans MS" panose="030F0702030302020204" pitchFamily="66" charset="0"/>
            </a:endParaRPr>
          </a:p>
          <a:p>
            <a:pPr algn="ctr"/>
            <a:r>
              <a:rPr lang="en-GB" sz="3200" b="1" dirty="0">
                <a:latin typeface="Comic Sans MS" panose="030F0702030302020204" pitchFamily="66" charset="0"/>
              </a:rPr>
              <a:t>Alamu Femi O PhD </a:t>
            </a:r>
          </a:p>
          <a:p>
            <a:endParaRPr lang="en-GB" dirty="0"/>
          </a:p>
        </p:txBody>
      </p:sp>
    </p:spTree>
    <p:extLst>
      <p:ext uri="{BB962C8B-B14F-4D97-AF65-F5344CB8AC3E}">
        <p14:creationId xmlns:p14="http://schemas.microsoft.com/office/powerpoint/2010/main" val="2581174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548233-D414-45B4-AB58-A15EAE44F524}"/>
              </a:ext>
            </a:extLst>
          </p:cNvPr>
          <p:cNvSpPr>
            <a:spLocks noGrp="1"/>
          </p:cNvSpPr>
          <p:nvPr>
            <p:ph sz="half" idx="1"/>
          </p:nvPr>
        </p:nvSpPr>
        <p:spPr>
          <a:xfrm>
            <a:off x="211667" y="84667"/>
            <a:ext cx="5291666" cy="6688666"/>
          </a:xfrm>
        </p:spPr>
        <p:txBody>
          <a:bodyPr>
            <a:normAutofit/>
          </a:bodyPr>
          <a:lstStyle/>
          <a:p>
            <a:pPr algn="just"/>
            <a:r>
              <a:rPr lang="en-GB" b="1" i="0" u="none" strike="noStrike" baseline="0" dirty="0">
                <a:solidFill>
                  <a:srgbClr val="FF0000"/>
                </a:solidFill>
                <a:latin typeface="Comic Sans MS" panose="030F0702030302020204" pitchFamily="66" charset="0"/>
              </a:rPr>
              <a:t>Need for Boolean Expressions</a:t>
            </a:r>
            <a:endParaRPr lang="en-FI" b="1" i="0" u="none" strike="noStrike" baseline="0" dirty="0">
              <a:solidFill>
                <a:srgbClr val="FF0000"/>
              </a:solidFill>
              <a:latin typeface="Comic Sans MS" panose="030F0702030302020204" pitchFamily="66" charset="0"/>
            </a:endParaRPr>
          </a:p>
          <a:p>
            <a:pPr algn="just"/>
            <a:endParaRPr lang="en-GB" sz="2400" b="1" i="0" u="none" strike="noStrike" baseline="0" dirty="0">
              <a:solidFill>
                <a:srgbClr val="FF0000"/>
              </a:solidFill>
              <a:latin typeface="Comic Sans MS" panose="030F0702030302020204" pitchFamily="66" charset="0"/>
            </a:endParaRPr>
          </a:p>
          <a:p>
            <a:pPr algn="just"/>
            <a:r>
              <a:rPr lang="en-GB" sz="2400" b="0" i="0" u="none" strike="noStrike" baseline="0" dirty="0">
                <a:latin typeface="Comic Sans MS" panose="030F0702030302020204" pitchFamily="66" charset="0"/>
              </a:rPr>
              <a:t>I</a:t>
            </a:r>
            <a:r>
              <a:rPr lang="en-FI" sz="2400" b="0" i="0" u="none" strike="noStrike" baseline="0" dirty="0">
                <a:latin typeface="Comic Sans MS" panose="030F0702030302020204" pitchFamily="66" charset="0"/>
              </a:rPr>
              <a:t>n the </a:t>
            </a:r>
            <a:r>
              <a:rPr lang="en-GB" sz="2400" b="0" i="0" u="none" strike="noStrike" baseline="0" dirty="0">
                <a:latin typeface="Comic Sans MS" panose="030F0702030302020204" pitchFamily="66" charset="0"/>
              </a:rPr>
              <a:t>study of digital circuits, we have two methods</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for representing combinational logic: schematics and truth tables.</a:t>
            </a:r>
            <a:endParaRPr lang="en-FI" sz="2400" b="0" i="0" u="none" strike="noStrike" baseline="0" dirty="0">
              <a:latin typeface="Comic Sans MS" panose="030F0702030302020204" pitchFamily="66" charset="0"/>
            </a:endParaRPr>
          </a:p>
          <a:p>
            <a:pPr algn="just"/>
            <a:endParaRPr lang="en-FI" sz="4000" dirty="0">
              <a:latin typeface="Comic Sans MS" panose="030F0702030302020204" pitchFamily="66" charset="0"/>
            </a:endParaRPr>
          </a:p>
          <a:p>
            <a:pPr algn="just"/>
            <a:endParaRPr lang="en-GB" sz="4000" dirty="0">
              <a:latin typeface="Comic Sans MS" panose="030F0702030302020204" pitchFamily="66" charset="0"/>
            </a:endParaRPr>
          </a:p>
        </p:txBody>
      </p:sp>
      <p:pic>
        <p:nvPicPr>
          <p:cNvPr id="5" name="Picture 4">
            <a:extLst>
              <a:ext uri="{FF2B5EF4-FFF2-40B4-BE49-F238E27FC236}">
                <a16:creationId xmlns:a16="http://schemas.microsoft.com/office/drawing/2014/main" id="{43455F4A-228B-4EF4-9931-C77CF8F82C7B}"/>
              </a:ext>
            </a:extLst>
          </p:cNvPr>
          <p:cNvPicPr>
            <a:picLocks noChangeAspect="1"/>
          </p:cNvPicPr>
          <p:nvPr/>
        </p:nvPicPr>
        <p:blipFill>
          <a:blip r:embed="rId2"/>
          <a:stretch>
            <a:fillRect/>
          </a:stretch>
        </p:blipFill>
        <p:spPr>
          <a:xfrm>
            <a:off x="550333" y="3042393"/>
            <a:ext cx="3302451" cy="3227704"/>
          </a:xfrm>
          <a:prstGeom prst="rect">
            <a:avLst/>
          </a:prstGeom>
        </p:spPr>
      </p:pic>
      <p:sp>
        <p:nvSpPr>
          <p:cNvPr id="8" name="Title 5">
            <a:extLst>
              <a:ext uri="{FF2B5EF4-FFF2-40B4-BE49-F238E27FC236}">
                <a16:creationId xmlns:a16="http://schemas.microsoft.com/office/drawing/2014/main" id="{78CA5C93-7209-4BD8-AE95-D15A4741DBDF}"/>
              </a:ext>
            </a:extLst>
          </p:cNvPr>
          <p:cNvSpPr>
            <a:spLocks noGrp="1"/>
          </p:cNvSpPr>
          <p:nvPr>
            <p:ph sz="half" idx="2"/>
          </p:nvPr>
        </p:nvSpPr>
        <p:spPr>
          <a:xfrm>
            <a:off x="5503333" y="84667"/>
            <a:ext cx="6477000" cy="6688666"/>
          </a:xfrm>
        </p:spPr>
        <p:txBody>
          <a:bodyPr>
            <a:noAutofit/>
          </a:bodyPr>
          <a:lstStyle/>
          <a:p>
            <a:pPr algn="just"/>
            <a:r>
              <a:rPr lang="en-GB" sz="2000" b="0" i="0" u="none" strike="noStrike" baseline="0" dirty="0">
                <a:latin typeface="Comic Sans MS" panose="030F0702030302020204" pitchFamily="66" charset="0"/>
              </a:rPr>
              <a:t>These two methods are inadequate for a number of reasons:</a:t>
            </a:r>
            <a:endParaRPr lang="en-FI" sz="2000" b="0" i="0" u="none" strike="noStrike" baseline="0" dirty="0">
              <a:latin typeface="Comic Sans MS" panose="030F0702030302020204" pitchFamily="66" charset="0"/>
            </a:endParaRPr>
          </a:p>
          <a:p>
            <a:pPr algn="just"/>
            <a:endParaRPr lang="en-GB" sz="2000" b="0" i="0" u="none" strike="noStrike" baseline="0" dirty="0">
              <a:latin typeface="Comic Sans MS" panose="030F0702030302020204" pitchFamily="66" charset="0"/>
            </a:endParaRPr>
          </a:p>
          <a:p>
            <a:pPr marL="914400" lvl="2" indent="0" algn="just">
              <a:buNone/>
            </a:pPr>
            <a:r>
              <a:rPr lang="en-GB" sz="1800" b="0" i="0" u="none" strike="noStrike" baseline="0" dirty="0">
                <a:latin typeface="Comic Sans MS" panose="030F0702030302020204" pitchFamily="66" charset="0"/>
              </a:rPr>
              <a:t>•</a:t>
            </a:r>
            <a:r>
              <a:rPr lang="en-GB" sz="1800" b="1" i="0" u="none" strike="noStrike" baseline="0" dirty="0">
                <a:latin typeface="Comic Sans MS" panose="030F0702030302020204" pitchFamily="66" charset="0"/>
              </a:rPr>
              <a:t>Both schematics and truth tables take too much space to describe</a:t>
            </a:r>
            <a:r>
              <a:rPr lang="en-FI" sz="1800" b="1" i="0" u="none" strike="noStrike" baseline="0" dirty="0">
                <a:latin typeface="Comic Sans MS" panose="030F0702030302020204" pitchFamily="66" charset="0"/>
              </a:rPr>
              <a:t> </a:t>
            </a:r>
            <a:r>
              <a:rPr lang="en-GB" sz="1800" b="1" i="0" u="none" strike="noStrike" baseline="0" dirty="0">
                <a:latin typeface="Comic Sans MS" panose="030F0702030302020204" pitchFamily="66" charset="0"/>
              </a:rPr>
              <a:t>the operation of complex circuits with numerous inputs.</a:t>
            </a:r>
            <a:endParaRPr lang="en-FI" sz="1800" b="1" i="0" u="none" strike="noStrike" baseline="0" dirty="0">
              <a:latin typeface="Comic Sans MS" panose="030F0702030302020204" pitchFamily="66" charset="0"/>
            </a:endParaRPr>
          </a:p>
          <a:p>
            <a:pPr marL="914400" lvl="2" indent="0" algn="just">
              <a:buNone/>
            </a:pPr>
            <a:endParaRPr lang="en-GB" sz="1800" b="1" i="0" u="none" strike="noStrike" baseline="0" dirty="0">
              <a:latin typeface="Comic Sans MS" panose="030F0702030302020204" pitchFamily="66" charset="0"/>
            </a:endParaRPr>
          </a:p>
          <a:p>
            <a:pPr marL="914400" lvl="2" indent="0" algn="just">
              <a:buNone/>
            </a:pPr>
            <a:r>
              <a:rPr lang="en-GB" sz="1800" b="1" i="0" u="none" strike="noStrike" baseline="0" dirty="0">
                <a:latin typeface="Comic Sans MS" panose="030F0702030302020204" pitchFamily="66" charset="0"/>
              </a:rPr>
              <a:t>•The truth table "hides" circuit information.</a:t>
            </a:r>
            <a:endParaRPr lang="en-FI" sz="1800" b="1" i="0" u="none" strike="noStrike" baseline="0" dirty="0">
              <a:latin typeface="Comic Sans MS" panose="030F0702030302020204" pitchFamily="66" charset="0"/>
            </a:endParaRPr>
          </a:p>
          <a:p>
            <a:pPr marL="914400" lvl="2" indent="0" algn="just">
              <a:buNone/>
            </a:pPr>
            <a:endParaRPr lang="en-GB" sz="1800" b="1" i="0" u="none" strike="noStrike" baseline="0" dirty="0">
              <a:latin typeface="Comic Sans MS" panose="030F0702030302020204" pitchFamily="66" charset="0"/>
            </a:endParaRPr>
          </a:p>
          <a:p>
            <a:pPr marL="914400" lvl="2" indent="0" algn="just">
              <a:buNone/>
            </a:pPr>
            <a:r>
              <a:rPr lang="en-GB" sz="1800" b="1" i="0" u="none" strike="noStrike" baseline="0" dirty="0">
                <a:latin typeface="Comic Sans MS" panose="030F0702030302020204" pitchFamily="66" charset="0"/>
              </a:rPr>
              <a:t>•The schematic diagram is difficult to use when trying to determine</a:t>
            </a:r>
            <a:r>
              <a:rPr lang="en-FI" sz="1800" b="1" i="0" u="none" strike="noStrike" baseline="0" dirty="0">
                <a:latin typeface="Comic Sans MS" panose="030F0702030302020204" pitchFamily="66" charset="0"/>
              </a:rPr>
              <a:t> </a:t>
            </a:r>
            <a:r>
              <a:rPr lang="en-GB" sz="1800" b="1" i="0" u="none" strike="noStrike" baseline="0" dirty="0">
                <a:latin typeface="Comic Sans MS" panose="030F0702030302020204" pitchFamily="66" charset="0"/>
              </a:rPr>
              <a:t>output values for each input combination.</a:t>
            </a:r>
          </a:p>
          <a:p>
            <a:pPr algn="just"/>
            <a:endParaRPr lang="en-FI" sz="2000" b="0" i="0" u="none" strike="noStrike" baseline="0" dirty="0">
              <a:latin typeface="Comic Sans MS" panose="030F0702030302020204" pitchFamily="66" charset="0"/>
            </a:endParaRPr>
          </a:p>
          <a:p>
            <a:pPr algn="just"/>
            <a:r>
              <a:rPr lang="en-GB" sz="2000" b="0" i="0" u="none" strike="noStrike" baseline="0" dirty="0">
                <a:latin typeface="Comic Sans MS" panose="030F0702030302020204" pitchFamily="66" charset="0"/>
              </a:rPr>
              <a:t>To overcome these problems, a discipline much like algebra is</a:t>
            </a:r>
            <a:r>
              <a:rPr lang="en-FI" sz="2000" b="0" i="0" u="none" strike="noStrike" baseline="0" dirty="0">
                <a:latin typeface="Comic Sans MS" panose="030F0702030302020204" pitchFamily="66" charset="0"/>
              </a:rPr>
              <a:t> </a:t>
            </a:r>
            <a:r>
              <a:rPr lang="en-GB" sz="2000" b="0" i="0" u="none" strike="noStrike" baseline="0" dirty="0">
                <a:latin typeface="Comic Sans MS" panose="030F0702030302020204" pitchFamily="66" charset="0"/>
              </a:rPr>
              <a:t>practiced that uses expressions to describe digital circuitry. </a:t>
            </a:r>
            <a:endParaRPr lang="en-FI" sz="2000" b="0" i="0" u="none" strike="noStrike" baseline="0" dirty="0">
              <a:latin typeface="Comic Sans MS" panose="030F0702030302020204" pitchFamily="66" charset="0"/>
            </a:endParaRPr>
          </a:p>
          <a:p>
            <a:pPr algn="just"/>
            <a:endParaRPr lang="en-FI" sz="2000" dirty="0">
              <a:latin typeface="Comic Sans MS" panose="030F0702030302020204" pitchFamily="66" charset="0"/>
            </a:endParaRPr>
          </a:p>
          <a:p>
            <a:pPr algn="just"/>
            <a:r>
              <a:rPr lang="en-GB" sz="2000" b="0" i="0" u="none" strike="noStrike" baseline="0" dirty="0">
                <a:latin typeface="Comic Sans MS" panose="030F0702030302020204" pitchFamily="66" charset="0"/>
              </a:rPr>
              <a:t>These</a:t>
            </a:r>
            <a:r>
              <a:rPr lang="en-FI" sz="2000" b="0" i="0" u="none" strike="noStrike" baseline="0" dirty="0">
                <a:latin typeface="Comic Sans MS" panose="030F0702030302020204" pitchFamily="66" charset="0"/>
              </a:rPr>
              <a:t> </a:t>
            </a:r>
            <a:r>
              <a:rPr lang="en-GB" sz="2000" b="0" i="0" u="none" strike="noStrike" baseline="0" dirty="0">
                <a:latin typeface="Comic Sans MS" panose="030F0702030302020204" pitchFamily="66" charset="0"/>
              </a:rPr>
              <a:t>expressions, which are called </a:t>
            </a:r>
            <a:r>
              <a:rPr lang="en-GB" sz="2000" b="1" i="1" u="none" strike="noStrike" baseline="0" dirty="0">
                <a:latin typeface="Comic Sans MS" panose="030F0702030302020204" pitchFamily="66" charset="0"/>
              </a:rPr>
              <a:t>Boolean expressions</a:t>
            </a:r>
            <a:r>
              <a:rPr lang="en-GB" sz="2000" b="0" i="0" u="none" strike="noStrike" baseline="0" dirty="0">
                <a:latin typeface="Comic Sans MS" panose="030F0702030302020204" pitchFamily="66" charset="0"/>
              </a:rPr>
              <a:t>, use the input</a:t>
            </a:r>
            <a:r>
              <a:rPr lang="en-FI" sz="2000" b="0" i="0" u="none" strike="noStrike" baseline="0" dirty="0">
                <a:latin typeface="Comic Sans MS" panose="030F0702030302020204" pitchFamily="66" charset="0"/>
              </a:rPr>
              <a:t> </a:t>
            </a:r>
            <a:r>
              <a:rPr lang="en-GB" sz="2000" b="0" i="0" u="none" strike="noStrike" baseline="0" dirty="0">
                <a:latin typeface="Comic Sans MS" panose="030F0702030302020204" pitchFamily="66" charset="0"/>
              </a:rPr>
              <a:t>variable names, A, B, C, etc., and combine them using symbols</a:t>
            </a:r>
            <a:r>
              <a:rPr lang="en-FI" sz="2000" b="0" i="0" u="none" strike="noStrike" baseline="0" dirty="0">
                <a:latin typeface="Comic Sans MS" panose="030F0702030302020204" pitchFamily="66" charset="0"/>
              </a:rPr>
              <a:t> </a:t>
            </a:r>
            <a:r>
              <a:rPr lang="en-GB" sz="2000" b="0" i="0" u="none" strike="noStrike" baseline="0" dirty="0">
                <a:latin typeface="Comic Sans MS" panose="030F0702030302020204" pitchFamily="66" charset="0"/>
              </a:rPr>
              <a:t>representing the AND, OR, and NOT gates</a:t>
            </a:r>
            <a:endParaRPr lang="en-GB" sz="2000" dirty="0">
              <a:latin typeface="Comic Sans MS" panose="030F0702030302020204" pitchFamily="66" charset="0"/>
            </a:endParaRPr>
          </a:p>
        </p:txBody>
      </p:sp>
    </p:spTree>
    <p:extLst>
      <p:ext uri="{BB962C8B-B14F-4D97-AF65-F5344CB8AC3E}">
        <p14:creationId xmlns:p14="http://schemas.microsoft.com/office/powerpoint/2010/main" val="2214972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E14B58-6A39-4AA5-9B1F-FB70B8BF30D8}"/>
              </a:ext>
            </a:extLst>
          </p:cNvPr>
          <p:cNvSpPr>
            <a:spLocks noGrp="1"/>
          </p:cNvSpPr>
          <p:nvPr>
            <p:ph idx="1"/>
          </p:nvPr>
        </p:nvSpPr>
        <p:spPr>
          <a:xfrm>
            <a:off x="59267" y="0"/>
            <a:ext cx="12065000" cy="6858000"/>
          </a:xfrm>
        </p:spPr>
        <p:txBody>
          <a:bodyPr>
            <a:normAutofit lnSpcReduction="10000"/>
          </a:bodyPr>
          <a:lstStyle/>
          <a:p>
            <a:pPr algn="just"/>
            <a:r>
              <a:rPr lang="en-GB" sz="2400" b="0" i="0" u="none" strike="noStrike" baseline="0" dirty="0">
                <a:latin typeface="Comic Sans MS" panose="030F0702030302020204" pitchFamily="66" charset="0"/>
              </a:rPr>
              <a:t>These Boolean expressions</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can be used to describe or evaluate the output of a circuit.</a:t>
            </a:r>
            <a:endParaRPr lang="en-FI" sz="2400" b="0" i="0" u="none" strike="noStrike" baseline="0" dirty="0">
              <a:latin typeface="Comic Sans MS" panose="030F0702030302020204" pitchFamily="66" charset="0"/>
            </a:endParaRPr>
          </a:p>
          <a:p>
            <a:pPr algn="just"/>
            <a:endParaRPr lang="en-FI"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There is an additional benefit. Just like algebra, a set of rules exist</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that when applied to Boolean expressions can dramatically simplify</a:t>
            </a:r>
            <a:r>
              <a:rPr lang="en-FI" sz="2400" dirty="0">
                <a:latin typeface="Comic Sans MS" panose="030F0702030302020204" pitchFamily="66" charset="0"/>
              </a:rPr>
              <a:t> </a:t>
            </a:r>
            <a:r>
              <a:rPr lang="en-GB" sz="2400" b="0" i="0" u="none" strike="noStrike" baseline="0" dirty="0">
                <a:latin typeface="Comic Sans MS" panose="030F0702030302020204" pitchFamily="66" charset="0"/>
              </a:rPr>
              <a:t>them. </a:t>
            </a:r>
            <a:endParaRPr lang="en-FI" sz="2400" b="0" i="0" u="none" strike="noStrike" baseline="0" dirty="0">
              <a:latin typeface="Comic Sans MS" panose="030F0702030302020204" pitchFamily="66" charset="0"/>
            </a:endParaRPr>
          </a:p>
          <a:p>
            <a:pPr algn="just"/>
            <a:endParaRPr lang="en-FI"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A </a:t>
            </a:r>
            <a:r>
              <a:rPr lang="en-GB" sz="2400" b="0" i="0" u="none" strike="noStrike" baseline="0" dirty="0">
                <a:solidFill>
                  <a:srgbClr val="FF0000"/>
                </a:solidFill>
                <a:latin typeface="Comic Sans MS" panose="030F0702030302020204" pitchFamily="66" charset="0"/>
              </a:rPr>
              <a:t>simpler expression that produces the same output can be</a:t>
            </a:r>
            <a:r>
              <a:rPr lang="en-FI" sz="2400" b="0" i="0" u="none" strike="noStrike" baseline="0" dirty="0">
                <a:solidFill>
                  <a:srgbClr val="FF0000"/>
                </a:solidFill>
                <a:latin typeface="Comic Sans MS" panose="030F0702030302020204" pitchFamily="66" charset="0"/>
              </a:rPr>
              <a:t> </a:t>
            </a:r>
            <a:r>
              <a:rPr lang="en-GB" sz="2400" b="0" i="0" u="none" strike="noStrike" baseline="0" dirty="0">
                <a:solidFill>
                  <a:srgbClr val="FF0000"/>
                </a:solidFill>
                <a:latin typeface="Comic Sans MS" panose="030F0702030302020204" pitchFamily="66" charset="0"/>
              </a:rPr>
              <a:t>realized with fewer logic gates</a:t>
            </a:r>
            <a:r>
              <a:rPr lang="en-GB" sz="2400" b="0" i="0" u="none" strike="noStrike" baseline="0" dirty="0">
                <a:latin typeface="Comic Sans MS" panose="030F0702030302020204" pitchFamily="66" charset="0"/>
              </a:rPr>
              <a:t>. </a:t>
            </a:r>
            <a:endParaRPr lang="en-FI" sz="2400" b="0" i="0" u="none" strike="noStrike" baseline="0" dirty="0">
              <a:latin typeface="Comic Sans MS" panose="030F0702030302020204" pitchFamily="66" charset="0"/>
            </a:endParaRPr>
          </a:p>
          <a:p>
            <a:pPr algn="just"/>
            <a:endParaRPr lang="en-FI"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A </a:t>
            </a:r>
            <a:r>
              <a:rPr lang="en-GB" sz="2400" b="0" i="0" u="none" strike="noStrike" baseline="0" dirty="0">
                <a:solidFill>
                  <a:srgbClr val="FF0000"/>
                </a:solidFill>
                <a:latin typeface="Comic Sans MS" panose="030F0702030302020204" pitchFamily="66" charset="0"/>
              </a:rPr>
              <a:t>lower gate count results in cheaper</a:t>
            </a:r>
            <a:r>
              <a:rPr lang="en-FI" sz="2400" b="0" i="0" u="none" strike="noStrike" baseline="0" dirty="0">
                <a:solidFill>
                  <a:srgbClr val="FF0000"/>
                </a:solidFill>
                <a:latin typeface="Comic Sans MS" panose="030F0702030302020204" pitchFamily="66" charset="0"/>
              </a:rPr>
              <a:t> </a:t>
            </a:r>
            <a:r>
              <a:rPr lang="en-GB" sz="2400" b="0" i="0" u="none" strike="noStrike" baseline="0" dirty="0">
                <a:solidFill>
                  <a:srgbClr val="FF0000"/>
                </a:solidFill>
                <a:latin typeface="Comic Sans MS" panose="030F0702030302020204" pitchFamily="66" charset="0"/>
              </a:rPr>
              <a:t>circuitry</a:t>
            </a:r>
            <a:r>
              <a:rPr lang="en-GB" sz="2400" b="0" i="0" u="none" strike="noStrike" baseline="0" dirty="0">
                <a:latin typeface="Comic Sans MS" panose="030F0702030302020204" pitchFamily="66" charset="0"/>
              </a:rPr>
              <a:t>, </a:t>
            </a:r>
            <a:r>
              <a:rPr lang="en-GB" sz="2400" b="0" i="0" u="none" strike="noStrike" baseline="0" dirty="0">
                <a:solidFill>
                  <a:srgbClr val="0070C0"/>
                </a:solidFill>
                <a:latin typeface="Comic Sans MS" panose="030F0702030302020204" pitchFamily="66" charset="0"/>
              </a:rPr>
              <a:t>smaller circuit boards</a:t>
            </a:r>
            <a:r>
              <a:rPr lang="en-GB" sz="2400" b="0" i="0" u="none" strike="noStrike" baseline="0" dirty="0">
                <a:latin typeface="Comic Sans MS" panose="030F0702030302020204" pitchFamily="66" charset="0"/>
              </a:rPr>
              <a:t>, and lower </a:t>
            </a:r>
            <a:r>
              <a:rPr lang="en-GB" sz="2400" b="0" i="0" u="none" strike="noStrike" baseline="0" dirty="0">
                <a:solidFill>
                  <a:srgbClr val="00B050"/>
                </a:solidFill>
                <a:latin typeface="Comic Sans MS" panose="030F0702030302020204" pitchFamily="66" charset="0"/>
              </a:rPr>
              <a:t>power consumption</a:t>
            </a:r>
            <a:r>
              <a:rPr lang="en-GB" sz="2400" b="0" i="0" u="none" strike="noStrike" baseline="0" dirty="0">
                <a:latin typeface="Comic Sans MS" panose="030F0702030302020204" pitchFamily="66" charset="0"/>
              </a:rPr>
              <a:t>.</a:t>
            </a:r>
            <a:endParaRPr lang="en-FI" sz="2400" b="0" i="0" u="none" strike="noStrike" baseline="0" dirty="0">
              <a:latin typeface="Comic Sans MS" panose="030F0702030302020204" pitchFamily="66" charset="0"/>
            </a:endParaRPr>
          </a:p>
          <a:p>
            <a:pPr algn="just"/>
            <a:endParaRPr lang="en-GB"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If your software uses binary logic, the logic can be represented with</a:t>
            </a:r>
            <a:r>
              <a:rPr lang="en-FI" sz="2400" b="0" i="0" u="none" strike="noStrike" baseline="0" dirty="0">
                <a:latin typeface="Comic Sans MS" panose="030F0702030302020204" pitchFamily="66" charset="0"/>
              </a:rPr>
              <a:t> </a:t>
            </a:r>
            <a:r>
              <a:rPr lang="en-GB" sz="2400" b="0" i="0" u="none" strike="noStrike" baseline="0" dirty="0" err="1">
                <a:latin typeface="Comic Sans MS" panose="030F0702030302020204" pitchFamily="66" charset="0"/>
              </a:rPr>
              <a:t>boolean</a:t>
            </a:r>
            <a:r>
              <a:rPr lang="en-GB" sz="2400" b="0" i="0" u="none" strike="noStrike" baseline="0" dirty="0">
                <a:latin typeface="Comic Sans MS" panose="030F0702030302020204" pitchFamily="66" charset="0"/>
              </a:rPr>
              <a:t> expressions. </a:t>
            </a:r>
            <a:endParaRPr lang="en-FI" sz="2400" b="0" i="0" u="none" strike="noStrike" baseline="0" dirty="0">
              <a:latin typeface="Comic Sans MS" panose="030F0702030302020204" pitchFamily="66" charset="0"/>
            </a:endParaRPr>
          </a:p>
          <a:p>
            <a:pPr marL="0" indent="0" algn="just">
              <a:buNone/>
            </a:pPr>
            <a:endParaRPr lang="en-FI"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Applying the rules of simplification will make the</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software run faster or allow it to use less memory.</a:t>
            </a:r>
            <a:endParaRPr lang="en-GB" sz="3600" dirty="0">
              <a:latin typeface="Comic Sans MS" panose="030F0702030302020204" pitchFamily="66" charset="0"/>
            </a:endParaRPr>
          </a:p>
        </p:txBody>
      </p:sp>
    </p:spTree>
    <p:extLst>
      <p:ext uri="{BB962C8B-B14F-4D97-AF65-F5344CB8AC3E}">
        <p14:creationId xmlns:p14="http://schemas.microsoft.com/office/powerpoint/2010/main" val="2435407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56B2B1-695B-467D-8E1B-7D9199A72C6E}"/>
              </a:ext>
            </a:extLst>
          </p:cNvPr>
          <p:cNvSpPr>
            <a:spLocks noGrp="1"/>
          </p:cNvSpPr>
          <p:nvPr>
            <p:ph idx="1"/>
          </p:nvPr>
        </p:nvSpPr>
        <p:spPr>
          <a:xfrm>
            <a:off x="59267" y="76200"/>
            <a:ext cx="12031133" cy="6722533"/>
          </a:xfrm>
        </p:spPr>
        <p:txBody>
          <a:bodyPr>
            <a:normAutofit/>
          </a:bodyPr>
          <a:lstStyle/>
          <a:p>
            <a:pPr algn="ctr"/>
            <a:r>
              <a:rPr lang="en-GB" sz="3600" b="1" i="0" u="none" strike="noStrike" baseline="0" dirty="0">
                <a:solidFill>
                  <a:srgbClr val="FF0000"/>
                </a:solidFill>
                <a:latin typeface="Comic Sans MS" panose="030F0702030302020204" pitchFamily="66" charset="0"/>
              </a:rPr>
              <a:t>Symbols of Boolean Algebra</a:t>
            </a:r>
            <a:endParaRPr lang="en-FI" sz="4800" b="1" dirty="0">
              <a:solidFill>
                <a:srgbClr val="FF0000"/>
              </a:solidFill>
              <a:latin typeface="Comic Sans MS" panose="030F0702030302020204" pitchFamily="66" charset="0"/>
            </a:endParaRPr>
          </a:p>
          <a:p>
            <a:pPr algn="just"/>
            <a:r>
              <a:rPr lang="en-GB" b="0" i="0" u="none" strike="noStrike" baseline="0" dirty="0">
                <a:latin typeface="Comic Sans MS" panose="030F0702030302020204" pitchFamily="66" charset="0"/>
              </a:rPr>
              <a:t>Analogous behaviour can be shown between Boolean algebra and</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mathematical algebra, and as a result, similar symbols and syntax can</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be used. </a:t>
            </a:r>
            <a:endParaRPr lang="en-FI" b="0" i="0" u="none" strike="noStrike" baseline="0" dirty="0">
              <a:latin typeface="Comic Sans MS" panose="030F0702030302020204" pitchFamily="66" charset="0"/>
            </a:endParaRPr>
          </a:p>
          <a:p>
            <a:pPr algn="just"/>
            <a:endParaRPr lang="en-FI" sz="1600" dirty="0">
              <a:latin typeface="Comic Sans MS" panose="030F0702030302020204" pitchFamily="66" charset="0"/>
            </a:endParaRPr>
          </a:p>
          <a:p>
            <a:pPr algn="just"/>
            <a:r>
              <a:rPr lang="en-GB" b="0" i="0" u="none" strike="noStrike" baseline="0" dirty="0">
                <a:latin typeface="Comic Sans MS" panose="030F0702030302020204" pitchFamily="66" charset="0"/>
              </a:rPr>
              <a:t>For example, the following expressions hold true in math.</a:t>
            </a:r>
          </a:p>
          <a:p>
            <a:pPr marL="2743200" lvl="6" indent="0" algn="just">
              <a:buNone/>
            </a:pPr>
            <a:r>
              <a:rPr lang="en-GB" sz="2800" b="0" i="0" u="none" strike="noStrike" baseline="0" dirty="0">
                <a:latin typeface="Comic Sans MS" panose="030F0702030302020204" pitchFamily="66" charset="0"/>
              </a:rPr>
              <a:t>0 · 0 = 0   0 · 1 = 0   1 · 0 = 0    1 · 1 = 1</a:t>
            </a:r>
          </a:p>
          <a:p>
            <a:pPr algn="just"/>
            <a:endParaRPr lang="en-FI"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This looks like the AND function allowing an analogy to be drawn</a:t>
            </a:r>
            <a:r>
              <a:rPr lang="en-FI" b="0" i="0" u="none" strike="noStrike" baseline="0" dirty="0">
                <a:latin typeface="Comic Sans MS" panose="030F0702030302020204" pitchFamily="66" charset="0"/>
              </a:rPr>
              <a:t> </a:t>
            </a:r>
            <a:r>
              <a:rPr lang="en-GB" b="0" i="0" u="none" strike="noStrike" baseline="0" dirty="0">
                <a:latin typeface="Comic Sans MS" panose="030F0702030302020204" pitchFamily="66" charset="0"/>
              </a:rPr>
              <a:t>between the mathematical multiply and the Boolean AND functions.</a:t>
            </a:r>
          </a:p>
          <a:p>
            <a:pPr marL="0" indent="0" algn="just">
              <a:buNone/>
            </a:pPr>
            <a:endParaRPr lang="en-GB" sz="1800"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Therefore, in Boolean algebra, A </a:t>
            </a:r>
            <a:r>
              <a:rPr lang="en-GB" b="0" i="0" u="none" strike="noStrike" baseline="0" dirty="0" err="1">
                <a:latin typeface="Comic Sans MS" panose="030F0702030302020204" pitchFamily="66" charset="0"/>
              </a:rPr>
              <a:t>AND'ed</a:t>
            </a:r>
            <a:r>
              <a:rPr lang="en-GB" b="0" i="0" u="none" strike="noStrike" baseline="0" dirty="0">
                <a:latin typeface="Comic Sans MS" panose="030F0702030302020204" pitchFamily="66" charset="0"/>
              </a:rPr>
              <a:t> with B is written “A · B”.</a:t>
            </a:r>
            <a:endParaRPr lang="en-GB" dirty="0">
              <a:solidFill>
                <a:srgbClr val="FF0000"/>
              </a:solidFill>
              <a:latin typeface="Comic Sans MS" panose="030F0702030302020204" pitchFamily="66" charset="0"/>
            </a:endParaRPr>
          </a:p>
        </p:txBody>
      </p:sp>
      <p:pic>
        <p:nvPicPr>
          <p:cNvPr id="5" name="Picture 4">
            <a:extLst>
              <a:ext uri="{FF2B5EF4-FFF2-40B4-BE49-F238E27FC236}">
                <a16:creationId xmlns:a16="http://schemas.microsoft.com/office/drawing/2014/main" id="{62DBEC04-A212-4A25-BDDE-F937B3D454A0}"/>
              </a:ext>
            </a:extLst>
          </p:cNvPr>
          <p:cNvPicPr>
            <a:picLocks noChangeAspect="1"/>
          </p:cNvPicPr>
          <p:nvPr/>
        </p:nvPicPr>
        <p:blipFill>
          <a:blip r:embed="rId2"/>
          <a:stretch>
            <a:fillRect/>
          </a:stretch>
        </p:blipFill>
        <p:spPr>
          <a:xfrm>
            <a:off x="3641867" y="5648167"/>
            <a:ext cx="5534797" cy="9897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2171063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38FDF8-A447-4678-A975-B689F1799708}"/>
              </a:ext>
            </a:extLst>
          </p:cNvPr>
          <p:cNvSpPr>
            <a:spLocks noGrp="1"/>
          </p:cNvSpPr>
          <p:nvPr>
            <p:ph idx="1"/>
          </p:nvPr>
        </p:nvSpPr>
        <p:spPr>
          <a:xfrm>
            <a:off x="67733" y="0"/>
            <a:ext cx="12031134" cy="6790267"/>
          </a:xfrm>
        </p:spPr>
        <p:txBody>
          <a:bodyPr>
            <a:normAutofit/>
          </a:bodyPr>
          <a:lstStyle/>
          <a:p>
            <a:pPr algn="just"/>
            <a:r>
              <a:rPr lang="en-GB" b="0" i="0" u="none" strike="noStrike" baseline="0" dirty="0">
                <a:latin typeface="Comic Sans MS" panose="030F0702030302020204" pitchFamily="66" charset="0"/>
              </a:rPr>
              <a:t>Mathematical addition has a similar parallel in Boolean algebra, although it is not quite as flawless. </a:t>
            </a:r>
          </a:p>
          <a:p>
            <a:pPr algn="just"/>
            <a:endParaRPr lang="en-GB" sz="1400" dirty="0">
              <a:latin typeface="Comic Sans MS" panose="030F0702030302020204" pitchFamily="66" charset="0"/>
            </a:endParaRPr>
          </a:p>
          <a:p>
            <a:pPr algn="just"/>
            <a:r>
              <a:rPr lang="en-GB" b="0" i="0" u="none" strike="noStrike" baseline="0" dirty="0">
                <a:latin typeface="Comic Sans MS" panose="030F0702030302020204" pitchFamily="66" charset="0"/>
              </a:rPr>
              <a:t>The following four mathematical expressions hold true for addition.</a:t>
            </a:r>
          </a:p>
          <a:p>
            <a:pPr marL="0" indent="0" algn="just">
              <a:buNone/>
            </a:pPr>
            <a:r>
              <a:rPr lang="en-GB" b="0" i="0" u="none" strike="noStrike" baseline="0" dirty="0">
                <a:latin typeface="Comic Sans MS" panose="030F0702030302020204" pitchFamily="66" charset="0"/>
              </a:rPr>
              <a:t>		0 + 0 = 0     0 + 1 = 1      1 + 0 = 1        1 + 1 = 2</a:t>
            </a:r>
          </a:p>
          <a:p>
            <a:pPr marL="0" indent="0" algn="just">
              <a:buNone/>
            </a:pPr>
            <a:endParaRPr lang="en-GB" sz="1800"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The first three operations match the OR function, and if the last operation is viewed as having a non-zero result instead of the decimal result of two, it too can be viewed as operating similar to the OR function.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Therefore, the Boolean OR function is analogous to the mathematical function of addition</a:t>
            </a:r>
            <a:r>
              <a:rPr lang="en-GB" sz="1800" b="0" i="0" u="none" strike="noStrike" baseline="0" dirty="0">
                <a:latin typeface="TimesNewRomanPSMT"/>
              </a:rPr>
              <a:t>.</a:t>
            </a:r>
            <a:endParaRPr lang="en-GB" sz="4000" dirty="0">
              <a:latin typeface="Comic Sans MS" panose="030F0702030302020204" pitchFamily="66" charset="0"/>
            </a:endParaRPr>
          </a:p>
        </p:txBody>
      </p:sp>
      <p:pic>
        <p:nvPicPr>
          <p:cNvPr id="5" name="Picture 4">
            <a:extLst>
              <a:ext uri="{FF2B5EF4-FFF2-40B4-BE49-F238E27FC236}">
                <a16:creationId xmlns:a16="http://schemas.microsoft.com/office/drawing/2014/main" id="{8CFE8440-8F63-4FA8-844C-562F182B163A}"/>
              </a:ext>
            </a:extLst>
          </p:cNvPr>
          <p:cNvPicPr>
            <a:picLocks noChangeAspect="1"/>
          </p:cNvPicPr>
          <p:nvPr/>
        </p:nvPicPr>
        <p:blipFill>
          <a:blip r:embed="rId2"/>
          <a:stretch>
            <a:fillRect/>
          </a:stretch>
        </p:blipFill>
        <p:spPr>
          <a:xfrm>
            <a:off x="4189599" y="5675246"/>
            <a:ext cx="4896533" cy="943107"/>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2109413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970307-4DBB-4EEB-AFE9-D7FBDFF20C45}"/>
              </a:ext>
            </a:extLst>
          </p:cNvPr>
          <p:cNvSpPr>
            <a:spLocks noGrp="1"/>
          </p:cNvSpPr>
          <p:nvPr>
            <p:ph idx="1"/>
          </p:nvPr>
        </p:nvSpPr>
        <p:spPr>
          <a:xfrm>
            <a:off x="59267" y="67733"/>
            <a:ext cx="12073466" cy="6731000"/>
          </a:xfrm>
        </p:spPr>
        <p:txBody>
          <a:bodyPr/>
          <a:lstStyle/>
          <a:p>
            <a:pPr algn="just"/>
            <a:r>
              <a:rPr lang="en-GB" sz="2400" b="0" i="0" u="none" strike="noStrike" baseline="0" dirty="0">
                <a:latin typeface="Comic Sans MS" panose="030F0702030302020204" pitchFamily="66" charset="0"/>
              </a:rPr>
              <a:t>An analogy cannot be made between the Boolean NOT and any mathematical operation. </a:t>
            </a: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Later we will see how the NOT function, unlike AND </a:t>
            </a:r>
            <a:r>
              <a:rPr lang="en-GB" sz="2400" b="0" i="0" u="none" strike="noStrike" baseline="0" dirty="0" err="1">
                <a:latin typeface="Comic Sans MS" panose="030F0702030302020204" pitchFamily="66" charset="0"/>
              </a:rPr>
              <a:t>and</a:t>
            </a:r>
            <a:r>
              <a:rPr lang="en-GB" sz="2400" b="0" i="0" u="none" strike="noStrike" baseline="0" dirty="0">
                <a:latin typeface="Comic Sans MS" panose="030F0702030302020204" pitchFamily="66" charset="0"/>
              </a:rPr>
              <a:t> OR, requires its own special theorems for algebraic manipulation. </a:t>
            </a: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The NOT is represented with a bar across the inverted element</a:t>
            </a:r>
            <a:r>
              <a:rPr lang="en-GB" sz="1800" b="0" i="0" u="none" strike="noStrike" baseline="0" dirty="0">
                <a:latin typeface="TimesNewRomanPSMT"/>
              </a:rPr>
              <a:t>.</a:t>
            </a:r>
          </a:p>
          <a:p>
            <a:pPr algn="just"/>
            <a:endParaRPr lang="en-GB" sz="1800" dirty="0">
              <a:latin typeface="TimesNewRomanPSMT"/>
            </a:endParaRPr>
          </a:p>
          <a:p>
            <a:pPr algn="just"/>
            <a:endParaRPr lang="en-GB" sz="1800" b="0" i="0" u="none" strike="noStrike" baseline="0" dirty="0">
              <a:latin typeface="TimesNewRomanPSMT"/>
            </a:endParaRPr>
          </a:p>
          <a:p>
            <a:pPr algn="just"/>
            <a:endParaRPr lang="en-GB" sz="1800" dirty="0">
              <a:latin typeface="TimesNewRomanPSMT"/>
            </a:endParaRPr>
          </a:p>
          <a:p>
            <a:pPr algn="just"/>
            <a:r>
              <a:rPr lang="en-GB" sz="2400" b="0" i="0" u="none" strike="noStrike" baseline="0" dirty="0">
                <a:latin typeface="Comic Sans MS" panose="030F0702030302020204" pitchFamily="66" charset="0"/>
              </a:rPr>
              <a:t>The NOT operation may be used to invert the result of a larger expression. </a:t>
            </a: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For example, the NAND function which places an inverter at the output of an AND gate is written as</a:t>
            </a:r>
            <a:r>
              <a:rPr lang="en-GB" sz="1800" b="0" i="0" u="none" strike="noStrike" baseline="0" dirty="0">
                <a:latin typeface="TimesNewRomanPSMT"/>
              </a:rPr>
              <a:t>:</a:t>
            </a:r>
          </a:p>
          <a:p>
            <a:pPr algn="just"/>
            <a:endParaRPr lang="en-GB" dirty="0"/>
          </a:p>
        </p:txBody>
      </p:sp>
      <p:pic>
        <p:nvPicPr>
          <p:cNvPr id="5" name="Picture 4">
            <a:extLst>
              <a:ext uri="{FF2B5EF4-FFF2-40B4-BE49-F238E27FC236}">
                <a16:creationId xmlns:a16="http://schemas.microsoft.com/office/drawing/2014/main" id="{D59B193F-F167-47A1-93F0-65A172088266}"/>
              </a:ext>
            </a:extLst>
          </p:cNvPr>
          <p:cNvPicPr>
            <a:picLocks noChangeAspect="1"/>
          </p:cNvPicPr>
          <p:nvPr/>
        </p:nvPicPr>
        <p:blipFill>
          <a:blip r:embed="rId2"/>
          <a:stretch>
            <a:fillRect/>
          </a:stretch>
        </p:blipFill>
        <p:spPr>
          <a:xfrm>
            <a:off x="3481022" y="2995552"/>
            <a:ext cx="5229955" cy="86689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7" name="Picture 6">
            <a:extLst>
              <a:ext uri="{FF2B5EF4-FFF2-40B4-BE49-F238E27FC236}">
                <a16:creationId xmlns:a16="http://schemas.microsoft.com/office/drawing/2014/main" id="{F35D9622-CD2D-4B10-BD9F-EA5B2BBD1F1B}"/>
              </a:ext>
            </a:extLst>
          </p:cNvPr>
          <p:cNvPicPr>
            <a:picLocks noChangeAspect="1"/>
          </p:cNvPicPr>
          <p:nvPr/>
        </p:nvPicPr>
        <p:blipFill>
          <a:blip r:embed="rId3"/>
          <a:stretch>
            <a:fillRect/>
          </a:stretch>
        </p:blipFill>
        <p:spPr>
          <a:xfrm>
            <a:off x="4112563" y="5830836"/>
            <a:ext cx="1714739" cy="733527"/>
          </a:xfrm>
          <a:prstGeom prst="rect">
            <a:avLst/>
          </a:prstGeom>
        </p:spPr>
      </p:pic>
    </p:spTree>
    <p:extLst>
      <p:ext uri="{BB962C8B-B14F-4D97-AF65-F5344CB8AC3E}">
        <p14:creationId xmlns:p14="http://schemas.microsoft.com/office/powerpoint/2010/main" val="669201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223485-AD2F-4895-9CA9-95981564F37F}"/>
              </a:ext>
            </a:extLst>
          </p:cNvPr>
          <p:cNvSpPr>
            <a:spLocks noGrp="1"/>
          </p:cNvSpPr>
          <p:nvPr>
            <p:ph idx="1"/>
          </p:nvPr>
        </p:nvSpPr>
        <p:spPr>
          <a:xfrm>
            <a:off x="67732" y="59267"/>
            <a:ext cx="12124267" cy="6731000"/>
          </a:xfrm>
        </p:spPr>
        <p:txBody>
          <a:bodyPr>
            <a:normAutofit/>
          </a:bodyPr>
          <a:lstStyle/>
          <a:p>
            <a:pPr algn="just"/>
            <a:r>
              <a:rPr lang="en-GB" b="0" i="0" u="none" strike="noStrike" baseline="0" dirty="0">
                <a:latin typeface="Comic Sans MS" panose="030F0702030302020204" pitchFamily="66" charset="0"/>
              </a:rPr>
              <a:t>Since the bar goes across A · B, the NOT is performed after the AND.</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Let's begin with some simple examples. Can you determine the output of the </a:t>
            </a:r>
            <a:r>
              <a:rPr lang="en-GB" b="0" i="0" u="none" strike="noStrike" baseline="0" dirty="0" err="1">
                <a:latin typeface="Comic Sans MS" panose="030F0702030302020204" pitchFamily="66" charset="0"/>
              </a:rPr>
              <a:t>boolean</a:t>
            </a:r>
            <a:r>
              <a:rPr lang="en-GB" b="0" i="0" u="none" strike="noStrike" baseline="0" dirty="0">
                <a:latin typeface="Comic Sans MS" panose="030F0702030302020204" pitchFamily="66" charset="0"/>
              </a:rPr>
              <a:t> expression 1 + 0 + 1?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Since the plus-sign represents the OR circuit, the expression represents 1 or 0 or 1.</a:t>
            </a:r>
          </a:p>
          <a:p>
            <a:pPr algn="just"/>
            <a:endParaRPr lang="en-GB" sz="4000" dirty="0">
              <a:latin typeface="Comic Sans MS" panose="030F0702030302020204" pitchFamily="66" charset="0"/>
            </a:endParaRPr>
          </a:p>
          <a:p>
            <a:pPr algn="l"/>
            <a:endParaRPr lang="en-GB" sz="1800" b="0" i="0" u="none" strike="noStrike" baseline="0" dirty="0">
              <a:latin typeface="TimesNewRomanPSMT"/>
            </a:endParaRPr>
          </a:p>
          <a:p>
            <a:pPr algn="l"/>
            <a:endParaRPr lang="en-GB" sz="1800" b="0" i="0" u="none" strike="noStrike" baseline="0" dirty="0">
              <a:latin typeface="TimesNewRomanPSMT"/>
            </a:endParaRPr>
          </a:p>
          <a:p>
            <a:pPr algn="l"/>
            <a:r>
              <a:rPr lang="en-GB" b="0" i="0" u="none" strike="noStrike" baseline="0" dirty="0">
                <a:latin typeface="Comic Sans MS" panose="030F0702030302020204" pitchFamily="66" charset="0"/>
              </a:rPr>
              <a:t>Since an OR-gate outputs a 1 if any of its inputs equal 1, then </a:t>
            </a:r>
            <a:r>
              <a:rPr lang="en-GB" b="0" i="0" u="none" strike="noStrike" baseline="0" dirty="0">
                <a:solidFill>
                  <a:srgbClr val="FF0000"/>
                </a:solidFill>
                <a:latin typeface="Comic Sans MS" panose="030F0702030302020204" pitchFamily="66" charset="0"/>
              </a:rPr>
              <a:t>1 + 0 + 1 = 1.</a:t>
            </a:r>
            <a:endParaRPr lang="en-GB" sz="5400" dirty="0">
              <a:solidFill>
                <a:srgbClr val="FF0000"/>
              </a:solidFill>
              <a:latin typeface="Comic Sans MS" panose="030F0702030302020204" pitchFamily="66" charset="0"/>
            </a:endParaRPr>
          </a:p>
        </p:txBody>
      </p:sp>
      <p:pic>
        <p:nvPicPr>
          <p:cNvPr id="5" name="Picture 4">
            <a:extLst>
              <a:ext uri="{FF2B5EF4-FFF2-40B4-BE49-F238E27FC236}">
                <a16:creationId xmlns:a16="http://schemas.microsoft.com/office/drawing/2014/main" id="{7DDFD707-917D-44CB-B458-06979724DE50}"/>
              </a:ext>
            </a:extLst>
          </p:cNvPr>
          <p:cNvPicPr>
            <a:picLocks noChangeAspect="1"/>
          </p:cNvPicPr>
          <p:nvPr/>
        </p:nvPicPr>
        <p:blipFill>
          <a:blip r:embed="rId2"/>
          <a:stretch>
            <a:fillRect/>
          </a:stretch>
        </p:blipFill>
        <p:spPr>
          <a:xfrm>
            <a:off x="4208203" y="3747469"/>
            <a:ext cx="2949419" cy="1010798"/>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1732352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919C10-50CA-4150-B4A9-020A318614CE}"/>
              </a:ext>
            </a:extLst>
          </p:cNvPr>
          <p:cNvSpPr>
            <a:spLocks noGrp="1"/>
          </p:cNvSpPr>
          <p:nvPr>
            <p:ph idx="1"/>
          </p:nvPr>
        </p:nvSpPr>
        <p:spPr>
          <a:xfrm>
            <a:off x="76199" y="67732"/>
            <a:ext cx="12022667" cy="6790267"/>
          </a:xfrm>
        </p:spPr>
        <p:txBody>
          <a:bodyPr>
            <a:normAutofit/>
          </a:bodyPr>
          <a:lstStyle/>
          <a:p>
            <a:pPr algn="just"/>
            <a:r>
              <a:rPr lang="en-GB" b="0" i="0" u="none" strike="noStrike" baseline="0" dirty="0">
                <a:latin typeface="Comic Sans MS" panose="030F0702030302020204" pitchFamily="66" charset="0"/>
              </a:rPr>
              <a:t>The two-input XOR operation is represented using the symbol ⊕, but it can also be represented using a Boolean expression.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Basically, </a:t>
            </a:r>
            <a:r>
              <a:rPr lang="en-GB" b="0" i="0" u="none" strike="noStrike" baseline="0" dirty="0">
                <a:solidFill>
                  <a:srgbClr val="FF0000"/>
                </a:solidFill>
                <a:latin typeface="Comic Sans MS" panose="030F0702030302020204" pitchFamily="66" charset="0"/>
              </a:rPr>
              <a:t>the two-input XOR equals one </a:t>
            </a:r>
            <a:r>
              <a:rPr lang="en-GB" b="0" i="0" u="none" strike="noStrike" baseline="0" dirty="0">
                <a:latin typeface="Comic Sans MS" panose="030F0702030302020204" pitchFamily="66" charset="0"/>
              </a:rPr>
              <a:t>if A = 0 and B = 1 or if A = 1 and B = 0.</a:t>
            </a:r>
          </a:p>
          <a:p>
            <a:pPr algn="just"/>
            <a:r>
              <a:rPr lang="en-GB" b="0" i="0" u="none" strike="noStrike" baseline="0" dirty="0">
                <a:latin typeface="Comic Sans MS" panose="030F0702030302020204" pitchFamily="66" charset="0"/>
              </a:rPr>
              <a:t>This gives us the following expression.</a:t>
            </a:r>
            <a:endParaRPr lang="en-GB" dirty="0">
              <a:latin typeface="Comic Sans MS" panose="030F0702030302020204" pitchFamily="66" charset="0"/>
            </a:endParaRPr>
          </a:p>
        </p:txBody>
      </p:sp>
      <p:pic>
        <p:nvPicPr>
          <p:cNvPr id="5" name="Picture 4">
            <a:extLst>
              <a:ext uri="{FF2B5EF4-FFF2-40B4-BE49-F238E27FC236}">
                <a16:creationId xmlns:a16="http://schemas.microsoft.com/office/drawing/2014/main" id="{CA57161B-10AF-49F5-8074-C0963B304D55}"/>
              </a:ext>
            </a:extLst>
          </p:cNvPr>
          <p:cNvPicPr>
            <a:picLocks noChangeAspect="1"/>
          </p:cNvPicPr>
          <p:nvPr/>
        </p:nvPicPr>
        <p:blipFill>
          <a:blip r:embed="rId2"/>
          <a:stretch>
            <a:fillRect/>
          </a:stretch>
        </p:blipFill>
        <p:spPr>
          <a:xfrm>
            <a:off x="3278967" y="2911420"/>
            <a:ext cx="3991532" cy="781159"/>
          </a:xfrm>
          <a:prstGeom prst="rect">
            <a:avLst/>
          </a:prstGeom>
        </p:spPr>
      </p:pic>
    </p:spTree>
    <p:extLst>
      <p:ext uri="{BB962C8B-B14F-4D97-AF65-F5344CB8AC3E}">
        <p14:creationId xmlns:p14="http://schemas.microsoft.com/office/powerpoint/2010/main" val="3377526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0A1D26-7C05-487B-9FFF-8A50FD1FE6F6}"/>
              </a:ext>
            </a:extLst>
          </p:cNvPr>
          <p:cNvSpPr>
            <a:spLocks noGrp="1"/>
          </p:cNvSpPr>
          <p:nvPr>
            <p:ph idx="1"/>
          </p:nvPr>
        </p:nvSpPr>
        <p:spPr>
          <a:xfrm>
            <a:off x="59267" y="67733"/>
            <a:ext cx="12048066" cy="6697134"/>
          </a:xfrm>
        </p:spPr>
        <p:txBody>
          <a:bodyPr>
            <a:normAutofit lnSpcReduction="10000"/>
          </a:bodyPr>
          <a:lstStyle/>
          <a:p>
            <a:r>
              <a:rPr lang="en-GB" b="1" i="0" u="none" strike="noStrike" baseline="0" dirty="0">
                <a:solidFill>
                  <a:srgbClr val="FF0000"/>
                </a:solidFill>
                <a:latin typeface="Comic Sans MS" panose="030F0702030302020204" pitchFamily="66" charset="0"/>
              </a:rPr>
              <a:t>Boolean Expressions of Combinational Logic</a:t>
            </a:r>
          </a:p>
          <a:p>
            <a:endParaRPr lang="en-GB" sz="1400" b="1" dirty="0">
              <a:solidFill>
                <a:srgbClr val="FF0000"/>
              </a:solidFill>
              <a:latin typeface="Comic Sans MS" panose="030F0702030302020204" pitchFamily="66" charset="0"/>
            </a:endParaRPr>
          </a:p>
          <a:p>
            <a:pPr algn="just"/>
            <a:r>
              <a:rPr lang="en-GB" sz="2400" b="0" i="0" u="none" strike="noStrike" baseline="0" dirty="0">
                <a:latin typeface="Comic Sans MS" panose="030F0702030302020204" pitchFamily="66" charset="0"/>
              </a:rPr>
              <a:t>Just as mathematical algebra combines multiplication and addition to create complex expressions, Boolean algebra combines AND, OR, and NOT functions to represent complex combinational logic. </a:t>
            </a:r>
          </a:p>
          <a:p>
            <a:pPr algn="just"/>
            <a:endParaRPr lang="en-GB" sz="1000" dirty="0">
              <a:latin typeface="Comic Sans MS" panose="030F0702030302020204" pitchFamily="66" charset="0"/>
            </a:endParaRPr>
          </a:p>
          <a:p>
            <a:pPr algn="just"/>
            <a:r>
              <a:rPr lang="en-GB" sz="2400" b="0" i="0" u="none" strike="noStrike" baseline="0" dirty="0">
                <a:latin typeface="Comic Sans MS" panose="030F0702030302020204" pitchFamily="66" charset="0"/>
              </a:rPr>
              <a:t>Our experience with algebra allows us to understand the expression Y = X · (X +5) + 3. </a:t>
            </a:r>
          </a:p>
          <a:p>
            <a:pPr algn="just"/>
            <a:endParaRPr lang="en-GB" sz="1000" dirty="0">
              <a:latin typeface="Comic Sans MS" panose="030F0702030302020204" pitchFamily="66" charset="0"/>
            </a:endParaRPr>
          </a:p>
          <a:p>
            <a:pPr algn="just"/>
            <a:r>
              <a:rPr lang="en-GB" sz="2400" b="0" i="0" u="none" strike="noStrike" baseline="0" dirty="0">
                <a:latin typeface="Comic Sans MS" panose="030F0702030302020204" pitchFamily="66" charset="0"/>
              </a:rPr>
              <a:t>The decimal value 5 is added to a copy of X, the result of which is then multiplied by a second copy of X. Lastly, a decimal 3 is added and the final result is assigned to Y.</a:t>
            </a:r>
          </a:p>
          <a:p>
            <a:pPr algn="just"/>
            <a:endParaRPr lang="en-GB" sz="8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This example shows us two things. </a:t>
            </a:r>
          </a:p>
          <a:p>
            <a:pPr lvl="2" algn="just"/>
            <a:r>
              <a:rPr lang="en-GB" sz="2400" b="0" i="0" u="none" strike="noStrike" baseline="0" dirty="0">
                <a:latin typeface="Comic Sans MS" panose="030F0702030302020204" pitchFamily="66" charset="0"/>
              </a:rPr>
              <a:t>First, each mathematical operation has a </a:t>
            </a:r>
            <a:r>
              <a:rPr lang="en-GB" sz="2400" b="0" i="0" u="none" strike="noStrike" baseline="0" dirty="0">
                <a:solidFill>
                  <a:srgbClr val="FF0000"/>
                </a:solidFill>
                <a:latin typeface="Comic Sans MS" panose="030F0702030302020204" pitchFamily="66" charset="0"/>
              </a:rPr>
              <a:t>priority</a:t>
            </a:r>
            <a:r>
              <a:rPr lang="en-GB" sz="2400" b="0" i="0" u="none" strike="noStrike" baseline="0" dirty="0">
                <a:latin typeface="Comic Sans MS" panose="030F0702030302020204" pitchFamily="66" charset="0"/>
              </a:rPr>
              <a:t>, e.g., multiplication is performed before addition. </a:t>
            </a:r>
            <a:endParaRPr lang="en-GB" sz="2400" dirty="0">
              <a:latin typeface="Comic Sans MS" panose="030F0702030302020204" pitchFamily="66" charset="0"/>
            </a:endParaRPr>
          </a:p>
          <a:p>
            <a:pPr lvl="2" algn="just"/>
            <a:r>
              <a:rPr lang="en-GB" sz="2400" b="0" i="0" u="none" strike="noStrike" baseline="0" dirty="0">
                <a:latin typeface="Comic Sans MS" panose="030F0702030302020204" pitchFamily="66" charset="0"/>
              </a:rPr>
              <a:t>This priority is referred to as </a:t>
            </a:r>
            <a:r>
              <a:rPr lang="en-GB" sz="2400" b="0" i="0" u="none" strike="noStrike" baseline="0" dirty="0">
                <a:solidFill>
                  <a:srgbClr val="FF0000"/>
                </a:solidFill>
                <a:latin typeface="Comic Sans MS" panose="030F0702030302020204" pitchFamily="66" charset="0"/>
              </a:rPr>
              <a:t>precedence</a:t>
            </a:r>
            <a:r>
              <a:rPr lang="en-GB" sz="2400" b="0" i="0" u="none" strike="noStrike" baseline="0" dirty="0">
                <a:latin typeface="Comic Sans MS" panose="030F0702030302020204" pitchFamily="66" charset="0"/>
              </a:rPr>
              <a:t>. </a:t>
            </a:r>
          </a:p>
          <a:p>
            <a:pPr lvl="2" algn="just"/>
            <a:endParaRPr lang="en-GB" sz="2400" b="0" i="0" u="none" strike="noStrike" baseline="0" dirty="0">
              <a:latin typeface="Comic Sans MS" panose="030F0702030302020204" pitchFamily="66" charset="0"/>
            </a:endParaRPr>
          </a:p>
          <a:p>
            <a:pPr lvl="2" algn="just"/>
            <a:r>
              <a:rPr lang="en-GB" sz="2400" b="0" i="0" u="none" strike="noStrike" baseline="0" dirty="0">
                <a:latin typeface="Comic Sans MS" panose="030F0702030302020204" pitchFamily="66" charset="0"/>
              </a:rPr>
              <a:t>Second, variables such X can appear multiple times in an expression, each appearance representing the current value of X.</a:t>
            </a:r>
          </a:p>
        </p:txBody>
      </p:sp>
    </p:spTree>
    <p:extLst>
      <p:ext uri="{BB962C8B-B14F-4D97-AF65-F5344CB8AC3E}">
        <p14:creationId xmlns:p14="http://schemas.microsoft.com/office/powerpoint/2010/main" val="1812197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34D03B-DFA8-4E48-BC9D-FA05520D7176}"/>
              </a:ext>
            </a:extLst>
          </p:cNvPr>
          <p:cNvSpPr>
            <a:spLocks noGrp="1"/>
          </p:cNvSpPr>
          <p:nvPr>
            <p:ph idx="1"/>
          </p:nvPr>
        </p:nvSpPr>
        <p:spPr>
          <a:xfrm>
            <a:off x="67733" y="0"/>
            <a:ext cx="12056534" cy="6773333"/>
          </a:xfrm>
        </p:spPr>
        <p:txBody>
          <a:bodyPr>
            <a:normAutofit/>
          </a:bodyPr>
          <a:lstStyle/>
          <a:p>
            <a:pPr algn="just"/>
            <a:r>
              <a:rPr lang="en-GB" dirty="0">
                <a:latin typeface="Comic Sans MS" panose="030F0702030302020204" pitchFamily="66" charset="0"/>
              </a:rPr>
              <a:t>Remember the combinational circuit in our previous lectures, </a:t>
            </a:r>
            <a:r>
              <a:rPr lang="en-GB" b="0" i="0" u="none" strike="noStrike" baseline="0" dirty="0">
                <a:latin typeface="Comic Sans MS" panose="030F0702030302020204" pitchFamily="66" charset="0"/>
              </a:rPr>
              <a:t>we determined the truth table for this circuit by taking the input signals A, B, and C from left to right through each gate. </a:t>
            </a:r>
          </a:p>
          <a:p>
            <a:pPr algn="just"/>
            <a:endParaRPr lang="en-GB" b="0" i="0" u="none" strike="noStrike" baseline="0" dirty="0">
              <a:latin typeface="Comic Sans MS" panose="030F0702030302020204" pitchFamily="66" charset="0"/>
            </a:endParaRPr>
          </a:p>
          <a:p>
            <a:pPr algn="just"/>
            <a:r>
              <a:rPr lang="en-GB" dirty="0">
                <a:latin typeface="Comic Sans MS" panose="030F0702030302020204" pitchFamily="66" charset="0"/>
              </a:rPr>
              <a:t>W</a:t>
            </a:r>
            <a:r>
              <a:rPr lang="en-GB" b="0" i="0" u="none" strike="noStrike" baseline="0" dirty="0">
                <a:latin typeface="Comic Sans MS" panose="030F0702030302020204" pitchFamily="66" charset="0"/>
              </a:rPr>
              <a:t>e can do the same thing to determine the </a:t>
            </a:r>
            <a:r>
              <a:rPr lang="en-GB" b="0" i="0" u="none" strike="noStrike" baseline="0" dirty="0" err="1">
                <a:latin typeface="Comic Sans MS" panose="030F0702030302020204" pitchFamily="66" charset="0"/>
              </a:rPr>
              <a:t>boolean</a:t>
            </a:r>
            <a:r>
              <a:rPr lang="en-GB" b="0" i="0" u="none" strike="noStrike" baseline="0" dirty="0">
                <a:latin typeface="Comic Sans MS" panose="030F0702030302020204" pitchFamily="66" charset="0"/>
              </a:rPr>
              <a:t> expression.</a:t>
            </a:r>
            <a:endParaRPr lang="en-GB" dirty="0">
              <a:latin typeface="Comic Sans MS" panose="030F0702030302020204" pitchFamily="66" charset="0"/>
            </a:endParaRPr>
          </a:p>
        </p:txBody>
      </p:sp>
      <p:pic>
        <p:nvPicPr>
          <p:cNvPr id="7" name="Picture 6">
            <a:extLst>
              <a:ext uri="{FF2B5EF4-FFF2-40B4-BE49-F238E27FC236}">
                <a16:creationId xmlns:a16="http://schemas.microsoft.com/office/drawing/2014/main" id="{F5BF5422-485E-478D-9B80-075DEFF29551}"/>
              </a:ext>
            </a:extLst>
          </p:cNvPr>
          <p:cNvPicPr>
            <a:picLocks noChangeAspect="1"/>
          </p:cNvPicPr>
          <p:nvPr/>
        </p:nvPicPr>
        <p:blipFill>
          <a:blip r:embed="rId2"/>
          <a:stretch>
            <a:fillRect/>
          </a:stretch>
        </p:blipFill>
        <p:spPr>
          <a:xfrm>
            <a:off x="2245907" y="2977935"/>
            <a:ext cx="5820587" cy="1543265"/>
          </a:xfrm>
          <a:prstGeom prst="rect">
            <a:avLst/>
          </a:prstGeom>
        </p:spPr>
      </p:pic>
    </p:spTree>
    <p:extLst>
      <p:ext uri="{BB962C8B-B14F-4D97-AF65-F5344CB8AC3E}">
        <p14:creationId xmlns:p14="http://schemas.microsoft.com/office/powerpoint/2010/main" val="1809484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6E81BA8-0B09-4DBC-8A31-09D72C777CD8}"/>
              </a:ext>
            </a:extLst>
          </p:cNvPr>
          <p:cNvPicPr>
            <a:picLocks noGrp="1" noChangeAspect="1"/>
          </p:cNvPicPr>
          <p:nvPr>
            <p:ph idx="1"/>
          </p:nvPr>
        </p:nvPicPr>
        <p:blipFill>
          <a:blip r:embed="rId2"/>
          <a:stretch>
            <a:fillRect/>
          </a:stretch>
        </p:blipFill>
        <p:spPr>
          <a:xfrm>
            <a:off x="0" y="59266"/>
            <a:ext cx="8542867" cy="6798733"/>
          </a:xfrm>
        </p:spPr>
      </p:pic>
      <p:sp>
        <p:nvSpPr>
          <p:cNvPr id="7" name="TextBox 6">
            <a:extLst>
              <a:ext uri="{FF2B5EF4-FFF2-40B4-BE49-F238E27FC236}">
                <a16:creationId xmlns:a16="http://schemas.microsoft.com/office/drawing/2014/main" id="{A92329E0-10AE-43AC-9833-EB4647565BC8}"/>
              </a:ext>
            </a:extLst>
          </p:cNvPr>
          <p:cNvSpPr txBox="1"/>
          <p:nvPr/>
        </p:nvSpPr>
        <p:spPr>
          <a:xfrm>
            <a:off x="8542866" y="130370"/>
            <a:ext cx="3471334" cy="6370975"/>
          </a:xfrm>
          <a:prstGeom prst="rect">
            <a:avLst/>
          </a:prstGeom>
          <a:noFill/>
        </p:spPr>
        <p:txBody>
          <a:bodyPr wrap="square">
            <a:spAutoFit/>
          </a:bodyPr>
          <a:lstStyle/>
          <a:p>
            <a:pPr algn="just"/>
            <a:r>
              <a:rPr lang="en-GB" sz="2400" b="0" i="0" u="none" strike="noStrike" baseline="0" dirty="0">
                <a:latin typeface="Comic Sans MS" panose="030F0702030302020204" pitchFamily="66" charset="0"/>
              </a:rPr>
              <a:t>Notice the use of </a:t>
            </a:r>
            <a:r>
              <a:rPr lang="en-GB" sz="2400" b="0" i="0" u="none" strike="noStrike" baseline="0" dirty="0">
                <a:solidFill>
                  <a:srgbClr val="FF0000"/>
                </a:solidFill>
                <a:latin typeface="Comic Sans MS" panose="030F0702030302020204" pitchFamily="66" charset="0"/>
              </a:rPr>
              <a:t>parenthesis</a:t>
            </a:r>
            <a:r>
              <a:rPr lang="en-GB" sz="2400" b="0" i="0" u="none" strike="noStrike" baseline="0" dirty="0">
                <a:latin typeface="Comic Sans MS" panose="030F0702030302020204" pitchFamily="66" charset="0"/>
              </a:rPr>
              <a:t> in step c.</a:t>
            </a:r>
          </a:p>
          <a:p>
            <a:pPr algn="just"/>
            <a:r>
              <a:rPr lang="en-GB" sz="2400" b="0" i="0" u="none" strike="noStrike" baseline="0" dirty="0">
                <a:latin typeface="Comic Sans MS" panose="030F0702030302020204" pitchFamily="66" charset="0"/>
              </a:rPr>
              <a:t> </a:t>
            </a: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Just as in mathematical algebra, parenthesis can be used to force the order in which operations are taken.</a:t>
            </a:r>
          </a:p>
          <a:p>
            <a:pPr algn="just"/>
            <a:r>
              <a:rPr lang="en-GB" sz="2400" b="0" i="0" u="none" strike="noStrike" baseline="0" dirty="0">
                <a:latin typeface="Comic Sans MS" panose="030F0702030302020204" pitchFamily="66" charset="0"/>
              </a:rPr>
              <a:t> </a:t>
            </a: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In the absence of parenthesis, however, the AND, OR, and NOT functions have an order of precedence.</a:t>
            </a:r>
            <a:endParaRPr lang="en-GB" sz="2400" dirty="0">
              <a:latin typeface="Comic Sans MS" panose="030F0702030302020204" pitchFamily="66" charset="0"/>
            </a:endParaRP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B832C709-3A96-4A4D-A529-95C3E1B9E67F}"/>
                  </a:ext>
                </a:extLst>
              </p14:cNvPr>
              <p14:cNvContentPartPr/>
              <p14:nvPr/>
            </p14:nvContentPartPr>
            <p14:xfrm>
              <a:off x="1359000" y="419040"/>
              <a:ext cx="3835800" cy="5835960"/>
            </p14:xfrm>
          </p:contentPart>
        </mc:Choice>
        <mc:Fallback xmlns="">
          <p:pic>
            <p:nvPicPr>
              <p:cNvPr id="8" name="Ink 7">
                <a:extLst>
                  <a:ext uri="{FF2B5EF4-FFF2-40B4-BE49-F238E27FC236}">
                    <a16:creationId xmlns:a16="http://schemas.microsoft.com/office/drawing/2014/main" id="{B832C709-3A96-4A4D-A529-95C3E1B9E67F}"/>
                  </a:ext>
                </a:extLst>
              </p:cNvPr>
              <p:cNvPicPr/>
              <p:nvPr/>
            </p:nvPicPr>
            <p:blipFill>
              <a:blip r:embed="rId4"/>
              <a:stretch>
                <a:fillRect/>
              </a:stretch>
            </p:blipFill>
            <p:spPr>
              <a:xfrm>
                <a:off x="1349640" y="409680"/>
                <a:ext cx="3854520" cy="5854680"/>
              </a:xfrm>
              <a:prstGeom prst="rect">
                <a:avLst/>
              </a:prstGeom>
            </p:spPr>
          </p:pic>
        </mc:Fallback>
      </mc:AlternateContent>
    </p:spTree>
    <p:extLst>
      <p:ext uri="{BB962C8B-B14F-4D97-AF65-F5344CB8AC3E}">
        <p14:creationId xmlns:p14="http://schemas.microsoft.com/office/powerpoint/2010/main" val="4160795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66154F-D238-470C-9173-E4FAC2D5C59F}"/>
              </a:ext>
            </a:extLst>
          </p:cNvPr>
          <p:cNvSpPr>
            <a:spLocks noGrp="1"/>
          </p:cNvSpPr>
          <p:nvPr>
            <p:ph idx="1"/>
          </p:nvPr>
        </p:nvSpPr>
        <p:spPr>
          <a:xfrm>
            <a:off x="67733" y="0"/>
            <a:ext cx="12022667" cy="6790267"/>
          </a:xfrm>
        </p:spPr>
        <p:txBody>
          <a:bodyPr>
            <a:normAutofit/>
          </a:bodyPr>
          <a:lstStyle/>
          <a:p>
            <a:pPr algn="just"/>
            <a:r>
              <a:rPr lang="en-GB" sz="3200" b="0" i="0" u="none" strike="noStrike" baseline="0" dirty="0">
                <a:solidFill>
                  <a:srgbClr val="FF0000"/>
                </a:solidFill>
                <a:latin typeface="Comic Sans MS" panose="030F0702030302020204" pitchFamily="66" charset="0"/>
              </a:rPr>
              <a:t>Note!</a:t>
            </a:r>
          </a:p>
          <a:p>
            <a:pPr algn="just"/>
            <a:r>
              <a:rPr lang="en-GB" b="0" i="0" u="none" strike="noStrike" baseline="0" dirty="0">
                <a:latin typeface="Comic Sans MS" panose="030F0702030302020204" pitchFamily="66" charset="0"/>
              </a:rPr>
              <a:t>To begin with, </a:t>
            </a:r>
            <a:r>
              <a:rPr lang="en-GB" b="0" i="0" u="none" strike="noStrike" baseline="0" dirty="0">
                <a:solidFill>
                  <a:srgbClr val="FF0000"/>
                </a:solidFill>
                <a:latin typeface="Comic Sans MS" panose="030F0702030302020204" pitchFamily="66" charset="0"/>
              </a:rPr>
              <a:t>AND takes precedence over OR </a:t>
            </a:r>
            <a:r>
              <a:rPr lang="en-GB" b="0" i="0" u="none" strike="noStrike" baseline="0" dirty="0">
                <a:solidFill>
                  <a:srgbClr val="00B0F0"/>
                </a:solidFill>
                <a:latin typeface="Comic Sans MS" panose="030F0702030302020204" pitchFamily="66" charset="0"/>
              </a:rPr>
              <a:t>unless</a:t>
            </a:r>
            <a:r>
              <a:rPr lang="en-GB" b="0" i="0" u="none" strike="noStrike" baseline="0" dirty="0">
                <a:latin typeface="Comic Sans MS" panose="030F0702030302020204" pitchFamily="66" charset="0"/>
              </a:rPr>
              <a:t> overridden by</a:t>
            </a:r>
          </a:p>
          <a:p>
            <a:pPr algn="just"/>
            <a:r>
              <a:rPr lang="en-GB" b="0" i="0" u="none" strike="noStrike" baseline="0" dirty="0">
                <a:solidFill>
                  <a:srgbClr val="00B050"/>
                </a:solidFill>
                <a:latin typeface="Comic Sans MS" panose="030F0702030302020204" pitchFamily="66" charset="0"/>
              </a:rPr>
              <a:t>parenthesis</a:t>
            </a:r>
            <a:r>
              <a:rPr lang="en-GB" b="0" i="0" u="none" strike="noStrike" baseline="0" dirty="0">
                <a:latin typeface="Comic Sans MS" panose="030F0702030302020204" pitchFamily="66" charset="0"/>
              </a:rPr>
              <a:t>.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NOT is a special case in that it can act like a set of parenthesis. </a:t>
            </a:r>
            <a:r>
              <a:rPr lang="en-GB" b="0" i="0" u="none" strike="noStrike" baseline="0" dirty="0">
                <a:solidFill>
                  <a:srgbClr val="FF0000"/>
                </a:solidFill>
                <a:latin typeface="Comic Sans MS" panose="030F0702030302020204" pitchFamily="66" charset="0"/>
              </a:rPr>
              <a:t>If the bar indicating the NOT function spans a single, it takes precedence over AND </a:t>
            </a:r>
            <a:r>
              <a:rPr lang="en-GB" b="0" i="0" u="none" strike="noStrike" baseline="0" dirty="0" err="1">
                <a:solidFill>
                  <a:srgbClr val="FF0000"/>
                </a:solidFill>
                <a:latin typeface="Comic Sans MS" panose="030F0702030302020204" pitchFamily="66" charset="0"/>
              </a:rPr>
              <a:t>and</a:t>
            </a:r>
            <a:r>
              <a:rPr lang="en-GB" b="0" i="0" u="none" strike="noStrike" baseline="0" dirty="0">
                <a:solidFill>
                  <a:srgbClr val="FF0000"/>
                </a:solidFill>
                <a:latin typeface="Comic Sans MS" panose="030F0702030302020204" pitchFamily="66" charset="0"/>
              </a:rPr>
              <a:t> OR.</a:t>
            </a:r>
            <a:r>
              <a:rPr lang="en-GB" b="0" i="0" u="none" strike="noStrike" baseline="0" dirty="0">
                <a:latin typeface="Comic Sans MS" panose="030F0702030302020204" pitchFamily="66" charset="0"/>
              </a:rPr>
              <a:t>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If, however, the NOT bar spans an expression, the expression beneath the bar must be evaluated before the NOT is taken.</a:t>
            </a:r>
            <a:endParaRPr lang="en-GB" sz="4000" dirty="0">
              <a:latin typeface="Comic Sans MS" panose="030F0702030302020204" pitchFamily="66" charset="0"/>
            </a:endParaRPr>
          </a:p>
        </p:txBody>
      </p:sp>
    </p:spTree>
    <p:extLst>
      <p:ext uri="{BB962C8B-B14F-4D97-AF65-F5344CB8AC3E}">
        <p14:creationId xmlns:p14="http://schemas.microsoft.com/office/powerpoint/2010/main" val="2576725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B02708-47DA-4EBC-AF11-796164B22055}"/>
              </a:ext>
            </a:extLst>
          </p:cNvPr>
          <p:cNvSpPr>
            <a:spLocks noGrp="1"/>
          </p:cNvSpPr>
          <p:nvPr>
            <p:ph idx="1"/>
          </p:nvPr>
        </p:nvSpPr>
        <p:spPr>
          <a:xfrm>
            <a:off x="93133" y="76200"/>
            <a:ext cx="11997267" cy="6705600"/>
          </a:xfrm>
        </p:spPr>
        <p:txBody>
          <a:bodyPr/>
          <a:lstStyle/>
          <a:p>
            <a:pPr algn="l"/>
            <a:endParaRPr lang="en-GB" sz="16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Examples of handling precedence with the NOT function.</a:t>
            </a:r>
          </a:p>
          <a:p>
            <a:pPr algn="just"/>
            <a:endParaRPr lang="en-GB" sz="2400" dirty="0">
              <a:latin typeface="Comic Sans MS" panose="030F0702030302020204" pitchFamily="66" charset="0"/>
            </a:endParaRPr>
          </a:p>
          <a:p>
            <a:pPr algn="just"/>
            <a:endParaRPr lang="en-GB" sz="2400" dirty="0">
              <a:latin typeface="Comic Sans MS" panose="030F0702030302020204" pitchFamily="66" charset="0"/>
            </a:endParaRPr>
          </a:p>
          <a:p>
            <a:pPr algn="just"/>
            <a:endParaRPr lang="en-GB" sz="2400" dirty="0">
              <a:latin typeface="Comic Sans MS" panose="030F0702030302020204" pitchFamily="66" charset="0"/>
            </a:endParaRPr>
          </a:p>
          <a:p>
            <a:pPr algn="just"/>
            <a:endParaRPr lang="en-GB" sz="2400" dirty="0">
              <a:latin typeface="Comic Sans MS" panose="030F0702030302020204" pitchFamily="66" charset="0"/>
            </a:endParaRPr>
          </a:p>
          <a:p>
            <a:pPr algn="just"/>
            <a:endParaRPr lang="en-GB" sz="2400" dirty="0">
              <a:latin typeface="Comic Sans MS" panose="030F0702030302020204" pitchFamily="66" charset="0"/>
            </a:endParaRP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Understanding this is vital because unlike the mathematical inverse, the two expressions below are </a:t>
            </a:r>
            <a:r>
              <a:rPr lang="en-GB" sz="2400" b="0" i="1" u="none" strike="noStrike" baseline="0" dirty="0">
                <a:latin typeface="Comic Sans MS" panose="030F0702030302020204" pitchFamily="66" charset="0"/>
              </a:rPr>
              <a:t>not </a:t>
            </a:r>
            <a:r>
              <a:rPr lang="en-GB" sz="2400" b="0" i="0" u="none" strike="noStrike" baseline="0" dirty="0">
                <a:latin typeface="Comic Sans MS" panose="030F0702030302020204" pitchFamily="66" charset="0"/>
              </a:rPr>
              <a:t>equivalent.</a:t>
            </a:r>
            <a:endParaRPr lang="en-GB" sz="2400" dirty="0">
              <a:latin typeface="Comic Sans MS" panose="030F0702030302020204" pitchFamily="66" charset="0"/>
            </a:endParaRPr>
          </a:p>
        </p:txBody>
      </p:sp>
      <p:pic>
        <p:nvPicPr>
          <p:cNvPr id="5" name="Picture 4">
            <a:extLst>
              <a:ext uri="{FF2B5EF4-FFF2-40B4-BE49-F238E27FC236}">
                <a16:creationId xmlns:a16="http://schemas.microsoft.com/office/drawing/2014/main" id="{C32BAE38-E824-4570-AA7B-DEFFE500F63D}"/>
              </a:ext>
            </a:extLst>
          </p:cNvPr>
          <p:cNvPicPr>
            <a:picLocks noChangeAspect="1"/>
          </p:cNvPicPr>
          <p:nvPr/>
        </p:nvPicPr>
        <p:blipFill>
          <a:blip r:embed="rId2"/>
          <a:stretch>
            <a:fillRect/>
          </a:stretch>
        </p:blipFill>
        <p:spPr>
          <a:xfrm>
            <a:off x="2196167" y="973474"/>
            <a:ext cx="4941233" cy="2336741"/>
          </a:xfrm>
          <a:prstGeom prst="rect">
            <a:avLst/>
          </a:prstGeom>
        </p:spPr>
      </p:pic>
      <p:pic>
        <p:nvPicPr>
          <p:cNvPr id="7" name="Picture 6">
            <a:extLst>
              <a:ext uri="{FF2B5EF4-FFF2-40B4-BE49-F238E27FC236}">
                <a16:creationId xmlns:a16="http://schemas.microsoft.com/office/drawing/2014/main" id="{6D0C185F-EA04-4D0D-BE24-980387AB726C}"/>
              </a:ext>
            </a:extLst>
          </p:cNvPr>
          <p:cNvPicPr>
            <a:picLocks noChangeAspect="1"/>
          </p:cNvPicPr>
          <p:nvPr/>
        </p:nvPicPr>
        <p:blipFill>
          <a:blip r:embed="rId3"/>
          <a:stretch>
            <a:fillRect/>
          </a:stretch>
        </p:blipFill>
        <p:spPr>
          <a:xfrm>
            <a:off x="3157907" y="4586099"/>
            <a:ext cx="2286319" cy="885949"/>
          </a:xfrm>
          <a:prstGeom prst="rect">
            <a:avLst/>
          </a:prstGeom>
        </p:spPr>
      </p:pic>
    </p:spTree>
    <p:extLst>
      <p:ext uri="{BB962C8B-B14F-4D97-AF65-F5344CB8AC3E}">
        <p14:creationId xmlns:p14="http://schemas.microsoft.com/office/powerpoint/2010/main" val="1280841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E15809-18D2-4136-AB34-B8B53B733994}"/>
              </a:ext>
            </a:extLst>
          </p:cNvPr>
          <p:cNvSpPr>
            <a:spLocks noGrp="1"/>
          </p:cNvSpPr>
          <p:nvPr>
            <p:ph idx="1"/>
          </p:nvPr>
        </p:nvSpPr>
        <p:spPr>
          <a:xfrm>
            <a:off x="59267" y="67732"/>
            <a:ext cx="12132733" cy="6790267"/>
          </a:xfrm>
        </p:spPr>
        <p:txBody>
          <a:bodyPr>
            <a:normAutofit/>
          </a:bodyPr>
          <a:lstStyle/>
          <a:p>
            <a:pPr algn="just"/>
            <a:r>
              <a:rPr lang="en-GB" sz="2600" b="0" i="0" u="none" strike="noStrike" baseline="0" dirty="0">
                <a:latin typeface="Comic Sans MS" panose="030F0702030302020204" pitchFamily="66" charset="0"/>
              </a:rPr>
              <a:t>Let's do an example addressing precedence with a more complex Boolean expression. Using parenthesis and the order of precedence, the Boolean expression below has a single interpretation.</a:t>
            </a:r>
          </a:p>
          <a:p>
            <a:pPr algn="just"/>
            <a:endParaRPr lang="en-GB" sz="2400" dirty="0">
              <a:latin typeface="Comic Sans MS" panose="030F0702030302020204" pitchFamily="66" charset="0"/>
            </a:endParaRPr>
          </a:p>
          <a:p>
            <a:pPr algn="just"/>
            <a:endParaRPr lang="en-GB" sz="2400" dirty="0">
              <a:latin typeface="Comic Sans MS" panose="030F0702030302020204" pitchFamily="66" charset="0"/>
            </a:endParaRPr>
          </a:p>
          <a:p>
            <a:pPr algn="just"/>
            <a:endParaRPr lang="en-GB" sz="2400" dirty="0">
              <a:latin typeface="Comic Sans MS" panose="030F0702030302020204" pitchFamily="66" charset="0"/>
            </a:endParaRPr>
          </a:p>
          <a:p>
            <a:pPr algn="just"/>
            <a:endParaRPr lang="en-GB" sz="2400" dirty="0">
              <a:latin typeface="Comic Sans MS" panose="030F0702030302020204" pitchFamily="66" charset="0"/>
            </a:endParaRPr>
          </a:p>
          <a:p>
            <a:pPr algn="l"/>
            <a:r>
              <a:rPr lang="en-GB" b="0" i="0" u="none" strike="noStrike" baseline="0" dirty="0">
                <a:solidFill>
                  <a:srgbClr val="FF0000"/>
                </a:solidFill>
                <a:latin typeface="Comic Sans MS" panose="030F0702030302020204" pitchFamily="66" charset="0"/>
              </a:rPr>
              <a:t>The following steps show the order to evaluate the above expression.</a:t>
            </a:r>
          </a:p>
          <a:p>
            <a:pPr marL="914400" lvl="2" indent="0">
              <a:buNone/>
            </a:pPr>
            <a:r>
              <a:rPr lang="en-GB" sz="2600" b="0" i="0" u="none" strike="noStrike" baseline="0" dirty="0">
                <a:latin typeface="Comic Sans MS" panose="030F0702030302020204" pitchFamily="66" charset="0"/>
              </a:rPr>
              <a:t>1. OR B with C because the operation is contained under a single NOT bar and is contained within the lowest set of parenthesis</a:t>
            </a:r>
          </a:p>
          <a:p>
            <a:pPr marL="914400" lvl="2" indent="0">
              <a:buNone/>
            </a:pPr>
            <a:r>
              <a:rPr lang="en-GB" sz="2600" b="0" i="0" u="none" strike="noStrike" baseline="0" dirty="0">
                <a:latin typeface="Comic Sans MS" panose="030F0702030302020204" pitchFamily="66" charset="0"/>
              </a:rPr>
              <a:t>2. Invert the result of step 1 because NOT takes precedence over OR</a:t>
            </a:r>
          </a:p>
          <a:p>
            <a:pPr marL="914400" lvl="2" indent="0">
              <a:buNone/>
            </a:pPr>
            <a:r>
              <a:rPr lang="en-GB" sz="2600" b="0" i="0" u="none" strike="noStrike" baseline="0" dirty="0">
                <a:latin typeface="Comic Sans MS" panose="030F0702030302020204" pitchFamily="66" charset="0"/>
              </a:rPr>
              <a:t>3. OR A with the result of step 2 because of the parenthesis</a:t>
            </a:r>
          </a:p>
          <a:p>
            <a:pPr marL="914400" lvl="2" indent="0">
              <a:buNone/>
            </a:pPr>
            <a:r>
              <a:rPr lang="en-GB" sz="2600" b="0" i="0" u="none" strike="noStrike" baseline="0" dirty="0">
                <a:latin typeface="Comic Sans MS" panose="030F0702030302020204" pitchFamily="66" charset="0"/>
              </a:rPr>
              <a:t>4. Invert result of step 3</a:t>
            </a:r>
          </a:p>
          <a:p>
            <a:pPr marL="914400" lvl="2" indent="0">
              <a:buNone/>
            </a:pPr>
            <a:r>
              <a:rPr lang="en-GB" sz="2600" b="0" i="0" u="none" strike="noStrike" baseline="0" dirty="0">
                <a:latin typeface="Comic Sans MS" panose="030F0702030302020204" pitchFamily="66" charset="0"/>
              </a:rPr>
              <a:t>5. AND A and D because AND takes precedence over OR</a:t>
            </a:r>
          </a:p>
          <a:p>
            <a:pPr marL="914400" lvl="2" indent="0">
              <a:buNone/>
            </a:pPr>
            <a:r>
              <a:rPr lang="en-GB" sz="2600" b="0" i="0" u="none" strike="noStrike" baseline="0" dirty="0">
                <a:latin typeface="Comic Sans MS" panose="030F0702030302020204" pitchFamily="66" charset="0"/>
              </a:rPr>
              <a:t>6. OR the results of steps 4 and 5</a:t>
            </a:r>
            <a:endParaRPr lang="en-GB" sz="2600" dirty="0">
              <a:latin typeface="Comic Sans MS" panose="030F0702030302020204" pitchFamily="66" charset="0"/>
            </a:endParaRPr>
          </a:p>
        </p:txBody>
      </p:sp>
      <p:pic>
        <p:nvPicPr>
          <p:cNvPr id="5" name="Picture 4">
            <a:extLst>
              <a:ext uri="{FF2B5EF4-FFF2-40B4-BE49-F238E27FC236}">
                <a16:creationId xmlns:a16="http://schemas.microsoft.com/office/drawing/2014/main" id="{EE0F048C-5E8D-4979-A71B-3730558F8536}"/>
              </a:ext>
            </a:extLst>
          </p:cNvPr>
          <p:cNvPicPr>
            <a:picLocks noChangeAspect="1"/>
          </p:cNvPicPr>
          <p:nvPr/>
        </p:nvPicPr>
        <p:blipFill>
          <a:blip r:embed="rId2"/>
          <a:stretch>
            <a:fillRect/>
          </a:stretch>
        </p:blipFill>
        <p:spPr>
          <a:xfrm>
            <a:off x="2028031" y="1739307"/>
            <a:ext cx="3801005" cy="924054"/>
          </a:xfrm>
          <a:prstGeom prst="rect">
            <a:avLst/>
          </a:prstGeom>
        </p:spPr>
      </p:pic>
    </p:spTree>
    <p:extLst>
      <p:ext uri="{BB962C8B-B14F-4D97-AF65-F5344CB8AC3E}">
        <p14:creationId xmlns:p14="http://schemas.microsoft.com/office/powerpoint/2010/main" val="1318056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2B4E75-9B7D-4172-A916-FDC231AF430D}"/>
              </a:ext>
            </a:extLst>
          </p:cNvPr>
          <p:cNvSpPr>
            <a:spLocks noGrp="1"/>
          </p:cNvSpPr>
          <p:nvPr>
            <p:ph idx="1"/>
          </p:nvPr>
        </p:nvSpPr>
        <p:spPr>
          <a:xfrm>
            <a:off x="76200" y="84667"/>
            <a:ext cx="11988800" cy="6705600"/>
          </a:xfrm>
        </p:spPr>
        <p:txBody>
          <a:bodyPr/>
          <a:lstStyle/>
          <a:p>
            <a:pPr algn="just"/>
            <a:r>
              <a:rPr lang="en-GB" sz="2400" b="0" i="0" u="none" strike="noStrike" baseline="0" dirty="0">
                <a:latin typeface="Comic Sans MS" panose="030F0702030302020204" pitchFamily="66" charset="0"/>
              </a:rPr>
              <a:t>We can use this order of operations to convert the expression to its schematic representation. </a:t>
            </a:r>
          </a:p>
          <a:p>
            <a:pPr algn="just"/>
            <a:endParaRPr lang="en-GB" sz="100" dirty="0">
              <a:latin typeface="Comic Sans MS" panose="030F0702030302020204" pitchFamily="66" charset="0"/>
            </a:endParaRPr>
          </a:p>
          <a:p>
            <a:pPr algn="just"/>
            <a:r>
              <a:rPr lang="en-GB" sz="2400" b="0" i="0" u="none" strike="noStrike" baseline="0" dirty="0">
                <a:latin typeface="Comic Sans MS" panose="030F0702030302020204" pitchFamily="66" charset="0"/>
              </a:rPr>
              <a:t>By starting with a list of inputs to the circuit, then passing each input through the correct gates, we can develop the circuit. The Figure below does just this for the previous Boolean expression.</a:t>
            </a:r>
          </a:p>
          <a:p>
            <a:pPr algn="just"/>
            <a:endParaRPr lang="en-GB" sz="6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We list the inputs for the expression, A, B, C, and D, on the left side of the figure. These inputs are then passed through the gates using the same order as the steps shown above. </a:t>
            </a:r>
          </a:p>
          <a:p>
            <a:pPr algn="just"/>
            <a:endParaRPr lang="en-GB" sz="600" dirty="0">
              <a:latin typeface="Comic Sans MS" panose="030F0702030302020204" pitchFamily="66" charset="0"/>
            </a:endParaRPr>
          </a:p>
          <a:p>
            <a:pPr algn="just"/>
            <a:r>
              <a:rPr lang="en-GB" sz="2400" b="0" i="0" u="none" strike="noStrike" baseline="0" dirty="0">
                <a:latin typeface="Comic Sans MS" panose="030F0702030302020204" pitchFamily="66" charset="0"/>
              </a:rPr>
              <a:t>The number inside each gate of the figure corresponds to the order of the steps</a:t>
            </a:r>
            <a:r>
              <a:rPr lang="en-GB" sz="1800" b="0" i="0" u="none" strike="noStrike" baseline="0" dirty="0">
                <a:latin typeface="TimesNewRomanPSMT"/>
              </a:rPr>
              <a:t>.</a:t>
            </a:r>
            <a:endParaRPr lang="en-GB" dirty="0"/>
          </a:p>
        </p:txBody>
      </p:sp>
      <p:pic>
        <p:nvPicPr>
          <p:cNvPr id="5" name="Picture 4">
            <a:extLst>
              <a:ext uri="{FF2B5EF4-FFF2-40B4-BE49-F238E27FC236}">
                <a16:creationId xmlns:a16="http://schemas.microsoft.com/office/drawing/2014/main" id="{DF865CFF-DC04-4BB2-B969-6BA8462D2205}"/>
              </a:ext>
            </a:extLst>
          </p:cNvPr>
          <p:cNvPicPr>
            <a:picLocks noChangeAspect="1"/>
          </p:cNvPicPr>
          <p:nvPr/>
        </p:nvPicPr>
        <p:blipFill>
          <a:blip r:embed="rId2"/>
          <a:stretch>
            <a:fillRect/>
          </a:stretch>
        </p:blipFill>
        <p:spPr>
          <a:xfrm>
            <a:off x="2217146" y="4125205"/>
            <a:ext cx="8468907" cy="2553056"/>
          </a:xfrm>
          <a:prstGeom prst="rect">
            <a:avLst/>
          </a:prstGeom>
        </p:spPr>
      </p:pic>
    </p:spTree>
    <p:extLst>
      <p:ext uri="{BB962C8B-B14F-4D97-AF65-F5344CB8AC3E}">
        <p14:creationId xmlns:p14="http://schemas.microsoft.com/office/powerpoint/2010/main" val="3967569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DE3F7-F4DC-4DA9-8209-EE5F9367E7B2}"/>
              </a:ext>
            </a:extLst>
          </p:cNvPr>
          <p:cNvSpPr>
            <a:spLocks noGrp="1"/>
          </p:cNvSpPr>
          <p:nvPr>
            <p:ph idx="1"/>
          </p:nvPr>
        </p:nvSpPr>
        <p:spPr>
          <a:xfrm>
            <a:off x="84667" y="110067"/>
            <a:ext cx="12022666" cy="6688666"/>
          </a:xfrm>
        </p:spPr>
        <p:txBody>
          <a:bodyPr>
            <a:normAutofit/>
          </a:bodyPr>
          <a:lstStyle/>
          <a:p>
            <a:r>
              <a:rPr lang="en-GB" b="1" i="0" u="none" strike="noStrike" baseline="0" dirty="0">
                <a:solidFill>
                  <a:srgbClr val="FF0000"/>
                </a:solidFill>
                <a:latin typeface="Comic Sans MS" panose="030F0702030302020204" pitchFamily="66" charset="0"/>
              </a:rPr>
              <a:t>Laws of Boolean Algebra</a:t>
            </a:r>
            <a:endParaRPr lang="en-FI" b="1" i="0" u="none" strike="noStrike" baseline="0" dirty="0">
              <a:solidFill>
                <a:srgbClr val="FF0000"/>
              </a:solidFill>
              <a:latin typeface="Comic Sans MS" panose="030F0702030302020204" pitchFamily="66" charset="0"/>
            </a:endParaRPr>
          </a:p>
          <a:p>
            <a:pPr algn="just"/>
            <a:r>
              <a:rPr lang="en-GB" sz="2400" b="0" i="0" u="none" strike="noStrike" baseline="0" dirty="0">
                <a:latin typeface="Comic Sans MS" panose="030F0702030302020204" pitchFamily="66" charset="0"/>
              </a:rPr>
              <a:t>The manipulation of algebraic expressions is based on fundamental</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laws. Some of these laws extend to the manipulation of Boolean</a:t>
            </a:r>
            <a:r>
              <a:rPr lang="en-FI" sz="2400" dirty="0">
                <a:latin typeface="Comic Sans MS" panose="030F0702030302020204" pitchFamily="66" charset="0"/>
              </a:rPr>
              <a:t> </a:t>
            </a:r>
            <a:r>
              <a:rPr lang="en-GB" sz="2400" b="0" i="0" u="none" strike="noStrike" baseline="0" dirty="0">
                <a:latin typeface="Comic Sans MS" panose="030F0702030302020204" pitchFamily="66" charset="0"/>
              </a:rPr>
              <a:t>expressions. </a:t>
            </a:r>
            <a:endParaRPr lang="en-FI" sz="2400" b="0" i="0" u="none" strike="noStrike" baseline="0" dirty="0">
              <a:latin typeface="Comic Sans MS" panose="030F0702030302020204" pitchFamily="66" charset="0"/>
            </a:endParaRPr>
          </a:p>
          <a:p>
            <a:pPr algn="just"/>
            <a:endParaRPr lang="en-FI"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For example, </a:t>
            </a:r>
            <a:r>
              <a:rPr lang="en-GB" sz="2400" b="0" i="0" u="none" strike="noStrike" baseline="0" dirty="0">
                <a:solidFill>
                  <a:srgbClr val="FF0000"/>
                </a:solidFill>
                <a:latin typeface="Comic Sans MS" panose="030F0702030302020204" pitchFamily="66" charset="0"/>
              </a:rPr>
              <a:t>the commutative law </a:t>
            </a:r>
            <a:r>
              <a:rPr lang="en-GB" sz="2400" b="0" i="0" u="none" strike="noStrike" baseline="0" dirty="0">
                <a:latin typeface="Comic Sans MS" panose="030F0702030302020204" pitchFamily="66" charset="0"/>
              </a:rPr>
              <a:t>of algebra which states</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that the result of an operation is the same </a:t>
            </a:r>
            <a:r>
              <a:rPr lang="en-GB" sz="2400" b="0" i="0" u="none" strike="noStrike" baseline="0" dirty="0">
                <a:solidFill>
                  <a:srgbClr val="FF0000"/>
                </a:solidFill>
                <a:latin typeface="Comic Sans MS" panose="030F0702030302020204" pitchFamily="66" charset="0"/>
              </a:rPr>
              <a:t>regardless of the order of</a:t>
            </a:r>
            <a:r>
              <a:rPr lang="en-FI" sz="2400" b="0" i="0" u="none" strike="noStrike" baseline="0" dirty="0">
                <a:solidFill>
                  <a:srgbClr val="FF0000"/>
                </a:solidFill>
                <a:latin typeface="Comic Sans MS" panose="030F0702030302020204" pitchFamily="66" charset="0"/>
              </a:rPr>
              <a:t> </a:t>
            </a:r>
            <a:r>
              <a:rPr lang="en-GB" sz="2400" b="0" i="0" u="none" strike="noStrike" baseline="0" dirty="0">
                <a:solidFill>
                  <a:srgbClr val="FF0000"/>
                </a:solidFill>
                <a:latin typeface="Comic Sans MS" panose="030F0702030302020204" pitchFamily="66" charset="0"/>
              </a:rPr>
              <a:t>operands</a:t>
            </a:r>
            <a:r>
              <a:rPr lang="en-GB" sz="2400" b="0" i="0" u="none" strike="noStrike" baseline="0" dirty="0">
                <a:latin typeface="Comic Sans MS" panose="030F0702030302020204" pitchFamily="66" charset="0"/>
              </a:rPr>
              <a:t> holds true for Boolean algebra too. </a:t>
            </a:r>
            <a:endParaRPr lang="en-FI" sz="2400" b="0" i="0" u="none" strike="noStrike" baseline="0" dirty="0">
              <a:latin typeface="Comic Sans MS" panose="030F0702030302020204" pitchFamily="66" charset="0"/>
            </a:endParaRPr>
          </a:p>
          <a:p>
            <a:pPr algn="just"/>
            <a:endParaRPr lang="en-FI"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This is shown for the OR</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function applied to two variables in the truth tables </a:t>
            </a:r>
            <a:r>
              <a:rPr lang="en-FI" sz="2400" dirty="0">
                <a:latin typeface="Comic Sans MS" panose="030F0702030302020204" pitchFamily="66" charset="0"/>
              </a:rPr>
              <a:t>below</a:t>
            </a:r>
          </a:p>
          <a:p>
            <a:pPr algn="just"/>
            <a:endParaRPr lang="en-GB" sz="4800" dirty="0">
              <a:solidFill>
                <a:srgbClr val="FF0000"/>
              </a:solidFill>
              <a:latin typeface="Comic Sans MS" panose="030F0702030302020204" pitchFamily="66" charset="0"/>
            </a:endParaRPr>
          </a:p>
        </p:txBody>
      </p:sp>
      <p:pic>
        <p:nvPicPr>
          <p:cNvPr id="4" name="Picture 3">
            <a:extLst>
              <a:ext uri="{FF2B5EF4-FFF2-40B4-BE49-F238E27FC236}">
                <a16:creationId xmlns:a16="http://schemas.microsoft.com/office/drawing/2014/main" id="{A8A7F480-6C82-490F-A28A-534A4A2EA325}"/>
              </a:ext>
            </a:extLst>
          </p:cNvPr>
          <p:cNvPicPr>
            <a:picLocks noChangeAspect="1"/>
          </p:cNvPicPr>
          <p:nvPr/>
        </p:nvPicPr>
        <p:blipFill>
          <a:blip r:embed="rId2"/>
          <a:stretch>
            <a:fillRect/>
          </a:stretch>
        </p:blipFill>
        <p:spPr>
          <a:xfrm>
            <a:off x="2111702" y="4385606"/>
            <a:ext cx="2905530" cy="1800476"/>
          </a:xfrm>
          <a:prstGeom prst="rect">
            <a:avLst/>
          </a:prstGeom>
        </p:spPr>
      </p:pic>
      <p:pic>
        <p:nvPicPr>
          <p:cNvPr id="6" name="Picture 5">
            <a:extLst>
              <a:ext uri="{FF2B5EF4-FFF2-40B4-BE49-F238E27FC236}">
                <a16:creationId xmlns:a16="http://schemas.microsoft.com/office/drawing/2014/main" id="{AA215076-D1A8-4712-B6D7-30DB430291A3}"/>
              </a:ext>
            </a:extLst>
          </p:cNvPr>
          <p:cNvPicPr>
            <a:picLocks noChangeAspect="1"/>
          </p:cNvPicPr>
          <p:nvPr/>
        </p:nvPicPr>
        <p:blipFill>
          <a:blip r:embed="rId3"/>
          <a:stretch>
            <a:fillRect/>
          </a:stretch>
        </p:blipFill>
        <p:spPr>
          <a:xfrm>
            <a:off x="7174770" y="4524251"/>
            <a:ext cx="2800741" cy="1771897"/>
          </a:xfrm>
          <a:prstGeom prst="rect">
            <a:avLst/>
          </a:prstGeom>
        </p:spPr>
      </p:pic>
    </p:spTree>
    <p:extLst>
      <p:ext uri="{BB962C8B-B14F-4D97-AF65-F5344CB8AC3E}">
        <p14:creationId xmlns:p14="http://schemas.microsoft.com/office/powerpoint/2010/main" val="91201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2639F-E859-460C-AA53-993C85B251E7}"/>
              </a:ext>
            </a:extLst>
          </p:cNvPr>
          <p:cNvSpPr>
            <a:spLocks noGrp="1"/>
          </p:cNvSpPr>
          <p:nvPr>
            <p:ph idx="1"/>
          </p:nvPr>
        </p:nvSpPr>
        <p:spPr>
          <a:xfrm>
            <a:off x="101600" y="101600"/>
            <a:ext cx="11912600" cy="6646333"/>
          </a:xfrm>
        </p:spPr>
        <p:txBody>
          <a:bodyPr>
            <a:normAutofit/>
          </a:bodyPr>
          <a:lstStyle/>
          <a:p>
            <a:pPr algn="just"/>
            <a:r>
              <a:rPr lang="en-GB" sz="2400" b="0" i="0" u="none" strike="noStrike" baseline="0" dirty="0">
                <a:latin typeface="Comic Sans MS" panose="030F0702030302020204" pitchFamily="66" charset="0"/>
              </a:rPr>
              <a:t>Not only does Figure</a:t>
            </a:r>
            <a:r>
              <a:rPr lang="en-FI" sz="2400" b="0" i="0" u="none" strike="noStrike" baseline="0" dirty="0">
                <a:latin typeface="Comic Sans MS" panose="030F0702030302020204" pitchFamily="66" charset="0"/>
              </a:rPr>
              <a:t> above</a:t>
            </a:r>
            <a:r>
              <a:rPr lang="en-GB" sz="2400" b="0" i="0" u="none" strike="noStrike" baseline="0" dirty="0">
                <a:latin typeface="Comic Sans MS" panose="030F0702030302020204" pitchFamily="66" charset="0"/>
              </a:rPr>
              <a:t> show how the commutative law applies</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to the OR function, it also shows how truth tables can be used in</a:t>
            </a:r>
            <a:r>
              <a:rPr lang="en-FI" sz="2400" b="0" i="0" u="none" strike="noStrike" baseline="0" dirty="0">
                <a:latin typeface="Comic Sans MS" panose="030F0702030302020204" pitchFamily="66" charset="0"/>
              </a:rPr>
              <a:t> </a:t>
            </a:r>
            <a:r>
              <a:rPr lang="en-GB" sz="2400" b="0" i="0" u="none" strike="noStrike" baseline="0" dirty="0" err="1">
                <a:latin typeface="Comic Sans MS" panose="030F0702030302020204" pitchFamily="66" charset="0"/>
              </a:rPr>
              <a:t>boolean</a:t>
            </a:r>
            <a:r>
              <a:rPr lang="en-GB" sz="2400" b="0" i="0" u="none" strike="noStrike" baseline="0" dirty="0">
                <a:latin typeface="Comic Sans MS" panose="030F0702030302020204" pitchFamily="66" charset="0"/>
              </a:rPr>
              <a:t> algebra to prove laws and rules. </a:t>
            </a:r>
            <a:endParaRPr lang="en-FI" sz="2400" b="0" i="0" u="none" strike="noStrike" baseline="0" dirty="0">
              <a:latin typeface="Comic Sans MS" panose="030F0702030302020204" pitchFamily="66" charset="0"/>
            </a:endParaRPr>
          </a:p>
          <a:p>
            <a:pPr algn="just"/>
            <a:endParaRPr lang="en-FI"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If a rule states that two</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Boolean expressions are equal, then by developing the truth table for</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each expression and showing that the output is equal for all</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combinations of ones and zeros at the input, then the rule is proven</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true.</a:t>
            </a:r>
            <a:endParaRPr lang="en-FI" sz="2400" b="0" i="0" u="none" strike="noStrike" baseline="0" dirty="0">
              <a:latin typeface="Comic Sans MS" panose="030F0702030302020204" pitchFamily="66" charset="0"/>
            </a:endParaRPr>
          </a:p>
          <a:p>
            <a:pPr marL="0" indent="0" algn="just">
              <a:buNone/>
            </a:pPr>
            <a:endParaRPr lang="en-GB"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Below, the three fundamental laws of Boolean algebra are given</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along with examples.</a:t>
            </a:r>
            <a:endParaRPr lang="en-GB" sz="3600" dirty="0">
              <a:latin typeface="Comic Sans MS" panose="030F0702030302020204" pitchFamily="66" charset="0"/>
            </a:endParaRPr>
          </a:p>
        </p:txBody>
      </p:sp>
    </p:spTree>
    <p:extLst>
      <p:ext uri="{BB962C8B-B14F-4D97-AF65-F5344CB8AC3E}">
        <p14:creationId xmlns:p14="http://schemas.microsoft.com/office/powerpoint/2010/main" val="4210823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A181B5-9CBE-4C11-A3C4-8DEC1EE0D1CC}"/>
              </a:ext>
            </a:extLst>
          </p:cNvPr>
          <p:cNvSpPr>
            <a:spLocks noGrp="1"/>
          </p:cNvSpPr>
          <p:nvPr>
            <p:ph idx="1"/>
          </p:nvPr>
        </p:nvSpPr>
        <p:spPr>
          <a:xfrm>
            <a:off x="0" y="0"/>
            <a:ext cx="12192000" cy="6858000"/>
          </a:xfrm>
        </p:spPr>
        <p:txBody>
          <a:bodyPr>
            <a:normAutofit lnSpcReduction="10000"/>
          </a:bodyPr>
          <a:lstStyle/>
          <a:p>
            <a:pPr marL="0" indent="0" algn="l">
              <a:buNone/>
            </a:pPr>
            <a:r>
              <a:rPr lang="en-GB" sz="2400" b="1" i="1" u="none" strike="noStrike" baseline="0" dirty="0">
                <a:solidFill>
                  <a:srgbClr val="FF0000"/>
                </a:solidFill>
                <a:latin typeface="Comic Sans MS" panose="030F0702030302020204" pitchFamily="66" charset="0"/>
              </a:rPr>
              <a:t>Commutative Law</a:t>
            </a:r>
            <a:r>
              <a:rPr lang="en-GB" sz="2400" b="1" i="1"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The results of the </a:t>
            </a:r>
            <a:r>
              <a:rPr lang="en-GB" sz="2400" b="0" i="0" u="none" strike="noStrike" baseline="0" dirty="0" err="1">
                <a:latin typeface="Comic Sans MS" panose="030F0702030302020204" pitchFamily="66" charset="0"/>
              </a:rPr>
              <a:t>boolean</a:t>
            </a:r>
            <a:r>
              <a:rPr lang="en-GB" sz="2400" b="0" i="0" u="none" strike="noStrike" baseline="0" dirty="0">
                <a:latin typeface="Comic Sans MS" panose="030F0702030302020204" pitchFamily="66" charset="0"/>
              </a:rPr>
              <a:t> operations AND </a:t>
            </a:r>
            <a:r>
              <a:rPr lang="en-GB" sz="2400" b="0" i="0" u="none" strike="noStrike" baseline="0" dirty="0" err="1">
                <a:latin typeface="Comic Sans MS" panose="030F0702030302020204" pitchFamily="66" charset="0"/>
              </a:rPr>
              <a:t>and</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OR are the same regardless of the order of their operands.</a:t>
            </a:r>
          </a:p>
          <a:p>
            <a:pPr marL="2286000" lvl="5" indent="0">
              <a:buNone/>
            </a:pPr>
            <a:r>
              <a:rPr lang="en-GB" sz="2400" b="0" i="0" u="none" strike="noStrike" baseline="0" dirty="0">
                <a:latin typeface="Comic Sans MS" panose="030F0702030302020204" pitchFamily="66" charset="0"/>
              </a:rPr>
              <a:t>A + B = B + A</a:t>
            </a:r>
          </a:p>
          <a:p>
            <a:pPr marL="2286000" lvl="5" indent="0">
              <a:buNone/>
            </a:pPr>
            <a:r>
              <a:rPr lang="en-GB" sz="2400" b="0" i="0" u="none" strike="noStrike" baseline="0" dirty="0">
                <a:latin typeface="Comic Sans MS" panose="030F0702030302020204" pitchFamily="66" charset="0"/>
              </a:rPr>
              <a:t>A · B = B · A</a:t>
            </a:r>
            <a:endParaRPr lang="en-FI" sz="2400" b="0" i="0" u="none" strike="noStrike" baseline="0" dirty="0">
              <a:latin typeface="Comic Sans MS" panose="030F0702030302020204" pitchFamily="66" charset="0"/>
            </a:endParaRPr>
          </a:p>
          <a:p>
            <a:pPr marL="2286000" lvl="5" indent="0">
              <a:buNone/>
            </a:pPr>
            <a:endParaRPr lang="en-GB" sz="2400" b="0" i="0" u="none" strike="noStrike" baseline="0" dirty="0">
              <a:latin typeface="Comic Sans MS" panose="030F0702030302020204" pitchFamily="66" charset="0"/>
            </a:endParaRPr>
          </a:p>
          <a:p>
            <a:pPr marL="0" indent="0" algn="l">
              <a:buNone/>
            </a:pPr>
            <a:r>
              <a:rPr lang="en-GB" sz="2400" b="1" i="1" u="none" strike="noStrike" baseline="0" dirty="0">
                <a:solidFill>
                  <a:srgbClr val="FF0000"/>
                </a:solidFill>
                <a:latin typeface="Comic Sans MS" panose="030F0702030302020204" pitchFamily="66" charset="0"/>
              </a:rPr>
              <a:t>Associative Law</a:t>
            </a:r>
            <a:r>
              <a:rPr lang="en-GB" sz="2400" b="1" i="1"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The results of the Boolean operations AND </a:t>
            </a:r>
            <a:r>
              <a:rPr lang="en-GB" sz="2400" b="0" i="0" u="none" strike="noStrike" baseline="0" dirty="0" err="1">
                <a:latin typeface="Comic Sans MS" panose="030F0702030302020204" pitchFamily="66" charset="0"/>
              </a:rPr>
              <a:t>and</a:t>
            </a:r>
            <a:r>
              <a:rPr lang="en-GB" sz="2400" b="0" i="0" u="none" strike="noStrike" baseline="0" dirty="0">
                <a:latin typeface="Comic Sans MS" panose="030F0702030302020204" pitchFamily="66" charset="0"/>
              </a:rPr>
              <a:t> OR</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with three or more operands are the same regardless of which pair of</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elements are operated on first.</a:t>
            </a:r>
            <a:endParaRPr lang="en-FI" sz="2400" b="0" i="0" u="none" strike="noStrike" baseline="0" dirty="0">
              <a:latin typeface="Comic Sans MS" panose="030F0702030302020204" pitchFamily="66" charset="0"/>
            </a:endParaRPr>
          </a:p>
          <a:p>
            <a:pPr marL="2286000" lvl="5" indent="0">
              <a:buNone/>
            </a:pPr>
            <a:r>
              <a:rPr lang="pt-BR" sz="2400" b="0" i="0" u="none" strike="noStrike" baseline="0" dirty="0">
                <a:latin typeface="Comic Sans MS" panose="030F0702030302020204" pitchFamily="66" charset="0"/>
              </a:rPr>
              <a:t>A + (B + C) = (A + B) + C</a:t>
            </a:r>
          </a:p>
          <a:p>
            <a:pPr marL="2286000" lvl="5" indent="0">
              <a:buNone/>
            </a:pPr>
            <a:r>
              <a:rPr lang="pt-BR" sz="2400" b="0" i="0" u="none" strike="noStrike" baseline="0" dirty="0">
                <a:latin typeface="Comic Sans MS" panose="030F0702030302020204" pitchFamily="66" charset="0"/>
              </a:rPr>
              <a:t>A · (B · C) = (A · B) · C</a:t>
            </a:r>
            <a:endParaRPr lang="en-FI" sz="2400" b="0" i="0" u="none" strike="noStrike" baseline="0" dirty="0">
              <a:latin typeface="Comic Sans MS" panose="030F0702030302020204" pitchFamily="66" charset="0"/>
            </a:endParaRPr>
          </a:p>
          <a:p>
            <a:pPr marL="2286000" lvl="5" indent="0">
              <a:buNone/>
            </a:pPr>
            <a:endParaRPr lang="pt-BR" sz="2400" b="0" i="0" u="none" strike="noStrike" baseline="0" dirty="0">
              <a:latin typeface="Comic Sans MS" panose="030F0702030302020204" pitchFamily="66" charset="0"/>
            </a:endParaRPr>
          </a:p>
          <a:p>
            <a:pPr marL="0" indent="0" algn="l">
              <a:buNone/>
            </a:pPr>
            <a:r>
              <a:rPr lang="en-GB" sz="2400" b="1" i="1" u="none" strike="noStrike" baseline="0" dirty="0">
                <a:solidFill>
                  <a:srgbClr val="FF0000"/>
                </a:solidFill>
                <a:latin typeface="Comic Sans MS" panose="030F0702030302020204" pitchFamily="66" charset="0"/>
              </a:rPr>
              <a:t>Distributive Law</a:t>
            </a:r>
            <a:r>
              <a:rPr lang="en-GB" sz="2400" b="1" i="1"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The </a:t>
            </a:r>
            <a:r>
              <a:rPr lang="en-GB" sz="2400" b="0" i="0" u="none" strike="noStrike" baseline="0" dirty="0" err="1">
                <a:latin typeface="Comic Sans MS" panose="030F0702030302020204" pitchFamily="66" charset="0"/>
              </a:rPr>
              <a:t>AND'ing</a:t>
            </a:r>
            <a:r>
              <a:rPr lang="en-GB" sz="2400" b="0" i="0" u="none" strike="noStrike" baseline="0" dirty="0">
                <a:latin typeface="Comic Sans MS" panose="030F0702030302020204" pitchFamily="66" charset="0"/>
              </a:rPr>
              <a:t> of an operand with an OR expression</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is equivalent to </a:t>
            </a:r>
            <a:r>
              <a:rPr lang="en-GB" sz="2400" b="0" i="0" u="none" strike="noStrike" baseline="0" dirty="0" err="1">
                <a:latin typeface="Comic Sans MS" panose="030F0702030302020204" pitchFamily="66" charset="0"/>
              </a:rPr>
              <a:t>OR'ing</a:t>
            </a:r>
            <a:r>
              <a:rPr lang="en-GB" sz="2400" b="0" i="0" u="none" strike="noStrike" baseline="0" dirty="0">
                <a:latin typeface="Comic Sans MS" panose="030F0702030302020204" pitchFamily="66" charset="0"/>
              </a:rPr>
              <a:t> the results of an AND between the first operand</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and each operand within the OR expression.</a:t>
            </a:r>
          </a:p>
          <a:p>
            <a:pPr marL="2286000" lvl="5" indent="0">
              <a:buNone/>
            </a:pPr>
            <a:endParaRPr lang="en-FI" sz="2400" b="0" i="0" u="none" strike="noStrike" baseline="0" dirty="0">
              <a:latin typeface="Comic Sans MS" panose="030F0702030302020204" pitchFamily="66" charset="0"/>
            </a:endParaRPr>
          </a:p>
          <a:p>
            <a:pPr marL="2286000" lvl="5" indent="0">
              <a:buNone/>
            </a:pPr>
            <a:r>
              <a:rPr lang="pt-BR" sz="2400" b="0" i="0" u="none" strike="noStrike" baseline="0" dirty="0">
                <a:latin typeface="Comic Sans MS" panose="030F0702030302020204" pitchFamily="66" charset="0"/>
              </a:rPr>
              <a:t>A · (B + C) = A · B + A · C</a:t>
            </a:r>
            <a:endParaRPr lang="en-FI" sz="2400" b="0" i="0" u="none" strike="noStrike" baseline="0" dirty="0">
              <a:latin typeface="Comic Sans MS" panose="030F0702030302020204" pitchFamily="66" charset="0"/>
            </a:endParaRPr>
          </a:p>
          <a:p>
            <a:pPr marL="2286000" lvl="5" indent="0">
              <a:buNone/>
            </a:pPr>
            <a:endParaRPr lang="en-FI" sz="2400" b="0" i="0" u="none" strike="noStrike" baseline="0" dirty="0">
              <a:latin typeface="Comic Sans MS" panose="030F0702030302020204" pitchFamily="66" charset="0"/>
            </a:endParaRPr>
          </a:p>
          <a:p>
            <a:pPr algn="just"/>
            <a:r>
              <a:rPr lang="en-GB" sz="2400" b="0" i="0" u="none" strike="noStrike" baseline="0" dirty="0">
                <a:solidFill>
                  <a:srgbClr val="FF0000"/>
                </a:solidFill>
                <a:latin typeface="Comic Sans MS" panose="030F0702030302020204" pitchFamily="66" charset="0"/>
              </a:rPr>
              <a:t>The next section uses truth tables and laws to prove twelve rules of</a:t>
            </a:r>
            <a:r>
              <a:rPr lang="en-FI" sz="2400" b="0" i="0" u="none" strike="noStrike" baseline="0" dirty="0">
                <a:solidFill>
                  <a:srgbClr val="FF0000"/>
                </a:solidFill>
                <a:latin typeface="Comic Sans MS" panose="030F0702030302020204" pitchFamily="66" charset="0"/>
              </a:rPr>
              <a:t> </a:t>
            </a:r>
            <a:r>
              <a:rPr lang="en-GB" sz="2400" b="0" i="0" u="none" strike="noStrike" baseline="0" dirty="0">
                <a:solidFill>
                  <a:srgbClr val="FF0000"/>
                </a:solidFill>
                <a:latin typeface="Comic Sans MS" panose="030F0702030302020204" pitchFamily="66" charset="0"/>
              </a:rPr>
              <a:t>Boolean</a:t>
            </a:r>
            <a:r>
              <a:rPr lang="en-FI" sz="2400" dirty="0">
                <a:solidFill>
                  <a:srgbClr val="FF0000"/>
                </a:solidFill>
                <a:latin typeface="Comic Sans MS" panose="030F0702030302020204" pitchFamily="66" charset="0"/>
              </a:rPr>
              <a:t> </a:t>
            </a:r>
            <a:r>
              <a:rPr lang="en-GB" sz="2400" b="0" i="0" u="none" strike="noStrike" baseline="0" dirty="0">
                <a:solidFill>
                  <a:srgbClr val="FF0000"/>
                </a:solidFill>
                <a:latin typeface="Comic Sans MS" panose="030F0702030302020204" pitchFamily="66" charset="0"/>
              </a:rPr>
              <a:t>algebra.</a:t>
            </a:r>
            <a:endParaRPr lang="en-FI" sz="3200" b="0" i="0" u="none" strike="noStrike" baseline="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889125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615D175-8E56-4163-86CC-CFA99288D051}"/>
              </a:ext>
            </a:extLst>
          </p:cNvPr>
          <p:cNvSpPr>
            <a:spLocks noGrp="1"/>
          </p:cNvSpPr>
          <p:nvPr>
            <p:ph sz="half" idx="1"/>
          </p:nvPr>
        </p:nvSpPr>
        <p:spPr>
          <a:xfrm>
            <a:off x="84667" y="110067"/>
            <a:ext cx="5935133" cy="6654800"/>
          </a:xfrm>
        </p:spPr>
        <p:txBody>
          <a:bodyPr>
            <a:normAutofit lnSpcReduction="10000"/>
          </a:bodyPr>
          <a:lstStyle/>
          <a:p>
            <a:pPr algn="just"/>
            <a:r>
              <a:rPr lang="en-GB" sz="2400" b="1" i="0" u="none" strike="noStrike" baseline="0" dirty="0">
                <a:solidFill>
                  <a:srgbClr val="FF0000"/>
                </a:solidFill>
                <a:latin typeface="Comic Sans MS" panose="030F0702030302020204" pitchFamily="66" charset="0"/>
              </a:rPr>
              <a:t>Rules of Boolean Algebra</a:t>
            </a:r>
            <a:endParaRPr lang="en-FI" sz="2400" b="1" i="0" u="none" strike="noStrike" baseline="0" dirty="0">
              <a:solidFill>
                <a:srgbClr val="FF0000"/>
              </a:solidFill>
              <a:latin typeface="Comic Sans MS" panose="030F0702030302020204" pitchFamily="66" charset="0"/>
            </a:endParaRPr>
          </a:p>
          <a:p>
            <a:pPr marL="0" indent="0" algn="just">
              <a:buNone/>
            </a:pPr>
            <a:r>
              <a:rPr lang="en-GB" sz="2400" b="1" i="1" u="none" strike="noStrike" baseline="0" dirty="0">
                <a:solidFill>
                  <a:srgbClr val="FF0000"/>
                </a:solidFill>
                <a:latin typeface="Comic Sans MS" panose="030F0702030302020204" pitchFamily="66" charset="0"/>
              </a:rPr>
              <a:t>NOT Rule</a:t>
            </a:r>
          </a:p>
          <a:p>
            <a:pPr algn="just"/>
            <a:r>
              <a:rPr lang="en-GB" sz="2200" b="0" i="0" u="none" strike="noStrike" baseline="0" dirty="0">
                <a:latin typeface="Comic Sans MS" panose="030F0702030302020204" pitchFamily="66" charset="0"/>
              </a:rPr>
              <a:t>In algebra, the negative of a negative is a positive and taking the</a:t>
            </a:r>
            <a:r>
              <a:rPr lang="en-FI" sz="2200" b="0" i="0" u="none" strike="noStrike" baseline="0" dirty="0">
                <a:latin typeface="Comic Sans MS" panose="030F0702030302020204" pitchFamily="66" charset="0"/>
              </a:rPr>
              <a:t> </a:t>
            </a:r>
            <a:r>
              <a:rPr lang="en-GB" sz="2200" b="0" i="0" u="none" strike="noStrike" baseline="0" dirty="0">
                <a:latin typeface="Comic Sans MS" panose="030F0702030302020204" pitchFamily="66" charset="0"/>
              </a:rPr>
              <a:t>inverse of an inverse returns the original value. </a:t>
            </a:r>
            <a:endParaRPr lang="en-FI" sz="1900" b="0" i="0" u="none" strike="noStrike" baseline="0" dirty="0">
              <a:latin typeface="Comic Sans MS" panose="030F0702030302020204" pitchFamily="66" charset="0"/>
            </a:endParaRPr>
          </a:p>
          <a:p>
            <a:pPr algn="just"/>
            <a:r>
              <a:rPr lang="en-GB" sz="2200" b="0" i="0" u="none" strike="noStrike" baseline="0" dirty="0">
                <a:latin typeface="Comic Sans MS" panose="030F0702030302020204" pitchFamily="66" charset="0"/>
              </a:rPr>
              <a:t>Although the NOT gate</a:t>
            </a:r>
            <a:r>
              <a:rPr lang="en-FI" sz="2200" b="0" i="0" u="none" strike="noStrike" baseline="0" dirty="0">
                <a:latin typeface="Comic Sans MS" panose="030F0702030302020204" pitchFamily="66" charset="0"/>
              </a:rPr>
              <a:t> </a:t>
            </a:r>
            <a:r>
              <a:rPr lang="en-GB" sz="2200" b="0" i="0" u="none" strike="noStrike" baseline="0" dirty="0">
                <a:latin typeface="Comic Sans MS" panose="030F0702030302020204" pitchFamily="66" charset="0"/>
              </a:rPr>
              <a:t>does not have an equivalent in mathematical algebra, it operates in a</a:t>
            </a:r>
            <a:r>
              <a:rPr lang="en-FI" sz="2200" b="0" i="0" u="none" strike="noStrike" baseline="0" dirty="0">
                <a:latin typeface="Comic Sans MS" panose="030F0702030302020204" pitchFamily="66" charset="0"/>
              </a:rPr>
              <a:t> </a:t>
            </a:r>
            <a:r>
              <a:rPr lang="en-GB" sz="2200" b="0" i="0" u="none" strike="noStrike" baseline="0" dirty="0">
                <a:latin typeface="Comic Sans MS" panose="030F0702030302020204" pitchFamily="66" charset="0"/>
              </a:rPr>
              <a:t>similar manner. </a:t>
            </a:r>
            <a:endParaRPr lang="en-FI" sz="2200" b="0" i="0" u="none" strike="noStrike" baseline="0" dirty="0">
              <a:latin typeface="Comic Sans MS" panose="030F0702030302020204" pitchFamily="66" charset="0"/>
            </a:endParaRPr>
          </a:p>
          <a:p>
            <a:pPr algn="just"/>
            <a:endParaRPr lang="en-FI" sz="500" dirty="0">
              <a:latin typeface="Comic Sans MS" panose="030F0702030302020204" pitchFamily="66" charset="0"/>
            </a:endParaRPr>
          </a:p>
          <a:p>
            <a:pPr algn="just"/>
            <a:r>
              <a:rPr lang="en-GB" sz="2200" b="0" i="0" u="none" strike="noStrike" baseline="0" dirty="0">
                <a:latin typeface="Comic Sans MS" panose="030F0702030302020204" pitchFamily="66" charset="0"/>
              </a:rPr>
              <a:t>If the Boolean inverse of a Boolean inverse is taken, the</a:t>
            </a:r>
            <a:r>
              <a:rPr lang="en-FI" sz="2200" b="0" i="0" u="none" strike="noStrike" baseline="0" dirty="0">
                <a:latin typeface="Comic Sans MS" panose="030F0702030302020204" pitchFamily="66" charset="0"/>
              </a:rPr>
              <a:t> </a:t>
            </a:r>
            <a:r>
              <a:rPr lang="en-GB" sz="2200" b="0" i="0" u="none" strike="noStrike" baseline="0" dirty="0">
                <a:latin typeface="Comic Sans MS" panose="030F0702030302020204" pitchFamily="66" charset="0"/>
              </a:rPr>
              <a:t>original value results.</a:t>
            </a:r>
            <a:endParaRPr lang="en-FI" sz="2200" dirty="0">
              <a:latin typeface="Comic Sans MS" panose="030F0702030302020204" pitchFamily="66" charset="0"/>
            </a:endParaRPr>
          </a:p>
          <a:p>
            <a:pPr marL="0" indent="0" algn="just">
              <a:buNone/>
            </a:pPr>
            <a:r>
              <a:rPr lang="en-GB" sz="2000" dirty="0">
                <a:latin typeface="Comic Sans MS" panose="030F0702030302020204" pitchFamily="66" charset="0"/>
              </a:rPr>
              <a:t>                     </a:t>
            </a:r>
          </a:p>
          <a:p>
            <a:pPr marL="0" indent="0" algn="just">
              <a:buNone/>
            </a:pPr>
            <a:r>
              <a:rPr lang="en-GB" sz="2000" dirty="0">
                <a:latin typeface="Comic Sans MS" panose="030F0702030302020204" pitchFamily="66" charset="0"/>
              </a:rPr>
              <a:t>              This is proven with a </a:t>
            </a:r>
          </a:p>
          <a:p>
            <a:pPr marL="0" indent="0" algn="just">
              <a:buNone/>
            </a:pPr>
            <a:r>
              <a:rPr lang="en-GB" sz="2000" dirty="0">
                <a:latin typeface="Comic Sans MS" panose="030F0702030302020204" pitchFamily="66" charset="0"/>
              </a:rPr>
              <a:t>                 truth table</a:t>
            </a:r>
          </a:p>
          <a:p>
            <a:pPr algn="l"/>
            <a:endParaRPr lang="en-GB" sz="100" b="0" i="0" u="none" strike="noStrike" baseline="0" dirty="0">
              <a:latin typeface="TimesNewRomanPSMT"/>
            </a:endParaRPr>
          </a:p>
          <a:p>
            <a:pPr algn="just"/>
            <a:r>
              <a:rPr lang="en-GB" sz="2200" b="0" i="0" u="none" strike="noStrike" baseline="0" dirty="0">
                <a:latin typeface="Comic Sans MS" panose="030F0702030302020204" pitchFamily="66" charset="0"/>
              </a:rPr>
              <a:t>Since the first column and the third column have the same pattern of ones and zeros, they must be equivalent. Then follow Figure shows this rule in schematic form.</a:t>
            </a:r>
            <a:endParaRPr lang="en-FI" sz="4300" dirty="0">
              <a:latin typeface="Comic Sans MS" panose="030F0702030302020204" pitchFamily="66" charset="0"/>
            </a:endParaRPr>
          </a:p>
        </p:txBody>
      </p:sp>
      <p:sp>
        <p:nvSpPr>
          <p:cNvPr id="6" name="Content Placeholder 5">
            <a:extLst>
              <a:ext uri="{FF2B5EF4-FFF2-40B4-BE49-F238E27FC236}">
                <a16:creationId xmlns:a16="http://schemas.microsoft.com/office/drawing/2014/main" id="{2CD92AAB-4E9A-4CE3-A795-481EA3AABE5F}"/>
              </a:ext>
            </a:extLst>
          </p:cNvPr>
          <p:cNvSpPr>
            <a:spLocks noGrp="1"/>
          </p:cNvSpPr>
          <p:nvPr>
            <p:ph sz="half" idx="2"/>
          </p:nvPr>
        </p:nvSpPr>
        <p:spPr>
          <a:xfrm>
            <a:off x="6172199" y="110066"/>
            <a:ext cx="5935133" cy="6747933"/>
          </a:xfrm>
        </p:spPr>
        <p:txBody>
          <a:bodyPr>
            <a:normAutofit lnSpcReduction="10000"/>
          </a:bodyPr>
          <a:lstStyle/>
          <a:p>
            <a:pPr algn="just"/>
            <a:r>
              <a:rPr lang="en-GB" sz="2400" b="1" i="1" u="none" strike="noStrike" baseline="0" dirty="0">
                <a:solidFill>
                  <a:srgbClr val="FF0000"/>
                </a:solidFill>
                <a:latin typeface="Comic Sans MS" panose="030F0702030302020204" pitchFamily="66" charset="0"/>
              </a:rPr>
              <a:t>OR Rules</a:t>
            </a:r>
          </a:p>
          <a:p>
            <a:pPr algn="just"/>
            <a:r>
              <a:rPr lang="en-GB" sz="2000" b="0" i="0" u="none" strike="noStrike" baseline="0" dirty="0">
                <a:latin typeface="Comic Sans MS" panose="030F0702030302020204" pitchFamily="66" charset="0"/>
              </a:rPr>
              <a:t>If an input to a logic gate is a constant 0 or 1 or if the same signal is connected to more than one input of a gate, a simplification of the expression is almost always possible. </a:t>
            </a:r>
          </a:p>
          <a:p>
            <a:pPr algn="just"/>
            <a:endParaRPr lang="en-GB" sz="2000" dirty="0">
              <a:latin typeface="Comic Sans MS" panose="030F0702030302020204" pitchFamily="66" charset="0"/>
            </a:endParaRPr>
          </a:p>
          <a:p>
            <a:pPr algn="just"/>
            <a:r>
              <a:rPr lang="en-GB" sz="2000" b="0" i="0" u="none" strike="noStrike" baseline="0" dirty="0">
                <a:latin typeface="Comic Sans MS" panose="030F0702030302020204" pitchFamily="66" charset="0"/>
              </a:rPr>
              <a:t>This is true for the OR gate as is shown with the following four rules for simplifying the OR function.</a:t>
            </a:r>
          </a:p>
          <a:p>
            <a:pPr algn="just"/>
            <a:r>
              <a:rPr lang="en-GB" sz="2000" b="0" i="0" u="none" strike="noStrike" baseline="0" dirty="0">
                <a:latin typeface="Comic Sans MS" panose="030F0702030302020204" pitchFamily="66" charset="0"/>
              </a:rPr>
              <a:t>First, what happens when one of the inputs to an OR gate is a constant logic 0? </a:t>
            </a:r>
          </a:p>
          <a:p>
            <a:pPr algn="just"/>
            <a:endParaRPr lang="en-GB" sz="2000" dirty="0">
              <a:latin typeface="Comic Sans MS" panose="030F0702030302020204" pitchFamily="66" charset="0"/>
            </a:endParaRPr>
          </a:p>
          <a:p>
            <a:pPr algn="just"/>
            <a:r>
              <a:rPr lang="en-GB" sz="2000" b="0" i="0" u="none" strike="noStrike" baseline="0" dirty="0">
                <a:latin typeface="Comic Sans MS" panose="030F0702030302020204" pitchFamily="66" charset="0"/>
              </a:rPr>
              <a:t>It turns out that the logic 0 input drops out leaving the remaining inputs to stand on their own. </a:t>
            </a:r>
          </a:p>
          <a:p>
            <a:pPr algn="just"/>
            <a:endParaRPr lang="en-GB" sz="2000" dirty="0">
              <a:latin typeface="Comic Sans MS" panose="030F0702030302020204" pitchFamily="66" charset="0"/>
            </a:endParaRPr>
          </a:p>
          <a:p>
            <a:pPr algn="just"/>
            <a:r>
              <a:rPr lang="en-GB" sz="2000" b="0" i="0" u="none" strike="noStrike" baseline="0" dirty="0">
                <a:latin typeface="Comic Sans MS" panose="030F0702030302020204" pitchFamily="66" charset="0"/>
              </a:rPr>
              <a:t>Notice that the two columns in the truth table below are equivalent thus proving this rule</a:t>
            </a:r>
            <a:endParaRPr lang="en-GB" sz="3200" dirty="0">
              <a:latin typeface="Comic Sans MS" panose="030F0702030302020204" pitchFamily="66" charset="0"/>
            </a:endParaRPr>
          </a:p>
        </p:txBody>
      </p:sp>
      <p:pic>
        <p:nvPicPr>
          <p:cNvPr id="8" name="Picture 7">
            <a:extLst>
              <a:ext uri="{FF2B5EF4-FFF2-40B4-BE49-F238E27FC236}">
                <a16:creationId xmlns:a16="http://schemas.microsoft.com/office/drawing/2014/main" id="{C4219874-8940-484D-BF36-CDED7D779829}"/>
              </a:ext>
            </a:extLst>
          </p:cNvPr>
          <p:cNvPicPr>
            <a:picLocks noChangeAspect="1"/>
          </p:cNvPicPr>
          <p:nvPr/>
        </p:nvPicPr>
        <p:blipFill>
          <a:blip r:embed="rId2"/>
          <a:stretch>
            <a:fillRect/>
          </a:stretch>
        </p:blipFill>
        <p:spPr>
          <a:xfrm>
            <a:off x="84667" y="3519386"/>
            <a:ext cx="885949" cy="647790"/>
          </a:xfrm>
          <a:prstGeom prst="rect">
            <a:avLst/>
          </a:prstGeom>
        </p:spPr>
      </p:pic>
      <p:pic>
        <p:nvPicPr>
          <p:cNvPr id="10" name="Picture 9">
            <a:extLst>
              <a:ext uri="{FF2B5EF4-FFF2-40B4-BE49-F238E27FC236}">
                <a16:creationId xmlns:a16="http://schemas.microsoft.com/office/drawing/2014/main" id="{DC43E94A-7C69-4695-89D8-B95282DB56FC}"/>
              </a:ext>
            </a:extLst>
          </p:cNvPr>
          <p:cNvPicPr>
            <a:picLocks noChangeAspect="1"/>
          </p:cNvPicPr>
          <p:nvPr/>
        </p:nvPicPr>
        <p:blipFill>
          <a:blip r:embed="rId3"/>
          <a:stretch>
            <a:fillRect/>
          </a:stretch>
        </p:blipFill>
        <p:spPr>
          <a:xfrm>
            <a:off x="4005470" y="3475227"/>
            <a:ext cx="2014330" cy="1200318"/>
          </a:xfrm>
          <a:prstGeom prst="rect">
            <a:avLst/>
          </a:prstGeom>
        </p:spPr>
      </p:pic>
      <p:pic>
        <p:nvPicPr>
          <p:cNvPr id="12" name="Picture 11">
            <a:extLst>
              <a:ext uri="{FF2B5EF4-FFF2-40B4-BE49-F238E27FC236}">
                <a16:creationId xmlns:a16="http://schemas.microsoft.com/office/drawing/2014/main" id="{9D55DA9B-1BD8-4622-9F84-E07410D334D8}"/>
              </a:ext>
            </a:extLst>
          </p:cNvPr>
          <p:cNvPicPr>
            <a:picLocks noChangeAspect="1"/>
          </p:cNvPicPr>
          <p:nvPr/>
        </p:nvPicPr>
        <p:blipFill>
          <a:blip r:embed="rId4"/>
          <a:stretch>
            <a:fillRect/>
          </a:stretch>
        </p:blipFill>
        <p:spPr>
          <a:xfrm>
            <a:off x="2175187" y="6074911"/>
            <a:ext cx="3149753" cy="783088"/>
          </a:xfrm>
          <a:prstGeom prst="rect">
            <a:avLst/>
          </a:prstGeom>
        </p:spPr>
      </p:pic>
    </p:spTree>
    <p:extLst>
      <p:ext uri="{BB962C8B-B14F-4D97-AF65-F5344CB8AC3E}">
        <p14:creationId xmlns:p14="http://schemas.microsoft.com/office/powerpoint/2010/main" val="2937301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E4196A4-2289-4667-BBC1-C63E4D7E8981}"/>
              </a:ext>
            </a:extLst>
          </p:cNvPr>
          <p:cNvSpPr>
            <a:spLocks noGrp="1"/>
          </p:cNvSpPr>
          <p:nvPr>
            <p:ph sz="half" idx="1"/>
          </p:nvPr>
        </p:nvSpPr>
        <p:spPr>
          <a:xfrm>
            <a:off x="69574" y="79512"/>
            <a:ext cx="5950226" cy="6708913"/>
          </a:xfrm>
        </p:spPr>
        <p:txBody>
          <a:bodyPr>
            <a:normAutofit lnSpcReduction="10000"/>
          </a:bodyPr>
          <a:lstStyle/>
          <a:p>
            <a:r>
              <a:rPr lang="en-GB" sz="2400" b="1" i="0" u="none" strike="noStrike" baseline="0" dirty="0">
                <a:solidFill>
                  <a:srgbClr val="FF0000"/>
                </a:solidFill>
                <a:latin typeface="Comic Sans MS" panose="030F0702030302020204" pitchFamily="66" charset="0"/>
              </a:rPr>
              <a:t>Rule: A + 0 = A</a:t>
            </a:r>
          </a:p>
          <a:p>
            <a:endParaRPr lang="en-GB" sz="1800" b="1" dirty="0">
              <a:latin typeface="Comic Sans MS" panose="030F0702030302020204" pitchFamily="66" charset="0"/>
            </a:endParaRPr>
          </a:p>
          <a:p>
            <a:endParaRPr lang="en-GB" sz="1800" b="1" i="0" u="none" strike="noStrike" baseline="0" dirty="0">
              <a:latin typeface="Comic Sans MS" panose="030F0702030302020204" pitchFamily="66" charset="0"/>
            </a:endParaRPr>
          </a:p>
          <a:p>
            <a:endParaRPr lang="en-GB" sz="1800" b="1" dirty="0">
              <a:latin typeface="Comic Sans MS" panose="030F0702030302020204" pitchFamily="66" charset="0"/>
            </a:endParaRPr>
          </a:p>
          <a:p>
            <a:pPr algn="just"/>
            <a:r>
              <a:rPr lang="en-GB" sz="2200" b="0" i="0" u="none" strike="noStrike" baseline="0" dirty="0">
                <a:latin typeface="Comic Sans MS" panose="030F0702030302020204" pitchFamily="66" charset="0"/>
              </a:rPr>
              <a:t>What about inputting a logic 1 to an OR gate? In this case, a logic 1 forces the other operands into the OR gate to drop out. Notice that the output column (A + 1) is always equal to 1 regardless of what A equals. Therefore, the output of this gate will always be 1</a:t>
            </a:r>
            <a:r>
              <a:rPr lang="en-GB" sz="1800" b="0" i="0" u="none" strike="noStrike" baseline="0" dirty="0">
                <a:latin typeface="TimesNewRomanPSMT"/>
              </a:rPr>
              <a:t>.</a:t>
            </a:r>
            <a:endParaRPr lang="en-GB" sz="1800" b="1" i="0" u="none" strike="noStrike" baseline="0" dirty="0">
              <a:latin typeface="Comic Sans MS" panose="030F0702030302020204" pitchFamily="66" charset="0"/>
            </a:endParaRPr>
          </a:p>
          <a:p>
            <a:r>
              <a:rPr lang="en-GB" sz="2400" b="1" i="0" u="none" strike="noStrike" baseline="0" dirty="0">
                <a:solidFill>
                  <a:srgbClr val="FF0000"/>
                </a:solidFill>
                <a:latin typeface="Comic Sans MS" panose="030F0702030302020204" pitchFamily="66" charset="0"/>
              </a:rPr>
              <a:t>Rule: A + 1 = 1</a:t>
            </a:r>
          </a:p>
          <a:p>
            <a:endParaRPr lang="en-GB" sz="2400" b="1" dirty="0">
              <a:solidFill>
                <a:srgbClr val="FF0000"/>
              </a:solidFill>
              <a:latin typeface="Comic Sans MS" panose="030F0702030302020204" pitchFamily="66" charset="0"/>
            </a:endParaRPr>
          </a:p>
          <a:p>
            <a:endParaRPr lang="en-GB" sz="2400" b="1" i="0" u="none" strike="noStrike" baseline="0" dirty="0">
              <a:solidFill>
                <a:srgbClr val="FF0000"/>
              </a:solidFill>
              <a:latin typeface="Comic Sans MS" panose="030F0702030302020204" pitchFamily="66" charset="0"/>
            </a:endParaRPr>
          </a:p>
          <a:p>
            <a:pPr algn="l"/>
            <a:endParaRPr lang="en-GB" sz="1800" b="0" i="0" u="none" strike="noStrike" baseline="0" dirty="0">
              <a:latin typeface="TimesNewRomanPSMT"/>
            </a:endParaRPr>
          </a:p>
          <a:p>
            <a:pPr algn="just"/>
            <a:r>
              <a:rPr lang="en-GB" sz="2000" b="0" i="0" u="none" strike="noStrike" baseline="0" dirty="0">
                <a:latin typeface="Comic Sans MS" panose="030F0702030302020204" pitchFamily="66" charset="0"/>
              </a:rPr>
              <a:t>If the same operand is connected to all of the inputs of an OR gate, we find that the OR gate has no effect. </a:t>
            </a:r>
          </a:p>
          <a:p>
            <a:pPr algn="just"/>
            <a:r>
              <a:rPr lang="en-GB" sz="2000" b="0" i="0" u="none" strike="noStrike" baseline="0" dirty="0">
                <a:latin typeface="Comic Sans MS" panose="030F0702030302020204" pitchFamily="66" charset="0"/>
              </a:rPr>
              <a:t>Notice that the two columns in the truth table below are equivalent thus proving this rule.</a:t>
            </a:r>
            <a:endParaRPr lang="en-GB" sz="2000" b="1" i="0" u="none" strike="noStrike" baseline="0" dirty="0">
              <a:solidFill>
                <a:srgbClr val="FF0000"/>
              </a:solidFill>
              <a:latin typeface="Comic Sans MS" panose="030F0702030302020204" pitchFamily="66" charset="0"/>
            </a:endParaRPr>
          </a:p>
          <a:p>
            <a:endParaRPr lang="en-GB" dirty="0">
              <a:latin typeface="Comic Sans MS" panose="030F0702030302020204" pitchFamily="66" charset="0"/>
            </a:endParaRPr>
          </a:p>
        </p:txBody>
      </p:sp>
      <p:sp>
        <p:nvSpPr>
          <p:cNvPr id="6" name="Content Placeholder 5">
            <a:extLst>
              <a:ext uri="{FF2B5EF4-FFF2-40B4-BE49-F238E27FC236}">
                <a16:creationId xmlns:a16="http://schemas.microsoft.com/office/drawing/2014/main" id="{9C237524-E9E4-4FA6-91BE-08361DBFCA8F}"/>
              </a:ext>
            </a:extLst>
          </p:cNvPr>
          <p:cNvSpPr>
            <a:spLocks noGrp="1"/>
          </p:cNvSpPr>
          <p:nvPr>
            <p:ph sz="half" idx="2"/>
          </p:nvPr>
        </p:nvSpPr>
        <p:spPr>
          <a:xfrm>
            <a:off x="6172200" y="79512"/>
            <a:ext cx="5950226" cy="6708913"/>
          </a:xfrm>
        </p:spPr>
        <p:txBody>
          <a:bodyPr>
            <a:normAutofit lnSpcReduction="10000"/>
          </a:bodyPr>
          <a:lstStyle/>
          <a:p>
            <a:r>
              <a:rPr lang="en-GB" sz="2400" b="1" i="0" u="none" strike="noStrike" baseline="0" dirty="0">
                <a:solidFill>
                  <a:srgbClr val="FF0000"/>
                </a:solidFill>
                <a:latin typeface="Comic Sans MS" panose="030F0702030302020204" pitchFamily="66" charset="0"/>
              </a:rPr>
              <a:t>Rule: A + A = A</a:t>
            </a:r>
          </a:p>
          <a:p>
            <a:endParaRPr lang="en-GB" sz="2400" b="1" dirty="0">
              <a:solidFill>
                <a:srgbClr val="FF0000"/>
              </a:solidFill>
              <a:latin typeface="Comic Sans MS" panose="030F0702030302020204" pitchFamily="66" charset="0"/>
            </a:endParaRPr>
          </a:p>
          <a:p>
            <a:pPr marL="0" indent="0">
              <a:buNone/>
            </a:pPr>
            <a:endParaRPr lang="en-GB" sz="2400" b="1" i="0" u="none" strike="noStrike" baseline="0" dirty="0">
              <a:solidFill>
                <a:srgbClr val="FF0000"/>
              </a:solidFill>
              <a:latin typeface="Comic Sans MS" panose="030F0702030302020204" pitchFamily="66" charset="0"/>
            </a:endParaRPr>
          </a:p>
          <a:p>
            <a:pPr algn="just"/>
            <a:r>
              <a:rPr lang="en-GB" sz="2000" b="0" i="0" u="none" strike="noStrike" baseline="0" dirty="0">
                <a:latin typeface="Comic Sans MS" panose="030F0702030302020204" pitchFamily="66" charset="0"/>
              </a:rPr>
              <a:t>Another case of simplification occurs when an operand is connected to one input of a two-input OR gate and its inverse is connected to the other. </a:t>
            </a:r>
          </a:p>
          <a:p>
            <a:pPr algn="just"/>
            <a:endParaRPr lang="en-GB" sz="900" dirty="0">
              <a:latin typeface="Comic Sans MS" panose="030F0702030302020204" pitchFamily="66" charset="0"/>
            </a:endParaRPr>
          </a:p>
          <a:p>
            <a:pPr algn="just"/>
            <a:r>
              <a:rPr lang="en-GB" sz="2000" b="0" i="0" u="none" strike="noStrike" baseline="0" dirty="0">
                <a:latin typeface="Comic Sans MS" panose="030F0702030302020204" pitchFamily="66" charset="0"/>
              </a:rPr>
              <a:t>In this case, either the operand is equal to a one or its inverse is.</a:t>
            </a:r>
          </a:p>
          <a:p>
            <a:pPr algn="just"/>
            <a:endParaRPr lang="en-GB" sz="600" b="0" i="0" u="none" strike="noStrike" baseline="0" dirty="0">
              <a:latin typeface="Comic Sans MS" panose="030F0702030302020204" pitchFamily="66" charset="0"/>
            </a:endParaRPr>
          </a:p>
          <a:p>
            <a:pPr algn="just"/>
            <a:r>
              <a:rPr lang="en-GB" sz="2000" b="0" i="0" u="none" strike="noStrike" baseline="0" dirty="0">
                <a:latin typeface="Comic Sans MS" panose="030F0702030302020204" pitchFamily="66" charset="0"/>
              </a:rPr>
              <a:t>There is no other possibility. Therefore, at least one logic 1 is connected to the inputs of the OR gate. This gives us an output of logic 1 regardless of the inputs.</a:t>
            </a:r>
            <a:r>
              <a:rPr lang="en-GB" sz="2000" b="1" i="0" u="none" strike="noStrike" baseline="0" dirty="0">
                <a:solidFill>
                  <a:srgbClr val="FF0000"/>
                </a:solidFill>
                <a:latin typeface="Comic Sans MS" panose="030F0702030302020204" pitchFamily="66" charset="0"/>
              </a:rPr>
              <a:t> </a:t>
            </a:r>
          </a:p>
          <a:p>
            <a:pPr algn="just"/>
            <a:endParaRPr lang="en-GB" sz="2000" b="1" dirty="0">
              <a:solidFill>
                <a:srgbClr val="FF0000"/>
              </a:solidFill>
              <a:latin typeface="Comic Sans MS" panose="030F0702030302020204" pitchFamily="66" charset="0"/>
            </a:endParaRPr>
          </a:p>
          <a:p>
            <a:pPr algn="just"/>
            <a:r>
              <a:rPr lang="en-GB" sz="2000" b="1" i="0" u="none" strike="noStrike" baseline="0" dirty="0">
                <a:solidFill>
                  <a:srgbClr val="FF0000"/>
                </a:solidFill>
                <a:latin typeface="TimesNewRomanPS-BoldMT"/>
              </a:rPr>
              <a:t>Rule: A + A = 1</a:t>
            </a:r>
            <a:endParaRPr lang="en-GB" sz="2400" dirty="0">
              <a:solidFill>
                <a:srgbClr val="FF0000"/>
              </a:solidFill>
              <a:latin typeface="Comic Sans MS" panose="030F0702030302020204" pitchFamily="66" charset="0"/>
            </a:endParaRPr>
          </a:p>
        </p:txBody>
      </p:sp>
      <p:pic>
        <p:nvPicPr>
          <p:cNvPr id="8" name="Picture 7">
            <a:extLst>
              <a:ext uri="{FF2B5EF4-FFF2-40B4-BE49-F238E27FC236}">
                <a16:creationId xmlns:a16="http://schemas.microsoft.com/office/drawing/2014/main" id="{6117BE31-C7A6-477C-8D99-BCBCF92CF22A}"/>
              </a:ext>
            </a:extLst>
          </p:cNvPr>
          <p:cNvPicPr>
            <a:picLocks noChangeAspect="1"/>
          </p:cNvPicPr>
          <p:nvPr/>
        </p:nvPicPr>
        <p:blipFill>
          <a:blip r:embed="rId2"/>
          <a:stretch>
            <a:fillRect/>
          </a:stretch>
        </p:blipFill>
        <p:spPr>
          <a:xfrm>
            <a:off x="3330697" y="79512"/>
            <a:ext cx="2191056" cy="1267002"/>
          </a:xfrm>
          <a:prstGeom prst="rect">
            <a:avLst/>
          </a:prstGeom>
        </p:spPr>
      </p:pic>
      <p:pic>
        <p:nvPicPr>
          <p:cNvPr id="10" name="Picture 9">
            <a:extLst>
              <a:ext uri="{FF2B5EF4-FFF2-40B4-BE49-F238E27FC236}">
                <a16:creationId xmlns:a16="http://schemas.microsoft.com/office/drawing/2014/main" id="{813F8416-8105-4167-9C7A-106D244BE3DF}"/>
              </a:ext>
            </a:extLst>
          </p:cNvPr>
          <p:cNvPicPr>
            <a:picLocks noChangeAspect="1"/>
          </p:cNvPicPr>
          <p:nvPr/>
        </p:nvPicPr>
        <p:blipFill>
          <a:blip r:embed="rId3"/>
          <a:stretch>
            <a:fillRect/>
          </a:stretch>
        </p:blipFill>
        <p:spPr>
          <a:xfrm>
            <a:off x="3264013" y="3821929"/>
            <a:ext cx="2324424" cy="1162212"/>
          </a:xfrm>
          <a:prstGeom prst="rect">
            <a:avLst/>
          </a:prstGeom>
        </p:spPr>
      </p:pic>
      <p:pic>
        <p:nvPicPr>
          <p:cNvPr id="12" name="Picture 11">
            <a:extLst>
              <a:ext uri="{FF2B5EF4-FFF2-40B4-BE49-F238E27FC236}">
                <a16:creationId xmlns:a16="http://schemas.microsoft.com/office/drawing/2014/main" id="{DE36411C-A734-42D6-9561-4E85489281B9}"/>
              </a:ext>
            </a:extLst>
          </p:cNvPr>
          <p:cNvPicPr>
            <a:picLocks noChangeAspect="1"/>
          </p:cNvPicPr>
          <p:nvPr/>
        </p:nvPicPr>
        <p:blipFill>
          <a:blip r:embed="rId4"/>
          <a:stretch>
            <a:fillRect/>
          </a:stretch>
        </p:blipFill>
        <p:spPr>
          <a:xfrm>
            <a:off x="9280923" y="69575"/>
            <a:ext cx="2067213" cy="1086002"/>
          </a:xfrm>
          <a:prstGeom prst="rect">
            <a:avLst/>
          </a:prstGeom>
        </p:spPr>
      </p:pic>
      <p:cxnSp>
        <p:nvCxnSpPr>
          <p:cNvPr id="14" name="Straight Connector 13">
            <a:extLst>
              <a:ext uri="{FF2B5EF4-FFF2-40B4-BE49-F238E27FC236}">
                <a16:creationId xmlns:a16="http://schemas.microsoft.com/office/drawing/2014/main" id="{A4B3EBB8-790C-467A-A3D4-69A3D84D5836}"/>
              </a:ext>
            </a:extLst>
          </p:cNvPr>
          <p:cNvCxnSpPr>
            <a:cxnSpLocks/>
          </p:cNvCxnSpPr>
          <p:nvPr/>
        </p:nvCxnSpPr>
        <p:spPr>
          <a:xfrm>
            <a:off x="7583555" y="4984141"/>
            <a:ext cx="149087" cy="0"/>
          </a:xfrm>
          <a:prstGeom prst="line">
            <a:avLst/>
          </a:prstGeom>
          <a:ln w="28575">
            <a:solidFill>
              <a:schemeClr val="accent2"/>
            </a:solidFill>
            <a:prstDash val="solid"/>
          </a:ln>
        </p:spPr>
        <p:style>
          <a:lnRef idx="1">
            <a:schemeClr val="dk1"/>
          </a:lnRef>
          <a:fillRef idx="0">
            <a:schemeClr val="dk1"/>
          </a:fillRef>
          <a:effectRef idx="0">
            <a:schemeClr val="dk1"/>
          </a:effectRef>
          <a:fontRef idx="minor">
            <a:schemeClr val="tx1"/>
          </a:fontRef>
        </p:style>
      </p:cxnSp>
      <p:pic>
        <p:nvPicPr>
          <p:cNvPr id="18" name="Picture 17">
            <a:extLst>
              <a:ext uri="{FF2B5EF4-FFF2-40B4-BE49-F238E27FC236}">
                <a16:creationId xmlns:a16="http://schemas.microsoft.com/office/drawing/2014/main" id="{8368F407-EE00-44AE-927C-BFE3D9B26BF3}"/>
              </a:ext>
            </a:extLst>
          </p:cNvPr>
          <p:cNvPicPr>
            <a:picLocks noChangeAspect="1"/>
          </p:cNvPicPr>
          <p:nvPr/>
        </p:nvPicPr>
        <p:blipFill>
          <a:blip r:embed="rId5"/>
          <a:stretch>
            <a:fillRect/>
          </a:stretch>
        </p:blipFill>
        <p:spPr>
          <a:xfrm>
            <a:off x="8882395" y="4984141"/>
            <a:ext cx="2114845" cy="1295581"/>
          </a:xfrm>
          <a:prstGeom prst="rect">
            <a:avLst/>
          </a:prstGeom>
        </p:spPr>
      </p:pic>
    </p:spTree>
    <p:extLst>
      <p:ext uri="{BB962C8B-B14F-4D97-AF65-F5344CB8AC3E}">
        <p14:creationId xmlns:p14="http://schemas.microsoft.com/office/powerpoint/2010/main" val="2918800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E2F683FC-357E-40C8-B76E-5BE825B6B37C}"/>
              </a:ext>
            </a:extLst>
          </p:cNvPr>
          <p:cNvSpPr>
            <a:spLocks noGrp="1"/>
          </p:cNvSpPr>
          <p:nvPr>
            <p:ph sz="half" idx="1"/>
          </p:nvPr>
        </p:nvSpPr>
        <p:spPr>
          <a:xfrm>
            <a:off x="69574" y="79513"/>
            <a:ext cx="5950226" cy="6698974"/>
          </a:xfrm>
        </p:spPr>
        <p:txBody>
          <a:bodyPr>
            <a:normAutofit/>
          </a:bodyPr>
          <a:lstStyle/>
          <a:p>
            <a:pPr algn="l"/>
            <a:r>
              <a:rPr lang="en-GB" sz="1800" b="1" i="1" u="none" strike="noStrike" baseline="0" dirty="0">
                <a:solidFill>
                  <a:srgbClr val="FF0000"/>
                </a:solidFill>
                <a:latin typeface="Comic Sans MS" panose="030F0702030302020204" pitchFamily="66" charset="0"/>
              </a:rPr>
              <a:t>AND Rules</a:t>
            </a:r>
          </a:p>
          <a:p>
            <a:pPr algn="just"/>
            <a:r>
              <a:rPr lang="en-GB" sz="1800" b="1" i="0" u="none" strike="noStrike" baseline="0" dirty="0">
                <a:latin typeface="Comic Sans MS" panose="030F0702030302020204" pitchFamily="66" charset="0"/>
              </a:rPr>
              <a:t>Just as with the OR gate, if either of the inputs to an AND gate is a constant (logic 0 or logic 1) or if the two inputs are the same or inverses of each other, a simplification can be performed.</a:t>
            </a:r>
            <a:endParaRPr lang="en-GB" sz="1800" b="1" dirty="0">
              <a:latin typeface="Comic Sans MS" panose="030F0702030302020204" pitchFamily="66" charset="0"/>
            </a:endParaRPr>
          </a:p>
          <a:p>
            <a:pPr algn="just"/>
            <a:r>
              <a:rPr lang="en-GB" sz="1800" b="1" i="0" u="none" strike="noStrike" baseline="0" dirty="0">
                <a:latin typeface="Comic Sans MS" panose="030F0702030302020204" pitchFamily="66" charset="0"/>
              </a:rPr>
              <a:t> Let's begin with the case where one of the inputs to the AND gate is a logic 0. </a:t>
            </a:r>
          </a:p>
          <a:p>
            <a:pPr marL="0" indent="0" algn="just">
              <a:buNone/>
            </a:pPr>
            <a:endParaRPr lang="en-GB" sz="1800" b="1" i="0" u="none" strike="noStrike" baseline="0" dirty="0">
              <a:latin typeface="Comic Sans MS" panose="030F0702030302020204" pitchFamily="66" charset="0"/>
            </a:endParaRPr>
          </a:p>
          <a:p>
            <a:pPr algn="just"/>
            <a:r>
              <a:rPr lang="en-GB" sz="1800" b="1" i="0" u="none" strike="noStrike" baseline="0" dirty="0">
                <a:latin typeface="Comic Sans MS" panose="030F0702030302020204" pitchFamily="66" charset="0"/>
              </a:rPr>
              <a:t>Remember that an AND gate must have all ones at its inputs to output a one. In this case, one of the inputs will always be zero forcing this AND to always output zero. The truth table below shows this.</a:t>
            </a:r>
            <a:endParaRPr lang="en-GB" sz="1800" b="1" dirty="0">
              <a:latin typeface="Comic Sans MS" panose="030F0702030302020204" pitchFamily="66" charset="0"/>
            </a:endParaRPr>
          </a:p>
          <a:p>
            <a:pPr algn="just"/>
            <a:r>
              <a:rPr lang="en-GB" sz="1800" b="1" i="0" u="none" strike="noStrike" baseline="0" dirty="0">
                <a:solidFill>
                  <a:srgbClr val="FF0000"/>
                </a:solidFill>
                <a:latin typeface="Comic Sans MS" panose="030F0702030302020204" pitchFamily="66" charset="0"/>
              </a:rPr>
              <a:t>Rule: A · 0 = 0 </a:t>
            </a:r>
          </a:p>
          <a:p>
            <a:pPr algn="just"/>
            <a:endParaRPr lang="en-GB" sz="1800" b="1" dirty="0">
              <a:solidFill>
                <a:srgbClr val="FF0000"/>
              </a:solidFill>
              <a:latin typeface="Comic Sans MS" panose="030F0702030302020204" pitchFamily="66" charset="0"/>
            </a:endParaRPr>
          </a:p>
          <a:p>
            <a:pPr algn="just"/>
            <a:endParaRPr lang="en-GB" sz="1800" b="1" dirty="0">
              <a:solidFill>
                <a:srgbClr val="FF0000"/>
              </a:solidFill>
              <a:latin typeface="Comic Sans MS" panose="030F0702030302020204" pitchFamily="66" charset="0"/>
            </a:endParaRPr>
          </a:p>
          <a:p>
            <a:pPr algn="just"/>
            <a:endParaRPr lang="en-GB" sz="1800" b="1" dirty="0">
              <a:solidFill>
                <a:srgbClr val="FF0000"/>
              </a:solidFill>
              <a:latin typeface="Comic Sans MS" panose="030F0702030302020204" pitchFamily="66" charset="0"/>
            </a:endParaRPr>
          </a:p>
          <a:p>
            <a:pPr algn="just"/>
            <a:r>
              <a:rPr lang="en-GB" sz="1800" b="1" dirty="0">
                <a:latin typeface="Comic Sans MS" panose="030F0702030302020204" pitchFamily="66" charset="0"/>
              </a:rPr>
              <a:t>If one input of a two-input AND gate is connected to a logic 1, then it only takes the other input going to a one to get all ones on the inputs.</a:t>
            </a:r>
          </a:p>
          <a:p>
            <a:pPr algn="just"/>
            <a:endParaRPr lang="en-GB" sz="1800" b="1" dirty="0">
              <a:solidFill>
                <a:srgbClr val="FF0000"/>
              </a:solidFill>
              <a:latin typeface="Comic Sans MS" panose="030F0702030302020204" pitchFamily="66" charset="0"/>
            </a:endParaRPr>
          </a:p>
        </p:txBody>
      </p:sp>
      <p:sp>
        <p:nvSpPr>
          <p:cNvPr id="11" name="Content Placeholder 10">
            <a:extLst>
              <a:ext uri="{FF2B5EF4-FFF2-40B4-BE49-F238E27FC236}">
                <a16:creationId xmlns:a16="http://schemas.microsoft.com/office/drawing/2014/main" id="{423E04DC-564C-4E99-866E-BD49CA930A71}"/>
              </a:ext>
            </a:extLst>
          </p:cNvPr>
          <p:cNvSpPr>
            <a:spLocks noGrp="1"/>
          </p:cNvSpPr>
          <p:nvPr>
            <p:ph sz="half" idx="2"/>
          </p:nvPr>
        </p:nvSpPr>
        <p:spPr>
          <a:xfrm>
            <a:off x="6172200" y="79513"/>
            <a:ext cx="5950226" cy="6698974"/>
          </a:xfrm>
        </p:spPr>
        <p:txBody>
          <a:bodyPr>
            <a:normAutofit/>
          </a:bodyPr>
          <a:lstStyle/>
          <a:p>
            <a:pPr algn="just"/>
            <a:r>
              <a:rPr lang="en-GB" sz="1800" b="1" i="0" u="none" strike="noStrike" baseline="0" dirty="0">
                <a:latin typeface="Comic Sans MS" panose="030F0702030302020204" pitchFamily="66" charset="0"/>
              </a:rPr>
              <a:t>If the other input goes to zero, the output becomes zero. This means that the output follows the input that is not connected to the logic 1</a:t>
            </a:r>
          </a:p>
          <a:p>
            <a:pPr algn="just"/>
            <a:r>
              <a:rPr lang="en-GB" sz="1800" b="1" i="0" u="none" strike="noStrike" baseline="0" dirty="0">
                <a:solidFill>
                  <a:srgbClr val="FF0000"/>
                </a:solidFill>
                <a:latin typeface="Comic Sans MS" panose="030F0702030302020204" pitchFamily="66" charset="0"/>
              </a:rPr>
              <a:t>Rule: A · 1 = A</a:t>
            </a:r>
            <a:r>
              <a:rPr lang="en-GB" sz="1800" b="0" i="0" u="none" strike="noStrike" baseline="0" dirty="0">
                <a:solidFill>
                  <a:srgbClr val="FF0000"/>
                </a:solidFill>
                <a:latin typeface="Comic Sans MS" panose="030F0702030302020204" pitchFamily="66" charset="0"/>
              </a:rPr>
              <a:t>.</a:t>
            </a:r>
          </a:p>
          <a:p>
            <a:pPr algn="just"/>
            <a:endParaRPr lang="en-GB" sz="1800" dirty="0">
              <a:solidFill>
                <a:srgbClr val="FF0000"/>
              </a:solidFill>
              <a:latin typeface="Comic Sans MS" panose="030F0702030302020204" pitchFamily="66" charset="0"/>
            </a:endParaRPr>
          </a:p>
          <a:p>
            <a:pPr algn="just"/>
            <a:endParaRPr lang="en-GB" sz="1800" b="0" i="0" u="none" strike="noStrike" baseline="0" dirty="0">
              <a:solidFill>
                <a:srgbClr val="FF0000"/>
              </a:solidFill>
              <a:latin typeface="Comic Sans MS" panose="030F0702030302020204" pitchFamily="66" charset="0"/>
            </a:endParaRPr>
          </a:p>
          <a:p>
            <a:pPr marL="0" indent="0" algn="l">
              <a:buNone/>
            </a:pPr>
            <a:endParaRPr lang="en-GB" sz="1800" b="0" i="0" u="none" strike="noStrike" baseline="0" dirty="0">
              <a:latin typeface="TimesNewRomanPSMT"/>
            </a:endParaRPr>
          </a:p>
          <a:p>
            <a:pPr algn="just"/>
            <a:r>
              <a:rPr lang="en-GB" sz="1800" b="1" i="0" u="none" strike="noStrike" baseline="0" dirty="0">
                <a:latin typeface="Comic Sans MS" panose="030F0702030302020204" pitchFamily="66" charset="0"/>
              </a:rPr>
              <a:t>If the same operand is connected to all of the inputs of an AND gate, we get a simplification similar to that of the OR gate. Notice that the two columns in the truth table below are equivalent proving this rule</a:t>
            </a:r>
            <a:r>
              <a:rPr lang="en-GB" sz="1800" b="0" i="0" u="none" strike="noStrike" baseline="0" dirty="0">
                <a:latin typeface="TimesNewRomanPSMT"/>
              </a:rPr>
              <a:t>.</a:t>
            </a:r>
          </a:p>
          <a:p>
            <a:pPr algn="just"/>
            <a:r>
              <a:rPr lang="en-GB" sz="1800" b="1" i="0" u="none" strike="noStrike" baseline="0" dirty="0">
                <a:solidFill>
                  <a:srgbClr val="FF0000"/>
                </a:solidFill>
                <a:latin typeface="Comic Sans MS" panose="030F0702030302020204" pitchFamily="66" charset="0"/>
              </a:rPr>
              <a:t>Rule: A · A = A</a:t>
            </a:r>
            <a:endParaRPr lang="en-GB" dirty="0">
              <a:solidFill>
                <a:srgbClr val="FF0000"/>
              </a:solidFill>
              <a:latin typeface="Comic Sans MS" panose="030F0702030302020204" pitchFamily="66" charset="0"/>
            </a:endParaRPr>
          </a:p>
        </p:txBody>
      </p:sp>
      <p:pic>
        <p:nvPicPr>
          <p:cNvPr id="13" name="Picture 12">
            <a:extLst>
              <a:ext uri="{FF2B5EF4-FFF2-40B4-BE49-F238E27FC236}">
                <a16:creationId xmlns:a16="http://schemas.microsoft.com/office/drawing/2014/main" id="{F9E8668B-E71F-45F6-9EDA-D599BB80884D}"/>
              </a:ext>
            </a:extLst>
          </p:cNvPr>
          <p:cNvPicPr>
            <a:picLocks noChangeAspect="1"/>
          </p:cNvPicPr>
          <p:nvPr/>
        </p:nvPicPr>
        <p:blipFill>
          <a:blip r:embed="rId2"/>
          <a:stretch>
            <a:fillRect/>
          </a:stretch>
        </p:blipFill>
        <p:spPr>
          <a:xfrm>
            <a:off x="2390419" y="4211619"/>
            <a:ext cx="2143424" cy="1257475"/>
          </a:xfrm>
          <a:prstGeom prst="rect">
            <a:avLst/>
          </a:prstGeom>
        </p:spPr>
      </p:pic>
      <p:pic>
        <p:nvPicPr>
          <p:cNvPr id="15" name="Picture 14">
            <a:extLst>
              <a:ext uri="{FF2B5EF4-FFF2-40B4-BE49-F238E27FC236}">
                <a16:creationId xmlns:a16="http://schemas.microsoft.com/office/drawing/2014/main" id="{4A885CC5-550E-4C91-9693-6160D72F4EF0}"/>
              </a:ext>
            </a:extLst>
          </p:cNvPr>
          <p:cNvPicPr>
            <a:picLocks noChangeAspect="1"/>
          </p:cNvPicPr>
          <p:nvPr/>
        </p:nvPicPr>
        <p:blipFill>
          <a:blip r:embed="rId3"/>
          <a:stretch>
            <a:fillRect/>
          </a:stretch>
        </p:blipFill>
        <p:spPr>
          <a:xfrm>
            <a:off x="8746540" y="1167355"/>
            <a:ext cx="2267726" cy="1148462"/>
          </a:xfrm>
          <a:prstGeom prst="rect">
            <a:avLst/>
          </a:prstGeom>
        </p:spPr>
      </p:pic>
      <p:pic>
        <p:nvPicPr>
          <p:cNvPr id="17" name="Picture 16">
            <a:extLst>
              <a:ext uri="{FF2B5EF4-FFF2-40B4-BE49-F238E27FC236}">
                <a16:creationId xmlns:a16="http://schemas.microsoft.com/office/drawing/2014/main" id="{C33D6562-FA58-46CC-9F4C-3191F77C00DD}"/>
              </a:ext>
            </a:extLst>
          </p:cNvPr>
          <p:cNvPicPr>
            <a:picLocks noChangeAspect="1"/>
          </p:cNvPicPr>
          <p:nvPr/>
        </p:nvPicPr>
        <p:blipFill>
          <a:blip r:embed="rId4"/>
          <a:stretch>
            <a:fillRect/>
          </a:stretch>
        </p:blipFill>
        <p:spPr>
          <a:xfrm>
            <a:off x="8810842" y="4161923"/>
            <a:ext cx="1981477" cy="1133633"/>
          </a:xfrm>
          <a:prstGeom prst="rect">
            <a:avLst/>
          </a:prstGeom>
        </p:spPr>
      </p:pic>
    </p:spTree>
    <p:extLst>
      <p:ext uri="{BB962C8B-B14F-4D97-AF65-F5344CB8AC3E}">
        <p14:creationId xmlns:p14="http://schemas.microsoft.com/office/powerpoint/2010/main" val="2401033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F45EE8-0328-432E-A03B-C5E72E75B1F0}"/>
              </a:ext>
            </a:extLst>
          </p:cNvPr>
          <p:cNvSpPr>
            <a:spLocks noGrp="1"/>
          </p:cNvSpPr>
          <p:nvPr>
            <p:ph sz="half" idx="1"/>
          </p:nvPr>
        </p:nvSpPr>
        <p:spPr>
          <a:xfrm>
            <a:off x="0" y="69575"/>
            <a:ext cx="6019800" cy="6788426"/>
          </a:xfrm>
        </p:spPr>
        <p:txBody>
          <a:bodyPr>
            <a:normAutofit/>
          </a:bodyPr>
          <a:lstStyle/>
          <a:p>
            <a:pPr algn="just"/>
            <a:r>
              <a:rPr lang="en-GB" sz="1800" b="1" i="0" u="none" strike="noStrike" baseline="0" dirty="0">
                <a:latin typeface="Comic Sans MS" panose="030F0702030302020204" pitchFamily="66" charset="0"/>
              </a:rPr>
              <a:t>Last of all, when an operand is connected to one input of a two-input AND gate and its inverse is connected to the other, either the operand is equal to a zero or its inverse is equal to zero. There is no other possibility. </a:t>
            </a:r>
          </a:p>
          <a:p>
            <a:pPr algn="just"/>
            <a:r>
              <a:rPr lang="en-GB" sz="1800" b="1" i="0" u="none" strike="noStrike" baseline="0" dirty="0">
                <a:latin typeface="Comic Sans MS" panose="030F0702030302020204" pitchFamily="66" charset="0"/>
              </a:rPr>
              <a:t>Therefore, at least one logic 0 is connected to the inputs of the AND gate giving us an output of logic 0 regardless of the inputs.</a:t>
            </a:r>
          </a:p>
          <a:p>
            <a:pPr algn="just"/>
            <a:endParaRPr lang="en-GB" sz="1800" b="1" i="0" u="none" strike="noStrike" baseline="0" dirty="0">
              <a:latin typeface="TimesNewRomanPS-BoldMT"/>
            </a:endParaRPr>
          </a:p>
          <a:p>
            <a:pPr algn="just"/>
            <a:r>
              <a:rPr lang="en-GB" sz="1800" b="1" i="0" u="none" strike="noStrike" baseline="0" dirty="0">
                <a:solidFill>
                  <a:srgbClr val="FF0000"/>
                </a:solidFill>
                <a:latin typeface="Comic Sans MS" panose="030F0702030302020204" pitchFamily="66" charset="0"/>
              </a:rPr>
              <a:t>Rule: A · A = 0</a:t>
            </a:r>
          </a:p>
          <a:p>
            <a:pPr algn="just"/>
            <a:endParaRPr lang="en-GB" sz="1800" b="1" dirty="0">
              <a:solidFill>
                <a:srgbClr val="FF0000"/>
              </a:solidFill>
              <a:latin typeface="Comic Sans MS" panose="030F0702030302020204" pitchFamily="66" charset="0"/>
            </a:endParaRPr>
          </a:p>
          <a:p>
            <a:pPr algn="just"/>
            <a:endParaRPr lang="en-GB" sz="1800" b="1" i="0" u="none" strike="noStrike" baseline="0" dirty="0">
              <a:solidFill>
                <a:srgbClr val="FF0000"/>
              </a:solidFill>
              <a:latin typeface="Comic Sans MS" panose="030F0702030302020204" pitchFamily="66" charset="0"/>
            </a:endParaRPr>
          </a:p>
          <a:p>
            <a:pPr algn="just"/>
            <a:endParaRPr lang="en-GB" sz="1800" b="1" dirty="0">
              <a:solidFill>
                <a:srgbClr val="FF0000"/>
              </a:solidFill>
              <a:latin typeface="Comic Sans MS" panose="030F0702030302020204" pitchFamily="66" charset="0"/>
            </a:endParaRPr>
          </a:p>
          <a:p>
            <a:pPr algn="just"/>
            <a:r>
              <a:rPr lang="en-GB" sz="2400" b="1" i="1" u="none" strike="noStrike" baseline="0" dirty="0">
                <a:solidFill>
                  <a:srgbClr val="FF0000"/>
                </a:solidFill>
                <a:latin typeface="Comic Sans MS" panose="030F0702030302020204" pitchFamily="66" charset="0"/>
              </a:rPr>
              <a:t>XOR Rules</a:t>
            </a:r>
          </a:p>
          <a:p>
            <a:pPr algn="just"/>
            <a:r>
              <a:rPr lang="en-GB" sz="1800" b="1" i="0" u="none" strike="noStrike" baseline="0" dirty="0">
                <a:latin typeface="Comic Sans MS" panose="030F0702030302020204" pitchFamily="66" charset="0"/>
              </a:rPr>
              <a:t>Remember that a two-input XOR gate outputs a 1 if its inputs are different and a zero if its inputs are the same. If one of the inputs to a two-input XOR gate is connected to a logic </a:t>
            </a:r>
            <a:r>
              <a:rPr lang="en-GB" sz="1800" b="1" dirty="0">
                <a:latin typeface="Comic Sans MS" panose="030F0702030302020204" pitchFamily="66" charset="0"/>
              </a:rPr>
              <a:t>0, then the gate's output follows the value at the second input. </a:t>
            </a:r>
            <a:endParaRPr lang="en-GB" sz="1800" b="1" i="0" u="none" strike="noStrike" baseline="0" dirty="0">
              <a:latin typeface="Comic Sans MS" panose="030F0702030302020204" pitchFamily="66" charset="0"/>
            </a:endParaRPr>
          </a:p>
          <a:p>
            <a:pPr algn="just"/>
            <a:endParaRPr lang="en-GB" b="1" dirty="0">
              <a:solidFill>
                <a:srgbClr val="FF0000"/>
              </a:solidFill>
              <a:latin typeface="Comic Sans MS" panose="030F0702030302020204" pitchFamily="66" charset="0"/>
            </a:endParaRPr>
          </a:p>
        </p:txBody>
      </p:sp>
      <p:sp>
        <p:nvSpPr>
          <p:cNvPr id="4" name="Content Placeholder 3">
            <a:extLst>
              <a:ext uri="{FF2B5EF4-FFF2-40B4-BE49-F238E27FC236}">
                <a16:creationId xmlns:a16="http://schemas.microsoft.com/office/drawing/2014/main" id="{16DE7836-66FD-4BC9-9769-C1ACB40A8AA0}"/>
              </a:ext>
            </a:extLst>
          </p:cNvPr>
          <p:cNvSpPr>
            <a:spLocks noGrp="1"/>
          </p:cNvSpPr>
          <p:nvPr>
            <p:ph sz="half" idx="2"/>
          </p:nvPr>
        </p:nvSpPr>
        <p:spPr>
          <a:xfrm>
            <a:off x="6172200" y="69574"/>
            <a:ext cx="5943600" cy="6718851"/>
          </a:xfrm>
        </p:spPr>
        <p:txBody>
          <a:bodyPr>
            <a:normAutofit/>
          </a:bodyPr>
          <a:lstStyle/>
          <a:p>
            <a:pPr algn="just"/>
            <a:r>
              <a:rPr lang="en-GB" sz="1800" b="1" dirty="0">
                <a:latin typeface="Comic Sans MS" panose="030F0702030302020204" pitchFamily="66" charset="0"/>
              </a:rPr>
              <a:t>In other words, if the second input is a zero, the inputs are the same forcing the output to be zero and if the second input is a one, the inputs are different and the output equals one.</a:t>
            </a:r>
            <a:endParaRPr lang="en-GB" sz="1800" b="1" dirty="0">
              <a:solidFill>
                <a:srgbClr val="FF0000"/>
              </a:solidFill>
              <a:latin typeface="Comic Sans MS" panose="030F0702030302020204" pitchFamily="66" charset="0"/>
            </a:endParaRPr>
          </a:p>
          <a:p>
            <a:r>
              <a:rPr lang="en-GB" sz="1800" b="1" i="0" u="none" strike="noStrike" baseline="0" dirty="0">
                <a:solidFill>
                  <a:srgbClr val="FF0000"/>
                </a:solidFill>
                <a:latin typeface="Comic Sans MS" panose="030F0702030302020204" pitchFamily="66" charset="0"/>
              </a:rPr>
              <a:t>Rule: A </a:t>
            </a:r>
            <a:r>
              <a:rPr lang="en-GB" sz="1800" b="0" i="0" u="none" strike="noStrike" baseline="0" dirty="0">
                <a:solidFill>
                  <a:srgbClr val="FF0000"/>
                </a:solidFill>
                <a:latin typeface="Comic Sans MS" panose="030F0702030302020204" pitchFamily="66" charset="0"/>
              </a:rPr>
              <a:t>⊕ </a:t>
            </a:r>
            <a:r>
              <a:rPr lang="en-GB" sz="1800" b="1" i="0" u="none" strike="noStrike" baseline="0" dirty="0">
                <a:solidFill>
                  <a:srgbClr val="FF0000"/>
                </a:solidFill>
                <a:latin typeface="Comic Sans MS" panose="030F0702030302020204" pitchFamily="66" charset="0"/>
              </a:rPr>
              <a:t>0 = A</a:t>
            </a:r>
          </a:p>
          <a:p>
            <a:endParaRPr lang="en-GB" sz="1800" b="1" dirty="0">
              <a:solidFill>
                <a:srgbClr val="FF0000"/>
              </a:solidFill>
              <a:latin typeface="Comic Sans MS" panose="030F0702030302020204" pitchFamily="66" charset="0"/>
            </a:endParaRPr>
          </a:p>
          <a:p>
            <a:endParaRPr lang="en-GB" sz="1800" b="1" dirty="0">
              <a:solidFill>
                <a:srgbClr val="FF0000"/>
              </a:solidFill>
              <a:latin typeface="Comic Sans MS" panose="030F0702030302020204" pitchFamily="66" charset="0"/>
            </a:endParaRPr>
          </a:p>
          <a:p>
            <a:endParaRPr lang="en-GB" sz="1800" b="1" dirty="0">
              <a:solidFill>
                <a:srgbClr val="FF0000"/>
              </a:solidFill>
              <a:latin typeface="Comic Sans MS" panose="030F0702030302020204" pitchFamily="66" charset="0"/>
            </a:endParaRPr>
          </a:p>
          <a:p>
            <a:pPr algn="just"/>
            <a:r>
              <a:rPr lang="en-GB" sz="1800" b="1" i="0" u="none" strike="noStrike" baseline="0" dirty="0">
                <a:latin typeface="Comic Sans MS" panose="030F0702030302020204" pitchFamily="66" charset="0"/>
              </a:rPr>
              <a:t>If one input of a two-input XOR gate is connected to a logic 1, then the XOR gate acts as an inverter as shown in the table below.</a:t>
            </a:r>
          </a:p>
          <a:p>
            <a:pPr algn="just"/>
            <a:r>
              <a:rPr lang="en-GB" sz="1800" b="1" i="0" u="none" strike="noStrike" baseline="0" dirty="0">
                <a:solidFill>
                  <a:srgbClr val="FF0000"/>
                </a:solidFill>
                <a:latin typeface="Comic Sans MS" panose="030F0702030302020204" pitchFamily="66" charset="0"/>
              </a:rPr>
              <a:t>Rule: A </a:t>
            </a:r>
            <a:r>
              <a:rPr lang="en-GB" sz="1800" b="0" i="0" u="none" strike="noStrike" baseline="0" dirty="0">
                <a:solidFill>
                  <a:srgbClr val="FF0000"/>
                </a:solidFill>
                <a:latin typeface="Comic Sans MS" panose="030F0702030302020204" pitchFamily="66" charset="0"/>
              </a:rPr>
              <a:t>⊕ </a:t>
            </a:r>
            <a:r>
              <a:rPr lang="en-GB" sz="1800" b="1" i="0" u="none" strike="noStrike" baseline="0" dirty="0">
                <a:solidFill>
                  <a:srgbClr val="FF0000"/>
                </a:solidFill>
                <a:latin typeface="Comic Sans MS" panose="030F0702030302020204" pitchFamily="66" charset="0"/>
              </a:rPr>
              <a:t>1 = A</a:t>
            </a:r>
          </a:p>
          <a:p>
            <a:pPr algn="just"/>
            <a:endParaRPr lang="en-GB" sz="1800" b="1" dirty="0">
              <a:solidFill>
                <a:srgbClr val="FF0000"/>
              </a:solidFill>
              <a:latin typeface="Comic Sans MS" panose="030F0702030302020204" pitchFamily="66" charset="0"/>
            </a:endParaRPr>
          </a:p>
          <a:p>
            <a:pPr algn="just"/>
            <a:endParaRPr lang="en-GB" sz="1800" b="1" dirty="0">
              <a:solidFill>
                <a:srgbClr val="FF0000"/>
              </a:solidFill>
              <a:latin typeface="Comic Sans MS" panose="030F0702030302020204" pitchFamily="66" charset="0"/>
            </a:endParaRPr>
          </a:p>
          <a:p>
            <a:pPr algn="just"/>
            <a:endParaRPr lang="en-GB" sz="1800" b="1" dirty="0">
              <a:solidFill>
                <a:srgbClr val="FF0000"/>
              </a:solidFill>
              <a:latin typeface="Comic Sans MS" panose="030F0702030302020204" pitchFamily="66" charset="0"/>
            </a:endParaRPr>
          </a:p>
          <a:p>
            <a:pPr algn="just"/>
            <a:r>
              <a:rPr lang="en-GB" sz="1800" b="1" i="0" u="none" strike="noStrike" baseline="0" dirty="0">
                <a:latin typeface="Comic Sans MS" panose="030F0702030302020204" pitchFamily="66" charset="0"/>
              </a:rPr>
              <a:t>If the same operand is connected to both inputs of a two-input XOR gate, then the inputs are always the same and the gate outputs a 0.</a:t>
            </a:r>
            <a:endParaRPr lang="en-GB" b="1" dirty="0">
              <a:solidFill>
                <a:srgbClr val="FF0000"/>
              </a:solidFill>
              <a:latin typeface="Comic Sans MS" panose="030F0702030302020204" pitchFamily="66" charset="0"/>
            </a:endParaRPr>
          </a:p>
        </p:txBody>
      </p:sp>
      <p:pic>
        <p:nvPicPr>
          <p:cNvPr id="6" name="Picture 5">
            <a:extLst>
              <a:ext uri="{FF2B5EF4-FFF2-40B4-BE49-F238E27FC236}">
                <a16:creationId xmlns:a16="http://schemas.microsoft.com/office/drawing/2014/main" id="{D88322BF-12A7-4E38-BADB-F7CE6DB88E90}"/>
              </a:ext>
            </a:extLst>
          </p:cNvPr>
          <p:cNvPicPr>
            <a:picLocks noChangeAspect="1"/>
          </p:cNvPicPr>
          <p:nvPr/>
        </p:nvPicPr>
        <p:blipFill>
          <a:blip r:embed="rId2"/>
          <a:stretch>
            <a:fillRect/>
          </a:stretch>
        </p:blipFill>
        <p:spPr>
          <a:xfrm>
            <a:off x="2872482" y="2415336"/>
            <a:ext cx="1914792" cy="1152686"/>
          </a:xfrm>
          <a:prstGeom prst="rect">
            <a:avLst/>
          </a:prstGeom>
        </p:spPr>
      </p:pic>
      <p:cxnSp>
        <p:nvCxnSpPr>
          <p:cNvPr id="8" name="Straight Connector 7">
            <a:extLst>
              <a:ext uri="{FF2B5EF4-FFF2-40B4-BE49-F238E27FC236}">
                <a16:creationId xmlns:a16="http://schemas.microsoft.com/office/drawing/2014/main" id="{49FD99CF-C08E-420B-BCDB-7C68E177F5B6}"/>
              </a:ext>
            </a:extLst>
          </p:cNvPr>
          <p:cNvCxnSpPr>
            <a:cxnSpLocks/>
          </p:cNvCxnSpPr>
          <p:nvPr/>
        </p:nvCxnSpPr>
        <p:spPr>
          <a:xfrm>
            <a:off x="1490870" y="2663813"/>
            <a:ext cx="149087" cy="0"/>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pic>
        <p:nvPicPr>
          <p:cNvPr id="11" name="Picture 10">
            <a:extLst>
              <a:ext uri="{FF2B5EF4-FFF2-40B4-BE49-F238E27FC236}">
                <a16:creationId xmlns:a16="http://schemas.microsoft.com/office/drawing/2014/main" id="{CB10E462-F680-40A3-971D-1A3AB4D3CAEE}"/>
              </a:ext>
            </a:extLst>
          </p:cNvPr>
          <p:cNvPicPr>
            <a:picLocks noChangeAspect="1"/>
          </p:cNvPicPr>
          <p:nvPr/>
        </p:nvPicPr>
        <p:blipFill>
          <a:blip r:embed="rId3"/>
          <a:stretch>
            <a:fillRect/>
          </a:stretch>
        </p:blipFill>
        <p:spPr>
          <a:xfrm>
            <a:off x="8605074" y="1350325"/>
            <a:ext cx="2038635" cy="1114581"/>
          </a:xfrm>
          <a:prstGeom prst="rect">
            <a:avLst/>
          </a:prstGeom>
        </p:spPr>
      </p:pic>
      <p:cxnSp>
        <p:nvCxnSpPr>
          <p:cNvPr id="13" name="Straight Connector 12">
            <a:extLst>
              <a:ext uri="{FF2B5EF4-FFF2-40B4-BE49-F238E27FC236}">
                <a16:creationId xmlns:a16="http://schemas.microsoft.com/office/drawing/2014/main" id="{20E5019B-F5C4-4AF6-A0A5-3E591C75A118}"/>
              </a:ext>
            </a:extLst>
          </p:cNvPr>
          <p:cNvCxnSpPr/>
          <p:nvPr/>
        </p:nvCxnSpPr>
        <p:spPr>
          <a:xfrm>
            <a:off x="8209722" y="3568022"/>
            <a:ext cx="18884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EA22248C-A1AF-4196-9633-F52BB596F009}"/>
              </a:ext>
            </a:extLst>
          </p:cNvPr>
          <p:cNvPicPr>
            <a:picLocks noChangeAspect="1"/>
          </p:cNvPicPr>
          <p:nvPr/>
        </p:nvPicPr>
        <p:blipFill>
          <a:blip r:embed="rId4"/>
          <a:stretch>
            <a:fillRect/>
          </a:stretch>
        </p:blipFill>
        <p:spPr>
          <a:xfrm>
            <a:off x="8724534" y="3745657"/>
            <a:ext cx="2276793" cy="1209844"/>
          </a:xfrm>
          <a:prstGeom prst="rect">
            <a:avLst/>
          </a:prstGeom>
        </p:spPr>
      </p:pic>
    </p:spTree>
    <p:extLst>
      <p:ext uri="{BB962C8B-B14F-4D97-AF65-F5344CB8AC3E}">
        <p14:creationId xmlns:p14="http://schemas.microsoft.com/office/powerpoint/2010/main" val="3426924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959D8E-B7CA-4685-BFA4-B2F843075C0E}"/>
              </a:ext>
            </a:extLst>
          </p:cNvPr>
          <p:cNvSpPr>
            <a:spLocks noGrp="1"/>
          </p:cNvSpPr>
          <p:nvPr>
            <p:ph sz="half" idx="1"/>
          </p:nvPr>
        </p:nvSpPr>
        <p:spPr>
          <a:xfrm>
            <a:off x="69574" y="99391"/>
            <a:ext cx="5950226" cy="6659218"/>
          </a:xfrm>
        </p:spPr>
        <p:txBody>
          <a:bodyPr>
            <a:normAutofit/>
          </a:bodyPr>
          <a:lstStyle/>
          <a:p>
            <a:r>
              <a:rPr lang="en-GB" sz="1800" b="1" i="0" u="none" strike="noStrike" baseline="0" dirty="0">
                <a:solidFill>
                  <a:srgbClr val="FF0000"/>
                </a:solidFill>
                <a:latin typeface="Comic Sans MS" panose="030F0702030302020204" pitchFamily="66" charset="0"/>
              </a:rPr>
              <a:t>Rule: A </a:t>
            </a:r>
            <a:r>
              <a:rPr lang="en-GB" sz="1800" b="0" i="0" u="none" strike="noStrike" baseline="0" dirty="0">
                <a:solidFill>
                  <a:srgbClr val="FF0000"/>
                </a:solidFill>
                <a:latin typeface="Comic Sans MS" panose="030F0702030302020204" pitchFamily="66" charset="0"/>
              </a:rPr>
              <a:t>⊕ </a:t>
            </a:r>
            <a:r>
              <a:rPr lang="en-GB" sz="1800" b="1" i="0" u="none" strike="noStrike" baseline="0" dirty="0">
                <a:solidFill>
                  <a:srgbClr val="FF0000"/>
                </a:solidFill>
                <a:latin typeface="Comic Sans MS" panose="030F0702030302020204" pitchFamily="66" charset="0"/>
              </a:rPr>
              <a:t>A = 0</a:t>
            </a:r>
          </a:p>
          <a:p>
            <a:endParaRPr lang="en-GB" sz="1800" b="1" dirty="0">
              <a:solidFill>
                <a:srgbClr val="FF0000"/>
              </a:solidFill>
              <a:latin typeface="Comic Sans MS" panose="030F0702030302020204" pitchFamily="66" charset="0"/>
            </a:endParaRPr>
          </a:p>
          <a:p>
            <a:endParaRPr lang="en-GB" sz="1800" b="1" dirty="0">
              <a:solidFill>
                <a:srgbClr val="FF0000"/>
              </a:solidFill>
              <a:latin typeface="Comic Sans MS" panose="030F0702030302020204" pitchFamily="66" charset="0"/>
            </a:endParaRPr>
          </a:p>
          <a:p>
            <a:endParaRPr lang="en-GB" sz="1800" b="1" dirty="0">
              <a:solidFill>
                <a:srgbClr val="FF0000"/>
              </a:solidFill>
              <a:latin typeface="Comic Sans MS" panose="030F0702030302020204" pitchFamily="66" charset="0"/>
            </a:endParaRPr>
          </a:p>
          <a:p>
            <a:pPr algn="just"/>
            <a:r>
              <a:rPr lang="en-GB" sz="2000" b="1" i="0" u="none" strike="noStrike" baseline="0" dirty="0">
                <a:latin typeface="Comic Sans MS" panose="030F0702030302020204" pitchFamily="66" charset="0"/>
              </a:rPr>
              <a:t>Lastly, if the inputs of a two-input XOR gate are inverses of each other, then the inputs are always different and the output is 1.</a:t>
            </a:r>
          </a:p>
          <a:p>
            <a:pPr marL="0" indent="0" algn="just">
              <a:buNone/>
            </a:pPr>
            <a:endParaRPr lang="en-GB" sz="1800" b="1" i="0" u="none" strike="noStrike" baseline="0" dirty="0">
              <a:solidFill>
                <a:srgbClr val="FF0000"/>
              </a:solidFill>
              <a:latin typeface="Comic Sans MS" panose="030F0702030302020204" pitchFamily="66" charset="0"/>
            </a:endParaRPr>
          </a:p>
          <a:p>
            <a:pPr algn="just"/>
            <a:r>
              <a:rPr lang="en-GB" sz="1800" b="1" i="0" u="none" strike="noStrike" baseline="0" dirty="0">
                <a:solidFill>
                  <a:srgbClr val="FF0000"/>
                </a:solidFill>
                <a:latin typeface="Comic Sans MS" panose="030F0702030302020204" pitchFamily="66" charset="0"/>
              </a:rPr>
              <a:t>Rule: A </a:t>
            </a:r>
            <a:r>
              <a:rPr lang="en-GB" sz="1800" b="0" i="0" u="none" strike="noStrike" baseline="0" dirty="0">
                <a:solidFill>
                  <a:srgbClr val="FF0000"/>
                </a:solidFill>
                <a:latin typeface="Comic Sans MS" panose="030F0702030302020204" pitchFamily="66" charset="0"/>
              </a:rPr>
              <a:t>⊕ </a:t>
            </a:r>
            <a:r>
              <a:rPr lang="en-GB" sz="1800" b="1" i="0" u="none" strike="noStrike" baseline="0" dirty="0">
                <a:solidFill>
                  <a:srgbClr val="FF0000"/>
                </a:solidFill>
                <a:latin typeface="Comic Sans MS" panose="030F0702030302020204" pitchFamily="66" charset="0"/>
              </a:rPr>
              <a:t>A = 1</a:t>
            </a:r>
          </a:p>
          <a:p>
            <a:pPr marL="0" indent="0" algn="just">
              <a:buNone/>
            </a:pPr>
            <a:endParaRPr lang="en-GB" sz="1800" b="1" dirty="0">
              <a:solidFill>
                <a:srgbClr val="FF0000"/>
              </a:solidFill>
              <a:latin typeface="Comic Sans MS" panose="030F0702030302020204" pitchFamily="66" charset="0"/>
            </a:endParaRPr>
          </a:p>
          <a:p>
            <a:pPr algn="just"/>
            <a:r>
              <a:rPr lang="en-GB" b="1" i="1" u="none" strike="noStrike" baseline="0" dirty="0">
                <a:solidFill>
                  <a:srgbClr val="FF0000"/>
                </a:solidFill>
                <a:latin typeface="Comic Sans MS" panose="030F0702030302020204" pitchFamily="66" charset="0"/>
              </a:rPr>
              <a:t>Derivation of Other Rules</a:t>
            </a:r>
          </a:p>
          <a:p>
            <a:pPr algn="just"/>
            <a:r>
              <a:rPr lang="en-GB" sz="1800" b="1" i="0" u="none" strike="noStrike" baseline="0" dirty="0">
                <a:latin typeface="Comic Sans MS" panose="030F0702030302020204" pitchFamily="66" charset="0"/>
              </a:rPr>
              <a:t>If we combine the NOT, OR, and </a:t>
            </a:r>
            <a:r>
              <a:rPr lang="en-GB" sz="1800" b="1" i="0" u="none" strike="noStrike" baseline="0" dirty="0" err="1">
                <a:latin typeface="Comic Sans MS" panose="030F0702030302020204" pitchFamily="66" charset="0"/>
              </a:rPr>
              <a:t>AND</a:t>
            </a:r>
            <a:r>
              <a:rPr lang="en-GB" sz="1800" b="1" i="0" u="none" strike="noStrike" baseline="0" dirty="0">
                <a:latin typeface="Comic Sans MS" panose="030F0702030302020204" pitchFamily="66" charset="0"/>
              </a:rPr>
              <a:t> rules with the commutative, associative, and distributive laws, we can derive other rules for Boolean algebra. This can be shown with the following example</a:t>
            </a:r>
            <a:r>
              <a:rPr lang="en-GB" sz="1800" b="0" i="0" u="none" strike="noStrike" baseline="0" dirty="0">
                <a:latin typeface="Comic Sans MS" panose="030F0702030302020204" pitchFamily="66" charset="0"/>
              </a:rPr>
              <a:t>.</a:t>
            </a:r>
          </a:p>
        </p:txBody>
      </p:sp>
      <p:sp>
        <p:nvSpPr>
          <p:cNvPr id="4" name="Content Placeholder 3">
            <a:extLst>
              <a:ext uri="{FF2B5EF4-FFF2-40B4-BE49-F238E27FC236}">
                <a16:creationId xmlns:a16="http://schemas.microsoft.com/office/drawing/2014/main" id="{2204C6A8-24A8-4B85-A8BA-A26FEDF6E3C5}"/>
              </a:ext>
            </a:extLst>
          </p:cNvPr>
          <p:cNvSpPr>
            <a:spLocks noGrp="1"/>
          </p:cNvSpPr>
          <p:nvPr>
            <p:ph sz="half" idx="2"/>
          </p:nvPr>
        </p:nvSpPr>
        <p:spPr>
          <a:xfrm>
            <a:off x="6172202" y="-1"/>
            <a:ext cx="5950224" cy="6758609"/>
          </a:xfrm>
        </p:spPr>
        <p:txBody>
          <a:bodyPr>
            <a:normAutofit/>
          </a:bodyPr>
          <a:lstStyle/>
          <a:p>
            <a:pPr algn="just"/>
            <a:r>
              <a:rPr lang="en-GB" sz="2400" i="1" dirty="0">
                <a:solidFill>
                  <a:srgbClr val="FF0000"/>
                </a:solidFill>
                <a:latin typeface="Comic Sans MS" panose="030F0702030302020204" pitchFamily="66" charset="0"/>
              </a:rPr>
              <a:t>Example</a:t>
            </a:r>
          </a:p>
          <a:p>
            <a:pPr algn="just"/>
            <a:r>
              <a:rPr lang="en-GB" sz="2400" dirty="0">
                <a:latin typeface="Comic Sans MS" panose="030F0702030302020204" pitchFamily="66" charset="0"/>
              </a:rPr>
              <a:t>Prove that A + A·B = A</a:t>
            </a:r>
          </a:p>
          <a:p>
            <a:pPr algn="l"/>
            <a:endParaRPr lang="en-GB" sz="2400" b="0" i="1" u="none" strike="noStrike" baseline="0" dirty="0">
              <a:latin typeface="Comic Sans MS" panose="030F0702030302020204" pitchFamily="66" charset="0"/>
            </a:endParaRPr>
          </a:p>
          <a:p>
            <a:pPr algn="l"/>
            <a:r>
              <a:rPr lang="en-GB" sz="2400" b="0" i="1" u="none" strike="noStrike" baseline="0" dirty="0">
                <a:latin typeface="Comic Sans MS" panose="030F0702030302020204" pitchFamily="66" charset="0"/>
              </a:rPr>
              <a:t>Solution</a:t>
            </a:r>
          </a:p>
          <a:p>
            <a:pPr marL="914400" lvl="2" indent="0">
              <a:buNone/>
            </a:pPr>
            <a:r>
              <a:rPr lang="en-GB" sz="2400" b="0" i="0" u="none" strike="noStrike" baseline="0" dirty="0">
                <a:latin typeface="Comic Sans MS" panose="030F0702030302020204" pitchFamily="66" charset="0"/>
              </a:rPr>
              <a:t>A + A·B </a:t>
            </a:r>
          </a:p>
          <a:p>
            <a:pPr marL="914400" lvl="2" indent="0">
              <a:buNone/>
            </a:pPr>
            <a:r>
              <a:rPr lang="en-GB" sz="2400" b="0" i="0" u="none" strike="noStrike" baseline="0" dirty="0">
                <a:latin typeface="Comic Sans MS" panose="030F0702030302020204" pitchFamily="66" charset="0"/>
              </a:rPr>
              <a:t>= </a:t>
            </a:r>
            <a:r>
              <a:rPr lang="en-GB" sz="2400" b="0" i="0" u="none" strike="noStrike" baseline="0" dirty="0">
                <a:solidFill>
                  <a:srgbClr val="FF0000"/>
                </a:solidFill>
                <a:latin typeface="Comic Sans MS" panose="030F0702030302020204" pitchFamily="66" charset="0"/>
              </a:rPr>
              <a:t>A·1 </a:t>
            </a:r>
            <a:r>
              <a:rPr lang="en-GB" sz="2400" b="0" i="0" u="none" strike="noStrike" baseline="0" dirty="0">
                <a:latin typeface="Comic Sans MS" panose="030F0702030302020204" pitchFamily="66" charset="0"/>
              </a:rPr>
              <a:t>+ A·B Rule: A · 1 = A</a:t>
            </a:r>
          </a:p>
          <a:p>
            <a:pPr marL="914400" lvl="2" indent="0">
              <a:buNone/>
            </a:pPr>
            <a:r>
              <a:rPr lang="en-GB" sz="2400" b="0" i="0" u="none" strike="noStrike" baseline="0" dirty="0">
                <a:latin typeface="Comic Sans MS" panose="030F0702030302020204" pitchFamily="66" charset="0"/>
              </a:rPr>
              <a:t>= A·(1 + B) </a:t>
            </a:r>
            <a:r>
              <a:rPr lang="en-GB" sz="2400" b="0" i="0" u="none" strike="noStrike" baseline="0" dirty="0">
                <a:solidFill>
                  <a:srgbClr val="FF0000"/>
                </a:solidFill>
                <a:latin typeface="Comic Sans MS" panose="030F0702030302020204" pitchFamily="66" charset="0"/>
              </a:rPr>
              <a:t>Distributive Law</a:t>
            </a:r>
          </a:p>
          <a:p>
            <a:pPr marL="914400" lvl="2" indent="0">
              <a:buNone/>
            </a:pPr>
            <a:r>
              <a:rPr lang="en-GB" sz="2400" b="0" i="0" u="none" strike="noStrike" baseline="0" dirty="0">
                <a:latin typeface="Comic Sans MS" panose="030F0702030302020204" pitchFamily="66" charset="0"/>
              </a:rPr>
              <a:t>= A·(</a:t>
            </a:r>
            <a:r>
              <a:rPr lang="en-GB" sz="2400" b="0" i="0" u="none" strike="noStrike" baseline="0" dirty="0">
                <a:solidFill>
                  <a:srgbClr val="FF0000"/>
                </a:solidFill>
                <a:latin typeface="Comic Sans MS" panose="030F0702030302020204" pitchFamily="66" charset="0"/>
              </a:rPr>
              <a:t>B</a:t>
            </a:r>
            <a:r>
              <a:rPr lang="en-GB" sz="2400" b="0" i="0" u="none" strike="noStrike" baseline="0" dirty="0">
                <a:latin typeface="Comic Sans MS" panose="030F0702030302020204" pitchFamily="66" charset="0"/>
              </a:rPr>
              <a:t> + 1) </a:t>
            </a:r>
            <a:r>
              <a:rPr lang="en-GB" sz="2400" b="0" i="0" u="none" strike="noStrike" baseline="0" dirty="0">
                <a:solidFill>
                  <a:srgbClr val="FF0000"/>
                </a:solidFill>
                <a:latin typeface="Comic Sans MS" panose="030F0702030302020204" pitchFamily="66" charset="0"/>
              </a:rPr>
              <a:t>Commutative Law</a:t>
            </a:r>
          </a:p>
          <a:p>
            <a:pPr marL="914400" lvl="2" indent="0">
              <a:buNone/>
            </a:pPr>
            <a:r>
              <a:rPr lang="en-GB" sz="2400" b="0" i="0" u="none" strike="noStrike" baseline="0" dirty="0">
                <a:latin typeface="Comic Sans MS" panose="030F0702030302020204" pitchFamily="66" charset="0"/>
              </a:rPr>
              <a:t>= A·1 Rule: </a:t>
            </a:r>
            <a:r>
              <a:rPr lang="en-GB" sz="2400" b="0" i="0" u="none" strike="noStrike" baseline="0" dirty="0">
                <a:solidFill>
                  <a:srgbClr val="FF0000"/>
                </a:solidFill>
                <a:latin typeface="Comic Sans MS" panose="030F0702030302020204" pitchFamily="66" charset="0"/>
              </a:rPr>
              <a:t>A</a:t>
            </a:r>
            <a:r>
              <a:rPr lang="en-GB" sz="2400" b="0" i="0" u="none" strike="noStrike" baseline="0" dirty="0">
                <a:latin typeface="Comic Sans MS" panose="030F0702030302020204" pitchFamily="66" charset="0"/>
              </a:rPr>
              <a:t> + 1 = 1</a:t>
            </a:r>
          </a:p>
          <a:p>
            <a:pPr marL="914400" lvl="2" indent="0">
              <a:buNone/>
            </a:pPr>
            <a:r>
              <a:rPr lang="en-GB" sz="2400" b="0" i="0" u="none" strike="noStrike" baseline="0" dirty="0">
                <a:latin typeface="Comic Sans MS" panose="030F0702030302020204" pitchFamily="66" charset="0"/>
              </a:rPr>
              <a:t>= A Rule: A · 1 = A</a:t>
            </a:r>
          </a:p>
          <a:p>
            <a:pPr marL="914400" lvl="2" indent="0">
              <a:buNone/>
            </a:pPr>
            <a:endParaRPr lang="en-GB" sz="2400" b="1" dirty="0">
              <a:solidFill>
                <a:srgbClr val="FF0000"/>
              </a:solidFill>
              <a:latin typeface="Comic Sans MS" panose="030F0702030302020204" pitchFamily="66" charset="0"/>
            </a:endParaRPr>
          </a:p>
          <a:p>
            <a:pPr algn="just"/>
            <a:r>
              <a:rPr lang="en-GB" sz="2400" b="0" i="0" u="none" strike="noStrike" baseline="0" dirty="0">
                <a:latin typeface="Comic Sans MS" panose="030F0702030302020204" pitchFamily="66" charset="0"/>
              </a:rPr>
              <a:t>Remember also that rules of Boolean algebra can be proven using a truth table. The example below uses a truth table to derive another rule.</a:t>
            </a:r>
            <a:endParaRPr lang="en-GB" sz="3600" dirty="0">
              <a:latin typeface="Comic Sans MS" panose="030F0702030302020204" pitchFamily="66" charset="0"/>
            </a:endParaRPr>
          </a:p>
        </p:txBody>
      </p:sp>
      <p:pic>
        <p:nvPicPr>
          <p:cNvPr id="6" name="Picture 5">
            <a:extLst>
              <a:ext uri="{FF2B5EF4-FFF2-40B4-BE49-F238E27FC236}">
                <a16:creationId xmlns:a16="http://schemas.microsoft.com/office/drawing/2014/main" id="{C94365FB-DF66-4F27-A959-6FF1050D2F4F}"/>
              </a:ext>
            </a:extLst>
          </p:cNvPr>
          <p:cNvPicPr>
            <a:picLocks noChangeAspect="1"/>
          </p:cNvPicPr>
          <p:nvPr/>
        </p:nvPicPr>
        <p:blipFill>
          <a:blip r:embed="rId2"/>
          <a:stretch>
            <a:fillRect/>
          </a:stretch>
        </p:blipFill>
        <p:spPr>
          <a:xfrm>
            <a:off x="2725872" y="99391"/>
            <a:ext cx="2029108" cy="1276528"/>
          </a:xfrm>
          <a:prstGeom prst="rect">
            <a:avLst/>
          </a:prstGeom>
        </p:spPr>
      </p:pic>
      <p:cxnSp>
        <p:nvCxnSpPr>
          <p:cNvPr id="8" name="Straight Connector 7">
            <a:extLst>
              <a:ext uri="{FF2B5EF4-FFF2-40B4-BE49-F238E27FC236}">
                <a16:creationId xmlns:a16="http://schemas.microsoft.com/office/drawing/2014/main" id="{72F3A7C4-DF1F-49FA-87A4-110D7A31A4D3}"/>
              </a:ext>
            </a:extLst>
          </p:cNvPr>
          <p:cNvCxnSpPr>
            <a:cxnSpLocks/>
          </p:cNvCxnSpPr>
          <p:nvPr/>
        </p:nvCxnSpPr>
        <p:spPr>
          <a:xfrm>
            <a:off x="1610138" y="3240157"/>
            <a:ext cx="21866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49AE2758-0893-44A8-A0EE-10373CC697DC}"/>
              </a:ext>
            </a:extLst>
          </p:cNvPr>
          <p:cNvPicPr>
            <a:picLocks noChangeAspect="1"/>
          </p:cNvPicPr>
          <p:nvPr/>
        </p:nvPicPr>
        <p:blipFill>
          <a:blip r:embed="rId3"/>
          <a:stretch>
            <a:fillRect/>
          </a:stretch>
        </p:blipFill>
        <p:spPr>
          <a:xfrm>
            <a:off x="2935357" y="2659051"/>
            <a:ext cx="2172003" cy="1162212"/>
          </a:xfrm>
          <a:prstGeom prst="rect">
            <a:avLst/>
          </a:prstGeom>
        </p:spPr>
      </p:pic>
    </p:spTree>
    <p:extLst>
      <p:ext uri="{BB962C8B-B14F-4D97-AF65-F5344CB8AC3E}">
        <p14:creationId xmlns:p14="http://schemas.microsoft.com/office/powerpoint/2010/main" val="3559223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573DC85-8D8A-45F2-B22F-1D3542C60BC5}"/>
              </a:ext>
            </a:extLst>
          </p:cNvPr>
          <p:cNvSpPr>
            <a:spLocks noGrp="1"/>
          </p:cNvSpPr>
          <p:nvPr>
            <p:ph idx="1"/>
          </p:nvPr>
        </p:nvSpPr>
        <p:spPr>
          <a:xfrm>
            <a:off x="89451" y="89452"/>
            <a:ext cx="12016409" cy="6698974"/>
          </a:xfrm>
        </p:spPr>
        <p:txBody>
          <a:bodyPr>
            <a:normAutofit fontScale="40000" lnSpcReduction="20000"/>
          </a:bodyPr>
          <a:lstStyle/>
          <a:p>
            <a:pPr algn="l"/>
            <a:r>
              <a:rPr lang="en-GB" sz="4400" b="0" i="1" u="none" strike="noStrike" baseline="0" dirty="0">
                <a:solidFill>
                  <a:srgbClr val="FF0000"/>
                </a:solidFill>
                <a:latin typeface="Comic Sans MS" panose="030F0702030302020204" pitchFamily="66" charset="0"/>
              </a:rPr>
              <a:t>Example</a:t>
            </a:r>
          </a:p>
          <a:p>
            <a:pPr algn="l"/>
            <a:r>
              <a:rPr lang="en-GB" sz="5000" b="0" i="0" u="none" strike="noStrike" baseline="0" dirty="0">
                <a:latin typeface="Comic Sans MS" panose="030F0702030302020204" pitchFamily="66" charset="0"/>
              </a:rPr>
              <a:t>Prove </a:t>
            </a:r>
            <a:r>
              <a:rPr lang="en-GB" sz="5000" b="0" i="1" u="none" strike="noStrike" baseline="0" dirty="0">
                <a:latin typeface="Comic Sans MS" panose="030F0702030302020204" pitchFamily="66" charset="0"/>
              </a:rPr>
              <a:t>A </a:t>
            </a:r>
            <a:r>
              <a:rPr lang="en-GB" sz="5000" b="0" i="0" u="none" strike="noStrike" baseline="0" dirty="0">
                <a:latin typeface="Comic Sans MS" panose="030F0702030302020204" pitchFamily="66" charset="0"/>
              </a:rPr>
              <a:t>+ </a:t>
            </a:r>
            <a:r>
              <a:rPr lang="en-GB" sz="5000" b="0" i="1" u="none" strike="noStrike" baseline="0" dirty="0">
                <a:latin typeface="Comic Sans MS" panose="030F0702030302020204" pitchFamily="66" charset="0"/>
              </a:rPr>
              <a:t>A </a:t>
            </a:r>
            <a:r>
              <a:rPr lang="en-GB" sz="5000" b="0" i="0" u="none" strike="noStrike" baseline="0" dirty="0">
                <a:latin typeface="Comic Sans MS" panose="030F0702030302020204" pitchFamily="66" charset="0"/>
              </a:rPr>
              <a:t>⋅ </a:t>
            </a:r>
            <a:r>
              <a:rPr lang="en-GB" sz="5000" b="0" i="1" u="none" strike="noStrike" baseline="0" dirty="0">
                <a:latin typeface="Comic Sans MS" panose="030F0702030302020204" pitchFamily="66" charset="0"/>
              </a:rPr>
              <a:t>B </a:t>
            </a:r>
            <a:r>
              <a:rPr lang="en-GB" sz="5000" b="0" i="0" u="none" strike="noStrike" baseline="0" dirty="0">
                <a:latin typeface="Comic Sans MS" panose="030F0702030302020204" pitchFamily="66" charset="0"/>
              </a:rPr>
              <a:t>= </a:t>
            </a:r>
            <a:r>
              <a:rPr lang="en-GB" sz="5000" b="0" i="1" u="none" strike="noStrike" baseline="0" dirty="0">
                <a:latin typeface="Comic Sans MS" panose="030F0702030302020204" pitchFamily="66" charset="0"/>
              </a:rPr>
              <a:t>A </a:t>
            </a:r>
            <a:r>
              <a:rPr lang="en-GB" sz="5000" b="0" i="0" u="none" strike="noStrike" baseline="0" dirty="0">
                <a:latin typeface="Comic Sans MS" panose="030F0702030302020204" pitchFamily="66" charset="0"/>
              </a:rPr>
              <a:t>+ </a:t>
            </a:r>
            <a:r>
              <a:rPr lang="en-GB" sz="5000" b="0" i="1" u="none" strike="noStrike" baseline="0" dirty="0">
                <a:latin typeface="Comic Sans MS" panose="030F0702030302020204" pitchFamily="66" charset="0"/>
              </a:rPr>
              <a:t>B</a:t>
            </a:r>
            <a:endParaRPr lang="en-GB" sz="5000" i="1" dirty="0">
              <a:latin typeface="Comic Sans MS" panose="030F0702030302020204" pitchFamily="66" charset="0"/>
            </a:endParaRPr>
          </a:p>
          <a:p>
            <a:pPr algn="l"/>
            <a:r>
              <a:rPr lang="en-GB" sz="5000" b="0" i="1" u="none" strike="noStrike" baseline="0" dirty="0">
                <a:latin typeface="Comic Sans MS" panose="030F0702030302020204" pitchFamily="66" charset="0"/>
              </a:rPr>
              <a:t>Solution</a:t>
            </a:r>
          </a:p>
          <a:p>
            <a:pPr algn="l"/>
            <a:r>
              <a:rPr lang="en-GB" sz="5000" b="0" i="0" u="none" strike="noStrike" baseline="0" dirty="0">
                <a:latin typeface="Comic Sans MS" panose="030F0702030302020204" pitchFamily="66" charset="0"/>
              </a:rPr>
              <a:t>The truth table below goes step-by-step through both sides of the expression to prove that </a:t>
            </a:r>
          </a:p>
          <a:p>
            <a:pPr marL="0" indent="0" algn="l">
              <a:buNone/>
            </a:pPr>
            <a:r>
              <a:rPr lang="en-GB" sz="5000" b="0" i="1" u="none" strike="noStrike" baseline="0" dirty="0">
                <a:latin typeface="Comic Sans MS" panose="030F0702030302020204" pitchFamily="66" charset="0"/>
              </a:rPr>
              <a:t>A </a:t>
            </a:r>
            <a:r>
              <a:rPr lang="en-GB" sz="5000" b="0" i="0" u="none" strike="noStrike" baseline="0" dirty="0">
                <a:latin typeface="Comic Sans MS" panose="030F0702030302020204" pitchFamily="66" charset="0"/>
              </a:rPr>
              <a:t>+ </a:t>
            </a:r>
            <a:r>
              <a:rPr lang="en-GB" sz="5000" b="0" i="1" u="none" strike="noStrike" baseline="0" dirty="0">
                <a:latin typeface="Comic Sans MS" panose="030F0702030302020204" pitchFamily="66" charset="0"/>
              </a:rPr>
              <a:t>A </a:t>
            </a:r>
            <a:r>
              <a:rPr lang="en-GB" sz="5000" b="0" i="0" u="none" strike="noStrike" baseline="0" dirty="0">
                <a:latin typeface="Comic Sans MS" panose="030F0702030302020204" pitchFamily="66" charset="0"/>
              </a:rPr>
              <a:t>⋅ </a:t>
            </a:r>
            <a:r>
              <a:rPr lang="en-GB" sz="5000" b="0" i="1" u="none" strike="noStrike" baseline="0" dirty="0">
                <a:latin typeface="Comic Sans MS" panose="030F0702030302020204" pitchFamily="66" charset="0"/>
              </a:rPr>
              <a:t>B </a:t>
            </a:r>
            <a:r>
              <a:rPr lang="en-GB" sz="5000" b="0" i="0" u="none" strike="noStrike" baseline="0" dirty="0">
                <a:latin typeface="Comic Sans MS" panose="030F0702030302020204" pitchFamily="66" charset="0"/>
              </a:rPr>
              <a:t>= </a:t>
            </a:r>
            <a:r>
              <a:rPr lang="en-GB" sz="5000" b="0" i="1" u="none" strike="noStrike" baseline="0" dirty="0">
                <a:latin typeface="Comic Sans MS" panose="030F0702030302020204" pitchFamily="66" charset="0"/>
              </a:rPr>
              <a:t>A </a:t>
            </a:r>
            <a:r>
              <a:rPr lang="en-GB" sz="5000" b="0" i="0" u="none" strike="noStrike" baseline="0" dirty="0">
                <a:latin typeface="Comic Sans MS" panose="030F0702030302020204" pitchFamily="66" charset="0"/>
              </a:rPr>
              <a:t>+ </a:t>
            </a:r>
            <a:r>
              <a:rPr lang="en-GB" sz="5000" b="0" i="1" u="none" strike="noStrike" baseline="0" dirty="0">
                <a:latin typeface="Comic Sans MS" panose="030F0702030302020204" pitchFamily="66" charset="0"/>
              </a:rPr>
              <a:t>B </a:t>
            </a:r>
            <a:r>
              <a:rPr lang="en-GB" sz="5000" b="0" i="0" u="none" strike="noStrike" baseline="0" dirty="0">
                <a:latin typeface="Comic Sans MS" panose="030F0702030302020204" pitchFamily="66" charset="0"/>
              </a:rPr>
              <a:t>.</a:t>
            </a:r>
          </a:p>
          <a:p>
            <a:pPr algn="l"/>
            <a:endParaRPr lang="en-GB" sz="2400" dirty="0">
              <a:latin typeface="Comic Sans MS" panose="030F0702030302020204" pitchFamily="66" charset="0"/>
            </a:endParaRPr>
          </a:p>
          <a:p>
            <a:pPr algn="l"/>
            <a:endParaRPr lang="en-GB" sz="2400" b="0" i="0" u="none" strike="noStrike" baseline="0" dirty="0">
              <a:latin typeface="Comic Sans MS" panose="030F0702030302020204" pitchFamily="66" charset="0"/>
            </a:endParaRPr>
          </a:p>
          <a:p>
            <a:pPr algn="l"/>
            <a:endParaRPr lang="en-GB" sz="2400" dirty="0">
              <a:latin typeface="Comic Sans MS" panose="030F0702030302020204" pitchFamily="66" charset="0"/>
            </a:endParaRPr>
          </a:p>
          <a:p>
            <a:pPr algn="l"/>
            <a:endParaRPr lang="en-GB" sz="2400" b="0" i="0" u="none" strike="noStrike" baseline="0" dirty="0">
              <a:latin typeface="Comic Sans MS" panose="030F0702030302020204" pitchFamily="66" charset="0"/>
            </a:endParaRPr>
          </a:p>
          <a:p>
            <a:pPr algn="l"/>
            <a:endParaRPr lang="en-GB" sz="2400" dirty="0">
              <a:latin typeface="Comic Sans MS" panose="030F0702030302020204" pitchFamily="66" charset="0"/>
            </a:endParaRPr>
          </a:p>
          <a:p>
            <a:pPr algn="l"/>
            <a:r>
              <a:rPr lang="en-GB" sz="500" b="0" i="0" u="none" strike="noStrike" baseline="0" dirty="0">
                <a:latin typeface="TimesNewRomanPSMT"/>
              </a:rPr>
              <a:t>[[</a:t>
            </a:r>
          </a:p>
          <a:p>
            <a:pPr algn="l"/>
            <a:endParaRPr lang="en-GB" sz="1800" b="0" i="0" u="none" strike="noStrike" baseline="0" dirty="0">
              <a:latin typeface="TimesNewRomanPSMT"/>
            </a:endParaRPr>
          </a:p>
          <a:p>
            <a:pPr algn="l"/>
            <a:endParaRPr lang="en-GB" sz="1800" b="0" i="0" u="none" strike="noStrike" baseline="0" dirty="0">
              <a:latin typeface="TimesNewRomanPSMT"/>
            </a:endParaRPr>
          </a:p>
          <a:p>
            <a:pPr algn="l"/>
            <a:endParaRPr lang="en-GB" sz="300" b="0" i="0" u="none" strike="noStrike" baseline="0" dirty="0">
              <a:latin typeface="TimesNewRomanPSMT"/>
            </a:endParaRPr>
          </a:p>
          <a:p>
            <a:pPr algn="l"/>
            <a:endParaRPr lang="en-GB" sz="300" dirty="0">
              <a:latin typeface="TimesNewRomanPSMT"/>
            </a:endParaRPr>
          </a:p>
          <a:p>
            <a:pPr marL="0" indent="0" algn="l">
              <a:buNone/>
            </a:pPr>
            <a:endParaRPr lang="en-GB" sz="1800" dirty="0">
              <a:latin typeface="TimesNewRomanPSMT"/>
            </a:endParaRPr>
          </a:p>
          <a:p>
            <a:pPr marL="0" indent="0" algn="l">
              <a:buNone/>
            </a:pPr>
            <a:endParaRPr lang="en-GB" sz="1500" b="0" i="0" u="none" strike="noStrike" baseline="0" dirty="0">
              <a:latin typeface="TimesNewRomanPSMT"/>
            </a:endParaRPr>
          </a:p>
          <a:p>
            <a:pPr algn="just"/>
            <a:r>
              <a:rPr lang="en-GB" sz="5000" b="0" i="0" u="none" strike="noStrike" baseline="0" dirty="0">
                <a:latin typeface="Comic Sans MS" panose="030F0702030302020204" pitchFamily="66" charset="0"/>
              </a:rPr>
              <a:t>The mathematical "F-O-I-L" principle, based on the distributive law, works in </a:t>
            </a:r>
            <a:r>
              <a:rPr lang="en-GB" sz="5000" b="0" i="0" u="none" strike="noStrike" baseline="0" dirty="0" err="1">
                <a:latin typeface="Comic Sans MS" panose="030F0702030302020204" pitchFamily="66" charset="0"/>
              </a:rPr>
              <a:t>boolean</a:t>
            </a:r>
            <a:r>
              <a:rPr lang="en-GB" sz="5000" b="0" i="0" u="none" strike="noStrike" baseline="0" dirty="0">
                <a:latin typeface="Comic Sans MS" panose="030F0702030302020204" pitchFamily="66" charset="0"/>
              </a:rPr>
              <a:t> algebra too. FOIL is a memory aid referring to the multiplication pattern for multiplying quadratic equations. It stands for:</a:t>
            </a:r>
          </a:p>
          <a:p>
            <a:pPr algn="just"/>
            <a:endParaRPr lang="en-GB" sz="4000" b="0" i="0" u="none" strike="noStrike" baseline="0" dirty="0">
              <a:latin typeface="Comic Sans MS" panose="030F0702030302020204" pitchFamily="66" charset="0"/>
            </a:endParaRPr>
          </a:p>
          <a:p>
            <a:pPr algn="just"/>
            <a:r>
              <a:rPr lang="en-GB" sz="3500" b="1" i="0" u="none" strike="noStrike" baseline="0" dirty="0">
                <a:latin typeface="Comic Sans MS" panose="030F0702030302020204" pitchFamily="66" charset="0"/>
              </a:rPr>
              <a:t>F – AND the first terms from each OR expression</a:t>
            </a:r>
          </a:p>
          <a:p>
            <a:pPr algn="just"/>
            <a:r>
              <a:rPr lang="en-GB" sz="3500" b="1" i="0" u="none" strike="noStrike" baseline="0" dirty="0">
                <a:latin typeface="Comic Sans MS" panose="030F0702030302020204" pitchFamily="66" charset="0"/>
              </a:rPr>
              <a:t>O – AND the outside terms (the first term from the first OR expression and the last term from the last OR expression)</a:t>
            </a:r>
          </a:p>
          <a:p>
            <a:pPr algn="just"/>
            <a:r>
              <a:rPr lang="en-GB" sz="3500" b="1" i="0" u="none" strike="noStrike" baseline="0" dirty="0">
                <a:latin typeface="Comic Sans MS" panose="030F0702030302020204" pitchFamily="66" charset="0"/>
              </a:rPr>
              <a:t>I – AND the inside terms (the last term from the first OR expression and the first term from the last OR expression)</a:t>
            </a:r>
          </a:p>
          <a:p>
            <a:pPr algn="just"/>
            <a:r>
              <a:rPr lang="en-GB" sz="3500" b="1" i="0" u="none" strike="noStrike" baseline="0" dirty="0">
                <a:latin typeface="Comic Sans MS" panose="030F0702030302020204" pitchFamily="66" charset="0"/>
              </a:rPr>
              <a:t>L – AND the last terms from each OR expression</a:t>
            </a:r>
          </a:p>
          <a:p>
            <a:pPr algn="l"/>
            <a:endParaRPr lang="en-GB" sz="4400" dirty="0">
              <a:latin typeface="Comic Sans MS" panose="030F0702030302020204" pitchFamily="66" charset="0"/>
            </a:endParaRPr>
          </a:p>
        </p:txBody>
      </p:sp>
      <p:cxnSp>
        <p:nvCxnSpPr>
          <p:cNvPr id="8" name="Straight Connector 7">
            <a:extLst>
              <a:ext uri="{FF2B5EF4-FFF2-40B4-BE49-F238E27FC236}">
                <a16:creationId xmlns:a16="http://schemas.microsoft.com/office/drawing/2014/main" id="{86600D4C-AF66-4FE6-879E-3D6874A7A5A5}"/>
              </a:ext>
            </a:extLst>
          </p:cNvPr>
          <p:cNvCxnSpPr/>
          <p:nvPr/>
        </p:nvCxnSpPr>
        <p:spPr>
          <a:xfrm>
            <a:off x="1549261" y="413716"/>
            <a:ext cx="2584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6BE54BB-1B05-49DD-85AF-1FB8EF94BE7F}"/>
              </a:ext>
            </a:extLst>
          </p:cNvPr>
          <p:cNvCxnSpPr/>
          <p:nvPr/>
        </p:nvCxnSpPr>
        <p:spPr>
          <a:xfrm>
            <a:off x="634447" y="1423366"/>
            <a:ext cx="2584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2267482-F63D-43AA-B0DE-A687A7EB3E9A}"/>
              </a:ext>
            </a:extLst>
          </p:cNvPr>
          <p:cNvPicPr>
            <a:picLocks noChangeAspect="1"/>
          </p:cNvPicPr>
          <p:nvPr/>
        </p:nvPicPr>
        <p:blipFill>
          <a:blip r:embed="rId2"/>
          <a:stretch>
            <a:fillRect/>
          </a:stretch>
        </p:blipFill>
        <p:spPr>
          <a:xfrm>
            <a:off x="892864" y="1709531"/>
            <a:ext cx="8472001" cy="2281365"/>
          </a:xfrm>
          <a:prstGeom prst="rect">
            <a:avLst/>
          </a:prstGeom>
        </p:spPr>
      </p:pic>
    </p:spTree>
    <p:extLst>
      <p:ext uri="{BB962C8B-B14F-4D97-AF65-F5344CB8AC3E}">
        <p14:creationId xmlns:p14="http://schemas.microsoft.com/office/powerpoint/2010/main" val="4116830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7B7723-56E7-4BFD-97BD-04F42D9B1C29}"/>
              </a:ext>
            </a:extLst>
          </p:cNvPr>
          <p:cNvSpPr>
            <a:spLocks noGrp="1"/>
          </p:cNvSpPr>
          <p:nvPr>
            <p:ph idx="1"/>
          </p:nvPr>
        </p:nvSpPr>
        <p:spPr>
          <a:xfrm>
            <a:off x="0" y="0"/>
            <a:ext cx="12096750" cy="6781800"/>
          </a:xfrm>
        </p:spPr>
        <p:txBody>
          <a:bodyPr>
            <a:normAutofit/>
          </a:bodyPr>
          <a:lstStyle/>
          <a:p>
            <a:pPr algn="just"/>
            <a:r>
              <a:rPr lang="en-GB" b="0" i="1" u="none" strike="noStrike" baseline="0" dirty="0">
                <a:solidFill>
                  <a:srgbClr val="FF0000"/>
                </a:solidFill>
                <a:latin typeface="Comic Sans MS" panose="030F0702030302020204" pitchFamily="66" charset="0"/>
              </a:rPr>
              <a:t>Example</a:t>
            </a:r>
          </a:p>
          <a:p>
            <a:pPr algn="just"/>
            <a:r>
              <a:rPr lang="en-GB" b="0" i="0" u="none" strike="noStrike" baseline="0" dirty="0">
                <a:latin typeface="Comic Sans MS" panose="030F0702030302020204" pitchFamily="66" charset="0"/>
              </a:rPr>
              <a:t>Prove </a:t>
            </a:r>
            <a:r>
              <a:rPr lang="en-GB" b="0" i="1" u="none" strike="noStrike" baseline="0" dirty="0">
                <a:latin typeface="Comic Sans MS" panose="030F0702030302020204" pitchFamily="66" charset="0"/>
              </a:rPr>
              <a:t>(A + B)·(A + C) = A + B·C</a:t>
            </a:r>
          </a:p>
          <a:p>
            <a:pPr algn="just"/>
            <a:endParaRPr lang="en-GB" i="1" dirty="0">
              <a:latin typeface="Comic Sans MS" panose="030F0702030302020204" pitchFamily="66" charset="0"/>
            </a:endParaRPr>
          </a:p>
          <a:p>
            <a:pPr algn="just"/>
            <a:r>
              <a:rPr lang="en-GB" b="0" i="1" u="none" strike="noStrike" baseline="0" dirty="0">
                <a:solidFill>
                  <a:srgbClr val="FF0000"/>
                </a:solidFill>
                <a:latin typeface="Comic Sans MS" panose="030F0702030302020204" pitchFamily="66" charset="0"/>
              </a:rPr>
              <a:t>Solution</a:t>
            </a:r>
          </a:p>
          <a:p>
            <a:pPr marL="914400" lvl="2" indent="0" algn="just">
              <a:buNone/>
            </a:pPr>
            <a:r>
              <a:rPr lang="en-GB" sz="2800" b="0" i="0" u="none" strike="noStrike" baseline="0" dirty="0">
                <a:latin typeface="Comic Sans MS" panose="030F0702030302020204" pitchFamily="66" charset="0"/>
              </a:rPr>
              <a:t>(A + B)·(A + C) </a:t>
            </a:r>
          </a:p>
          <a:p>
            <a:pPr marL="914400" lvl="2" indent="0" algn="just">
              <a:buNone/>
            </a:pPr>
            <a:r>
              <a:rPr lang="en-GB" sz="2800" b="0" i="0" u="none" strike="noStrike" baseline="0" dirty="0">
                <a:latin typeface="Comic Sans MS" panose="030F0702030302020204" pitchFamily="66" charset="0"/>
              </a:rPr>
              <a:t>= (A + B)·A + (A + B)·C Distributive Law</a:t>
            </a:r>
          </a:p>
          <a:p>
            <a:pPr marL="914400" lvl="2" indent="0" algn="just">
              <a:buNone/>
            </a:pPr>
            <a:r>
              <a:rPr lang="en-GB" sz="2800" b="0" i="0" u="none" strike="noStrike" baseline="0" dirty="0">
                <a:latin typeface="Comic Sans MS" panose="030F0702030302020204" pitchFamily="66" charset="0"/>
              </a:rPr>
              <a:t>= A·A + B·A + A·C + B·C Distributive Law</a:t>
            </a:r>
          </a:p>
          <a:p>
            <a:pPr marL="914400" lvl="2" indent="0" algn="just">
              <a:buNone/>
            </a:pPr>
            <a:r>
              <a:rPr lang="en-GB" sz="2800" b="0" i="0" u="none" strike="noStrike" baseline="0" dirty="0">
                <a:latin typeface="Comic Sans MS" panose="030F0702030302020204" pitchFamily="66" charset="0"/>
              </a:rPr>
              <a:t>= A + B·A + A·C + B·C Rule: A·A = A</a:t>
            </a:r>
          </a:p>
          <a:p>
            <a:pPr marL="914400" lvl="2" indent="0" algn="just">
              <a:buNone/>
            </a:pPr>
            <a:r>
              <a:rPr lang="en-GB" sz="2800" b="0" i="0" u="none" strike="noStrike" baseline="0" dirty="0">
                <a:latin typeface="Comic Sans MS" panose="030F0702030302020204" pitchFamily="66" charset="0"/>
              </a:rPr>
              <a:t>= A + A·B + A·C + B·C Commutative Law</a:t>
            </a:r>
          </a:p>
          <a:p>
            <a:pPr marL="914400" lvl="2" indent="0" algn="just">
              <a:buNone/>
            </a:pPr>
            <a:r>
              <a:rPr lang="en-GB" sz="2800" b="0" i="0" u="none" strike="noStrike" baseline="0" dirty="0">
                <a:latin typeface="Comic Sans MS" panose="030F0702030302020204" pitchFamily="66" charset="0"/>
              </a:rPr>
              <a:t>= A + A·</a:t>
            </a:r>
            <a:r>
              <a:rPr lang="en-GB" sz="2800" b="0" i="0" u="none" strike="noStrike" baseline="0" dirty="0">
                <a:solidFill>
                  <a:srgbClr val="FF0000"/>
                </a:solidFill>
                <a:latin typeface="Comic Sans MS" panose="030F0702030302020204" pitchFamily="66" charset="0"/>
              </a:rPr>
              <a:t>C</a:t>
            </a:r>
            <a:r>
              <a:rPr lang="en-GB" sz="2800" b="0" i="0" u="none" strike="noStrike" baseline="0" dirty="0">
                <a:latin typeface="Comic Sans MS" panose="030F0702030302020204" pitchFamily="66" charset="0"/>
              </a:rPr>
              <a:t> + B·C Rule: A + A·B = A</a:t>
            </a:r>
          </a:p>
          <a:p>
            <a:pPr marL="914400" lvl="2" indent="0" algn="just">
              <a:buNone/>
            </a:pPr>
            <a:r>
              <a:rPr lang="en-GB" sz="2800" b="0" i="0" u="none" strike="noStrike" baseline="0" dirty="0">
                <a:latin typeface="Comic Sans MS" panose="030F0702030302020204" pitchFamily="66" charset="0"/>
              </a:rPr>
              <a:t>= A + B·C Rule: A + A·</a:t>
            </a:r>
            <a:r>
              <a:rPr lang="en-GB" sz="2800" b="0" i="0" u="none" strike="noStrike" baseline="0" dirty="0">
                <a:solidFill>
                  <a:srgbClr val="FF0000"/>
                </a:solidFill>
                <a:latin typeface="Comic Sans MS" panose="030F0702030302020204" pitchFamily="66" charset="0"/>
              </a:rPr>
              <a:t>B</a:t>
            </a:r>
            <a:r>
              <a:rPr lang="en-GB" sz="2800" b="0" i="0" u="none" strike="noStrike" baseline="0" dirty="0">
                <a:latin typeface="Comic Sans MS" panose="030F0702030302020204" pitchFamily="66" charset="0"/>
              </a:rPr>
              <a:t> = A</a:t>
            </a:r>
          </a:p>
          <a:p>
            <a:pPr algn="just"/>
            <a:endParaRPr lang="en-GB"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Now that you have a taste for the manipulation of Boolean</a:t>
            </a:r>
            <a:r>
              <a:rPr lang="en-GB" sz="2400" dirty="0">
                <a:latin typeface="Comic Sans MS" panose="030F0702030302020204" pitchFamily="66" charset="0"/>
              </a:rPr>
              <a:t> </a:t>
            </a:r>
            <a:r>
              <a:rPr lang="en-GB" sz="2400" b="0" i="0" u="none" strike="noStrike" baseline="0" dirty="0">
                <a:latin typeface="Comic Sans MS" panose="030F0702030302020204" pitchFamily="66" charset="0"/>
              </a:rPr>
              <a:t>expressions, the next section will show examples of how complex expressions can be simplified.</a:t>
            </a:r>
            <a:endParaRPr lang="en-GB" sz="2400" dirty="0">
              <a:latin typeface="Comic Sans MS" panose="030F0702030302020204" pitchFamily="66" charset="0"/>
            </a:endParaRPr>
          </a:p>
        </p:txBody>
      </p:sp>
    </p:spTree>
    <p:extLst>
      <p:ext uri="{BB962C8B-B14F-4D97-AF65-F5344CB8AC3E}">
        <p14:creationId xmlns:p14="http://schemas.microsoft.com/office/powerpoint/2010/main" val="3550761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536572-09E0-4015-86F5-0AE8F6F4AB28}"/>
              </a:ext>
            </a:extLst>
          </p:cNvPr>
          <p:cNvSpPr>
            <a:spLocks noGrp="1"/>
          </p:cNvSpPr>
          <p:nvPr>
            <p:ph idx="1"/>
          </p:nvPr>
        </p:nvSpPr>
        <p:spPr>
          <a:xfrm>
            <a:off x="66675" y="0"/>
            <a:ext cx="12058650" cy="6762750"/>
          </a:xfrm>
        </p:spPr>
        <p:txBody>
          <a:bodyPr>
            <a:normAutofit/>
          </a:bodyPr>
          <a:lstStyle/>
          <a:p>
            <a:r>
              <a:rPr lang="en-GB" b="1" i="0" u="none" strike="noStrike" baseline="0" dirty="0">
                <a:solidFill>
                  <a:srgbClr val="FF0000"/>
                </a:solidFill>
                <a:latin typeface="Comic Sans MS" panose="030F0702030302020204" pitchFamily="66" charset="0"/>
              </a:rPr>
              <a:t>Simplification</a:t>
            </a:r>
          </a:p>
          <a:p>
            <a:r>
              <a:rPr lang="en-GB" b="0" i="0" u="none" strike="noStrike" baseline="0" dirty="0">
                <a:latin typeface="Comic Sans MS" panose="030F0702030302020204" pitchFamily="66" charset="0"/>
              </a:rPr>
              <a:t>The rules of the previous section are summarized</a:t>
            </a:r>
            <a:endParaRPr lang="en-GB" sz="4800" dirty="0">
              <a:solidFill>
                <a:srgbClr val="FF0000"/>
              </a:solidFill>
              <a:latin typeface="Comic Sans MS" panose="030F0702030302020204" pitchFamily="66" charset="0"/>
            </a:endParaRPr>
          </a:p>
        </p:txBody>
      </p:sp>
      <p:pic>
        <p:nvPicPr>
          <p:cNvPr id="5" name="Picture 4">
            <a:extLst>
              <a:ext uri="{FF2B5EF4-FFF2-40B4-BE49-F238E27FC236}">
                <a16:creationId xmlns:a16="http://schemas.microsoft.com/office/drawing/2014/main" id="{B60C0B63-1D97-4F11-B4C5-E2733287E9B3}"/>
              </a:ext>
            </a:extLst>
          </p:cNvPr>
          <p:cNvPicPr>
            <a:picLocks noChangeAspect="1"/>
          </p:cNvPicPr>
          <p:nvPr/>
        </p:nvPicPr>
        <p:blipFill>
          <a:blip r:embed="rId2"/>
          <a:stretch>
            <a:fillRect/>
          </a:stretch>
        </p:blipFill>
        <p:spPr>
          <a:xfrm>
            <a:off x="590551" y="1118957"/>
            <a:ext cx="9934574" cy="4938657"/>
          </a:xfrm>
          <a:prstGeom prst="rect">
            <a:avLst/>
          </a:prstGeom>
        </p:spPr>
      </p:pic>
    </p:spTree>
    <p:extLst>
      <p:ext uri="{BB962C8B-B14F-4D97-AF65-F5344CB8AC3E}">
        <p14:creationId xmlns:p14="http://schemas.microsoft.com/office/powerpoint/2010/main" val="2935876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77A92B-2D5A-49DC-9CFA-2DB787C444E6}"/>
              </a:ext>
            </a:extLst>
          </p:cNvPr>
          <p:cNvSpPr>
            <a:spLocks noGrp="1"/>
          </p:cNvSpPr>
          <p:nvPr>
            <p:ph idx="1"/>
          </p:nvPr>
        </p:nvSpPr>
        <p:spPr>
          <a:xfrm>
            <a:off x="76199" y="66674"/>
            <a:ext cx="11953875" cy="6791325"/>
          </a:xfrm>
        </p:spPr>
        <p:txBody>
          <a:bodyPr>
            <a:normAutofit/>
          </a:bodyPr>
          <a:lstStyle/>
          <a:p>
            <a:pPr algn="just"/>
            <a:r>
              <a:rPr lang="en-GB" sz="2400" b="0" i="1" u="none" strike="noStrike" baseline="0" dirty="0">
                <a:solidFill>
                  <a:srgbClr val="FF0000"/>
                </a:solidFill>
                <a:latin typeface="Comic Sans MS" panose="030F0702030302020204" pitchFamily="66" charset="0"/>
              </a:rPr>
              <a:t>Example</a:t>
            </a:r>
          </a:p>
          <a:p>
            <a:pPr algn="just"/>
            <a:r>
              <a:rPr lang="en-GB" sz="2400" b="0" i="0" u="none" strike="noStrike" baseline="0" dirty="0">
                <a:latin typeface="Comic Sans MS" panose="030F0702030302020204" pitchFamily="66" charset="0"/>
              </a:rPr>
              <a:t>Simplify </a:t>
            </a:r>
            <a:r>
              <a:rPr lang="en-GB" sz="2400" b="0" i="1" u="none" strike="noStrike" baseline="0" dirty="0">
                <a:latin typeface="Comic Sans MS" panose="030F0702030302020204" pitchFamily="66" charset="0"/>
              </a:rPr>
              <a:t>(A·B + C)(A·B + D)</a:t>
            </a:r>
          </a:p>
          <a:p>
            <a:pPr algn="just"/>
            <a:r>
              <a:rPr lang="en-GB" sz="2400" b="0" i="1" u="none" strike="noStrike" baseline="0" dirty="0">
                <a:solidFill>
                  <a:srgbClr val="FF0000"/>
                </a:solidFill>
                <a:latin typeface="Comic Sans MS" panose="030F0702030302020204" pitchFamily="66" charset="0"/>
              </a:rPr>
              <a:t>Solution</a:t>
            </a:r>
          </a:p>
          <a:p>
            <a:pPr marL="457200" lvl="1" indent="0" algn="just">
              <a:buNone/>
            </a:pPr>
            <a:r>
              <a:rPr lang="en-GB" b="0" i="0" u="none" strike="noStrike" baseline="0" dirty="0">
                <a:latin typeface="Comic Sans MS" panose="030F0702030302020204" pitchFamily="66" charset="0"/>
              </a:rPr>
              <a:t>From the rules of Boolean algebra, we know that</a:t>
            </a:r>
          </a:p>
          <a:p>
            <a:pPr marL="457200" lvl="1" indent="0" algn="just">
              <a:buNone/>
            </a:pPr>
            <a:r>
              <a:rPr lang="en-GB" b="0" i="0" u="none" strike="noStrike" baseline="0" dirty="0">
                <a:latin typeface="Comic Sans MS" panose="030F0702030302020204" pitchFamily="66" charset="0"/>
              </a:rPr>
              <a:t> (A + B)(A + C) = A + BC. </a:t>
            </a:r>
          </a:p>
          <a:p>
            <a:pPr marL="457200" lvl="1" indent="0" algn="just">
              <a:buNone/>
            </a:pPr>
            <a:r>
              <a:rPr lang="en-GB" b="0" i="0" u="none" strike="noStrike" baseline="0" dirty="0">
                <a:latin typeface="Comic Sans MS" panose="030F0702030302020204" pitchFamily="66" charset="0"/>
              </a:rPr>
              <a:t>Substitute A·B for A, C for B, and D for C and we get:</a:t>
            </a:r>
          </a:p>
          <a:p>
            <a:pPr marL="457200" lvl="1" indent="0" algn="just">
              <a:buNone/>
            </a:pPr>
            <a:r>
              <a:rPr lang="pt-BR" b="0" i="0" u="none" strike="noStrike" baseline="0" dirty="0">
                <a:latin typeface="Comic Sans MS" panose="030F0702030302020204" pitchFamily="66" charset="0"/>
              </a:rPr>
              <a:t>(A·B + C)(A·B + D) = A·B + C·D</a:t>
            </a:r>
          </a:p>
          <a:p>
            <a:pPr marL="457200" lvl="1" indent="0" algn="just">
              <a:buNone/>
            </a:pPr>
            <a:endParaRPr lang="pt-BR" dirty="0">
              <a:latin typeface="Comic Sans MS" panose="030F0702030302020204" pitchFamily="66" charset="0"/>
            </a:endParaRPr>
          </a:p>
          <a:p>
            <a:pPr algn="l"/>
            <a:r>
              <a:rPr lang="en-GB" sz="2400" b="0" i="1" u="none" strike="noStrike" baseline="0" dirty="0">
                <a:solidFill>
                  <a:srgbClr val="FF0000"/>
                </a:solidFill>
                <a:latin typeface="Comic Sans MS" panose="030F0702030302020204" pitchFamily="66" charset="0"/>
              </a:rPr>
              <a:t>Example</a:t>
            </a:r>
          </a:p>
          <a:p>
            <a:pPr algn="l"/>
            <a:r>
              <a:rPr lang="en-GB" sz="2400" b="0" i="0" u="none" strike="noStrike" baseline="0" dirty="0">
                <a:latin typeface="Comic Sans MS" panose="030F0702030302020204" pitchFamily="66" charset="0"/>
              </a:rPr>
              <a:t>Simplify (</a:t>
            </a:r>
            <a:r>
              <a:rPr lang="en-GB" sz="2400" b="0" i="1" u="none" strike="noStrike" baseline="0" dirty="0">
                <a:latin typeface="Comic Sans MS" panose="030F0702030302020204" pitchFamily="66" charset="0"/>
              </a:rPr>
              <a:t>A </a:t>
            </a:r>
            <a:r>
              <a:rPr lang="en-GB" sz="2400" b="0" i="0" u="none" strike="noStrike" baseline="0" dirty="0">
                <a:latin typeface="Comic Sans MS" panose="030F0702030302020204" pitchFamily="66" charset="0"/>
              </a:rPr>
              <a:t>+ </a:t>
            </a:r>
            <a:r>
              <a:rPr lang="en-GB" sz="2400" b="0" i="1" u="none" strike="noStrike" baseline="0" dirty="0">
                <a:latin typeface="Comic Sans MS" panose="030F0702030302020204" pitchFamily="66" charset="0"/>
              </a:rPr>
              <a:t>B</a:t>
            </a:r>
            <a:r>
              <a:rPr lang="en-GB" sz="2400" b="0" i="0" u="none" strike="noStrike" baseline="0" dirty="0">
                <a:latin typeface="Comic Sans MS" panose="030F0702030302020204" pitchFamily="66" charset="0"/>
              </a:rPr>
              <a:t>) ⋅ (</a:t>
            </a:r>
            <a:r>
              <a:rPr lang="en-GB" sz="2400" b="0" i="1" u="none" strike="noStrike" baseline="0" dirty="0">
                <a:latin typeface="Comic Sans MS" panose="030F0702030302020204" pitchFamily="66" charset="0"/>
              </a:rPr>
              <a:t>B </a:t>
            </a:r>
            <a:r>
              <a:rPr lang="en-GB" sz="2400" b="0" i="0" u="none" strike="noStrike" baseline="0" dirty="0">
                <a:latin typeface="Comic Sans MS" panose="030F0702030302020204" pitchFamily="66" charset="0"/>
              </a:rPr>
              <a:t>+ </a:t>
            </a:r>
            <a:r>
              <a:rPr lang="en-GB" sz="2400" b="0" i="1" u="none" strike="noStrike" baseline="0" dirty="0">
                <a:latin typeface="Comic Sans MS" panose="030F0702030302020204" pitchFamily="66" charset="0"/>
              </a:rPr>
              <a:t>B</a:t>
            </a:r>
            <a:r>
              <a:rPr lang="en-GB" sz="2400" b="0" i="0" u="none" strike="noStrike" baseline="0" dirty="0">
                <a:latin typeface="Comic Sans MS" panose="030F0702030302020204" pitchFamily="66" charset="0"/>
              </a:rPr>
              <a:t>)</a:t>
            </a:r>
          </a:p>
          <a:p>
            <a:pPr algn="l"/>
            <a:r>
              <a:rPr lang="en-GB" sz="2400" b="0" i="1" u="none" strike="noStrike" baseline="0" dirty="0">
                <a:solidFill>
                  <a:srgbClr val="FF0000"/>
                </a:solidFill>
                <a:latin typeface="Comic Sans MS" panose="030F0702030302020204" pitchFamily="66" charset="0"/>
              </a:rPr>
              <a:t>Solution</a:t>
            </a:r>
          </a:p>
          <a:p>
            <a:pPr marL="914400" lvl="2" indent="0">
              <a:buNone/>
            </a:pPr>
            <a:r>
              <a:rPr lang="en-GB" sz="2400" b="0" i="0" u="none" strike="noStrike" baseline="0" dirty="0">
                <a:latin typeface="Comic Sans MS" panose="030F0702030302020204" pitchFamily="66" charset="0"/>
              </a:rPr>
              <a:t>(A + B)·1 Anything </a:t>
            </a:r>
            <a:r>
              <a:rPr lang="en-GB" sz="2400" b="0" i="0" u="none" strike="noStrike" baseline="0" dirty="0" err="1">
                <a:latin typeface="Comic Sans MS" panose="030F0702030302020204" pitchFamily="66" charset="0"/>
              </a:rPr>
              <a:t>OR'ed</a:t>
            </a:r>
            <a:r>
              <a:rPr lang="en-GB" sz="2400" b="0" i="0" u="none" strike="noStrike" baseline="0" dirty="0">
                <a:latin typeface="Comic Sans MS" panose="030F0702030302020204" pitchFamily="66" charset="0"/>
              </a:rPr>
              <a:t> with its inverse is 1</a:t>
            </a:r>
          </a:p>
          <a:p>
            <a:pPr marL="914400" lvl="2" indent="0">
              <a:buNone/>
            </a:pPr>
            <a:r>
              <a:rPr lang="en-GB" sz="2400" b="0" i="0" u="none" strike="noStrike" baseline="0" dirty="0">
                <a:latin typeface="Comic Sans MS" panose="030F0702030302020204" pitchFamily="66" charset="0"/>
              </a:rPr>
              <a:t>(A + B) Anything </a:t>
            </a:r>
            <a:r>
              <a:rPr lang="en-GB" sz="2400" b="0" i="0" u="none" strike="noStrike" baseline="0" dirty="0" err="1">
                <a:latin typeface="Comic Sans MS" panose="030F0702030302020204" pitchFamily="66" charset="0"/>
              </a:rPr>
              <a:t>AND'ed</a:t>
            </a:r>
            <a:r>
              <a:rPr lang="en-GB" sz="2400" b="0" i="0" u="none" strike="noStrike" baseline="0" dirty="0">
                <a:latin typeface="Comic Sans MS" panose="030F0702030302020204" pitchFamily="66" charset="0"/>
              </a:rPr>
              <a:t> with 1 is itself</a:t>
            </a:r>
            <a:endParaRPr lang="en-GB" sz="3200" dirty="0">
              <a:latin typeface="Comic Sans MS" panose="030F0702030302020204" pitchFamily="66" charset="0"/>
            </a:endParaRPr>
          </a:p>
        </p:txBody>
      </p:sp>
      <p:cxnSp>
        <p:nvCxnSpPr>
          <p:cNvPr id="5" name="Straight Connector 4">
            <a:extLst>
              <a:ext uri="{FF2B5EF4-FFF2-40B4-BE49-F238E27FC236}">
                <a16:creationId xmlns:a16="http://schemas.microsoft.com/office/drawing/2014/main" id="{98C2151D-C532-44E1-8191-B27E972DA9B9}"/>
              </a:ext>
            </a:extLst>
          </p:cNvPr>
          <p:cNvCxnSpPr/>
          <p:nvPr/>
        </p:nvCxnSpPr>
        <p:spPr>
          <a:xfrm>
            <a:off x="3048000" y="3838575"/>
            <a:ext cx="16192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6636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D74DCEF-E54F-4536-B086-0D52068A00D0}"/>
              </a:ext>
            </a:extLst>
          </p:cNvPr>
          <p:cNvPicPr>
            <a:picLocks noGrp="1" noChangeAspect="1"/>
          </p:cNvPicPr>
          <p:nvPr>
            <p:ph idx="1"/>
          </p:nvPr>
        </p:nvPicPr>
        <p:blipFill>
          <a:blip r:embed="rId2"/>
          <a:stretch>
            <a:fillRect/>
          </a:stretch>
        </p:blipFill>
        <p:spPr>
          <a:xfrm>
            <a:off x="362887" y="177800"/>
            <a:ext cx="10257487" cy="6232966"/>
          </a:xfrm>
        </p:spPr>
      </p:pic>
    </p:spTree>
    <p:extLst>
      <p:ext uri="{BB962C8B-B14F-4D97-AF65-F5344CB8AC3E}">
        <p14:creationId xmlns:p14="http://schemas.microsoft.com/office/powerpoint/2010/main" val="34457402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73D09E-8E6C-44E2-AAA7-94680F968355}"/>
              </a:ext>
            </a:extLst>
          </p:cNvPr>
          <p:cNvSpPr>
            <a:spLocks noGrp="1"/>
          </p:cNvSpPr>
          <p:nvPr>
            <p:ph idx="1"/>
          </p:nvPr>
        </p:nvSpPr>
        <p:spPr>
          <a:xfrm>
            <a:off x="76200" y="104774"/>
            <a:ext cx="12039600" cy="6677025"/>
          </a:xfrm>
        </p:spPr>
        <p:txBody>
          <a:bodyPr/>
          <a:lstStyle/>
          <a:p>
            <a:pPr marL="0" indent="0">
              <a:buNone/>
            </a:pPr>
            <a:endParaRPr lang="en-GB" dirty="0"/>
          </a:p>
        </p:txBody>
      </p:sp>
      <p:pic>
        <p:nvPicPr>
          <p:cNvPr id="7" name="Picture 6">
            <a:extLst>
              <a:ext uri="{FF2B5EF4-FFF2-40B4-BE49-F238E27FC236}">
                <a16:creationId xmlns:a16="http://schemas.microsoft.com/office/drawing/2014/main" id="{415E177C-E5F9-4430-87AB-66DC1703F3C2}"/>
              </a:ext>
            </a:extLst>
          </p:cNvPr>
          <p:cNvPicPr>
            <a:picLocks noChangeAspect="1"/>
          </p:cNvPicPr>
          <p:nvPr/>
        </p:nvPicPr>
        <p:blipFill>
          <a:blip r:embed="rId2"/>
          <a:stretch>
            <a:fillRect/>
          </a:stretch>
        </p:blipFill>
        <p:spPr>
          <a:xfrm>
            <a:off x="76200" y="92779"/>
            <a:ext cx="3458058" cy="905001"/>
          </a:xfrm>
          <a:prstGeom prst="rect">
            <a:avLst/>
          </a:prstGeom>
        </p:spPr>
      </p:pic>
      <p:pic>
        <p:nvPicPr>
          <p:cNvPr id="9" name="Picture 8">
            <a:extLst>
              <a:ext uri="{FF2B5EF4-FFF2-40B4-BE49-F238E27FC236}">
                <a16:creationId xmlns:a16="http://schemas.microsoft.com/office/drawing/2014/main" id="{1F92E214-3136-488C-8CBB-93CC4EA1BDE9}"/>
              </a:ext>
            </a:extLst>
          </p:cNvPr>
          <p:cNvPicPr>
            <a:picLocks noChangeAspect="1"/>
          </p:cNvPicPr>
          <p:nvPr/>
        </p:nvPicPr>
        <p:blipFill>
          <a:blip r:embed="rId3"/>
          <a:stretch>
            <a:fillRect/>
          </a:stretch>
        </p:blipFill>
        <p:spPr>
          <a:xfrm>
            <a:off x="237576" y="997780"/>
            <a:ext cx="7868748" cy="2505425"/>
          </a:xfrm>
          <a:prstGeom prst="rect">
            <a:avLst/>
          </a:prstGeom>
        </p:spPr>
      </p:pic>
    </p:spTree>
    <p:extLst>
      <p:ext uri="{BB962C8B-B14F-4D97-AF65-F5344CB8AC3E}">
        <p14:creationId xmlns:p14="http://schemas.microsoft.com/office/powerpoint/2010/main" val="31982124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07E6CAC-BA0E-4ADE-AD67-FF0E90EEF9A6}"/>
              </a:ext>
            </a:extLst>
          </p:cNvPr>
          <p:cNvPicPr>
            <a:picLocks noGrp="1" noChangeAspect="1"/>
          </p:cNvPicPr>
          <p:nvPr>
            <p:ph idx="1"/>
          </p:nvPr>
        </p:nvPicPr>
        <p:blipFill>
          <a:blip r:embed="rId2"/>
          <a:stretch>
            <a:fillRect/>
          </a:stretch>
        </p:blipFill>
        <p:spPr>
          <a:xfrm>
            <a:off x="276224" y="186163"/>
            <a:ext cx="10296525" cy="6589298"/>
          </a:xfrm>
        </p:spPr>
      </p:pic>
    </p:spTree>
    <p:extLst>
      <p:ext uri="{BB962C8B-B14F-4D97-AF65-F5344CB8AC3E}">
        <p14:creationId xmlns:p14="http://schemas.microsoft.com/office/powerpoint/2010/main" val="1730434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BB9BCA-61DE-4E15-B918-48413BD57879}"/>
              </a:ext>
            </a:extLst>
          </p:cNvPr>
          <p:cNvSpPr>
            <a:spLocks noGrp="1"/>
          </p:cNvSpPr>
          <p:nvPr>
            <p:ph idx="1"/>
          </p:nvPr>
        </p:nvSpPr>
        <p:spPr>
          <a:xfrm>
            <a:off x="0" y="142874"/>
            <a:ext cx="12115800" cy="6619875"/>
          </a:xfrm>
        </p:spPr>
        <p:txBody>
          <a:bodyPr>
            <a:normAutofit fontScale="92500"/>
          </a:bodyPr>
          <a:lstStyle/>
          <a:p>
            <a:r>
              <a:rPr lang="en-GB" b="1" i="0" u="none" strike="noStrike" baseline="0" dirty="0" err="1">
                <a:solidFill>
                  <a:srgbClr val="FF0000"/>
                </a:solidFill>
                <a:latin typeface="Comic Sans MS" panose="030F0702030302020204" pitchFamily="66" charset="0"/>
              </a:rPr>
              <a:t>DeMorgan's</a:t>
            </a:r>
            <a:r>
              <a:rPr lang="en-GB" b="1" i="0" u="none" strike="noStrike" baseline="0" dirty="0">
                <a:solidFill>
                  <a:srgbClr val="FF0000"/>
                </a:solidFill>
                <a:latin typeface="Comic Sans MS" panose="030F0702030302020204" pitchFamily="66" charset="0"/>
              </a:rPr>
              <a:t> Theorem</a:t>
            </a:r>
          </a:p>
          <a:p>
            <a:pPr algn="just"/>
            <a:r>
              <a:rPr lang="en-GB" dirty="0">
                <a:latin typeface="Comic Sans MS" panose="030F0702030302020204" pitchFamily="66" charset="0"/>
              </a:rPr>
              <a:t>Y</a:t>
            </a:r>
            <a:r>
              <a:rPr lang="en-GB" b="0" i="0" u="none" strike="noStrike" baseline="0" dirty="0">
                <a:latin typeface="Comic Sans MS" panose="030F0702030302020204" pitchFamily="66" charset="0"/>
              </a:rPr>
              <a:t>ou may have noticed that the truth tables for the AND </a:t>
            </a:r>
            <a:r>
              <a:rPr lang="en-GB" b="0" i="0" u="none" strike="noStrike" baseline="0" dirty="0" err="1">
                <a:latin typeface="Comic Sans MS" panose="030F0702030302020204" pitchFamily="66" charset="0"/>
              </a:rPr>
              <a:t>and</a:t>
            </a:r>
            <a:r>
              <a:rPr lang="en-GB" dirty="0">
                <a:latin typeface="Comic Sans MS" panose="030F0702030302020204" pitchFamily="66" charset="0"/>
              </a:rPr>
              <a:t> </a:t>
            </a:r>
            <a:r>
              <a:rPr lang="en-GB" b="0" i="0" u="none" strike="noStrike" baseline="0" dirty="0">
                <a:latin typeface="Comic Sans MS" panose="030F0702030302020204" pitchFamily="66" charset="0"/>
              </a:rPr>
              <a:t>OR gates are similar. Below is a comparison of the two operations.</a:t>
            </a:r>
          </a:p>
          <a:p>
            <a:pPr algn="just"/>
            <a:endParaRPr lang="en-GB" sz="4000" dirty="0">
              <a:latin typeface="Comic Sans MS" panose="030F0702030302020204" pitchFamily="66" charset="0"/>
            </a:endParaRPr>
          </a:p>
          <a:p>
            <a:pPr algn="just"/>
            <a:endParaRPr lang="en-GB" sz="4000" dirty="0">
              <a:latin typeface="Comic Sans MS" panose="030F0702030302020204" pitchFamily="66" charset="0"/>
            </a:endParaRPr>
          </a:p>
          <a:p>
            <a:pPr algn="just"/>
            <a:endParaRPr lang="en-GB" sz="4000" dirty="0">
              <a:latin typeface="Comic Sans MS" panose="030F0702030302020204" pitchFamily="66" charset="0"/>
            </a:endParaRPr>
          </a:p>
          <a:p>
            <a:pPr algn="just"/>
            <a:endParaRPr lang="en-GB" sz="4000" dirty="0">
              <a:latin typeface="Comic Sans MS" panose="030F0702030302020204" pitchFamily="66" charset="0"/>
            </a:endParaRPr>
          </a:p>
          <a:p>
            <a:pPr algn="just"/>
            <a:r>
              <a:rPr lang="en-FI" sz="2400" dirty="0">
                <a:latin typeface="Comic Sans MS" panose="030F0702030302020204" pitchFamily="66" charset="0"/>
              </a:rPr>
              <a:t>N</a:t>
            </a:r>
            <a:r>
              <a:rPr lang="en-GB" sz="2400" b="0" i="0" u="none" strike="noStrike" baseline="0" dirty="0" err="1">
                <a:latin typeface="Comic Sans MS" panose="030F0702030302020204" pitchFamily="66" charset="0"/>
              </a:rPr>
              <a:t>otice</a:t>
            </a:r>
            <a:r>
              <a:rPr lang="en-GB" sz="2400" b="0" i="0" u="none" strike="noStrike" baseline="0" dirty="0">
                <a:latin typeface="Comic Sans MS" panose="030F0702030302020204" pitchFamily="66" charset="0"/>
              </a:rPr>
              <a:t> that the output for each gate is the same for three rows and different for the</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fourth. </a:t>
            </a:r>
            <a:endParaRPr lang="en-FI" sz="2400" b="0" i="0" u="none" strike="noStrike" baseline="0" dirty="0">
              <a:latin typeface="Comic Sans MS" panose="030F0702030302020204" pitchFamily="66" charset="0"/>
            </a:endParaRPr>
          </a:p>
          <a:p>
            <a:pPr marL="0" indent="0" algn="just">
              <a:buNone/>
            </a:pPr>
            <a:endParaRPr lang="en-FI"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For the</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AND gate, the row that is different occurs when all of</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the inputs are ones, and for the OR gate, the different row occurs when</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all of the inputs are zeros. </a:t>
            </a:r>
            <a:endParaRPr lang="en-FI" sz="2400" b="0" i="0" u="none" strike="noStrike" baseline="0" dirty="0">
              <a:latin typeface="Comic Sans MS" panose="030F0702030302020204" pitchFamily="66" charset="0"/>
            </a:endParaRPr>
          </a:p>
          <a:p>
            <a:pPr algn="just"/>
            <a:endParaRPr lang="en-FI"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What would happen if we inverted the inputs</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of the AND truth table?</a:t>
            </a:r>
            <a:endParaRPr lang="en-GB" sz="2400" dirty="0">
              <a:latin typeface="Comic Sans MS" panose="030F0702030302020204" pitchFamily="66" charset="0"/>
            </a:endParaRPr>
          </a:p>
        </p:txBody>
      </p:sp>
      <p:pic>
        <p:nvPicPr>
          <p:cNvPr id="5" name="Picture 4">
            <a:extLst>
              <a:ext uri="{FF2B5EF4-FFF2-40B4-BE49-F238E27FC236}">
                <a16:creationId xmlns:a16="http://schemas.microsoft.com/office/drawing/2014/main" id="{1C51527D-81B6-4D92-A733-2A031574FED2}"/>
              </a:ext>
            </a:extLst>
          </p:cNvPr>
          <p:cNvPicPr>
            <a:picLocks noChangeAspect="1"/>
          </p:cNvPicPr>
          <p:nvPr/>
        </p:nvPicPr>
        <p:blipFill>
          <a:blip r:embed="rId2"/>
          <a:stretch>
            <a:fillRect/>
          </a:stretch>
        </p:blipFill>
        <p:spPr>
          <a:xfrm>
            <a:off x="1618843" y="1723864"/>
            <a:ext cx="5830114" cy="2305372"/>
          </a:xfrm>
          <a:prstGeom prst="rect">
            <a:avLst/>
          </a:prstGeom>
        </p:spPr>
      </p:pic>
    </p:spTree>
    <p:extLst>
      <p:ext uri="{BB962C8B-B14F-4D97-AF65-F5344CB8AC3E}">
        <p14:creationId xmlns:p14="http://schemas.microsoft.com/office/powerpoint/2010/main" val="26322643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DD4CC-B34A-4463-BB7F-32DF808CB31C}"/>
              </a:ext>
            </a:extLst>
          </p:cNvPr>
          <p:cNvSpPr>
            <a:spLocks noGrp="1"/>
          </p:cNvSpPr>
          <p:nvPr>
            <p:ph idx="1"/>
          </p:nvPr>
        </p:nvSpPr>
        <p:spPr>
          <a:xfrm>
            <a:off x="0" y="0"/>
            <a:ext cx="12192000" cy="6858000"/>
          </a:xfrm>
        </p:spPr>
        <p:txBody>
          <a:bodyPr>
            <a:normAutofit/>
          </a:bodyPr>
          <a:lstStyle/>
          <a:p>
            <a:pPr algn="just"/>
            <a:endParaRPr lang="en-FI" dirty="0">
              <a:latin typeface="Comic Sans MS" panose="030F0702030302020204" pitchFamily="66" charset="0"/>
            </a:endParaRPr>
          </a:p>
          <a:p>
            <a:pPr algn="just"/>
            <a:endParaRPr lang="en-FI" dirty="0">
              <a:latin typeface="Comic Sans MS" panose="030F0702030302020204" pitchFamily="66" charset="0"/>
            </a:endParaRPr>
          </a:p>
          <a:p>
            <a:pPr algn="just"/>
            <a:endParaRPr lang="en-FI" dirty="0">
              <a:latin typeface="Comic Sans MS" panose="030F0702030302020204" pitchFamily="66" charset="0"/>
            </a:endParaRPr>
          </a:p>
          <a:p>
            <a:pPr algn="just"/>
            <a:endParaRPr lang="en-FI" dirty="0">
              <a:latin typeface="Comic Sans MS" panose="030F0702030302020204" pitchFamily="66" charset="0"/>
            </a:endParaRPr>
          </a:p>
          <a:p>
            <a:pPr marL="0" indent="0" algn="just">
              <a:buNone/>
            </a:pPr>
            <a:endParaRPr lang="en-FI" dirty="0">
              <a:latin typeface="Comic Sans MS" panose="030F0702030302020204" pitchFamily="66" charset="0"/>
            </a:endParaRPr>
          </a:p>
          <a:p>
            <a:pPr algn="just"/>
            <a:r>
              <a:rPr lang="en-GB" sz="2400" b="0" i="0" u="none" strike="noStrike" baseline="0" dirty="0">
                <a:latin typeface="Comic Sans MS" panose="030F0702030302020204" pitchFamily="66" charset="0"/>
              </a:rPr>
              <a:t>The two truth tables are still not quite the same, but they are quite</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close. </a:t>
            </a:r>
            <a:endParaRPr lang="en-FI"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The two truth tables are now inverses of one another. </a:t>
            </a:r>
            <a:endParaRPr lang="en-FI"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Let's take</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the inverse of the output of the OR gate and see what happens.</a:t>
            </a:r>
            <a:endParaRPr lang="en-FI" sz="2400" dirty="0">
              <a:latin typeface="Comic Sans MS" panose="030F0702030302020204" pitchFamily="66" charset="0"/>
            </a:endParaRPr>
          </a:p>
          <a:p>
            <a:pPr algn="just"/>
            <a:endParaRPr lang="en-GB" dirty="0">
              <a:latin typeface="Comic Sans MS" panose="030F0702030302020204" pitchFamily="66" charset="0"/>
            </a:endParaRPr>
          </a:p>
        </p:txBody>
      </p:sp>
      <p:pic>
        <p:nvPicPr>
          <p:cNvPr id="7" name="Picture 6">
            <a:extLst>
              <a:ext uri="{FF2B5EF4-FFF2-40B4-BE49-F238E27FC236}">
                <a16:creationId xmlns:a16="http://schemas.microsoft.com/office/drawing/2014/main" id="{8F525750-9C54-4969-A4BD-1E49DEAFD262}"/>
              </a:ext>
            </a:extLst>
          </p:cNvPr>
          <p:cNvPicPr>
            <a:picLocks noChangeAspect="1"/>
          </p:cNvPicPr>
          <p:nvPr/>
        </p:nvPicPr>
        <p:blipFill>
          <a:blip r:embed="rId2"/>
          <a:stretch>
            <a:fillRect/>
          </a:stretch>
        </p:blipFill>
        <p:spPr>
          <a:xfrm>
            <a:off x="800770" y="230581"/>
            <a:ext cx="6649897" cy="2330892"/>
          </a:xfrm>
          <a:prstGeom prst="rect">
            <a:avLst/>
          </a:prstGeom>
        </p:spPr>
      </p:pic>
      <p:pic>
        <p:nvPicPr>
          <p:cNvPr id="9" name="Picture 8">
            <a:extLst>
              <a:ext uri="{FF2B5EF4-FFF2-40B4-BE49-F238E27FC236}">
                <a16:creationId xmlns:a16="http://schemas.microsoft.com/office/drawing/2014/main" id="{B80D29EB-8130-4BFA-A67B-6D15BA53C71C}"/>
              </a:ext>
            </a:extLst>
          </p:cNvPr>
          <p:cNvPicPr>
            <a:picLocks noChangeAspect="1"/>
          </p:cNvPicPr>
          <p:nvPr/>
        </p:nvPicPr>
        <p:blipFill>
          <a:blip r:embed="rId3"/>
          <a:stretch>
            <a:fillRect/>
          </a:stretch>
        </p:blipFill>
        <p:spPr>
          <a:xfrm>
            <a:off x="1227668" y="4031963"/>
            <a:ext cx="7506108" cy="2595456"/>
          </a:xfrm>
          <a:prstGeom prst="rect">
            <a:avLst/>
          </a:prstGeom>
        </p:spPr>
      </p:pic>
    </p:spTree>
    <p:extLst>
      <p:ext uri="{BB962C8B-B14F-4D97-AF65-F5344CB8AC3E}">
        <p14:creationId xmlns:p14="http://schemas.microsoft.com/office/powerpoint/2010/main" val="37393364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DEC2AB-6208-4047-B03A-D36C63EAEEC0}"/>
              </a:ext>
            </a:extLst>
          </p:cNvPr>
          <p:cNvSpPr>
            <a:spLocks noGrp="1"/>
          </p:cNvSpPr>
          <p:nvPr>
            <p:ph idx="1"/>
          </p:nvPr>
        </p:nvSpPr>
        <p:spPr>
          <a:xfrm>
            <a:off x="0" y="67732"/>
            <a:ext cx="12192000" cy="6714067"/>
          </a:xfrm>
        </p:spPr>
        <p:txBody>
          <a:bodyPr>
            <a:normAutofit/>
          </a:bodyPr>
          <a:lstStyle/>
          <a:p>
            <a:pPr algn="l"/>
            <a:r>
              <a:rPr lang="en-GB" sz="2400" b="0" i="0" u="none" strike="noStrike" baseline="0" dirty="0">
                <a:latin typeface="Comic Sans MS" panose="030F0702030302020204" pitchFamily="66" charset="0"/>
              </a:rPr>
              <a:t>So the output of an AND gate with inverted inputs is equal to the</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inverted output of an OR gate with non-inverted inputs. </a:t>
            </a:r>
            <a:endParaRPr lang="en-FI" sz="2400" b="0" i="0" u="none" strike="noStrike" baseline="0" dirty="0">
              <a:latin typeface="Comic Sans MS" panose="030F0702030302020204" pitchFamily="66" charset="0"/>
            </a:endParaRPr>
          </a:p>
          <a:p>
            <a:pPr algn="l"/>
            <a:endParaRPr lang="en-FI" sz="2400" dirty="0">
              <a:latin typeface="Comic Sans MS" panose="030F0702030302020204" pitchFamily="66" charset="0"/>
            </a:endParaRPr>
          </a:p>
          <a:p>
            <a:pPr algn="l"/>
            <a:r>
              <a:rPr lang="en-GB" sz="2400" b="0" i="0" u="none" strike="noStrike" baseline="0" dirty="0">
                <a:latin typeface="Comic Sans MS" panose="030F0702030302020204" pitchFamily="66" charset="0"/>
              </a:rPr>
              <a:t>A similar proof</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can be used to show that the output of an OR gate with inverted inputs</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is equal to the inverted output of an AND gate with non-inverted</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inputs. </a:t>
            </a:r>
            <a:endParaRPr lang="en-FI" sz="2400" b="0" i="0" u="none" strike="noStrike" baseline="0" dirty="0">
              <a:latin typeface="Comic Sans MS" panose="030F0702030302020204" pitchFamily="66" charset="0"/>
            </a:endParaRPr>
          </a:p>
          <a:p>
            <a:pPr algn="l"/>
            <a:endParaRPr lang="en-FI" sz="2400" dirty="0">
              <a:latin typeface="Comic Sans MS" panose="030F0702030302020204" pitchFamily="66" charset="0"/>
            </a:endParaRPr>
          </a:p>
          <a:p>
            <a:pPr algn="l"/>
            <a:r>
              <a:rPr lang="en-GB" sz="2400" b="0" i="0" u="none" strike="noStrike" baseline="0" dirty="0">
                <a:latin typeface="Comic Sans MS" panose="030F0702030302020204" pitchFamily="66" charset="0"/>
              </a:rPr>
              <a:t>This resolves our earlier discussion where we showed that the</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NOT gate cannot be distributed to the inputs of an AND or an OR gate.</a:t>
            </a:r>
          </a:p>
          <a:p>
            <a:pPr algn="l"/>
            <a:endParaRPr lang="en-FI" sz="2400" b="0" i="0" u="none" strike="noStrike" baseline="0" dirty="0">
              <a:latin typeface="Comic Sans MS" panose="030F0702030302020204" pitchFamily="66" charset="0"/>
            </a:endParaRPr>
          </a:p>
          <a:p>
            <a:pPr algn="l"/>
            <a:r>
              <a:rPr lang="en-GB" sz="2400" b="0" i="0" u="none" strike="noStrike" baseline="0" dirty="0">
                <a:latin typeface="Comic Sans MS" panose="030F0702030302020204" pitchFamily="66" charset="0"/>
              </a:rPr>
              <a:t>This brings us to </a:t>
            </a:r>
            <a:r>
              <a:rPr lang="en-GB" sz="2400" b="0" i="0" u="none" strike="noStrike" baseline="0" dirty="0" err="1">
                <a:latin typeface="Comic Sans MS" panose="030F0702030302020204" pitchFamily="66" charset="0"/>
              </a:rPr>
              <a:t>DeMorgan's</a:t>
            </a:r>
            <a:r>
              <a:rPr lang="en-GB" sz="2400" b="0" i="0" u="none" strike="noStrike" baseline="0" dirty="0">
                <a:latin typeface="Comic Sans MS" panose="030F0702030302020204" pitchFamily="66" charset="0"/>
              </a:rPr>
              <a:t> Theorem, the last Boolean law</a:t>
            </a:r>
            <a:endParaRPr lang="en-FI" sz="2400" b="0" i="0" u="none" strike="noStrike" baseline="0" dirty="0">
              <a:latin typeface="Comic Sans MS" panose="030F0702030302020204" pitchFamily="66" charset="0"/>
            </a:endParaRPr>
          </a:p>
          <a:p>
            <a:pPr algn="l"/>
            <a:endParaRPr lang="en-FI" sz="2400" b="0" i="0" u="none" strike="noStrike" baseline="0" dirty="0">
              <a:latin typeface="Comic Sans MS" panose="030F0702030302020204" pitchFamily="66" charset="0"/>
            </a:endParaRPr>
          </a:p>
          <a:p>
            <a:pPr algn="l"/>
            <a:endParaRPr lang="en-FI" sz="2400" dirty="0">
              <a:latin typeface="Comic Sans MS" panose="030F0702030302020204" pitchFamily="66" charset="0"/>
            </a:endParaRPr>
          </a:p>
          <a:p>
            <a:pPr algn="l"/>
            <a:endParaRPr lang="en-FI"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The purpose of </a:t>
            </a:r>
            <a:r>
              <a:rPr lang="en-GB" sz="2400" b="0" i="0" u="none" strike="noStrike" baseline="0" dirty="0" err="1">
                <a:latin typeface="Comic Sans MS" panose="030F0702030302020204" pitchFamily="66" charset="0"/>
              </a:rPr>
              <a:t>DeMorgan's</a:t>
            </a:r>
            <a:r>
              <a:rPr lang="en-GB" sz="2400" b="0" i="0" u="none" strike="noStrike" baseline="0" dirty="0">
                <a:latin typeface="Comic Sans MS" panose="030F0702030302020204" pitchFamily="66" charset="0"/>
              </a:rPr>
              <a:t> Theorem is to allow us to distribute an</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inverter from the output of an AND or </a:t>
            </a:r>
            <a:r>
              <a:rPr lang="en-GB" sz="2400" b="0" i="0" u="none" strike="noStrike" baseline="0" dirty="0" err="1">
                <a:latin typeface="Comic Sans MS" panose="030F0702030302020204" pitchFamily="66" charset="0"/>
              </a:rPr>
              <a:t>OR</a:t>
            </a:r>
            <a:r>
              <a:rPr lang="en-GB" sz="2400" b="0" i="0" u="none" strike="noStrike" baseline="0" dirty="0">
                <a:latin typeface="Comic Sans MS" panose="030F0702030302020204" pitchFamily="66" charset="0"/>
              </a:rPr>
              <a:t> gate to the gate's inputs. In</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doing so, an AND gate is switched to an OR gate and an OR gate is</a:t>
            </a:r>
            <a:r>
              <a:rPr lang="en-FI" sz="2400" b="0" i="0"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switched to an AND gate</a:t>
            </a:r>
            <a:endParaRPr lang="en-GB" sz="4400" dirty="0">
              <a:latin typeface="Comic Sans MS" panose="030F0702030302020204" pitchFamily="66" charset="0"/>
            </a:endParaRPr>
          </a:p>
        </p:txBody>
      </p:sp>
      <p:pic>
        <p:nvPicPr>
          <p:cNvPr id="5" name="Picture 4">
            <a:extLst>
              <a:ext uri="{FF2B5EF4-FFF2-40B4-BE49-F238E27FC236}">
                <a16:creationId xmlns:a16="http://schemas.microsoft.com/office/drawing/2014/main" id="{94740E5B-FADF-4AD4-923C-64E90D2D8E88}"/>
              </a:ext>
            </a:extLst>
          </p:cNvPr>
          <p:cNvPicPr>
            <a:picLocks noChangeAspect="1"/>
          </p:cNvPicPr>
          <p:nvPr/>
        </p:nvPicPr>
        <p:blipFill>
          <a:blip r:embed="rId2"/>
          <a:stretch>
            <a:fillRect/>
          </a:stretch>
        </p:blipFill>
        <p:spPr>
          <a:xfrm>
            <a:off x="2652774" y="4249164"/>
            <a:ext cx="6734052" cy="907036"/>
          </a:xfrm>
          <a:prstGeom prst="rect">
            <a:avLst/>
          </a:prstGeom>
        </p:spPr>
      </p:pic>
    </p:spTree>
    <p:extLst>
      <p:ext uri="{BB962C8B-B14F-4D97-AF65-F5344CB8AC3E}">
        <p14:creationId xmlns:p14="http://schemas.microsoft.com/office/powerpoint/2010/main" val="15093513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E8F092-67C9-45D4-8403-7992AD6460DD}"/>
              </a:ext>
            </a:extLst>
          </p:cNvPr>
          <p:cNvSpPr>
            <a:spLocks noGrp="1"/>
          </p:cNvSpPr>
          <p:nvPr>
            <p:ph idx="1"/>
          </p:nvPr>
        </p:nvSpPr>
        <p:spPr>
          <a:xfrm>
            <a:off x="67733" y="0"/>
            <a:ext cx="12124267" cy="6858000"/>
          </a:xfrm>
        </p:spPr>
        <p:txBody>
          <a:bodyPr/>
          <a:lstStyle/>
          <a:p>
            <a:pPr marL="0" indent="0">
              <a:buNone/>
            </a:pPr>
            <a:endParaRPr lang="en-FI" dirty="0"/>
          </a:p>
          <a:p>
            <a:endParaRPr lang="en-FI" dirty="0"/>
          </a:p>
          <a:p>
            <a:endParaRPr lang="en-FI" dirty="0"/>
          </a:p>
          <a:p>
            <a:endParaRPr lang="en-FI" dirty="0"/>
          </a:p>
          <a:p>
            <a:endParaRPr lang="en-FI" dirty="0"/>
          </a:p>
          <a:p>
            <a:endParaRPr lang="en-FI" dirty="0"/>
          </a:p>
          <a:p>
            <a:pPr marL="0" indent="0">
              <a:buNone/>
            </a:pPr>
            <a:endParaRPr lang="en-FI" dirty="0"/>
          </a:p>
          <a:p>
            <a:r>
              <a:rPr lang="en-GB" sz="2400" b="0" i="0" u="none" strike="noStrike" baseline="0" dirty="0" err="1">
                <a:latin typeface="Comic Sans MS" panose="030F0702030302020204" pitchFamily="66" charset="0"/>
              </a:rPr>
              <a:t>DeMorgan's</a:t>
            </a:r>
            <a:r>
              <a:rPr lang="en-GB" sz="2400" b="0" i="0" u="none" strike="noStrike" baseline="0" dirty="0">
                <a:latin typeface="Comic Sans MS" panose="030F0702030302020204" pitchFamily="66" charset="0"/>
              </a:rPr>
              <a:t> Theorem applies to gates with three or more inputs too.</a:t>
            </a:r>
            <a:endParaRPr lang="en-FI" sz="2400" dirty="0">
              <a:latin typeface="Comic Sans MS" panose="030F0702030302020204" pitchFamily="66" charset="0"/>
            </a:endParaRPr>
          </a:p>
          <a:p>
            <a:endParaRPr lang="en-GB" dirty="0"/>
          </a:p>
        </p:txBody>
      </p:sp>
      <p:pic>
        <p:nvPicPr>
          <p:cNvPr id="5" name="Picture 4">
            <a:extLst>
              <a:ext uri="{FF2B5EF4-FFF2-40B4-BE49-F238E27FC236}">
                <a16:creationId xmlns:a16="http://schemas.microsoft.com/office/drawing/2014/main" id="{9D552217-CD1C-42CF-A97F-9C91AAB8B68F}"/>
              </a:ext>
            </a:extLst>
          </p:cNvPr>
          <p:cNvPicPr>
            <a:picLocks noChangeAspect="1"/>
          </p:cNvPicPr>
          <p:nvPr/>
        </p:nvPicPr>
        <p:blipFill>
          <a:blip r:embed="rId2"/>
          <a:stretch>
            <a:fillRect/>
          </a:stretch>
        </p:blipFill>
        <p:spPr>
          <a:xfrm>
            <a:off x="1504490" y="0"/>
            <a:ext cx="7664910" cy="3489085"/>
          </a:xfrm>
          <a:prstGeom prst="rect">
            <a:avLst/>
          </a:prstGeom>
        </p:spPr>
      </p:pic>
      <p:pic>
        <p:nvPicPr>
          <p:cNvPr id="7" name="Picture 6">
            <a:extLst>
              <a:ext uri="{FF2B5EF4-FFF2-40B4-BE49-F238E27FC236}">
                <a16:creationId xmlns:a16="http://schemas.microsoft.com/office/drawing/2014/main" id="{950B866C-DF35-41DF-B3A2-66FA10D51234}"/>
              </a:ext>
            </a:extLst>
          </p:cNvPr>
          <p:cNvPicPr>
            <a:picLocks noChangeAspect="1"/>
          </p:cNvPicPr>
          <p:nvPr/>
        </p:nvPicPr>
        <p:blipFill>
          <a:blip r:embed="rId3"/>
          <a:stretch>
            <a:fillRect/>
          </a:stretch>
        </p:blipFill>
        <p:spPr>
          <a:xfrm>
            <a:off x="1431023" y="4241800"/>
            <a:ext cx="7738378" cy="2423264"/>
          </a:xfrm>
          <a:prstGeom prst="rect">
            <a:avLst/>
          </a:prstGeom>
        </p:spPr>
      </p:pic>
    </p:spTree>
    <p:extLst>
      <p:ext uri="{BB962C8B-B14F-4D97-AF65-F5344CB8AC3E}">
        <p14:creationId xmlns:p14="http://schemas.microsoft.com/office/powerpoint/2010/main" val="41838617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834951-9E0A-4C9E-8D4E-2DC3775F41B0}"/>
              </a:ext>
            </a:extLst>
          </p:cNvPr>
          <p:cNvSpPr>
            <a:spLocks noGrp="1"/>
          </p:cNvSpPr>
          <p:nvPr>
            <p:ph idx="1"/>
          </p:nvPr>
        </p:nvSpPr>
        <p:spPr>
          <a:xfrm>
            <a:off x="76199" y="59267"/>
            <a:ext cx="12048067" cy="6739466"/>
          </a:xfrm>
        </p:spPr>
        <p:txBody>
          <a:bodyPr>
            <a:noAutofit/>
          </a:bodyPr>
          <a:lstStyle/>
          <a:p>
            <a:pPr algn="just"/>
            <a:r>
              <a:rPr lang="en-GB" sz="2300" b="1" i="0" u="none" strike="noStrike" baseline="0" dirty="0">
                <a:latin typeface="Comic Sans MS" panose="030F0702030302020204" pitchFamily="66" charset="0"/>
              </a:rPr>
              <a:t>One of the main purposes of </a:t>
            </a:r>
            <a:r>
              <a:rPr lang="en-GB" sz="2300" b="1" i="0" u="none" strike="noStrike" baseline="0" dirty="0" err="1">
                <a:latin typeface="Comic Sans MS" panose="030F0702030302020204" pitchFamily="66" charset="0"/>
              </a:rPr>
              <a:t>DeMorgan's</a:t>
            </a:r>
            <a:r>
              <a:rPr lang="en-GB" sz="2300" b="1" i="0" u="none" strike="noStrike" baseline="0" dirty="0">
                <a:latin typeface="Comic Sans MS" panose="030F0702030302020204" pitchFamily="66" charset="0"/>
              </a:rPr>
              <a:t> Theorem is to distribute</a:t>
            </a:r>
            <a:r>
              <a:rPr lang="en-FI" sz="2300" b="1" i="0" u="none" strike="noStrike" baseline="0" dirty="0">
                <a:latin typeface="Comic Sans MS" panose="030F0702030302020204" pitchFamily="66" charset="0"/>
              </a:rPr>
              <a:t> </a:t>
            </a:r>
            <a:r>
              <a:rPr lang="en-GB" sz="2300" b="1" i="0" u="none" strike="noStrike" baseline="0" dirty="0">
                <a:latin typeface="Comic Sans MS" panose="030F0702030302020204" pitchFamily="66" charset="0"/>
              </a:rPr>
              <a:t>any inverters in a digital circuit back to the inputs. </a:t>
            </a:r>
            <a:endParaRPr lang="en-FI" sz="2300" b="1" i="0" u="none" strike="noStrike" baseline="0" dirty="0">
              <a:latin typeface="Comic Sans MS" panose="030F0702030302020204" pitchFamily="66" charset="0"/>
            </a:endParaRPr>
          </a:p>
          <a:p>
            <a:pPr algn="just"/>
            <a:endParaRPr lang="en-FI" sz="1200" b="1" dirty="0">
              <a:latin typeface="Comic Sans MS" panose="030F0702030302020204" pitchFamily="66" charset="0"/>
            </a:endParaRPr>
          </a:p>
          <a:p>
            <a:pPr algn="just"/>
            <a:r>
              <a:rPr lang="en-GB" sz="2300" b="1" i="0" u="none" strike="noStrike" baseline="0" dirty="0">
                <a:latin typeface="Comic Sans MS" panose="030F0702030302020204" pitchFamily="66" charset="0"/>
              </a:rPr>
              <a:t>This typically</a:t>
            </a:r>
            <a:r>
              <a:rPr lang="en-FI" sz="2300" b="1" i="0" u="none" strike="noStrike" baseline="0" dirty="0">
                <a:latin typeface="Comic Sans MS" panose="030F0702030302020204" pitchFamily="66" charset="0"/>
              </a:rPr>
              <a:t> </a:t>
            </a:r>
            <a:r>
              <a:rPr lang="en-GB" sz="2300" b="1" i="0" u="none" strike="noStrike" baseline="0" dirty="0">
                <a:latin typeface="Comic Sans MS" panose="030F0702030302020204" pitchFamily="66" charset="0"/>
              </a:rPr>
              <a:t>improves the circuit's performance by removing layers of logic and can</a:t>
            </a:r>
            <a:r>
              <a:rPr lang="en-FI" sz="2300" b="1" i="0" u="none" strike="noStrike" baseline="0" dirty="0">
                <a:latin typeface="Comic Sans MS" panose="030F0702030302020204" pitchFamily="66" charset="0"/>
              </a:rPr>
              <a:t> </a:t>
            </a:r>
            <a:r>
              <a:rPr lang="en-GB" sz="2300" b="1" i="0" u="none" strike="noStrike" baseline="0" dirty="0">
                <a:latin typeface="Comic Sans MS" panose="030F0702030302020204" pitchFamily="66" charset="0"/>
              </a:rPr>
              <a:t>be done either with the Boolean expression or the schematic. </a:t>
            </a:r>
            <a:endParaRPr lang="en-FI" sz="2300" b="1" i="0" u="none" strike="noStrike" baseline="0" dirty="0">
              <a:latin typeface="Comic Sans MS" panose="030F0702030302020204" pitchFamily="66" charset="0"/>
            </a:endParaRPr>
          </a:p>
          <a:p>
            <a:pPr algn="just"/>
            <a:endParaRPr lang="en-FI" sz="1050" b="1" dirty="0">
              <a:latin typeface="Comic Sans MS" panose="030F0702030302020204" pitchFamily="66" charset="0"/>
            </a:endParaRPr>
          </a:p>
          <a:p>
            <a:pPr algn="just"/>
            <a:r>
              <a:rPr lang="en-GB" sz="2300" b="1" i="0" u="none" strike="noStrike" baseline="0" dirty="0">
                <a:latin typeface="Comic Sans MS" panose="030F0702030302020204" pitchFamily="66" charset="0"/>
              </a:rPr>
              <a:t>Either</a:t>
            </a:r>
            <a:r>
              <a:rPr lang="en-FI" sz="2300" b="1" dirty="0">
                <a:latin typeface="Comic Sans MS" panose="030F0702030302020204" pitchFamily="66" charset="0"/>
              </a:rPr>
              <a:t> </a:t>
            </a:r>
            <a:r>
              <a:rPr lang="en-GB" sz="2300" b="1" i="0" u="none" strike="noStrike" baseline="0" dirty="0">
                <a:latin typeface="Comic Sans MS" panose="030F0702030302020204" pitchFamily="66" charset="0"/>
              </a:rPr>
              <a:t>way, the inverters are pushed from the output side to the input side one</a:t>
            </a:r>
          </a:p>
          <a:p>
            <a:pPr algn="just"/>
            <a:r>
              <a:rPr lang="en-GB" sz="2300" b="1" i="0" u="none" strike="noStrike" baseline="0" dirty="0">
                <a:latin typeface="Comic Sans MS" panose="030F0702030302020204" pitchFamily="66" charset="0"/>
              </a:rPr>
              <a:t>gate at a time. </a:t>
            </a:r>
            <a:endParaRPr lang="en-FI" sz="2300" b="1" i="0" u="none" strike="noStrike" baseline="0" dirty="0">
              <a:latin typeface="Comic Sans MS" panose="030F0702030302020204" pitchFamily="66" charset="0"/>
            </a:endParaRPr>
          </a:p>
          <a:p>
            <a:pPr algn="just"/>
            <a:endParaRPr lang="en-FI" sz="1050" b="1" dirty="0">
              <a:latin typeface="Comic Sans MS" panose="030F0702030302020204" pitchFamily="66" charset="0"/>
            </a:endParaRPr>
          </a:p>
          <a:p>
            <a:pPr algn="just"/>
            <a:r>
              <a:rPr lang="en-GB" sz="2300" b="1" i="0" u="none" strike="noStrike" baseline="0" dirty="0">
                <a:latin typeface="Comic Sans MS" panose="030F0702030302020204" pitchFamily="66" charset="0"/>
              </a:rPr>
              <a:t>The sequence of steps </a:t>
            </a:r>
            <a:r>
              <a:rPr lang="en-FI" sz="2300" b="1" i="0" u="none" strike="noStrike" baseline="0" dirty="0">
                <a:latin typeface="Comic Sans MS" panose="030F0702030302020204" pitchFamily="66" charset="0"/>
              </a:rPr>
              <a:t>below </a:t>
            </a:r>
            <a:r>
              <a:rPr lang="en-GB" sz="2300" b="1" i="0" u="none" strike="noStrike" baseline="0" dirty="0">
                <a:latin typeface="Comic Sans MS" panose="030F0702030302020204" pitchFamily="66" charset="0"/>
              </a:rPr>
              <a:t>shows this process</a:t>
            </a:r>
            <a:r>
              <a:rPr lang="en-FI" sz="2300" b="1" i="0" u="none" strike="noStrike" baseline="0" dirty="0">
                <a:latin typeface="Comic Sans MS" panose="030F0702030302020204" pitchFamily="66" charset="0"/>
              </a:rPr>
              <a:t> </a:t>
            </a:r>
            <a:r>
              <a:rPr lang="en-GB" sz="2300" b="1" i="0" u="none" strike="noStrike" baseline="0" dirty="0">
                <a:latin typeface="Comic Sans MS" panose="030F0702030302020204" pitchFamily="66" charset="0"/>
              </a:rPr>
              <a:t>using a schematic.</a:t>
            </a:r>
          </a:p>
          <a:p>
            <a:pPr algn="just"/>
            <a:endParaRPr lang="en-FI" sz="800" b="1" i="0" u="none" strike="noStrike" baseline="0" dirty="0">
              <a:latin typeface="Comic Sans MS" panose="030F0702030302020204" pitchFamily="66" charset="0"/>
            </a:endParaRPr>
          </a:p>
          <a:p>
            <a:pPr algn="just"/>
            <a:r>
              <a:rPr lang="en-GB" sz="2300" b="1" i="0" u="none" strike="noStrike" baseline="0" dirty="0">
                <a:latin typeface="Comic Sans MS" panose="030F0702030302020204" pitchFamily="66" charset="0"/>
              </a:rPr>
              <a:t>It is a little more difficult to apply </a:t>
            </a:r>
            <a:r>
              <a:rPr lang="en-GB" sz="2300" b="1" i="0" u="none" strike="noStrike" baseline="0" dirty="0" err="1">
                <a:latin typeface="Comic Sans MS" panose="030F0702030302020204" pitchFamily="66" charset="0"/>
              </a:rPr>
              <a:t>DeMorgan's</a:t>
            </a:r>
            <a:r>
              <a:rPr lang="en-GB" sz="2300" b="1" i="0" u="none" strike="noStrike" baseline="0" dirty="0">
                <a:latin typeface="Comic Sans MS" panose="030F0702030302020204" pitchFamily="66" charset="0"/>
              </a:rPr>
              <a:t> Theorem to a</a:t>
            </a:r>
            <a:r>
              <a:rPr lang="en-FI" sz="2300" b="1" i="0" u="none" strike="noStrike" baseline="0" dirty="0">
                <a:latin typeface="Comic Sans MS" panose="030F0702030302020204" pitchFamily="66" charset="0"/>
              </a:rPr>
              <a:t> </a:t>
            </a:r>
            <a:r>
              <a:rPr lang="en-GB" sz="2300" b="1" i="0" u="none" strike="noStrike" baseline="0" dirty="0" err="1">
                <a:latin typeface="Comic Sans MS" panose="030F0702030302020204" pitchFamily="66" charset="0"/>
              </a:rPr>
              <a:t>boolean</a:t>
            </a:r>
            <a:r>
              <a:rPr lang="en-GB" sz="2300" b="1" i="0" u="none" strike="noStrike" baseline="0" dirty="0">
                <a:latin typeface="Comic Sans MS" panose="030F0702030302020204" pitchFamily="66" charset="0"/>
              </a:rPr>
              <a:t> expression.</a:t>
            </a:r>
            <a:endParaRPr lang="en-FI" sz="2300" b="1" i="0" u="none" strike="noStrike" baseline="0" dirty="0">
              <a:latin typeface="Comic Sans MS" panose="030F0702030302020204" pitchFamily="66" charset="0"/>
            </a:endParaRPr>
          </a:p>
          <a:p>
            <a:pPr algn="just"/>
            <a:endParaRPr lang="en-FI" sz="1200" b="1" dirty="0">
              <a:latin typeface="Comic Sans MS" panose="030F0702030302020204" pitchFamily="66" charset="0"/>
            </a:endParaRPr>
          </a:p>
          <a:p>
            <a:pPr algn="just"/>
            <a:r>
              <a:rPr lang="en-GB" sz="2300" b="1" i="0" u="none" strike="noStrike" baseline="0" dirty="0">
                <a:latin typeface="Comic Sans MS" panose="030F0702030302020204" pitchFamily="66" charset="0"/>
              </a:rPr>
              <a:t>To guarantee that the inverters are being</a:t>
            </a:r>
            <a:r>
              <a:rPr lang="en-FI" sz="2300" b="1" i="0" u="none" strike="noStrike" baseline="0" dirty="0">
                <a:latin typeface="Comic Sans MS" panose="030F0702030302020204" pitchFamily="66" charset="0"/>
              </a:rPr>
              <a:t> </a:t>
            </a:r>
            <a:r>
              <a:rPr lang="en-GB" sz="2300" b="1" i="0" u="none" strike="noStrike" baseline="0" dirty="0">
                <a:latin typeface="Comic Sans MS" panose="030F0702030302020204" pitchFamily="66" charset="0"/>
              </a:rPr>
              <a:t>distributed properly, it is a good idea to apply </a:t>
            </a:r>
            <a:r>
              <a:rPr lang="en-GB" sz="2300" b="1" i="0" u="none" strike="noStrike" baseline="0" dirty="0" err="1">
                <a:latin typeface="Comic Sans MS" panose="030F0702030302020204" pitchFamily="66" charset="0"/>
              </a:rPr>
              <a:t>DeMorgan's</a:t>
            </a:r>
            <a:r>
              <a:rPr lang="en-GB" sz="2300" b="1" i="0" u="none" strike="noStrike" baseline="0" dirty="0">
                <a:latin typeface="Comic Sans MS" panose="030F0702030302020204" pitchFamily="66" charset="0"/>
              </a:rPr>
              <a:t> Theorem in</a:t>
            </a:r>
            <a:r>
              <a:rPr lang="en-FI" sz="2300" b="1" i="0" u="none" strike="noStrike" baseline="0" dirty="0">
                <a:latin typeface="Comic Sans MS" panose="030F0702030302020204" pitchFamily="66" charset="0"/>
              </a:rPr>
              <a:t> </a:t>
            </a:r>
            <a:r>
              <a:rPr lang="en-GB" sz="2300" b="1" i="0" u="none" strike="noStrike" baseline="0" dirty="0">
                <a:latin typeface="Comic Sans MS" panose="030F0702030302020204" pitchFamily="66" charset="0"/>
              </a:rPr>
              <a:t>the reverse order of precedence for the expression.</a:t>
            </a:r>
            <a:endParaRPr lang="en-GB" sz="2300" b="1" dirty="0">
              <a:latin typeface="Comic Sans MS" panose="030F0702030302020204" pitchFamily="66" charset="0"/>
            </a:endParaRPr>
          </a:p>
        </p:txBody>
      </p:sp>
    </p:spTree>
    <p:extLst>
      <p:ext uri="{BB962C8B-B14F-4D97-AF65-F5344CB8AC3E}">
        <p14:creationId xmlns:p14="http://schemas.microsoft.com/office/powerpoint/2010/main" val="9099100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810D85B-A1EE-4F0F-80DA-0DDAB6A5BC45}"/>
              </a:ext>
            </a:extLst>
          </p:cNvPr>
          <p:cNvSpPr>
            <a:spLocks noGrp="1"/>
          </p:cNvSpPr>
          <p:nvPr>
            <p:ph sz="half" idx="1"/>
          </p:nvPr>
        </p:nvSpPr>
        <p:spPr>
          <a:xfrm>
            <a:off x="76200" y="101600"/>
            <a:ext cx="5943600" cy="6756400"/>
          </a:xfrm>
        </p:spPr>
        <p:txBody>
          <a:bodyPr>
            <a:normAutofit/>
          </a:bodyPr>
          <a:lstStyle/>
          <a:p>
            <a:r>
              <a:rPr lang="en-GB" sz="3200" dirty="0">
                <a:latin typeface="Comic Sans MS" panose="030F0702030302020204" pitchFamily="66" charset="0"/>
              </a:rPr>
              <a:t>Consider the expression</a:t>
            </a:r>
          </a:p>
          <a:p>
            <a:pPr marL="0" indent="0">
              <a:buNone/>
            </a:pPr>
            <a:endParaRPr lang="en-GB" dirty="0">
              <a:latin typeface="Comic Sans MS" panose="030F0702030302020204" pitchFamily="66" charset="0"/>
            </a:endParaRPr>
          </a:p>
          <a:p>
            <a:pPr algn="just"/>
            <a:r>
              <a:rPr lang="en-GB" sz="2400" b="0" i="0" u="none" strike="noStrike" baseline="0" dirty="0">
                <a:solidFill>
                  <a:srgbClr val="FF0000"/>
                </a:solidFill>
                <a:latin typeface="Comic Sans MS" panose="030F0702030302020204" pitchFamily="66" charset="0"/>
              </a:rPr>
              <a:t>Step 1: </a:t>
            </a:r>
            <a:r>
              <a:rPr lang="en-GB" sz="2400" b="0" i="0" u="none" strike="noStrike" baseline="0" dirty="0">
                <a:latin typeface="Comic Sans MS" panose="030F0702030302020204" pitchFamily="66" charset="0"/>
              </a:rPr>
              <a:t>The AND takes precedence over the OR, so distribute inverter across the OR gate first.</a:t>
            </a:r>
            <a:r>
              <a:rPr lang="en-GB" sz="3200" dirty="0">
                <a:latin typeface="Comic Sans MS" panose="030F0702030302020204" pitchFamily="66" charset="0"/>
              </a:rPr>
              <a:t> </a:t>
            </a:r>
          </a:p>
          <a:p>
            <a:pPr algn="just"/>
            <a:endParaRPr lang="en-GB" sz="3200" dirty="0">
              <a:latin typeface="Comic Sans MS" panose="030F0702030302020204" pitchFamily="66" charset="0"/>
            </a:endParaRPr>
          </a:p>
          <a:p>
            <a:pPr algn="just"/>
            <a:r>
              <a:rPr lang="en-GB" b="0" i="0" u="none" strike="noStrike" baseline="0" dirty="0">
                <a:solidFill>
                  <a:srgbClr val="FF0000"/>
                </a:solidFill>
                <a:latin typeface="Comic Sans MS" panose="030F0702030302020204" pitchFamily="66" charset="0"/>
              </a:rPr>
              <a:t>Step 2: </a:t>
            </a:r>
            <a:r>
              <a:rPr lang="en-GB" b="0" i="0" u="none" strike="noStrike" baseline="0" dirty="0">
                <a:latin typeface="Comic Sans MS" panose="030F0702030302020204" pitchFamily="66" charset="0"/>
              </a:rPr>
              <a:t>Now distribute the inverter across the A·B term.</a:t>
            </a:r>
          </a:p>
          <a:p>
            <a:pPr algn="just"/>
            <a:r>
              <a:rPr lang="en-GB" dirty="0">
                <a:latin typeface="Comic Sans MS" panose="030F0702030302020204" pitchFamily="66" charset="0"/>
              </a:rPr>
              <a:t>                  </a:t>
            </a:r>
            <a:r>
              <a:rPr lang="en-GB" dirty="0">
                <a:latin typeface="Comic Sans MS" panose="030F0702030302020204" pitchFamily="66" charset="0"/>
                <a:sym typeface="Wingdings" panose="05000000000000000000" pitchFamily="2" charset="2"/>
              </a:rPr>
              <a:t></a:t>
            </a:r>
            <a:r>
              <a:rPr lang="en-GB" dirty="0">
                <a:latin typeface="Comic Sans MS" panose="030F0702030302020204" pitchFamily="66" charset="0"/>
              </a:rPr>
              <a:t>      (A + B) . C</a:t>
            </a:r>
          </a:p>
          <a:p>
            <a:pPr algn="just"/>
            <a:endParaRPr lang="en-GB" sz="1600" b="0" i="0" u="none" strike="noStrike" baseline="0" dirty="0">
              <a:latin typeface="Comic Sans MS" panose="030F0702030302020204" pitchFamily="66" charset="0"/>
            </a:endParaRPr>
          </a:p>
          <a:p>
            <a:pPr algn="just"/>
            <a:r>
              <a:rPr lang="en-GB" b="0" i="0" u="none" strike="noStrike" baseline="0" dirty="0">
                <a:solidFill>
                  <a:srgbClr val="FF0000"/>
                </a:solidFill>
                <a:latin typeface="Comic Sans MS" panose="030F0702030302020204" pitchFamily="66" charset="0"/>
              </a:rPr>
              <a:t>Step 3: </a:t>
            </a:r>
            <a:r>
              <a:rPr lang="en-GB" b="0" i="0" u="none" strike="noStrike" baseline="0" dirty="0">
                <a:latin typeface="Comic Sans MS" panose="030F0702030302020204" pitchFamily="66" charset="0"/>
              </a:rPr>
              <a:t>In this final case, the use of parenthesis is vital.</a:t>
            </a:r>
          </a:p>
          <a:p>
            <a:pPr algn="just"/>
            <a:endParaRPr lang="en-GB" dirty="0">
              <a:latin typeface="Comic Sans MS" panose="030F0702030302020204" pitchFamily="66" charset="0"/>
            </a:endParaRPr>
          </a:p>
        </p:txBody>
      </p:sp>
      <p:sp>
        <p:nvSpPr>
          <p:cNvPr id="6" name="Content Placeholder 5">
            <a:extLst>
              <a:ext uri="{FF2B5EF4-FFF2-40B4-BE49-F238E27FC236}">
                <a16:creationId xmlns:a16="http://schemas.microsoft.com/office/drawing/2014/main" id="{3C7985E7-5D45-4A87-A30A-66349D382FFE}"/>
              </a:ext>
            </a:extLst>
          </p:cNvPr>
          <p:cNvSpPr>
            <a:spLocks noGrp="1"/>
          </p:cNvSpPr>
          <p:nvPr>
            <p:ph sz="half" idx="2"/>
          </p:nvPr>
        </p:nvSpPr>
        <p:spPr>
          <a:xfrm>
            <a:off x="6172199" y="101600"/>
            <a:ext cx="5943599" cy="6756400"/>
          </a:xfrm>
        </p:spPr>
        <p:txBody>
          <a:bodyPr/>
          <a:lstStyle/>
          <a:p>
            <a:r>
              <a:rPr lang="en-GB" dirty="0"/>
              <a:t> </a:t>
            </a:r>
          </a:p>
        </p:txBody>
      </p:sp>
      <p:pic>
        <p:nvPicPr>
          <p:cNvPr id="8" name="Picture 7">
            <a:extLst>
              <a:ext uri="{FF2B5EF4-FFF2-40B4-BE49-F238E27FC236}">
                <a16:creationId xmlns:a16="http://schemas.microsoft.com/office/drawing/2014/main" id="{3F41892F-CD19-4629-AC24-6F349BB0FF7A}"/>
              </a:ext>
            </a:extLst>
          </p:cNvPr>
          <p:cNvPicPr>
            <a:picLocks noChangeAspect="1"/>
          </p:cNvPicPr>
          <p:nvPr/>
        </p:nvPicPr>
        <p:blipFill>
          <a:blip r:embed="rId2"/>
          <a:stretch>
            <a:fillRect/>
          </a:stretch>
        </p:blipFill>
        <p:spPr>
          <a:xfrm>
            <a:off x="594167" y="660251"/>
            <a:ext cx="1267002" cy="466790"/>
          </a:xfrm>
          <a:prstGeom prst="rect">
            <a:avLst/>
          </a:prstGeom>
        </p:spPr>
      </p:pic>
      <p:pic>
        <p:nvPicPr>
          <p:cNvPr id="10" name="Picture 9">
            <a:extLst>
              <a:ext uri="{FF2B5EF4-FFF2-40B4-BE49-F238E27FC236}">
                <a16:creationId xmlns:a16="http://schemas.microsoft.com/office/drawing/2014/main" id="{39B4F73A-0C08-4A1A-BBAE-21C48D03D89B}"/>
              </a:ext>
            </a:extLst>
          </p:cNvPr>
          <p:cNvPicPr>
            <a:picLocks noChangeAspect="1"/>
          </p:cNvPicPr>
          <p:nvPr/>
        </p:nvPicPr>
        <p:blipFill>
          <a:blip r:embed="rId3"/>
          <a:stretch>
            <a:fillRect/>
          </a:stretch>
        </p:blipFill>
        <p:spPr>
          <a:xfrm>
            <a:off x="741236" y="2266342"/>
            <a:ext cx="1228896" cy="533474"/>
          </a:xfrm>
          <a:prstGeom prst="rect">
            <a:avLst/>
          </a:prstGeom>
        </p:spPr>
      </p:pic>
      <p:pic>
        <p:nvPicPr>
          <p:cNvPr id="12" name="Picture 11">
            <a:extLst>
              <a:ext uri="{FF2B5EF4-FFF2-40B4-BE49-F238E27FC236}">
                <a16:creationId xmlns:a16="http://schemas.microsoft.com/office/drawing/2014/main" id="{EFDE8E60-5749-414C-B1BD-38BBE68BA5DE}"/>
              </a:ext>
            </a:extLst>
          </p:cNvPr>
          <p:cNvPicPr>
            <a:picLocks noChangeAspect="1"/>
          </p:cNvPicPr>
          <p:nvPr/>
        </p:nvPicPr>
        <p:blipFill>
          <a:blip r:embed="rId4"/>
          <a:stretch>
            <a:fillRect/>
          </a:stretch>
        </p:blipFill>
        <p:spPr>
          <a:xfrm>
            <a:off x="709488" y="3939117"/>
            <a:ext cx="1486107" cy="600159"/>
          </a:xfrm>
          <a:prstGeom prst="rect">
            <a:avLst/>
          </a:prstGeom>
        </p:spPr>
      </p:pic>
      <p:pic>
        <p:nvPicPr>
          <p:cNvPr id="14" name="Picture 13">
            <a:extLst>
              <a:ext uri="{FF2B5EF4-FFF2-40B4-BE49-F238E27FC236}">
                <a16:creationId xmlns:a16="http://schemas.microsoft.com/office/drawing/2014/main" id="{AAB4DEAE-54AC-407F-9DED-BE13CFFA3AF4}"/>
              </a:ext>
            </a:extLst>
          </p:cNvPr>
          <p:cNvPicPr>
            <a:picLocks noChangeAspect="1"/>
          </p:cNvPicPr>
          <p:nvPr/>
        </p:nvPicPr>
        <p:blipFill>
          <a:blip r:embed="rId5"/>
          <a:stretch>
            <a:fillRect/>
          </a:stretch>
        </p:blipFill>
        <p:spPr>
          <a:xfrm>
            <a:off x="6172199" y="110066"/>
            <a:ext cx="5865284" cy="6646334"/>
          </a:xfrm>
          <a:prstGeom prst="rect">
            <a:avLst/>
          </a:prstGeom>
        </p:spPr>
      </p:pic>
      <p:cxnSp>
        <p:nvCxnSpPr>
          <p:cNvPr id="3" name="Straight Connector 2">
            <a:extLst>
              <a:ext uri="{FF2B5EF4-FFF2-40B4-BE49-F238E27FC236}">
                <a16:creationId xmlns:a16="http://schemas.microsoft.com/office/drawing/2014/main" id="{EA4E92CC-EB38-4C82-A565-427A3992EA54}"/>
              </a:ext>
            </a:extLst>
          </p:cNvPr>
          <p:cNvCxnSpPr/>
          <p:nvPr/>
        </p:nvCxnSpPr>
        <p:spPr>
          <a:xfrm>
            <a:off x="1066799" y="787400"/>
            <a:ext cx="15240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56EA21AD-CB61-4CCF-9C85-365F97E49EFB}"/>
              </a:ext>
            </a:extLst>
          </p:cNvPr>
          <p:cNvCxnSpPr/>
          <p:nvPr/>
        </p:nvCxnSpPr>
        <p:spPr>
          <a:xfrm>
            <a:off x="1346379" y="4148675"/>
            <a:ext cx="20284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54B7D0C8-2D92-4D4B-96B4-3D35B471DA56}"/>
              </a:ext>
            </a:extLst>
          </p:cNvPr>
          <p:cNvCxnSpPr/>
          <p:nvPr/>
        </p:nvCxnSpPr>
        <p:spPr>
          <a:xfrm>
            <a:off x="1236133" y="2480733"/>
            <a:ext cx="15240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F2A0BB00-F910-4D45-B442-669516B00D09}"/>
              </a:ext>
            </a:extLst>
          </p:cNvPr>
          <p:cNvCxnSpPr/>
          <p:nvPr/>
        </p:nvCxnSpPr>
        <p:spPr>
          <a:xfrm>
            <a:off x="3513851" y="3869283"/>
            <a:ext cx="20284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01192048-15E9-40C2-A43C-6886BF1C8DC4}"/>
              </a:ext>
            </a:extLst>
          </p:cNvPr>
          <p:cNvCxnSpPr/>
          <p:nvPr/>
        </p:nvCxnSpPr>
        <p:spPr>
          <a:xfrm>
            <a:off x="4766917" y="3869283"/>
            <a:ext cx="20284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769380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EAEF4FA-5DD1-4EB2-8C76-69C553D2CA6A}"/>
              </a:ext>
            </a:extLst>
          </p:cNvPr>
          <p:cNvSpPr>
            <a:spLocks noGrp="1"/>
          </p:cNvSpPr>
          <p:nvPr>
            <p:ph idx="1"/>
          </p:nvPr>
        </p:nvSpPr>
        <p:spPr>
          <a:xfrm>
            <a:off x="67733" y="59266"/>
            <a:ext cx="12005734" cy="6798733"/>
          </a:xfrm>
        </p:spPr>
        <p:txBody>
          <a:bodyPr>
            <a:normAutofit/>
          </a:bodyPr>
          <a:lstStyle/>
          <a:p>
            <a:r>
              <a:rPr lang="en-GB" sz="2400" b="0" i="1" u="none" strike="noStrike" baseline="0" dirty="0">
                <a:solidFill>
                  <a:srgbClr val="FF0000"/>
                </a:solidFill>
                <a:latin typeface="Comic Sans MS" panose="030F0702030302020204" pitchFamily="66" charset="0"/>
              </a:rPr>
              <a:t>Next </a:t>
            </a:r>
          </a:p>
          <a:p>
            <a:endParaRPr lang="en-GB" sz="2400" b="0" i="1" u="none" strike="noStrike" baseline="0" dirty="0">
              <a:latin typeface="Comic Sans MS" panose="030F0702030302020204" pitchFamily="66" charset="0"/>
            </a:endParaRPr>
          </a:p>
          <a:p>
            <a:endParaRPr lang="en-GB" sz="2400" i="1" dirty="0">
              <a:latin typeface="Comic Sans MS" panose="030F0702030302020204" pitchFamily="66" charset="0"/>
            </a:endParaRPr>
          </a:p>
          <a:p>
            <a:r>
              <a:rPr lang="en-GB" sz="3200" b="0" i="1" u="none" strike="noStrike" baseline="0" dirty="0">
                <a:latin typeface="Comic Sans MS" panose="030F0702030302020204" pitchFamily="66" charset="0"/>
              </a:rPr>
              <a:t>Standard Boolean Expression Formats</a:t>
            </a:r>
          </a:p>
          <a:p>
            <a:pPr lvl="2"/>
            <a:r>
              <a:rPr lang="en-GB" sz="2400" b="0" i="0" u="none" strike="noStrike" baseline="0" dirty="0">
                <a:latin typeface="Comic Sans MS" panose="030F0702030302020204" pitchFamily="66" charset="0"/>
              </a:rPr>
              <a:t>Sum-of-Products (SOP)</a:t>
            </a:r>
            <a:endParaRPr lang="en-GB" sz="4400" i="1" dirty="0">
              <a:latin typeface="Comic Sans MS" panose="030F0702030302020204" pitchFamily="66" charset="0"/>
            </a:endParaRPr>
          </a:p>
          <a:p>
            <a:pPr lvl="2"/>
            <a:r>
              <a:rPr lang="en-GB" sz="2400" b="0" i="0" u="none" strike="noStrike" baseline="0" dirty="0">
                <a:latin typeface="Comic Sans MS" panose="030F0702030302020204" pitchFamily="66" charset="0"/>
              </a:rPr>
              <a:t>Product-of-Sums (POS)</a:t>
            </a:r>
          </a:p>
          <a:p>
            <a:pPr lvl="2"/>
            <a:endParaRPr lang="en-GB" sz="1800" dirty="0">
              <a:latin typeface="Comic Sans MS" panose="030F0702030302020204" pitchFamily="66" charset="0"/>
            </a:endParaRPr>
          </a:p>
          <a:p>
            <a:pPr lvl="2"/>
            <a:r>
              <a:rPr lang="en-GB" sz="3600" dirty="0">
                <a:solidFill>
                  <a:srgbClr val="FF0000"/>
                </a:solidFill>
                <a:latin typeface="Comic Sans MS" panose="030F0702030302020204" pitchFamily="66" charset="0"/>
              </a:rPr>
              <a:t>Thank you for listening</a:t>
            </a:r>
          </a:p>
          <a:p>
            <a:pPr lvl="2"/>
            <a:endParaRPr lang="en-GB" sz="1800" dirty="0">
              <a:latin typeface="Comic Sans MS" panose="030F0702030302020204" pitchFamily="66" charset="0"/>
            </a:endParaRPr>
          </a:p>
          <a:p>
            <a:pPr marL="914400" lvl="2" indent="0" algn="ctr">
              <a:buNone/>
            </a:pPr>
            <a:r>
              <a:rPr lang="en-GB" sz="4800" dirty="0">
                <a:solidFill>
                  <a:srgbClr val="FF0000"/>
                </a:solidFill>
                <a:latin typeface="Comic Sans MS" panose="030F0702030302020204" pitchFamily="66" charset="0"/>
              </a:rPr>
              <a:t>?</a:t>
            </a:r>
            <a:endParaRPr lang="en-GB" sz="138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753057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TotalTime>
  <Words>3658</Words>
  <Application>Microsoft Office PowerPoint</Application>
  <PresentationFormat>Widescreen</PresentationFormat>
  <Paragraphs>372</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Calibri Light</vt:lpstr>
      <vt:lpstr>Comic Sans MS</vt:lpstr>
      <vt:lpstr>TimesNewRomanPS-BoldMT</vt:lpstr>
      <vt:lpstr>TimesNewRomanPSMT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Femi Alamu</dc:creator>
  <cp:lastModifiedBy>Femi Alamu</cp:lastModifiedBy>
  <cp:revision>46</cp:revision>
  <dcterms:created xsi:type="dcterms:W3CDTF">2026-01-08T08:16:34Z</dcterms:created>
  <dcterms:modified xsi:type="dcterms:W3CDTF">2026-01-14T09:03:33Z</dcterms:modified>
</cp:coreProperties>
</file>