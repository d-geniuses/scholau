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1-15T18:59:55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7179 7020 0,'-18'0'63,"1"0"-48,-1 0 17,0 0-17,1 0-15,-1 0 16,1 0 0,-1 0-16,0 0 15,1 0 1,-19 0-1,19 0 1,-1 0 0,0 0-1,1 0 1,-1 0-16,1 0 0,-1 0 47,0 0-47,18 18 15,-17 0 17,17-1-17,-18 1 17,0-1-32,18 1 15,-17 0-15,17-1 16,0 1-1,0 0-15,0-1 16,0 1 0,0 0-1,0-1 1,0 1 0,0-1-16,0 1 15,0 0-15,0-1 31,0 1 1,0 0-32,0-1 0,0 1 31,0 0 0,0-1 0,17 1-15,1 17 0,-18-17 15,18-18-15,-18 17 15,17 1-16,1-18 1,-18 18-16,18-18 31,-1 0-15,-17 17-16,0 1 16,18-18-1,-1 18 1,-17-1 15,18-17-31,0 18 31,17 0 1,-35-1-17,18 1-15,-1-1 63,1 1-32,0-18 0,-18 18 16,17-18-31,1 0-1,-1 0 17,-17 17-17,18-17 1,0 0 15,-1 0 0,1 0-15,0 0 15,-1 0 0,1 0 1,0 0-17,-1 0 1,1 0 0,-1 0-1,1 0 32,0 0-31,17 0-1,-17 0 17,-1 0-1,-17-17-31,18 17 15,0-18-15,-18 0 16,17 18-16,1-35 0,0 18 31,-1-1 1,-17 0-17,0 1-15,0-1 31,18-17-15,-1 35-16,-17-18 0,0 0 31,0 1-31,0-1 0,0 1 16,0-1-16,0 0 16,0 1-1,0-1 1,0 0-1,0 1-15,0-1 0,0-17 32,0 17-17,0-17 1,0 17 0,-17 1-1,17-1-15,-18 0 16,1 1-1,17-1-15,-36 0 16,19 1 0,-1-1-16,0 18 15,1 0 1,-19-18 0,36 1 15,-17 17-16,17-18-15,-18 18 32,0 0 15,18-17-47,-17 17 15,17-18 1,-18 18-16,1 0 31,-1-18-15,0 18-16,1 0 15,-1 0 32,18-17-16,-18 17-15,1 0 15,-1 0 47</inkml:trace>
  <inkml:trace contextRef="#ctx0" brushRef="#br0" timeOffset="5716.99">8308 12876 0,'-18'18'125,"1"-18"-125,-1 0 16,0 0-16,1 18 15,-1-18-15,-17 17 16,35 1-16,-18-18 16,1 35-1,-1-35-15,0 0 0,1 0 31,17 18-31,-18-18 16,18 18-16,-18-18 16,18 17-1,-17 1-15,-1-18 16,18 17-16,-18 1 16,18 0-16,0-1 15,-17-17-15,17 18 16,-18-18-16,18 18 15,-17-1-15,17 1 16,0 0 0,-18-1-16,0 1 15,1-1 1,17 1 15,0 0-31,0-1 16,0 1-16,0 0 0,0 17 15,0-17 1,0-1 0,0 1-16,0-1 0,0 1 31,0 17-31,0-17 16,0 0-16,0-1 15,0 1 16,0 0-31,0-1 0,17 1 16,1-18-16,-18 17 16,0 1 15,18 0 0,-18-1-31,0 1 16,17-18-16,-17 18 47,18-18-16,-18 17-31,0 1 16,17-18-1,-17 18-15,18-18 16,0 35-1,-1-35 17,-17 18-17,18-18 17,0 17-17,-1-17 1,1 0-16,-18 18 15,18-18 1,-1 17 0,1-17 15,-1 0 0,-17 18-31,36-18 31,-19 0 1,1 0-17,0 0 1,-1 0 0,1 18-1,0-18-15,-1 0 16,1 0-16,-1 0 15,1 0-15,17 0 16,-17 0 0,0 0-1,-1 0 1,1 0 0,0 0-16,-1 0 15,1 0 16,-18-18-15,17 18 15,1 0-15,-18-18 0,18 18-1,-1-17-15,1 17 16,-18-18-1,18 1 1,-1-1-16,-17 0 16,18 1-1,-18-1 1,35 0-16,-17 1 16,0 17-1,-18-18 1,17 0-16,-17 1 15,0-1-15,18 18 16,-18-18 0,17 1-16,1-1 31,-18 1-31,0-1 16,18 18-16,-18-18 15,0 1 16,17-1-31,-17 0 16,0 1-16,0-1 16,0 0-16,0 1 15,0-1 17,0 1-17,0-19-15,0 19 16,0-1-1,0 0 1,0-35 0,0 36-1,0-1 17,0 1-17,0-1 1,0 0-1,-17 1 1,-1-1-16,18 0 0,-18 18 16,18-17-1,-17-1 1,-1 0-16,18 1 16,-17 17-16,17-18 15,0 1-15,-18 17 16,18-18-1,-18 18-15,1 0 16,-1-18 0,18 1-16,-18 17 15,1-18-15,-1 0 16,-53 1 0,54-1-16,-1 0 0,-35 1 15,18 17-15,0-18 16,17 0-1,0 18-15,1-17 16,-1 17 0,1 0-16,-1 0 15,0 0 17,1 0 61</inkml:trace>
  <inkml:trace contextRef="#ctx0" brushRef="#br0" timeOffset="8856.68">5045 11042 0,'-18'0'31,"0"0"-15,1 0 0,-1 0-1,1 0-15,-1 0 16,18 18-16,-18-18 16,18 35-16,-17-18 15,17 1 1,-18 0-16,18-1 15,0 19 1,-18-19-16,18 1 16,0 17-16,0-17 15,-17 17-15,17-17 16,0-1-16,0 19 0,0-1 16,0-17-16,0 17 15,0-17 1,0-1-1,0 1-15,0-1 0,0 1 16,17 0 0,-17-1-1,18 1 1,-18 0-16,18-1 16,-1-17-16,-17 18 15,18-18-15,17 18 0,-35-1 16,35 1-1,-17-18 1,-18 35 0,18-35-16,-1 0 0,1 0 15,-18 18 1,18-18-16,-1 17 16,1-17-16,-18 18 0,18-18 0,-1 0 31,18 0-31,-35 18 15,18-18 1,0 0-16,-1 0 16,19 0-1,-19 0-15,1 0 32,0 0-17,-1 0-15,1 0 16,0 0-1,-1 0-15,1-18 16,-18 0 0,17 18-16,-17-17 15,18 17-15,17-35 16,-17 17-16,-18 0 16,18 1-16,-1-1 15,1 0-15,-18 1 16,35-1-16,-35 0 15,0 1 1,18 17-16,-1-18 31,-17 0-15,18 1 0,-18-1-16,0-17 15,0 17 1,0 1-1,0-1-15,0 0 16,0 1-16,0-1 16,0 0-16,-18 18 15,18-17-15,-17-1 32,-1 1-32,1 17 15,17-18-15,-18 0 16,0 1-16,1-1 15,17 0 1,-18 1-16,0 17 16,1 0-16,-1 0 0,18-18 15,-18 18 1,1 0 0,17-18-16,-18 1 15,-17-1 1,17 0-1,18 1-15,-17 17 16,-1 0-16,0 0 31,18-18-31,-17 18 16,-1 0-16,0 0 16,1 0-1,17-17-15,-18 17 16,0 0-1,1 0-15,-1 0 16,1 0 0,-1 0-1,0 0-15,1 0 16,-1 0-16,0 0 16,1 0-1,-1 0 1,0 0 15,-17 0 16,18 0 15,-1 0 17</inkml:trace>
  <inkml:trace contextRef="#ctx0" brushRef="#br0" timeOffset="12599.33">6368 8290 0,'0'-17'0,"0"-1"46,-18 18-30,0 0 0,1 0-1,-1 0-15,0 0 16,1 0 0,-1 0-16,1 0 15,-1 0 1,0 0-1,1 0 1,-1 0-16,0 0 16,1 0-16,-1 0 15,0 0 1,1 18 0,17-1-1,-18-17-15,0 0 31,18 18-31,-17-18 16,-1 18 15,18-1-15,0 1 0,-17-1-16,-1-17 31,18 18-31,0 0 31,-18-1-31,1 1 16,17 0-16,-18 17 31,0-17-15,18-1-16,0 1 15,0-1 1,0 19-16,0-19 31,0 1-31,0 17 16,0-17-1,0 0 1,0-1 0,0 1-16,0 17 15,0-17-15,0-1 31,0 19-31,0-19 32,0 1-17,0 0-15,0-1 0,0 1 32,0 0-17,18-18 1,-18 17-16,18 1 0,-1-18 15,1 0 1,-18 17 0,18 1-16,-1 0 15,1-18 1,-1 17-16,19-17 16,-36 18-16,35 0 15,-17-18-15,17 17 16,-17-17-1,-1 0 1,1 0 0,0 0-16,-1 0 15,1 0-15,-1 0 16,1 0 0,0 0-1,-1 0 1,1 0-16,0 0 15,-1 0-15,1-17 32,0 17-17,-18-18-15,17 0 16,-17 1-16,35 17 16,-35-36-16,18 1 15,0 18 1,-18-19-16,17 36 15,-17-35 1,18 0-16,-18 17 0,0 0 16,0 1-16,18-1 15,-18-17 1,17-18-16,-17 35 0,0 1 16,0-19-1,0 19 1,0-1-16,0 0 15,0 1 1,0-1 15,0 1-31,0-1 0,0 0 32,0 1-1,-17-1-31,17 0 15,0 1-15,0-1 16,-18 18-16,18-18 16,-18 18-1,1-17-15,17-1 32,-18 1-17,0 17 1,18-18-16,-17 18 15,-1 0 17,18-18-1,-17 18-15,-1 0-1,0 0-15,1 0 16,17-17-16,-18 17 47,0 0-32,1 0 48,-1 0-1,-17 0-30,17 0-1,1 0 0,-1 0-15,0 0 15,1 0 31,-1 0-46,0 0 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6-01-15T19:01:55.1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23213 11783 0,'0'-18'141,"0"1"-63,-18 17-62,18-18 46,0 0-62,18 18 16,-1 0-1,-17-17-15,36-1 0,-36 0 16,17 18-16,1 0 16,17-17-1,-17 17 1,0 0-16,-1 0 16,1 0-1,17 0 1,-17 0-1,-1 0 17,1 0-32,0 0 15,17 0 1,-17 0 0,-1 0-16,18 0 15,-17 0-15,0 0 16,-1 0-16,1 0 31,0 0 16,-1 0 15,1 0-15,0 0-31,-1 0 125,-17 17-126,0 1-15,0 0 16,0-1-16,18 19 15,-1-19-15,-17 18 16,0-17-16,18 0 16,-18-1-16,0 19 15,0-19 1,18 1-16,-18 0 16,0-1-16,0 1 15,0-1-15,0 1 16,0 0-1,0-1-15,0 1 16,0 17 0,0-17-1,0 0 1,0-1-16,0 1 31,0-1-15,0 1-16,0 0 15,0-1 1,0 1 15,0 0 1,0-1-32,17 1 0,-17 0 15,18-1-15,-18 1 31,0-1-31,0 19 16,0-19 0,18-17 15,-18 18-31,0 0 31,0-1-31,0 1 63,0 0-48,0-1 32,0 1-31,0 0 31,0-1 0,0 1-32,-18-1-15,-17 1 0,-1-18 16,1 0-16,-18 0 15,36 0-15,-19 0 16,19 0 0,-1 0-16,-17 0 15,17 0 1,1 0 0,-1 0-16,0 0 15,-17 0 1,17 0-1,1 0 17,-1 0 15,0 0-16,1 0 0,-1 0-15,1 0-1,-1 0-15,18 18 16,-18-18 0,1 0-1,-19 0-15,19 0 47,-1 0-31,0 0 15,1 0 0,-1 0 32,1 0-1,-1 0 32,0 0-63,18-18 16,-17 0-31,-1 18-1,0-35-15,18 18 16,0-36-16,-17 17 16,17 1-16,0-36 0,0 36 15,0 0 1,0 0-16,0-54 15,0 37-15,0-37 16,0 72-16,0-1 16,0-17-16,0 0 15,0-18 1,0 17-16,0 1 0,0 17 31,0 1-31,0-1 0,0 1 16,0-19-1,0 19 1,0-1 31,0 0-47,0 1 31,0-1-15,0 0 46,0 1 16,0-1 63,35 18-125,-17 0-1,-1 0-15,1 0 16,0 0 15,-1 0 0,1 0-15,-18-18 15,17 18-15,1-17 15,-18-1-31,35 18 0,1 0 0,-19 0 31,1 0-31,0 0 16,-1 0 15,18 0 32</inkml:trace>
  <inkml:trace contextRef="#ctx0" brushRef="#br0" timeOffset="5196.52">26935 11659 0,'-18'0'31,"0"0"-31,1 0 16,-1 0-16,-17 0 15,17 0-15,0 0 16,1 0-16,-1 0 0,1 0 16,-1 0-1,0 0-15,1 0 0,-1 0 16,0 0 0,1 0-16,-1 0 15,0 18 1,1 0-16,-1-18 0,1 0 15,-1 0-15,0 17 16,1-17 0,-1 0-1,0 0 17,1 18-1,17 0 31,0-1-30,0 1-32,0-1 15,0 1-15,0 0 31,0-1-15,0 19 0,0-19-1,0 1 1,0 0-16,0-1 16,17-17-1,-17 35-15,18-17 16,-18 0-1,0-1 1,0 1 0,0 0-16,18-1 15,-18 1-15,0 0 16,0-1 0,0 18-1,17 18-15,-17-35 16,0 0-1,0-1-15,0 1 16,0 0 0,0-1 15,0 1-15,0-1 15,0 1-16,0 0 1,0-1 0,0 1-1,0 0-15,0-1 16,0 1 0,0 0-1,0-1 1,0 1-16,0 0 31,0-1 47,0 1 0,0-1-62,0 1 15,0 0-31,0-1 47,0 1-47,0 0 78,18-18 16,17 0-94,-17 0 16,17 0-16,0-18 15,36 18-15,-36 0 0,53-18 16,-35 18-16,-35 0 15,0 0-15,17 0 16,0 0-16,-17 0 16,-1 0-16,1 0 15,0 0-15,-1 0 16,1 0 0,0 0-1,-1 0 1,19 0 15,-19 0-15,1 0-1,-1 0-15,1 0 16,0 0 15,-1 0 0,1 0 1,0 0-17,-1 0 32,1 0-16,0 0-15,-1 0-16,1 0 78,-18-17-15,0-1-63,0-70 15,-18 70-15,18 1 16,-35-1-16,35-17 16,-18 35-1,18-18-15,-17 18 16,17-18-1,-18 1-15,18-1 16,-18 0-16,18-52 16,0 35-1,0 17-15,-35-17 16,35 17-16,0 0 16,0 1-1,0-1-15,0 1 31,0-1-31,0 0 16,0 1 0,18-19-16,-18 19 15,0-1-15,0 0 16,0 1 0,0-1-1,0-17 1,0 17-1,0 1 1,0-1-16,17 18 31,-17-18-15,0 1 0,18 17 15,-18-36-31,0 19 31,0-1 0,18 18 1,-18-17-17,0-1 32,17 18-47,-17-18 94,-17 18-63,-1 0-15,0 0-1,-17 0 1,17 0 0,1 0-1,-18 0 1,17 0-16,0 0 15,1 0-15,-1 0 32,0 0-17,1 0 17,-1 0-32,0 0 15,1 0 1,17-17-16,-18 17 15,1 0-15,-1 0 16,0 0 0,1 0 15,-1 0-15,0 0 30,1 0 1,-19 0 0,19 0 16,-1 0-1</inkml:trace>
  <inkml:trace contextRef="#ctx0" brushRef="#br0" timeOffset="12096.2">15875 14429 0,'-35'0'125,"17"0"-125,18 17 0,-35-17 15,0 18-15,17-18 16,18 18 0,-18-18-16,1 0 15,-1 17-15,0-17 16,1 35 0,-1-17 30,18 0-14,-18-18-1,18 17-15,0 1 15,0 0 0,0-1-15,0 1 31,0 0-16,0-1 31,0 1-15,0-1-31,0 1-16,0 0 15,0-1-15,0 1 16,0 0 0,0 17-1,18-17 1,-18-1-16,18-17 16,-18 18-16,17-1 15,-17 1 1,18 0-16,0-18 15,-18 17 1,0 1-16,0 0 16,0-1-1,17 1 1,-17 0-16,0-1 16,0 1 15,0 0-31,0-1 15,0 1 1,0-1-16,0 1 31,0 0-31,0-1 32,0 1-17,0 0 1,0-1-1,0 1 64,0 0-48,36-18 109,-19 0-124,18 0-16,-17 0 16,35 0-16,-18 0 0,1 0 15,-19 0 1,1 0-16,17 0 16,-17 0-16,-1 0 15,19 0-15,17 0 16,-36 0-1,18 0-15,-17 0 16,17 0-16,-17 0 16,0 0-16,-1 0 15,-17-18 1,18 18-16,0 0 16,-1 0-16,1 0 15,0 0 1,-1 0 46,1 0-15,17 0 47,-17 0-32,-18-18 63,0-17-125,0 0 0,0 17 16,0 0-16,0-34 16,0-37-1,0 72 1,0-19-16,0 19 16,0-1-16,0-35 0,0 36 15,0-1-15,0 0 0,0 1 16,0-19-1,0 1-15,0 17 16,0 1 0,0-1 15,0 1 0,0-19-31,0 19 0,0-1 63,0 0-32,0 1 47,0-1 0,0 0-47,0 1 1,0-1 124,-18 18-140,-17-17-1,0-1-15,17 18 0,0 0 16,-17 0-1,0 0-15,17 0 0,0 0 16,1 0 0,-19 0-16,19 0 15,-1 0 1,1 0-16,-1 0 16,-17 0-16,17 0 15,0 0-15,1 0 16,-1 0-1,-17 0-15,17 0 16,1 0 0,-1 0-16,0 0 31,1 0-15,-1 0-1,0 0 1,1 0-1,-1 0 48,0 0-47,18 18-1,-17-18 32,-1 0-16,18 17 126</inkml:trace>
  <inkml:trace contextRef="#ctx0" brushRef="#br0" timeOffset="18592.99">19985 8590 0,'-35'18'31,"-1"-18"-31,1 17 16,0 1-16,17-18 16,-17 18-16,17-1 0,-17 19 15,0-19 1,17 19-16,-17-19 15,-18 36-15,18-18 16,-1 1-16,1-1 0,17 0 0,-17 0 31,35-17-31,-35 0 0,17 17 16,-35 0-16,36 1 16,-19-1-16,19-17 15,-72 87 1,72-87-16,-18 17 15,35 1-15,-53-19 16,35 18-16,-17-17 16,-18 88-16,35-88 15,1-1-15,-19 36 16,-17 18-16,18-54 16,17 54-16,-17-36 15,35 0-15,-35 1 16,0-19-1,-18 72-15,35-37 16,-35 19-16,18-18 16,0-18-16,17 0 15,-35 54-15,18-54 16,-18 71-16,35-89 0,-17 72 16,0-54-16,17 0 15,0 0-15,-17 36 16,35-53-1,-53 52-15,0-17 16,36-18-16,-19 18 16,1 18-16,0-36 15,17 18-15,0-18 0,1 18 16,-18 0-16,-1-35 16,19 35-16,-1-18 15,0 36 1,-35 87-16,18-122 15,0 69-15,0-69 0,17-1 16,-35 71-16,35-36 16,-17 71-16,17-88 15,-17 0-15,35-17 16,-17-1 0,-19 0-16,19 0 15,17-17 1,-36 35 312,-34 70-328,-1-70 0,54 0 16,-36 35-16,-18-17 15,36 0-15,17-18 16,-17-1-16,17 1 15,18-17-15,-35-1 16,0 71-16,0-18 16,35-53-16,-18 0 15,0 18-15,18-17 16,-35-1-16,17 0 16,1 71-16,-1-53 15,0 18-15,18-54 16,-35 18-1,17 18-15,-34 36 16,34-37-16,18-16 16,-18-1-16,1-35 15,17 35-15,0-17 16,0 0 0,0-1 15,0 1-16,-18-18 1,18 18-16,-18-1 16,18 1-16,0-1 15,0 1 1,-17-18 0,-1 0-1,18 18-15,0-1 0,0 1 16,-18-18 15,18 18-15,0-1 46,0-34 79,0-19-126,0 1-15,0 0 16,0 17 0,0-17-16,0 17 15,0-70-15,0 0 16,0 70 0,0 1-1,0-1 1,0 0 15,0 1 32,0-1-1,0 0-31,18 18 32,-18 18-32,18 53-15,-18-54-16,17 18 15,-17 1-15,0-1 0,0-17 16,0-1 0,0 1-16,0 0 15,0 17 1,0-17 15,0-1 47,36-17 94,-1 0-172,0-35 16,-17 17-16,-1 1 15,1-1-15,0 0 0,-1 18 32,-17-17-32,0-1 31,18 18-16,0 0 1,-1 0 31,-17-18-31,18 18-16,-18-17 15,18 17 1,-1 0-16,1 0 47,0 0 15</inkml:trace>
  <inkml:trace contextRef="#ctx0" brushRef="#br0" timeOffset="23388.69">28593 8608 0,'-177'106'94,"-17"-1"-79,-70 54-15,52-88 0,18 70 0,0-35 16,-35 17-16,17-35 16,-123 106-1,158-88-15,1-18 16,0 36-16,-54 35 15,125-106-15,-1-1 16,-53 125-16,106-124 16,-35 17-16,-53 89 15,105-124-15,-34 18 16,35 35 0,-1-52-16,1-19 15,0 54-15,17-36 0,0 0 16,1-17-1,17 35-15,-18-18 16,1-17-16,-1 0 16,0 17-16,1-17 15,17-1-15,0 1 0,-18-1 32,0 36-32,18-35 15,-35-18-15,35 18 16,0-1-16,0 1 15,-18 0 1,18-1 0,-17 1 31,-1-18-47,18 17 15,-17-17-15,-1 18 16,0-18-16,1 18 15,17-1-15,-18-17 16,18 18-16,-18-18 16,-17 18-1,17-18-15,1 17 16,-1-17 0,1 0-16,-1 18 15,0-18 16,1 0 1,17 35-32,-18-35 47,18 18-32,-18 0 32,1-1-47,-1 1 16,18-1-1,-18 1 1,18 0-16,0-1 16,-17-17-1,-1 0 16,18 18-15,-18-18 15,1 0 32,17 18-48,-18-18 1,18 17-16,-17 1 31,-1-18 1,0 0 46,18 18-78,0-36 765,18-17-749,-18-1-16,18 1 0,-1-18 16,-17 36-1,0-1-15,0 0 0,0 36 156,0 0-156,0-1 16,0 1-16,0-1 16,0 1-16,0 0 15,0-1 1,0 1 0,-17-18-16,17 18 46,0-1-46,-36 36 32,36-35-32,0 17 15,0 0-15,0 1 16,0-19 0,0 1-16,0 0 15,0-1-15,0 1 16,0-1-16,0 1 0,0 0 31,0-1 47,18-17 16,0-17-78,-1-19-16,1 19 0,17-18 15,-17 17 1,17 18-16,-35-18 15,18 18-15,-1-17 16,1 17 31,0 0-16,-1 0 16</inkml:trace>
  <inkml:trace contextRef="#ctx0" brushRef="#br0" timeOffset="26658.67">30004 9225 0,'-71'53'62,"1"18"-62,-71 87 16,88-69-16,-71 34 16,36-35-16,-53 53 15,-18 36-15,89-107 16,-72 36-16,37 0 16,-1 35-16,-18-17 15,89-89-15,-53 53 16,35-17-1,18-19-15,-36 19 0,36-36 16,-36 53-16,-17-17 16,53-18-16,-1 0 15,-16-18 1,16 53-16,1-70 0,17 0 16,1 17-1,-19-17-15,1 34 16,0-16-16,35-1 0,-18-35 15,1 18 1,-1-1-16,18 1 0,-18-18 16,18 18-16,-17-1 31,17 1 0,-18-18 94,18 18-125,0-1 16,-18 1-1,1-18-15,-1 17 16,0 1 15,1 0-31,-1-1 0,18 1 32,0 0-17,-17-1-15,-19-17 31,36 18-15,-17-18-16,-1 18 47,0-18 15,18 17-46,-17-17-16,17 18 16,0-36 156,0-17-157,0 0-15,0-54 16,0 54-16,0 18 0,0-19 15,0 1 1,0 0-16,0 17 0,0 0 16,17-17-1,-17 17-15,0 1 0,0-1 32,0 1 14,18 17 142,0 0-172,-18 17-1,0 18-15,0-17 16,0 35-16,0-35 15,17 17-15,-17 18 0,0-35 16,0 17 0,0-18-16,0 19 15,0-19 17,0 1 14,0 0-30,0-1-16,0 1 16,0 0-1,0-1 1,0 1-16,0-1 62,36-17 235,16 18-297,-34 0 16,0-18-16,-1 0 16,1 0-16,0 0 15,-1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18BB-186D-44C2-B131-6B7D8D867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BBD29-E3D9-43BD-AD7D-E1627183D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685D-80F7-4333-A2E3-B3CB899D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C8398-E2DF-4EEE-82B0-C8EB6100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A76FA-A1F8-4731-A957-E3B2CCEB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39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3234-515F-496F-951E-29EDF73F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55794-5618-438B-A257-A1BB5483C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0CF4B-90B7-418C-9AEE-924ED8FF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39038-6803-4972-899C-E7723D89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78779-A932-4F5A-BC6E-960D55AD8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6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A564-AA5D-49E5-B6E0-AE4B4F86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B84FF-44A1-490E-AB69-CF99E7F37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F26A7-8758-4119-A3C2-21FC7EE9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B21F5-642D-4846-8FCE-E37D1533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8170F-73A3-439C-9687-2FE0C81D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58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AF0B-A083-4D50-8D29-0EEFD8D0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0E056-6E2B-46C4-BE96-0A296751D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8B4A1-AD79-413A-98D5-5B895CE66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1EBF8-BD59-482B-9FD8-9BD9FEC7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5B5F9-E103-4E20-A526-3B1DD963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F8C4B-8FF6-47BD-BE17-FE88EA69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69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59A1-6943-4DFB-A20A-030799832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EF726-8638-49C8-9BE0-B29FFC93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A813C-65C5-42B8-AFAD-94BA91158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24EC5-5DE9-46C9-830B-3C0135B67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0470C-1FEB-4C68-95DE-0F5066993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929FD-6E7E-4645-B999-C731AD0A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6D35A0-D850-4D0D-9417-94A58E06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7C7E3-A54F-4B71-8FF2-A406F690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54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F1B2F-60F8-421A-BF3E-54B4024C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A41594-0DE1-4DC7-93F0-55742DDC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439DB-A446-4DE1-AD30-6841EEB3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B9B00-3578-4EE3-8845-38595CEA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9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6C12C-F9CC-4A73-851E-1F5C11B28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EA7C5-5B7A-4BE8-A054-4024ACAB2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42BD9-0F08-498C-87E7-34FB5E8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08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3E64-9FA5-4210-A33A-C81394AE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038A6-FCF1-44E0-A5BE-B2A75C58C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5813F-8ADD-41EE-8D74-9E82D695D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30C16-7CEE-47BA-A2FD-325A9968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373A5-330E-4BAF-A4D9-0714F423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86405-7B43-451B-A395-24B58376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47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0BF1-3D0E-49A7-AA4A-D8649F69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B89EFD-92DA-4CD0-ABC0-CC532F476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2E706-8030-402E-AC1B-2A5B0B9D2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5B1DE-FA15-47A9-BBF5-D343DEF81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FBE44-F0A0-47A5-8DE5-1E27DEB0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0F5C9-4846-4A71-862B-11078AE0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166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DE7D-D583-4141-97B1-43F38D17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A76EF-D9E1-4C44-874A-E10F21EE7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61905-5BFA-446E-B8AC-8E5A28D9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6C4CB-435B-4A3D-9044-2B5461CA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A8E5-1219-46F7-AA7B-E59494F2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689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6DF8AE-8EE3-49C6-AC0A-EA2913057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C964B-0658-4706-A8C6-4B83F5B3E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8750D-4551-4143-ADEC-B2874BC7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4359-6B2D-4552-9026-54E37968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3384B-5651-4EE0-9BFD-6AACC527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92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CEE56-2D2A-466B-A7A4-E7762DA0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7C3A6-46F2-409A-945C-F31E097F3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53EE7-9CE3-4F68-B28D-00D27968D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15850-17D8-4E22-9F33-C3E8017D94DE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E17B9-1E1E-4032-8EF0-32177F57C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5AE15-3D76-407A-9CC1-0C4549A17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766D8-ADD1-4830-AD3E-8617BC0D1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00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480600-2BF3-4EBA-B94A-E4F528A4C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FI" sz="3200" b="1" i="1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endParaRPr lang="en-FI" sz="3200" b="1" i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GB" sz="4800" b="1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Standard Boolean Expression Formats</a:t>
            </a:r>
            <a:endParaRPr lang="en-FI" sz="4800" b="1" i="1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endParaRPr lang="en-FI" sz="4000" b="1" i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FI" sz="5400" dirty="0">
                <a:latin typeface="Comic Sans MS" panose="030F0702030302020204" pitchFamily="66" charset="0"/>
              </a:rPr>
              <a:t>Alamu F.O. Ph.D.</a:t>
            </a:r>
            <a:endParaRPr lang="en-GB" sz="5400" dirty="0">
              <a:latin typeface="Comic Sans MS" panose="030F0702030302020204" pitchFamily="66" charset="0"/>
            </a:endParaRPr>
          </a:p>
          <a:p>
            <a:pPr algn="ctr"/>
            <a:endParaRPr lang="en-GB" sz="4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99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CCDBA-69D8-42C4-B960-F531D2510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24267" cy="6798733"/>
          </a:xfrm>
        </p:spPr>
        <p:txBody>
          <a:bodyPr>
            <a:normAutofit fontScale="92500" lnSpcReduction="20000"/>
          </a:bodyPr>
          <a:lstStyle/>
          <a:p>
            <a:pPr algn="just"/>
            <a:endParaRPr lang="en-FI" sz="3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The development of standards is important to the computer industry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for a number of reasons. </a:t>
            </a:r>
            <a:endParaRPr lang="en-FI" sz="2600" b="0" i="0" u="none" strike="noStrike" baseline="0" dirty="0">
              <a:latin typeface="Comic Sans MS" panose="030F0702030302020204" pitchFamily="66" charset="0"/>
            </a:endParaRPr>
          </a:p>
          <a:p>
            <a:pPr marL="0" indent="0" algn="just">
              <a:buNone/>
            </a:pPr>
            <a:endParaRPr lang="en-FI" sz="210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It allows independently developed systems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and subsystems </a:t>
            </a:r>
            <a:r>
              <a:rPr lang="en-GB" sz="26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to be connected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, it provides </a:t>
            </a:r>
            <a:r>
              <a:rPr lang="en-GB" sz="26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reliability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through well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tested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design methods, and it </a:t>
            </a:r>
            <a:r>
              <a:rPr lang="en-GB" sz="26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shortens the design time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by providing off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the-shelf tools and components for quick development.</a:t>
            </a:r>
          </a:p>
          <a:p>
            <a:pPr algn="just"/>
            <a:endParaRPr lang="en-FI" sz="15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In the design of digital systems, there are some </a:t>
            </a:r>
            <a:r>
              <a:rPr lang="en-GB" sz="26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standards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 that are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regularly applied to combinational logic. </a:t>
            </a:r>
            <a:endParaRPr lang="en-FI" sz="26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FI" sz="60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Over time, design tools and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programmable hardware have been developed to support these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standards allowing for quick implementation of digital logic.</a:t>
            </a:r>
            <a:endParaRPr lang="en-FI" sz="26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FI" sz="6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FI" sz="2600" dirty="0">
                <a:latin typeface="Comic Sans MS" panose="030F0702030302020204" pitchFamily="66" charset="0"/>
              </a:rPr>
              <a:t>T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wo standard representations of combinational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logic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are presented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: </a:t>
            </a:r>
            <a:r>
              <a:rPr lang="en-GB" sz="26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Sum-of-Products and Product-of-Sums. </a:t>
            </a:r>
            <a:endParaRPr lang="en-FI" sz="2600" b="0" i="0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just"/>
            <a:endParaRPr lang="en-FI" sz="80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Both of these formats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represent the fastest possible digital circuitry since, aside from a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possible inverter, </a:t>
            </a:r>
            <a:r>
              <a:rPr lang="en-GB" sz="26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all of the signals pass through exactly two layers of</a:t>
            </a:r>
            <a:r>
              <a:rPr lang="en-FI" sz="26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l</a:t>
            </a:r>
            <a:r>
              <a:rPr lang="en-GB" sz="2600" b="0" i="0" u="none" strike="noStrike" baseline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ogic</a:t>
            </a:r>
            <a:r>
              <a:rPr lang="en-GB" sz="26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gates. </a:t>
            </a:r>
            <a:endParaRPr lang="en-FI" sz="2600" b="0" i="0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just"/>
            <a:endParaRPr lang="en-FI" sz="9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This also opens the door for the development of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programmable hardware where a single computer chip can be</a:t>
            </a:r>
            <a:r>
              <a:rPr lang="en-FI" sz="26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programmed to handle any logic circuit.</a:t>
            </a:r>
            <a:endParaRPr lang="en-GB" sz="2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27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2451-208E-45C6-B787-6F9984A7E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675"/>
            <a:ext cx="12115800" cy="6724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3600" b="1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Sum-of-Products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 sum-of-products (SOP) expression is a Boolean expression in a specific format.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The term sum-of-products comes from the expression’s form: a sum (OR) of one or more products (AND). 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As a digital circuit, an SOP expression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takes the output of one or more AND gates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and OR's them together to create the final output.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inputs to the AND gates are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either inverted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or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non-inverted input signals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. This limits the number of gates that any input signal passes through before reaching the output to an inverter, an AND gate, and an OR gate. 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Since each gate causes a delay in the transition from input to output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, and since the SOP format forces all signals to go through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exactly two gates (not counting the inverters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), an SOP expression gives us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predictable performance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regardless of which input in a combinational logic circuit changes.</a:t>
            </a:r>
          </a:p>
        </p:txBody>
      </p:sp>
    </p:spTree>
    <p:extLst>
      <p:ext uri="{BB962C8B-B14F-4D97-AF65-F5344CB8AC3E}">
        <p14:creationId xmlns:p14="http://schemas.microsoft.com/office/powerpoint/2010/main" val="59195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D3AA3-1995-4A51-8654-DEB2F09D8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GB" sz="2800" b="0" i="0" u="none" strike="noStrike" baseline="0" dirty="0">
                <a:latin typeface="Comic Sans MS" panose="030F0702030302020204" pitchFamily="66" charset="0"/>
              </a:rPr>
              <a:t>Below is an example of an SOP expression:</a:t>
            </a:r>
          </a:p>
          <a:p>
            <a:endParaRPr lang="en-GB" dirty="0">
              <a:latin typeface="Comic Sans MS" panose="030F0702030302020204" pitchFamily="66" charset="0"/>
            </a:endParaRPr>
          </a:p>
          <a:p>
            <a:endParaRPr lang="en-GB" sz="16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There are no parentheses in an SOP expression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since they would necessitate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additional levels of logic. </a:t>
            </a:r>
          </a:p>
          <a:p>
            <a:pPr algn="just"/>
            <a:endParaRPr lang="en-GB" sz="1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This also means that an SOP expression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cannot have more than one variable combined in a term with an inversion bar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. </a:t>
            </a:r>
          </a:p>
          <a:p>
            <a:pPr algn="just"/>
            <a:endParaRPr lang="en-GB" sz="1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following is </a:t>
            </a:r>
            <a:r>
              <a:rPr lang="en-GB" sz="2400" b="0" i="1" u="none" strike="noStrike" baseline="0" dirty="0">
                <a:latin typeface="Comic Sans MS" panose="030F0702030302020204" pitchFamily="66" charset="0"/>
              </a:rPr>
              <a:t>not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an SOP expression:</a:t>
            </a:r>
          </a:p>
          <a:p>
            <a:pPr algn="l"/>
            <a:endParaRPr lang="en-GB" sz="2800" b="0" i="0" u="none" strike="noStrike" baseline="0" dirty="0">
              <a:latin typeface="Comic Sans MS" panose="030F0702030302020204" pitchFamily="66" charset="0"/>
            </a:endParaRPr>
          </a:p>
          <a:p>
            <a:pPr algn="l"/>
            <a:endParaRPr lang="en-GB" sz="28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This is because the first term has A and B passing through a NAND gate before being </a:t>
            </a:r>
            <a:r>
              <a:rPr lang="en-GB" sz="2400" b="0" i="0" u="none" strike="noStrike" baseline="0" dirty="0" err="1">
                <a:latin typeface="Comic Sans MS" panose="030F0702030302020204" pitchFamily="66" charset="0"/>
              </a:rPr>
              <a:t>AND'ed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 with C and D thereby creating a third level of logic. 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To fix this problem, we need to break up the NAND using </a:t>
            </a:r>
            <a:r>
              <a:rPr lang="en-GB" sz="2400" b="0" i="0" u="none" strike="noStrike" baseline="0" dirty="0" err="1">
                <a:latin typeface="Comic Sans MS" panose="030F0702030302020204" pitchFamily="66" charset="0"/>
              </a:rPr>
              <a:t>DeMorgan's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 Theorem.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7F96F-3D95-4B75-A2F7-EB84E900D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09" y="509549"/>
            <a:ext cx="5116646" cy="900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1CD857-7E9C-4919-A35A-23D0499C4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78" y="4048090"/>
            <a:ext cx="4956887" cy="78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1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003BA-3F20-43FF-8971-F12CF1DFB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06275" cy="6858000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This expression is now considered to be in SOP format.</a:t>
            </a:r>
          </a:p>
          <a:p>
            <a:pPr algn="just"/>
            <a:endParaRPr lang="en-GB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As far as the implementation of an SOP expression is concerned, combinations of non-inverted and inverted signals are input to one or more AND gates. </a:t>
            </a:r>
          </a:p>
          <a:p>
            <a:pPr algn="just"/>
            <a:endParaRPr lang="en-GB" dirty="0">
              <a:latin typeface="Comic Sans MS" panose="030F0702030302020204" pitchFamily="66" charset="0"/>
            </a:endParaRPr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The outputs from these gates are all input to a single OR gate. The Figure below shows a sample SOP binary circuit.</a:t>
            </a:r>
            <a:endParaRPr lang="en-GB" sz="4000" dirty="0"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80B99D-4D11-4302-B4AC-1EF0897E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83" y="299928"/>
            <a:ext cx="6342060" cy="24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8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BBE94-A746-41BE-8630-CB604D08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85725"/>
            <a:ext cx="12039600" cy="6696075"/>
          </a:xfrm>
        </p:spPr>
        <p:txBody>
          <a:bodyPr/>
          <a:lstStyle/>
          <a:p>
            <a:r>
              <a:rPr lang="en-GB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Sample Sum-of-Products Binary Circuit</a:t>
            </a:r>
            <a:endParaRPr lang="en-GB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0B054C-AF7F-4A7B-83F0-B8222907D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94" y="1755473"/>
            <a:ext cx="10200958" cy="389179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49E0EC-B855-438F-AEB2-12C4CCCE325F}"/>
                  </a:ext>
                </a:extLst>
              </p14:cNvPr>
              <p14:cNvContentPartPr/>
              <p14:nvPr/>
            </p14:nvContentPartPr>
            <p14:xfrm>
              <a:off x="1746360" y="2521080"/>
              <a:ext cx="1447920" cy="249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49E0EC-B855-438F-AEB2-12C4CCCE32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7000" y="2511720"/>
                <a:ext cx="1466640" cy="251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304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90667-1A77-416A-8651-E27707B1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just"/>
            <a:r>
              <a:rPr lang="en-GB" b="1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Converting an SOP Expression to a Truth Table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Examining the truth table for an AND gate reveals that exactly one row has a one for its output. All of the other rows have a zero output. 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If we invert one of the inputs, this simply moves the row with the one output to another position. There is still only one row outputting a one. The Figure below shows some examples of this behaviour.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63E72-3150-4A2B-A870-E7C3F2736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45" y="3019274"/>
            <a:ext cx="10363655" cy="34342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462AED-58EC-4DF7-9CD6-834D80D879FD}"/>
                  </a:ext>
                </a:extLst>
              </p14:cNvPr>
              <p14:cNvContentPartPr/>
              <p14:nvPr/>
            </p14:nvContentPartPr>
            <p14:xfrm>
              <a:off x="5619600" y="3092400"/>
              <a:ext cx="5182200" cy="2419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462AED-58EC-4DF7-9CD6-834D80D879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0240" y="3083040"/>
                <a:ext cx="5200920" cy="243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892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ACBF0-5419-4911-9110-C339EA960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133350"/>
            <a:ext cx="11982450" cy="6724650"/>
          </a:xfrm>
        </p:spPr>
        <p:txBody>
          <a:bodyPr>
            <a:normAutofit/>
          </a:bodyPr>
          <a:lstStyle/>
          <a:p>
            <a:pPr algn="just"/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The output of an OR gate is a one if any of the inputs is a one.</a:t>
            </a:r>
            <a:r>
              <a:rPr lang="en-FI" sz="2400" b="1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Therefore, when the products are </a:t>
            </a:r>
            <a:r>
              <a:rPr lang="en-GB" sz="2400" b="1" i="0" u="none" strike="noStrike" baseline="0" dirty="0" err="1">
                <a:latin typeface="Comic Sans MS" panose="030F0702030302020204" pitchFamily="66" charset="0"/>
              </a:rPr>
              <a:t>OR'ed</a:t>
            </a:r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 together, a one appears in the</a:t>
            </a:r>
            <a:r>
              <a:rPr lang="en-FI" sz="2400" b="1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output column for each of the products. </a:t>
            </a:r>
            <a:endParaRPr lang="en-FI" sz="2400" b="1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FI" sz="2400" b="1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For example, if we </a:t>
            </a:r>
            <a:r>
              <a:rPr lang="en-GB" sz="2400" b="1" i="0" u="none" strike="noStrike" baseline="0" dirty="0" err="1">
                <a:latin typeface="Comic Sans MS" panose="030F0702030302020204" pitchFamily="66" charset="0"/>
              </a:rPr>
              <a:t>OR’ed</a:t>
            </a:r>
            <a:r>
              <a:rPr lang="en-FI" sz="2400" b="1" dirty="0">
                <a:latin typeface="Comic Sans MS" panose="030F0702030302020204" pitchFamily="66" charset="0"/>
              </a:rPr>
              <a:t> </a:t>
            </a:r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together each of the products from </a:t>
            </a:r>
            <a:r>
              <a:rPr lang="en-FI" sz="2400" b="1" i="0" u="none" strike="noStrike" baseline="0" dirty="0">
                <a:latin typeface="Comic Sans MS" panose="030F0702030302020204" pitchFamily="66" charset="0"/>
              </a:rPr>
              <a:t>the </a:t>
            </a:r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Figure </a:t>
            </a:r>
            <a:r>
              <a:rPr lang="en-FI" sz="2400" b="1" i="0" u="none" strike="noStrike" baseline="0" dirty="0">
                <a:latin typeface="Comic Sans MS" panose="030F0702030302020204" pitchFamily="66" charset="0"/>
              </a:rPr>
              <a:t>above</a:t>
            </a:r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, a one would be output in</a:t>
            </a:r>
            <a:r>
              <a:rPr lang="en-FI" sz="2400" b="1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the rows corresponding to A=1, B=1, and C=1; A=1, B=0, and C=1;</a:t>
            </a:r>
            <a:r>
              <a:rPr lang="en-FI" sz="2400" b="1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1" i="0" u="none" strike="noStrike" baseline="0" dirty="0">
                <a:latin typeface="Comic Sans MS" panose="030F0702030302020204" pitchFamily="66" charset="0"/>
              </a:rPr>
              <a:t>and A=0, B=1, and C=0.</a:t>
            </a:r>
            <a:endParaRPr lang="en-FI" sz="2400" b="1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This is shown in 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the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Figure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below</a:t>
            </a:r>
            <a:endParaRPr lang="en-FI" sz="3200" b="1" dirty="0">
              <a:latin typeface="Comic Sans MS" panose="030F0702030302020204" pitchFamily="66" charset="0"/>
            </a:endParaRPr>
          </a:p>
          <a:p>
            <a:pPr algn="just"/>
            <a:endParaRPr lang="en-GB" sz="2400" b="1" i="0" u="none" strike="noStrike" baseline="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4FFB1-0319-4173-ADDF-49977731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07" y="3429000"/>
            <a:ext cx="8744426" cy="337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4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1E9E3-8734-4BF6-B44B-805A83747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Therefore, to convert an SOP expression to a truth table,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examine</a:t>
            </a:r>
            <a:r>
              <a:rPr lang="en-FI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each product to determine when it is equal to a one.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 </a:t>
            </a:r>
            <a:endParaRPr lang="en-FI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FI" sz="105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Where that product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is a one, a one will also be outputted from the OR gate.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</a:p>
          <a:p>
            <a:pPr algn="just"/>
            <a:endParaRPr lang="en-FI" sz="2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Each of the products in the above example contains all of the input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variables for the SOP expression. </a:t>
            </a:r>
            <a:endParaRPr lang="en-FI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FI" sz="6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What if one of the products doesn’t</a:t>
            </a:r>
            <a:r>
              <a:rPr lang="en-FI" sz="240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do this? For example, what if an SOP expression has inputs A, B, and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C,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but one of its products only depends on A and B?</a:t>
            </a:r>
            <a:endParaRPr lang="en-FI" sz="2400" b="0" i="0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just"/>
            <a:endParaRPr lang="en-FI" sz="12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This is not a problem if we remember that we are looking to see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when that product is equal to a one. </a:t>
            </a:r>
            <a:endParaRPr lang="en-FI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FI" sz="11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For a product containing only A</a:t>
            </a:r>
            <a:r>
              <a:rPr lang="en-FI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and B in an SOP expression containing inputs A, B, and C, the product</a:t>
            </a:r>
            <a:r>
              <a:rPr lang="en-FI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has ones in </a:t>
            </a:r>
            <a:r>
              <a:rPr lang="en-GB" sz="2400" b="1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two rows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, one for C=0 and one for C=1. </a:t>
            </a:r>
            <a:endParaRPr lang="en-FI" sz="2400" b="0" i="0" u="none" strike="noStrike" baseline="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just"/>
            <a:endParaRPr lang="en-FI" sz="2400" b="0" i="0" u="none" strike="noStrike" baseline="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2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637A3-E191-442F-820E-B06164087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" y="76200"/>
            <a:ext cx="12056533" cy="6714067"/>
          </a:xfrm>
        </p:spPr>
        <p:txBody>
          <a:bodyPr/>
          <a:lstStyle/>
          <a:p>
            <a:r>
              <a:rPr lang="en-GB" sz="2800" b="0" i="0" u="none" strike="noStrike" baseline="0" dirty="0">
                <a:latin typeface="Comic Sans MS" panose="030F0702030302020204" pitchFamily="66" charset="0"/>
              </a:rPr>
              <a:t>As an example,</a:t>
            </a:r>
            <a:r>
              <a:rPr lang="en-FI" sz="28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800" b="0" i="0" u="none" strike="noStrike" baseline="0" dirty="0">
                <a:latin typeface="Comic Sans MS" panose="030F0702030302020204" pitchFamily="66" charset="0"/>
              </a:rPr>
              <a:t>let's convert the following SOP expression to a truth table.</a:t>
            </a:r>
          </a:p>
          <a:p>
            <a:endParaRPr lang="en-GB" dirty="0">
              <a:latin typeface="Comic Sans MS" panose="030F0702030302020204" pitchFamily="66" charset="0"/>
            </a:endParaRPr>
          </a:p>
          <a:p>
            <a:pPr algn="l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first step is to determine where each product equals a one. Beginning with the first term, the different input conditions resulting in the output of a logic one from the AND gates are listed below.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1D57F-2CE1-48D7-B11C-66C510758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911" y="810488"/>
            <a:ext cx="3148529" cy="53974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25CFAE-0603-47A2-AFFC-D14269AD5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42" y="2731633"/>
            <a:ext cx="10263246" cy="394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9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EC056-087F-4166-B596-5689C6E40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Placing a one in each row identified above should result in the truth table for the corresponding SOP expression. 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Remember to set the remaining row outputs to zero to complete the table.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6B6D3-9A06-431C-B3E8-6646E3CF9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4" y="2473992"/>
            <a:ext cx="10983385" cy="351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8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9A68-DF8E-4957-B4E9-E0D5B347F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en-GB" sz="3200" b="1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Converting a Truth Table to an SOP Expression</a:t>
            </a:r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Any truth table can be converted to an SOP expression. The conversion process goes like this: </a:t>
            </a:r>
          </a:p>
          <a:p>
            <a:pPr marL="0" indent="0" algn="just">
              <a:buNone/>
            </a:pPr>
            <a:endParaRPr lang="en-GB" b="0" i="0" u="none" strike="noStrike" baseline="0" dirty="0">
              <a:latin typeface="Comic Sans MS" panose="030F0702030302020204" pitchFamily="66" charset="0"/>
            </a:endParaRPr>
          </a:p>
          <a:p>
            <a:pPr lvl="2"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identify the rows with ones as the output, and </a:t>
            </a:r>
          </a:p>
          <a:p>
            <a:pPr lvl="2"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then come up with the unique product to put a one in that row. </a:t>
            </a:r>
          </a:p>
          <a:p>
            <a:pPr algn="just"/>
            <a:endParaRPr lang="en-GB" dirty="0">
              <a:latin typeface="Comic Sans MS" panose="030F0702030302020204" pitchFamily="66" charset="0"/>
            </a:endParaRPr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Note that this will give us an SOP expression where all of the products use all of the variables for inputs. </a:t>
            </a:r>
          </a:p>
          <a:p>
            <a:pPr algn="just"/>
            <a:endParaRPr lang="en-GB" dirty="0">
              <a:latin typeface="Comic Sans MS" panose="030F0702030302020204" pitchFamily="66" charset="0"/>
            </a:endParaRPr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This usually gives us an expression that can be simplified using the tools of Boolean algebra 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73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42818-7F5E-4FE0-9672-8C1A85476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367" y="0"/>
            <a:ext cx="3589234" cy="6858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just"/>
            <a:r>
              <a:rPr lang="en-GB" sz="2400" b="0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Example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Derive the SOP expression for the following truth table.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l"/>
            <a:r>
              <a:rPr lang="en-GB" sz="2400" b="0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Solution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First, identify each row that contains a one as the output</a:t>
            </a:r>
            <a:endParaRPr lang="en-GB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FC8491-3E25-4F14-82BA-6299E85CA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24720" y="0"/>
            <a:ext cx="8267280" cy="67853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GB" sz="1800" b="0" i="0" u="none" strike="noStrike" baseline="0" dirty="0">
              <a:latin typeface="TimesNewRomanPSMT"/>
            </a:endParaRPr>
          </a:p>
          <a:p>
            <a:pPr algn="just"/>
            <a:endParaRPr lang="en-GB" sz="1800" b="0" i="0" u="none" strike="noStrike" baseline="0" dirty="0">
              <a:latin typeface="TimesNewRomanPSMT"/>
            </a:endParaRPr>
          </a:p>
          <a:p>
            <a:pPr algn="just"/>
            <a:endParaRPr lang="en-GB" sz="1800" dirty="0">
              <a:latin typeface="TimesNewRomanPSMT"/>
            </a:endParaRPr>
          </a:p>
          <a:p>
            <a:pPr algn="just"/>
            <a:endParaRPr lang="en-GB" sz="1800" dirty="0">
              <a:latin typeface="TimesNewRomanPSMT"/>
            </a:endParaRPr>
          </a:p>
          <a:p>
            <a:pPr algn="just"/>
            <a:endParaRPr lang="en-GB" sz="1800" dirty="0">
              <a:latin typeface="TimesNewRomanPSMT"/>
            </a:endParaRPr>
          </a:p>
          <a:p>
            <a:pPr algn="just"/>
            <a:endParaRPr lang="en-GB" sz="1800" dirty="0">
              <a:latin typeface="TimesNewRomanPSMT"/>
            </a:endParaRPr>
          </a:p>
          <a:p>
            <a:pPr algn="just"/>
            <a:endParaRPr lang="en-GB" sz="1800" dirty="0">
              <a:latin typeface="TimesNewRomanPSMT"/>
            </a:endParaRPr>
          </a:p>
          <a:p>
            <a:pPr algn="just"/>
            <a:endParaRPr lang="en-GB" sz="1800" dirty="0">
              <a:latin typeface="TimesNewRomanPSMT"/>
            </a:endParaRPr>
          </a:p>
          <a:p>
            <a:pPr marL="0" indent="0" algn="just">
              <a:buNone/>
            </a:pPr>
            <a:endParaRPr lang="en-GB" sz="1800" dirty="0">
              <a:latin typeface="TimesNewRomanPSMT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Now we need to make a product for each of these rows. </a:t>
            </a:r>
          </a:p>
          <a:p>
            <a:pPr algn="just"/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The product that outputs a one for the row where A=0, B=0, and C=1 must invert A and B in order to have a product of 1·1·1 = 1. 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Therefore, our product is: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60C5C-A365-42BC-8614-5E593139E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86" y="1523590"/>
            <a:ext cx="2505425" cy="3315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A9F9EB-8DF6-49DA-9605-BAC8E396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129" y="98542"/>
            <a:ext cx="7765927" cy="32941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051262-9378-494A-BE85-2A595FC8C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441" y="5786801"/>
            <a:ext cx="1476686" cy="59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00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6D4DD-35EC-4D6B-897C-CE90FD93E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59820"/>
            <a:ext cx="6019800" cy="6798179"/>
          </a:xfrm>
        </p:spPr>
        <p:txBody>
          <a:bodyPr>
            <a:normAutofit/>
          </a:bodyPr>
          <a:lstStyle/>
          <a:p>
            <a:pPr algn="just"/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The product that outputs a one for the row where A=0, B=1, and C=1 must invert A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in order to have a product of 1·1·1 = 1. 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This gives us our second product: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endParaRPr lang="en-GB" sz="11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third product outputs a one for the row where A=1, B=0, and C=0.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Therefore, we must invert B and C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in order to have a product of 1·1·1 = 1.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l"/>
            <a:endParaRPr lang="en-GB" sz="900" b="0" i="0" u="none" strike="noStrike" baseline="0" dirty="0">
              <a:latin typeface="Comic Sans MS" panose="030F0702030302020204" pitchFamily="66" charset="0"/>
            </a:endParaRPr>
          </a:p>
          <a:p>
            <a:pPr algn="l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final product outputs a one for the row where A=1, B=1, and C=0. </a:t>
            </a:r>
            <a:r>
              <a:rPr lang="en-GB" sz="2400" b="0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This time only C must be inverted.</a:t>
            </a:r>
            <a:endParaRPr lang="en-GB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3AFAB-F58B-4299-9CAD-DD9F5FBC3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2612" y="170916"/>
            <a:ext cx="5845324" cy="6687083"/>
          </a:xfrm>
        </p:spPr>
        <p:txBody>
          <a:bodyPr>
            <a:normAutofit/>
          </a:bodyPr>
          <a:lstStyle/>
          <a:p>
            <a:pPr algn="just"/>
            <a:r>
              <a:rPr lang="en-GB" sz="2400" b="0" i="0" u="none" strike="noStrike" baseline="0" dirty="0" err="1">
                <a:latin typeface="Comic Sans MS" panose="030F0702030302020204" pitchFamily="66" charset="0"/>
              </a:rPr>
              <a:t>OR'ing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 all of these products together gives us our SOP expression.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F43D8-E80E-454B-9815-417AEA327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1958287"/>
            <a:ext cx="1286054" cy="51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AA50C5-E5CF-4FCF-BF14-7E2560096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60" y="4133018"/>
            <a:ext cx="1276528" cy="476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F34329-A3D7-438F-9F5A-A60012C57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087" y="5946226"/>
            <a:ext cx="1209844" cy="590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5EC250-0AE7-4D40-BC87-DF3E6EE5E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676" y="1190006"/>
            <a:ext cx="5845324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69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A190C-2FA9-407B-8A3B-7FA966C6B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GB" b="1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Product-of-Sums</a:t>
            </a:r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The product-of-sums (POS) format of a Boolean expression is much like the SOP format with its two levels of logic (not counting inverters). </a:t>
            </a:r>
          </a:p>
          <a:p>
            <a:pPr algn="just"/>
            <a:endParaRPr lang="en-GB" dirty="0">
              <a:latin typeface="Comic Sans MS" panose="030F0702030302020204" pitchFamily="66" charset="0"/>
            </a:endParaRPr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The difference is that the outputs of multiple OR gates are combined with a single AND gate which outputs the final result. </a:t>
            </a:r>
          </a:p>
          <a:p>
            <a:pPr algn="just"/>
            <a:endParaRPr lang="en-GB" dirty="0">
              <a:latin typeface="Comic Sans MS" panose="030F0702030302020204" pitchFamily="66" charset="0"/>
            </a:endParaRPr>
          </a:p>
          <a:p>
            <a:pPr algn="just"/>
            <a:r>
              <a:rPr lang="en-GB" b="0" i="0" u="none" strike="noStrike" baseline="0" dirty="0">
                <a:latin typeface="Comic Sans MS" panose="030F0702030302020204" pitchFamily="66" charset="0"/>
              </a:rPr>
              <a:t>The</a:t>
            </a:r>
            <a:r>
              <a:rPr lang="en-GB" dirty="0">
                <a:latin typeface="Comic Sans MS" panose="030F0702030302020204" pitchFamily="66" charset="0"/>
              </a:rPr>
              <a:t> </a:t>
            </a:r>
            <a:r>
              <a:rPr lang="en-GB" b="0" i="0" u="none" strike="noStrike" baseline="0" dirty="0">
                <a:latin typeface="Comic Sans MS" panose="030F0702030302020204" pitchFamily="66" charset="0"/>
              </a:rPr>
              <a:t>expression below adheres to the format of a POS expression.</a:t>
            </a:r>
          </a:p>
          <a:p>
            <a:pPr algn="just"/>
            <a:endParaRPr lang="en-GB" sz="4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591FC1-C6FE-4205-AB1A-C56F3E14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51" y="4698712"/>
            <a:ext cx="5391902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90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816A1-2E57-429D-A4E7-53678D3AD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03" y="85458"/>
            <a:ext cx="11998295" cy="6772542"/>
          </a:xfrm>
        </p:spPr>
        <p:txBody>
          <a:bodyPr>
            <a:normAutofit/>
          </a:bodyPr>
          <a:lstStyle/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As with SOP expressions, a POS expression cannot have more than one variable combined in a term with an inversion bar. For example, the following is not a POS expression:</a:t>
            </a:r>
            <a:endParaRPr lang="en-GB" sz="260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just"/>
            <a:endParaRPr lang="en-GB" sz="26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GB" sz="260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In this example, the sum (OR) of A, B, and C is inverted thereby adding a third level of logic: A, B, and C are </a:t>
            </a:r>
            <a:r>
              <a:rPr lang="en-GB" sz="2600" b="0" i="0" u="none" strike="noStrike" baseline="0" dirty="0" err="1">
                <a:latin typeface="Comic Sans MS" panose="030F0702030302020204" pitchFamily="66" charset="0"/>
              </a:rPr>
              <a:t>OR'ed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 together then inverted and then </a:t>
            </a:r>
            <a:r>
              <a:rPr lang="en-GB" sz="2600" b="0" i="0" u="none" strike="noStrike" baseline="0" dirty="0" err="1">
                <a:latin typeface="Comic Sans MS" panose="030F0702030302020204" pitchFamily="66" charset="0"/>
              </a:rPr>
              <a:t>OR'ed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 with D before going to the AND gate. </a:t>
            </a:r>
          </a:p>
          <a:p>
            <a:pPr algn="just"/>
            <a:endParaRPr lang="en-GB" sz="260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Getting</a:t>
            </a:r>
            <a:r>
              <a:rPr lang="en-GB" sz="2600" dirty="0">
                <a:latin typeface="Comic Sans MS" panose="030F0702030302020204" pitchFamily="66" charset="0"/>
              </a:rPr>
              <a:t> 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this expression to adhere to the proper POS format where the NOT is distributed to the individual terms is not as easy as it was with the SOP.</a:t>
            </a:r>
          </a:p>
          <a:p>
            <a:pPr algn="just"/>
            <a:endParaRPr lang="en-GB" sz="260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Often times it is easier to determine the truth table for the function and then convert that truth table to the correct POS format.</a:t>
            </a:r>
            <a:endParaRPr lang="en-GB" sz="2600" dirty="0">
              <a:latin typeface="Comic Sans MS" panose="030F0702030302020204" pitchFamily="66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BFD317-7BD0-42F5-BD76-CACC6BE8B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38" y="1275464"/>
            <a:ext cx="6038303" cy="64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08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75B3-D7FA-472B-840B-30AE9E732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As far as hardware is concerned, POS expressions take the output of OR gates and connect them to the inputs of a single AND gate. </a:t>
            </a:r>
          </a:p>
          <a:p>
            <a:pPr algn="l"/>
            <a:endParaRPr lang="en-GB" sz="2400" dirty="0">
              <a:latin typeface="Comic Sans MS" panose="030F0702030302020204" pitchFamily="66" charset="0"/>
            </a:endParaRPr>
          </a:p>
          <a:p>
            <a:pPr algn="l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sample circuit shown in the Figure below adheres to this format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7469F-4B8C-44EB-A8A1-C327C9842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" y="1980579"/>
            <a:ext cx="9011908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51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599A-D1ED-4645-81B9-4512D8838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b="1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Converting POS to Truth Table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Converting a POS expression to a truth table follows a similar process as the one used to convert an SOP expression to a truth table.</a:t>
            </a:r>
          </a:p>
          <a:p>
            <a:pPr algn="just"/>
            <a:endParaRPr lang="en-GB" sz="10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solidFill>
                  <a:srgbClr val="00B050"/>
                </a:solidFill>
                <a:latin typeface="Comic Sans MS" panose="030F0702030302020204" pitchFamily="66" charset="0"/>
              </a:rPr>
              <a:t>The difference is this: where the SOP conversion focuses on rows with a one output, the POS conversion focuses on rows with a zero output.</a:t>
            </a:r>
          </a:p>
          <a:p>
            <a:pPr algn="just"/>
            <a:endParaRPr lang="en-GB" sz="105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We do this because the OR gate has an output of zero on exactly one row while all of the other rows have an output of one. </a:t>
            </a:r>
          </a:p>
          <a:p>
            <a:pPr algn="just"/>
            <a:endParaRPr lang="en-GB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If we invert one of the inputs, this moves the row with the zero output to another position. There is still only one row outputting a zero.</a:t>
            </a:r>
          </a:p>
          <a:p>
            <a:pPr algn="just"/>
            <a:endParaRPr lang="en-GB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row with the zero output is the row where all of the inputs equal zero. If one of the inputs is inverted, then its non-inverted value must be one for the OR gate to output a zero. </a:t>
            </a:r>
          </a:p>
          <a:p>
            <a:pPr algn="just"/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Then Figure below shows a few examples of this behaviour.</a:t>
            </a:r>
            <a:endParaRPr lang="en-GB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107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497C30-8023-449A-9A82-9EE1DBC89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185" y="298415"/>
            <a:ext cx="10515600" cy="320122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2C0F9F-C4CF-458D-B935-115656FB177D}"/>
              </a:ext>
            </a:extLst>
          </p:cNvPr>
          <p:cNvSpPr txBox="1"/>
          <p:nvPr/>
        </p:nvSpPr>
        <p:spPr>
          <a:xfrm>
            <a:off x="126762" y="3639850"/>
            <a:ext cx="119384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By </a:t>
            </a:r>
            <a:r>
              <a:rPr lang="en-GB" sz="2400" b="0" i="0" u="none" strike="noStrike" baseline="0" dirty="0" err="1">
                <a:latin typeface="Comic Sans MS" panose="030F0702030302020204" pitchFamily="66" charset="0"/>
              </a:rPr>
              <a:t>AND'ing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 the output from these OR gates together, then the final output will be zero anytime one of the OR gates outputs a zero.</a:t>
            </a:r>
          </a:p>
          <a:p>
            <a:pPr algn="just"/>
            <a:endParaRPr lang="en-GB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Therefore, </a:t>
            </a:r>
            <a:r>
              <a:rPr lang="en-GB" sz="2400" b="0" i="0" u="none" strike="noStrike" baseline="0" dirty="0" err="1">
                <a:latin typeface="Comic Sans MS" panose="030F0702030302020204" pitchFamily="66" charset="0"/>
              </a:rPr>
              <a:t>AND'ing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 the three sums in Figure </a:t>
            </a:r>
            <a:r>
              <a:rPr lang="en-GB" sz="2400" dirty="0">
                <a:latin typeface="Comic Sans MS" panose="030F0702030302020204" pitchFamily="66" charset="0"/>
              </a:rPr>
              <a:t>above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 together will produce a zero output on the following conditions:</a:t>
            </a:r>
          </a:p>
          <a:p>
            <a:pPr lvl="2"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A=0, B=0. and C=0</a:t>
            </a:r>
          </a:p>
          <a:p>
            <a:pPr lvl="2"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A=0, B=1. and C=0</a:t>
            </a:r>
          </a:p>
          <a:p>
            <a:pPr lvl="2"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A=1, B=0. and C=1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043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BE16C-43D0-4BEB-8FC2-150E84E0F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24267" cy="6858000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algn="just"/>
            <a:endParaRPr lang="en-GB" sz="23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300" b="0" i="0" u="none" strike="noStrike" baseline="0" dirty="0">
                <a:latin typeface="Comic Sans MS" panose="030F0702030302020204" pitchFamily="66" charset="0"/>
              </a:rPr>
              <a:t>Therefore, to convert a POS expression to a truth table, examine each of the sums to determine where the sum is equal to zero. When that sum is equal to a zero, a zero will also be present at the final output of the circuit.</a:t>
            </a:r>
          </a:p>
          <a:p>
            <a:pPr algn="just"/>
            <a:endParaRPr lang="en-GB" sz="23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300" b="0" i="0" u="none" strike="noStrike" baseline="0" dirty="0">
                <a:latin typeface="Comic Sans MS" panose="030F0702030302020204" pitchFamily="66" charset="0"/>
              </a:rPr>
              <a:t>When a sum does not contain all of the circuit's inputs, then more than one row will get a zero output from the OR gate. Every time an input drops out of a sum, the number of rows with a zero output from that OR gate is doubled.</a:t>
            </a:r>
          </a:p>
          <a:p>
            <a:pPr algn="just"/>
            <a:endParaRPr lang="en-GB" sz="2300" b="0" i="0" u="none" strike="noStrike" baseline="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3A3B8-E61E-4627-AAF1-67D39987B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39" y="205085"/>
            <a:ext cx="10542227" cy="349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57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606E-11A0-4E8F-BC6A-5B276617D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15800" cy="6790267"/>
          </a:xfrm>
        </p:spPr>
        <p:txBody>
          <a:bodyPr>
            <a:normAutofit/>
          </a:bodyPr>
          <a:lstStyle/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For example, if a POS expression uses as its inputs A, B, C, and D, then a sum within that expression that uses only B, C, and D as inputs will have </a:t>
            </a:r>
            <a:r>
              <a:rPr lang="en-GB" sz="2400" b="0" i="0" u="none" strike="noStrike" baseline="0" dirty="0">
                <a:solidFill>
                  <a:srgbClr val="00B050"/>
                </a:solidFill>
                <a:latin typeface="Comic Sans MS" panose="030F0702030302020204" pitchFamily="66" charset="0"/>
              </a:rPr>
              <a:t>two rows with zero outputs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and a sum using only </a:t>
            </a:r>
            <a:r>
              <a:rPr lang="en-GB" sz="2400" b="0" i="0" u="none" strike="noStrike" baseline="0" dirty="0">
                <a:solidFill>
                  <a:srgbClr val="00B050"/>
                </a:solidFill>
                <a:latin typeface="Comic Sans MS" panose="030F0702030302020204" pitchFamily="66" charset="0"/>
              </a:rPr>
              <a:t>A and C as inputs will have four rows with zero outputs.</a:t>
            </a:r>
          </a:p>
          <a:p>
            <a:pPr algn="just"/>
            <a:endParaRPr lang="en-GB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output of the first sum is equal to zero only when all of the inputs, A, B and the inverse of D, are equal to zero. This occurs in two places, once for </a:t>
            </a:r>
            <a:r>
              <a:rPr lang="en-GB" sz="2400" b="0" i="0" u="none" strike="noStrike" baseline="0" dirty="0">
                <a:solidFill>
                  <a:srgbClr val="00B050"/>
                </a:solidFill>
                <a:latin typeface="Comic Sans MS" panose="030F0702030302020204" pitchFamily="66" charset="0"/>
              </a:rPr>
              <a:t>C=0 and once for C=1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. </a:t>
            </a:r>
          </a:p>
          <a:p>
            <a:pPr marL="0" indent="0" algn="just">
              <a:buNone/>
            </a:pPr>
            <a:endParaRPr lang="en-GB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Therefore, the output of a product-of-sums circuit with this OR expression in it will have a zero in the rows where A=0, B=0, C=0, and D=1 and where A=0, B=0, C=1, and D=1.</a:t>
            </a:r>
          </a:p>
          <a:p>
            <a:pPr algn="just"/>
            <a:endParaRPr lang="en-GB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next sum uses only B and C from the four inputs. Therefore, there must be four rows with outputs of zero. This is because A and D have no effect on this sum and can have any of the four states: A=0 and D=0; A=0 and D=1; A=1 and D=0; or A=1 and D=1.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8192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F44C-B53C-4BBF-BDE2-A643962CF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A single variable sum as shown in the last column of the truth table in the Figure below will force zeros to be output for half of the input conditions. </a:t>
            </a:r>
          </a:p>
          <a:p>
            <a:pPr marL="0" indent="0" algn="just">
              <a:buNone/>
            </a:pPr>
            <a:endParaRPr lang="en-GB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In the case of this truth table, the inverse of A equals zero when A equals 1.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5A599-1EB5-469A-B2C2-CF145BDF4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74" y="1718733"/>
            <a:ext cx="7182852" cy="496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43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A4B0-2EF7-48E0-9A1E-D91ABD4BB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l"/>
            <a:r>
              <a:rPr lang="en-GB" sz="2400" b="0" i="1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Example</a:t>
            </a:r>
          </a:p>
          <a:p>
            <a:pPr algn="l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Convert the following POS expression to a truth table</a:t>
            </a:r>
            <a:r>
              <a:rPr lang="en-GB" sz="1800" b="0" i="0" u="none" strike="noStrike" baseline="0" dirty="0">
                <a:latin typeface="TimesNewRomanPSMT"/>
              </a:rPr>
              <a:t>.</a:t>
            </a:r>
          </a:p>
          <a:p>
            <a:pPr algn="l"/>
            <a:endParaRPr lang="en-GB" sz="1800" dirty="0">
              <a:latin typeface="TimesNewRomanPSMT"/>
            </a:endParaRPr>
          </a:p>
          <a:p>
            <a:pPr algn="l"/>
            <a:endParaRPr lang="en-GB" sz="1800" dirty="0">
              <a:latin typeface="TimesNewRomanPSMT"/>
            </a:endParaRPr>
          </a:p>
          <a:p>
            <a:pPr algn="just"/>
            <a:r>
              <a:rPr lang="en-GB" sz="2400" b="0" i="1" u="none" strike="noStrike" baseline="0" dirty="0">
                <a:latin typeface="Comic Sans MS" panose="030F0702030302020204" pitchFamily="66" charset="0"/>
              </a:rPr>
              <a:t>Solution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first step is to determine where each sum equals zero. Beginning with the first term, the three different conditions for a zero output are listed below</a:t>
            </a:r>
            <a:r>
              <a:rPr lang="en-GB" sz="1800" b="0" i="0" u="none" strike="noStrike" baseline="0" dirty="0">
                <a:latin typeface="TimesNewRomanPSMT"/>
              </a:rPr>
              <a:t>.</a:t>
            </a:r>
          </a:p>
          <a:p>
            <a:pPr algn="just"/>
            <a:endParaRPr lang="en-GB" sz="1800" dirty="0">
              <a:latin typeface="TimesNewRomanPS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90BB1-5B35-4637-8BB1-1052846F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06" y="968336"/>
            <a:ext cx="3915321" cy="552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0ECE7E-8995-4F3E-BC6F-FBA9B7245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45" y="2808113"/>
            <a:ext cx="8192643" cy="1381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932339-4BF4-45B0-AF32-2F1403217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45" y="4271600"/>
            <a:ext cx="9307224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0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B4F0E-751E-45ED-A88F-2847046FB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Placing a zero in each row identified above should result in the truth table for the corresponding POS expression. </a:t>
            </a:r>
            <a:endParaRPr lang="en-FI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FI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Remember to set the remaining row outputs to zero to complete the table.</a:t>
            </a:r>
            <a:endParaRPr lang="en-GB" sz="36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DA180-4648-4A50-A7F8-BC6E1183A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09" y="2402212"/>
            <a:ext cx="9545382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19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CCE5B-3EA6-4D23-9D17-0F6C60B8F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24267" cy="6858000"/>
          </a:xfrm>
        </p:spPr>
        <p:txBody>
          <a:bodyPr/>
          <a:lstStyle/>
          <a:p>
            <a:pPr algn="just"/>
            <a:r>
              <a:rPr lang="en-GB" sz="2400" b="1" i="0" u="none" strike="noStrike" baseline="0" dirty="0">
                <a:solidFill>
                  <a:srgbClr val="FF0000"/>
                </a:solidFill>
                <a:latin typeface="Comic Sans MS" panose="030F0702030302020204" pitchFamily="66" charset="0"/>
              </a:rPr>
              <a:t>Converting a Truth Table to a POS Expression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Just as with SOP expressions, any truth table can be converted to a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POS expression. </a:t>
            </a:r>
            <a:endParaRPr lang="en-FI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FI" sz="105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conversion process goes like this: identify the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rows with zeros as the output, and then come up with the unique sum to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put a zero in that row. </a:t>
            </a:r>
            <a:endParaRPr lang="en-FI" sz="2400" dirty="0">
              <a:latin typeface="Comic Sans MS" panose="030F0702030302020204" pitchFamily="66" charset="0"/>
            </a:endParaRPr>
          </a:p>
          <a:p>
            <a:pPr algn="just"/>
            <a:endParaRPr lang="en-FI" sz="2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final group of sums can then be </a:t>
            </a:r>
            <a:r>
              <a:rPr lang="en-GB" sz="2400" b="0" i="0" u="none" strike="noStrike" baseline="0" dirty="0" err="1">
                <a:latin typeface="Comic Sans MS" panose="030F0702030302020204" pitchFamily="66" charset="0"/>
              </a:rPr>
              <a:t>AND’ed</a:t>
            </a:r>
            <a:r>
              <a:rPr lang="en-FI" sz="240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together producing the POS expression.</a:t>
            </a:r>
            <a:endParaRPr lang="en-FI" sz="24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endParaRPr lang="en-GB" sz="8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FI" sz="2400" dirty="0">
                <a:latin typeface="Comic Sans MS" panose="030F0702030302020204" pitchFamily="66" charset="0"/>
              </a:rPr>
              <a:t>D</a:t>
            </a:r>
            <a:r>
              <a:rPr lang="en-GB" sz="2400" b="0" i="0" u="none" strike="noStrike" baseline="0" dirty="0" err="1">
                <a:latin typeface="Comic Sans MS" panose="030F0702030302020204" pitchFamily="66" charset="0"/>
              </a:rPr>
              <a:t>eriv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e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 the POS expression for the</a:t>
            </a:r>
            <a:r>
              <a:rPr lang="en-FI" sz="2400" b="0" i="0" u="none" strike="noStrike" baseline="0" dirty="0">
                <a:latin typeface="Comic Sans MS" panose="030F0702030302020204" pitchFamily="66" charset="0"/>
              </a:rPr>
              <a:t> </a:t>
            </a:r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following truth table</a:t>
            </a:r>
            <a:r>
              <a:rPr lang="en-GB" sz="1800" b="0" i="0" u="none" strike="noStrike" baseline="0" dirty="0">
                <a:latin typeface="TimesNewRomanPSMT"/>
              </a:rPr>
              <a:t>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20428-4F6B-4233-B3CF-4A5149259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628" y="3555776"/>
            <a:ext cx="2524477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6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5E068-2187-4803-ACAC-40345CD65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First, identify each row that contains a zero as the output.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Next, make a sum for each of these rows. Remember that a sum outputs a zero when all of its inputs equal zero. Therefore, to make a sum for a row equal to zero, the inputs equal to one must be inverted.</a:t>
            </a:r>
          </a:p>
          <a:p>
            <a:pPr algn="just"/>
            <a:endParaRPr lang="en-GB" sz="100" b="0" i="0" u="none" strike="noStrike" baseline="0" dirty="0">
              <a:latin typeface="Comic Sans MS" panose="030F0702030302020204" pitchFamily="66" charset="0"/>
            </a:endParaRP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For the first row, a zero is output when A=0, B=0, and C=0. Since for this case, all of the inputs are already zero, simply OR the non-inverted inputs together.</a:t>
            </a:r>
          </a:p>
          <a:p>
            <a:pPr marL="1371600" lvl="3" indent="0" algn="just">
              <a:buNone/>
            </a:pP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A+B+C</a:t>
            </a:r>
          </a:p>
          <a:p>
            <a:pPr algn="just"/>
            <a:r>
              <a:rPr lang="en-GB" sz="2400" b="0" i="0" u="none" strike="noStrike" baseline="0" dirty="0">
                <a:latin typeface="Comic Sans MS" panose="030F0702030302020204" pitchFamily="66" charset="0"/>
              </a:rPr>
              <a:t>The sum that outputs a zero for the row where A=0, B=1, and C=0 must invert B in order to have a sum of 0+0+0=0. This gives us our second sum: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9CA72-08CB-491F-BA47-2897C0029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70" y="414867"/>
            <a:ext cx="6268325" cy="2607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47926A-06E0-4D1F-98A5-3BBD3AA8C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074" y="6346790"/>
            <a:ext cx="1711153" cy="51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35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4350-0453-48FA-ABA2-82E871E7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15800" cy="6858000"/>
          </a:xfrm>
        </p:spPr>
        <p:txBody>
          <a:bodyPr>
            <a:normAutofit/>
          </a:bodyPr>
          <a:lstStyle/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The third sum outputs a zero for the row where A=1, B=0, and C=1. Therefore, we must invert A and C in order to have a sum of 0+0+0=0.</a:t>
            </a:r>
          </a:p>
          <a:p>
            <a:pPr algn="just"/>
            <a:endParaRPr lang="en-GB" sz="2600" dirty="0">
              <a:latin typeface="Comic Sans MS" panose="030F0702030302020204" pitchFamily="66" charset="0"/>
            </a:endParaRPr>
          </a:p>
          <a:p>
            <a:pPr marL="0" indent="0" algn="just">
              <a:buNone/>
            </a:pPr>
            <a:endParaRPr lang="en-GB" sz="260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The final sum outputs a zero for the row where A=1, B=1, and C=1. In this case, all of the inputs must be inverted to get the sum 0+0+0=0.</a:t>
            </a:r>
          </a:p>
          <a:p>
            <a:pPr algn="just"/>
            <a:endParaRPr lang="en-GB" sz="2600" dirty="0">
              <a:latin typeface="Comic Sans MS" panose="030F0702030302020204" pitchFamily="66" charset="0"/>
            </a:endParaRPr>
          </a:p>
          <a:p>
            <a:pPr algn="just"/>
            <a:endParaRPr lang="en-GB" sz="2600" dirty="0">
              <a:latin typeface="Comic Sans MS" panose="030F0702030302020204" pitchFamily="66" charset="0"/>
            </a:endParaRPr>
          </a:p>
          <a:p>
            <a:pPr algn="just"/>
            <a:endParaRPr lang="en-GB" sz="2600" dirty="0">
              <a:latin typeface="Comic Sans MS" panose="030F0702030302020204" pitchFamily="66" charset="0"/>
            </a:endParaRPr>
          </a:p>
          <a:p>
            <a:pPr algn="just"/>
            <a:r>
              <a:rPr lang="en-GB" sz="2600" b="0" i="0" u="none" strike="noStrike" baseline="0" dirty="0" err="1">
                <a:latin typeface="Comic Sans MS" panose="030F0702030302020204" pitchFamily="66" charset="0"/>
              </a:rPr>
              <a:t>AND'ing</a:t>
            </a:r>
            <a:r>
              <a:rPr lang="en-GB" sz="2600" b="0" i="0" u="none" strike="noStrike" baseline="0" dirty="0">
                <a:latin typeface="Comic Sans MS" panose="030F0702030302020204" pitchFamily="66" charset="0"/>
              </a:rPr>
              <a:t> all of these sums together gives us our POS expression.</a:t>
            </a:r>
            <a:endParaRPr lang="en-GB" sz="26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A2126-9725-4BFD-BAC2-32F19C318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509" y="856151"/>
            <a:ext cx="1476581" cy="590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94BE9-1846-4184-94E7-9FDE3F614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240" y="2838368"/>
            <a:ext cx="1286054" cy="590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00A449-0A9B-40F1-AC4D-90D52388E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373" y="4920150"/>
            <a:ext cx="5820587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39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05184-E024-4C5E-880A-AD8EDFA38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7" y="1"/>
            <a:ext cx="12039600" cy="6795030"/>
          </a:xfrm>
        </p:spPr>
        <p:txBody>
          <a:bodyPr>
            <a:normAutofit/>
          </a:bodyPr>
          <a:lstStyle/>
          <a:p>
            <a:endParaRPr lang="en-GB" sz="4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95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2543</Words>
  <Application>Microsoft Office PowerPoint</Application>
  <PresentationFormat>Widescreen</PresentationFormat>
  <Paragraphs>214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Comic Sans MS</vt:lpstr>
      <vt:lpstr>TimesNewRomanPSMT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Femi Alamu</dc:creator>
  <cp:lastModifiedBy>Femi Alamu</cp:lastModifiedBy>
  <cp:revision>34</cp:revision>
  <dcterms:created xsi:type="dcterms:W3CDTF">2026-01-14T08:34:21Z</dcterms:created>
  <dcterms:modified xsi:type="dcterms:W3CDTF">2026-01-29T06:17:27Z</dcterms:modified>
</cp:coreProperties>
</file>