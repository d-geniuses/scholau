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81" r:id="rId18"/>
    <p:sldId id="280" r:id="rId19"/>
    <p:sldId id="282" r:id="rId20"/>
    <p:sldId id="283" r:id="rId21"/>
    <p:sldId id="284" r:id="rId22"/>
    <p:sldId id="285" r:id="rId23"/>
    <p:sldId id="286" r:id="rId24"/>
    <p:sldId id="287" r:id="rId25"/>
    <p:sldId id="288" r:id="rId26"/>
    <p:sldId id="289" r:id="rId27"/>
    <p:sldId id="308" r:id="rId28"/>
    <p:sldId id="290" r:id="rId29"/>
    <p:sldId id="291" r:id="rId30"/>
    <p:sldId id="292" r:id="rId31"/>
    <p:sldId id="293" r:id="rId32"/>
    <p:sldId id="294" r:id="rId33"/>
    <p:sldId id="295" r:id="rId34"/>
    <p:sldId id="296" r:id="rId35"/>
    <p:sldId id="297" r:id="rId36"/>
    <p:sldId id="298" r:id="rId37"/>
    <p:sldId id="299" r:id="rId38"/>
    <p:sldId id="300" r:id="rId39"/>
    <p:sldId id="301" r:id="rId40"/>
    <p:sldId id="302" r:id="rId41"/>
    <p:sldId id="303" r:id="rId42"/>
    <p:sldId id="304" r:id="rId43"/>
    <p:sldId id="305" r:id="rId44"/>
    <p:sldId id="306" r:id="rId45"/>
    <p:sldId id="310" r:id="rId46"/>
    <p:sldId id="311" r:id="rId47"/>
    <p:sldId id="312" r:id="rId48"/>
    <p:sldId id="313" r:id="rId49"/>
    <p:sldId id="314" r:id="rId50"/>
    <p:sldId id="315" r:id="rId51"/>
    <p:sldId id="316" r:id="rId52"/>
    <p:sldId id="309"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763" autoAdjust="0"/>
    <p:restoredTop sz="94660"/>
  </p:normalViewPr>
  <p:slideViewPr>
    <p:cSldViewPr snapToGrid="0">
      <p:cViewPr varScale="1">
        <p:scale>
          <a:sx n="85" d="100"/>
          <a:sy n="85" d="100"/>
        </p:scale>
        <p:origin x="787"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A41C-319D-4721-A82A-9F0E2B85D6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DA2DBE2-F497-4A6C-B223-1EA06709B7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F729B22-DD18-42B0-B902-9637EB0A014A}"/>
              </a:ext>
            </a:extLst>
          </p:cNvPr>
          <p:cNvSpPr>
            <a:spLocks noGrp="1"/>
          </p:cNvSpPr>
          <p:nvPr>
            <p:ph type="dt" sz="half" idx="10"/>
          </p:nvPr>
        </p:nvSpPr>
        <p:spPr/>
        <p:txBody>
          <a:bodyPr/>
          <a:lstStyle/>
          <a:p>
            <a:fld id="{F7A477DE-645A-442F-8DB5-BC49F143C262}" type="datetimeFigureOut">
              <a:rPr lang="en-GB" smtClean="0"/>
              <a:t>09/12/2025</a:t>
            </a:fld>
            <a:endParaRPr lang="en-GB"/>
          </a:p>
        </p:txBody>
      </p:sp>
      <p:sp>
        <p:nvSpPr>
          <p:cNvPr id="5" name="Footer Placeholder 4">
            <a:extLst>
              <a:ext uri="{FF2B5EF4-FFF2-40B4-BE49-F238E27FC236}">
                <a16:creationId xmlns:a16="http://schemas.microsoft.com/office/drawing/2014/main" id="{D936E32C-3D7B-4AB9-81B6-638D17748B2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64A6455-A0B3-4BE7-8CE2-200A0B4EA163}"/>
              </a:ext>
            </a:extLst>
          </p:cNvPr>
          <p:cNvSpPr>
            <a:spLocks noGrp="1"/>
          </p:cNvSpPr>
          <p:nvPr>
            <p:ph type="sldNum" sz="quarter" idx="12"/>
          </p:nvPr>
        </p:nvSpPr>
        <p:spPr/>
        <p:txBody>
          <a:bodyPr/>
          <a:lstStyle/>
          <a:p>
            <a:fld id="{6B7450D9-5FB2-4C83-AE7D-5A1C06FC4715}" type="slidenum">
              <a:rPr lang="en-GB" smtClean="0"/>
              <a:t>‹#›</a:t>
            </a:fld>
            <a:endParaRPr lang="en-GB"/>
          </a:p>
        </p:txBody>
      </p:sp>
    </p:spTree>
    <p:extLst>
      <p:ext uri="{BB962C8B-B14F-4D97-AF65-F5344CB8AC3E}">
        <p14:creationId xmlns:p14="http://schemas.microsoft.com/office/powerpoint/2010/main" val="1550068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3DAEF-19CC-42FF-9A52-C90DB0DE068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1DCEC3D-FE4B-457F-8B36-69180BB800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2569EA4-965C-4847-8065-1DC100764DE2}"/>
              </a:ext>
            </a:extLst>
          </p:cNvPr>
          <p:cNvSpPr>
            <a:spLocks noGrp="1"/>
          </p:cNvSpPr>
          <p:nvPr>
            <p:ph type="dt" sz="half" idx="10"/>
          </p:nvPr>
        </p:nvSpPr>
        <p:spPr/>
        <p:txBody>
          <a:bodyPr/>
          <a:lstStyle/>
          <a:p>
            <a:fld id="{F7A477DE-645A-442F-8DB5-BC49F143C262}" type="datetimeFigureOut">
              <a:rPr lang="en-GB" smtClean="0"/>
              <a:t>09/12/2025</a:t>
            </a:fld>
            <a:endParaRPr lang="en-GB"/>
          </a:p>
        </p:txBody>
      </p:sp>
      <p:sp>
        <p:nvSpPr>
          <p:cNvPr id="5" name="Footer Placeholder 4">
            <a:extLst>
              <a:ext uri="{FF2B5EF4-FFF2-40B4-BE49-F238E27FC236}">
                <a16:creationId xmlns:a16="http://schemas.microsoft.com/office/drawing/2014/main" id="{3F3BC196-AF85-44CC-9DCE-C0764E846BC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D229B35-6DD0-45D3-9372-6303100D588B}"/>
              </a:ext>
            </a:extLst>
          </p:cNvPr>
          <p:cNvSpPr>
            <a:spLocks noGrp="1"/>
          </p:cNvSpPr>
          <p:nvPr>
            <p:ph type="sldNum" sz="quarter" idx="12"/>
          </p:nvPr>
        </p:nvSpPr>
        <p:spPr/>
        <p:txBody>
          <a:bodyPr/>
          <a:lstStyle/>
          <a:p>
            <a:fld id="{6B7450D9-5FB2-4C83-AE7D-5A1C06FC4715}" type="slidenum">
              <a:rPr lang="en-GB" smtClean="0"/>
              <a:t>‹#›</a:t>
            </a:fld>
            <a:endParaRPr lang="en-GB"/>
          </a:p>
        </p:txBody>
      </p:sp>
    </p:spTree>
    <p:extLst>
      <p:ext uri="{BB962C8B-B14F-4D97-AF65-F5344CB8AC3E}">
        <p14:creationId xmlns:p14="http://schemas.microsoft.com/office/powerpoint/2010/main" val="2094324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5AA71-A28F-48BF-B804-A886059022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06E013C-0023-43A2-9794-0179E1AD1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25F69F-5D2F-4801-97FE-2C44A07BBC0D}"/>
              </a:ext>
            </a:extLst>
          </p:cNvPr>
          <p:cNvSpPr>
            <a:spLocks noGrp="1"/>
          </p:cNvSpPr>
          <p:nvPr>
            <p:ph type="dt" sz="half" idx="10"/>
          </p:nvPr>
        </p:nvSpPr>
        <p:spPr/>
        <p:txBody>
          <a:bodyPr/>
          <a:lstStyle/>
          <a:p>
            <a:fld id="{F7A477DE-645A-442F-8DB5-BC49F143C262}" type="datetimeFigureOut">
              <a:rPr lang="en-GB" smtClean="0"/>
              <a:t>09/12/2025</a:t>
            </a:fld>
            <a:endParaRPr lang="en-GB"/>
          </a:p>
        </p:txBody>
      </p:sp>
      <p:sp>
        <p:nvSpPr>
          <p:cNvPr id="5" name="Footer Placeholder 4">
            <a:extLst>
              <a:ext uri="{FF2B5EF4-FFF2-40B4-BE49-F238E27FC236}">
                <a16:creationId xmlns:a16="http://schemas.microsoft.com/office/drawing/2014/main" id="{91A85234-CB69-44AB-8614-AC9746148AF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7640CD8-3A9F-4B7E-98FD-4ECBFE3268CD}"/>
              </a:ext>
            </a:extLst>
          </p:cNvPr>
          <p:cNvSpPr>
            <a:spLocks noGrp="1"/>
          </p:cNvSpPr>
          <p:nvPr>
            <p:ph type="sldNum" sz="quarter" idx="12"/>
          </p:nvPr>
        </p:nvSpPr>
        <p:spPr/>
        <p:txBody>
          <a:bodyPr/>
          <a:lstStyle/>
          <a:p>
            <a:fld id="{6B7450D9-5FB2-4C83-AE7D-5A1C06FC4715}" type="slidenum">
              <a:rPr lang="en-GB" smtClean="0"/>
              <a:t>‹#›</a:t>
            </a:fld>
            <a:endParaRPr lang="en-GB"/>
          </a:p>
        </p:txBody>
      </p:sp>
    </p:spTree>
    <p:extLst>
      <p:ext uri="{BB962C8B-B14F-4D97-AF65-F5344CB8AC3E}">
        <p14:creationId xmlns:p14="http://schemas.microsoft.com/office/powerpoint/2010/main" val="2952465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367A-AC1B-44A4-B45D-4D183629400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24710E1-306B-4198-858E-02140EF54E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D6AD580-8287-437C-8536-37B6DF93C6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28175D7-ED73-416B-994B-185B384C3356}"/>
              </a:ext>
            </a:extLst>
          </p:cNvPr>
          <p:cNvSpPr>
            <a:spLocks noGrp="1"/>
          </p:cNvSpPr>
          <p:nvPr>
            <p:ph type="dt" sz="half" idx="10"/>
          </p:nvPr>
        </p:nvSpPr>
        <p:spPr/>
        <p:txBody>
          <a:bodyPr/>
          <a:lstStyle/>
          <a:p>
            <a:fld id="{F7A477DE-645A-442F-8DB5-BC49F143C262}" type="datetimeFigureOut">
              <a:rPr lang="en-GB" smtClean="0"/>
              <a:t>09/12/2025</a:t>
            </a:fld>
            <a:endParaRPr lang="en-GB"/>
          </a:p>
        </p:txBody>
      </p:sp>
      <p:sp>
        <p:nvSpPr>
          <p:cNvPr id="6" name="Footer Placeholder 5">
            <a:extLst>
              <a:ext uri="{FF2B5EF4-FFF2-40B4-BE49-F238E27FC236}">
                <a16:creationId xmlns:a16="http://schemas.microsoft.com/office/drawing/2014/main" id="{63E1C93D-ADE3-4E84-9B70-B7429444092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1FFE851-A703-414F-93C1-A51C72BB8DED}"/>
              </a:ext>
            </a:extLst>
          </p:cNvPr>
          <p:cNvSpPr>
            <a:spLocks noGrp="1"/>
          </p:cNvSpPr>
          <p:nvPr>
            <p:ph type="sldNum" sz="quarter" idx="12"/>
          </p:nvPr>
        </p:nvSpPr>
        <p:spPr/>
        <p:txBody>
          <a:bodyPr/>
          <a:lstStyle/>
          <a:p>
            <a:fld id="{6B7450D9-5FB2-4C83-AE7D-5A1C06FC4715}" type="slidenum">
              <a:rPr lang="en-GB" smtClean="0"/>
              <a:t>‹#›</a:t>
            </a:fld>
            <a:endParaRPr lang="en-GB"/>
          </a:p>
        </p:txBody>
      </p:sp>
    </p:spTree>
    <p:extLst>
      <p:ext uri="{BB962C8B-B14F-4D97-AF65-F5344CB8AC3E}">
        <p14:creationId xmlns:p14="http://schemas.microsoft.com/office/powerpoint/2010/main" val="193681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2B5D1-E708-4812-A071-EB2A5117F78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F6B4342-BECD-4475-8E52-ED8B8E11DC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998773-4A84-48DA-A26F-CFEBEE22E7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BE17055-589D-4D98-AB20-1CF456D7CB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7C9695-4BA2-4352-AC15-59C0E6D73A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23DE236-39F5-4623-871A-36569C0A75B6}"/>
              </a:ext>
            </a:extLst>
          </p:cNvPr>
          <p:cNvSpPr>
            <a:spLocks noGrp="1"/>
          </p:cNvSpPr>
          <p:nvPr>
            <p:ph type="dt" sz="half" idx="10"/>
          </p:nvPr>
        </p:nvSpPr>
        <p:spPr/>
        <p:txBody>
          <a:bodyPr/>
          <a:lstStyle/>
          <a:p>
            <a:fld id="{F7A477DE-645A-442F-8DB5-BC49F143C262}" type="datetimeFigureOut">
              <a:rPr lang="en-GB" smtClean="0"/>
              <a:t>09/12/2025</a:t>
            </a:fld>
            <a:endParaRPr lang="en-GB"/>
          </a:p>
        </p:txBody>
      </p:sp>
      <p:sp>
        <p:nvSpPr>
          <p:cNvPr id="8" name="Footer Placeholder 7">
            <a:extLst>
              <a:ext uri="{FF2B5EF4-FFF2-40B4-BE49-F238E27FC236}">
                <a16:creationId xmlns:a16="http://schemas.microsoft.com/office/drawing/2014/main" id="{F3051AD9-974A-4FAE-97CE-91615A4A422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0C1E4F0-B879-4645-ADE3-9A2E5B1DCC00}"/>
              </a:ext>
            </a:extLst>
          </p:cNvPr>
          <p:cNvSpPr>
            <a:spLocks noGrp="1"/>
          </p:cNvSpPr>
          <p:nvPr>
            <p:ph type="sldNum" sz="quarter" idx="12"/>
          </p:nvPr>
        </p:nvSpPr>
        <p:spPr/>
        <p:txBody>
          <a:bodyPr/>
          <a:lstStyle/>
          <a:p>
            <a:fld id="{6B7450D9-5FB2-4C83-AE7D-5A1C06FC4715}" type="slidenum">
              <a:rPr lang="en-GB" smtClean="0"/>
              <a:t>‹#›</a:t>
            </a:fld>
            <a:endParaRPr lang="en-GB"/>
          </a:p>
        </p:txBody>
      </p:sp>
    </p:spTree>
    <p:extLst>
      <p:ext uri="{BB962C8B-B14F-4D97-AF65-F5344CB8AC3E}">
        <p14:creationId xmlns:p14="http://schemas.microsoft.com/office/powerpoint/2010/main" val="4257083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B1285-968F-4817-888F-45328AAF815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0E5BC59-5616-4FE2-A2A3-8B73D822856E}"/>
              </a:ext>
            </a:extLst>
          </p:cNvPr>
          <p:cNvSpPr>
            <a:spLocks noGrp="1"/>
          </p:cNvSpPr>
          <p:nvPr>
            <p:ph type="dt" sz="half" idx="10"/>
          </p:nvPr>
        </p:nvSpPr>
        <p:spPr/>
        <p:txBody>
          <a:bodyPr/>
          <a:lstStyle/>
          <a:p>
            <a:fld id="{F7A477DE-645A-442F-8DB5-BC49F143C262}" type="datetimeFigureOut">
              <a:rPr lang="en-GB" smtClean="0"/>
              <a:t>09/12/2025</a:t>
            </a:fld>
            <a:endParaRPr lang="en-GB"/>
          </a:p>
        </p:txBody>
      </p:sp>
      <p:sp>
        <p:nvSpPr>
          <p:cNvPr id="4" name="Footer Placeholder 3">
            <a:extLst>
              <a:ext uri="{FF2B5EF4-FFF2-40B4-BE49-F238E27FC236}">
                <a16:creationId xmlns:a16="http://schemas.microsoft.com/office/drawing/2014/main" id="{198590D9-A5EF-4C95-88E7-A6562B31730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886203A-85EB-4D29-B8C6-6C959F0D3F67}"/>
              </a:ext>
            </a:extLst>
          </p:cNvPr>
          <p:cNvSpPr>
            <a:spLocks noGrp="1"/>
          </p:cNvSpPr>
          <p:nvPr>
            <p:ph type="sldNum" sz="quarter" idx="12"/>
          </p:nvPr>
        </p:nvSpPr>
        <p:spPr/>
        <p:txBody>
          <a:bodyPr/>
          <a:lstStyle/>
          <a:p>
            <a:fld id="{6B7450D9-5FB2-4C83-AE7D-5A1C06FC4715}" type="slidenum">
              <a:rPr lang="en-GB" smtClean="0"/>
              <a:t>‹#›</a:t>
            </a:fld>
            <a:endParaRPr lang="en-GB"/>
          </a:p>
        </p:txBody>
      </p:sp>
    </p:spTree>
    <p:extLst>
      <p:ext uri="{BB962C8B-B14F-4D97-AF65-F5344CB8AC3E}">
        <p14:creationId xmlns:p14="http://schemas.microsoft.com/office/powerpoint/2010/main" val="112246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F0C37F-337B-408E-B786-0C9326B6FC16}"/>
              </a:ext>
            </a:extLst>
          </p:cNvPr>
          <p:cNvSpPr>
            <a:spLocks noGrp="1"/>
          </p:cNvSpPr>
          <p:nvPr>
            <p:ph type="dt" sz="half" idx="10"/>
          </p:nvPr>
        </p:nvSpPr>
        <p:spPr/>
        <p:txBody>
          <a:bodyPr/>
          <a:lstStyle/>
          <a:p>
            <a:fld id="{F7A477DE-645A-442F-8DB5-BC49F143C262}" type="datetimeFigureOut">
              <a:rPr lang="en-GB" smtClean="0"/>
              <a:t>09/12/2025</a:t>
            </a:fld>
            <a:endParaRPr lang="en-GB"/>
          </a:p>
        </p:txBody>
      </p:sp>
      <p:sp>
        <p:nvSpPr>
          <p:cNvPr id="3" name="Footer Placeholder 2">
            <a:extLst>
              <a:ext uri="{FF2B5EF4-FFF2-40B4-BE49-F238E27FC236}">
                <a16:creationId xmlns:a16="http://schemas.microsoft.com/office/drawing/2014/main" id="{577B9A0E-5773-40C2-B206-47F28ED03D0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CF47459-0A77-4486-A937-E4AFBD694BD7}"/>
              </a:ext>
            </a:extLst>
          </p:cNvPr>
          <p:cNvSpPr>
            <a:spLocks noGrp="1"/>
          </p:cNvSpPr>
          <p:nvPr>
            <p:ph type="sldNum" sz="quarter" idx="12"/>
          </p:nvPr>
        </p:nvSpPr>
        <p:spPr/>
        <p:txBody>
          <a:bodyPr/>
          <a:lstStyle/>
          <a:p>
            <a:fld id="{6B7450D9-5FB2-4C83-AE7D-5A1C06FC4715}" type="slidenum">
              <a:rPr lang="en-GB" smtClean="0"/>
              <a:t>‹#›</a:t>
            </a:fld>
            <a:endParaRPr lang="en-GB"/>
          </a:p>
        </p:txBody>
      </p:sp>
    </p:spTree>
    <p:extLst>
      <p:ext uri="{BB962C8B-B14F-4D97-AF65-F5344CB8AC3E}">
        <p14:creationId xmlns:p14="http://schemas.microsoft.com/office/powerpoint/2010/main" val="2453891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AA167-B436-413F-9065-A4E3D45973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2A44243-D241-45B2-B7AA-4D96941148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0C671C8-D75D-4FB9-AEA4-72C40AB5C9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C656FB-6E61-461B-A201-AB65C9660463}"/>
              </a:ext>
            </a:extLst>
          </p:cNvPr>
          <p:cNvSpPr>
            <a:spLocks noGrp="1"/>
          </p:cNvSpPr>
          <p:nvPr>
            <p:ph type="dt" sz="half" idx="10"/>
          </p:nvPr>
        </p:nvSpPr>
        <p:spPr/>
        <p:txBody>
          <a:bodyPr/>
          <a:lstStyle/>
          <a:p>
            <a:fld id="{F7A477DE-645A-442F-8DB5-BC49F143C262}" type="datetimeFigureOut">
              <a:rPr lang="en-GB" smtClean="0"/>
              <a:t>09/12/2025</a:t>
            </a:fld>
            <a:endParaRPr lang="en-GB"/>
          </a:p>
        </p:txBody>
      </p:sp>
      <p:sp>
        <p:nvSpPr>
          <p:cNvPr id="6" name="Footer Placeholder 5">
            <a:extLst>
              <a:ext uri="{FF2B5EF4-FFF2-40B4-BE49-F238E27FC236}">
                <a16:creationId xmlns:a16="http://schemas.microsoft.com/office/drawing/2014/main" id="{D0831B19-8FA0-43DD-A0B2-1FF23A7C6DE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63633EA-C6D0-471F-BE49-B462BB120D94}"/>
              </a:ext>
            </a:extLst>
          </p:cNvPr>
          <p:cNvSpPr>
            <a:spLocks noGrp="1"/>
          </p:cNvSpPr>
          <p:nvPr>
            <p:ph type="sldNum" sz="quarter" idx="12"/>
          </p:nvPr>
        </p:nvSpPr>
        <p:spPr/>
        <p:txBody>
          <a:bodyPr/>
          <a:lstStyle/>
          <a:p>
            <a:fld id="{6B7450D9-5FB2-4C83-AE7D-5A1C06FC4715}" type="slidenum">
              <a:rPr lang="en-GB" smtClean="0"/>
              <a:t>‹#›</a:t>
            </a:fld>
            <a:endParaRPr lang="en-GB"/>
          </a:p>
        </p:txBody>
      </p:sp>
    </p:spTree>
    <p:extLst>
      <p:ext uri="{BB962C8B-B14F-4D97-AF65-F5344CB8AC3E}">
        <p14:creationId xmlns:p14="http://schemas.microsoft.com/office/powerpoint/2010/main" val="2047727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C0B11-51B4-4DC6-9936-391AD53D3D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91125F4-2280-4FB6-B2D3-8459AA8A3C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7B15AC5-6B9F-4826-9DC0-3007ED1032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1F0764-7D13-4EB3-88C4-B2647C1292C2}"/>
              </a:ext>
            </a:extLst>
          </p:cNvPr>
          <p:cNvSpPr>
            <a:spLocks noGrp="1"/>
          </p:cNvSpPr>
          <p:nvPr>
            <p:ph type="dt" sz="half" idx="10"/>
          </p:nvPr>
        </p:nvSpPr>
        <p:spPr/>
        <p:txBody>
          <a:bodyPr/>
          <a:lstStyle/>
          <a:p>
            <a:fld id="{F7A477DE-645A-442F-8DB5-BC49F143C262}" type="datetimeFigureOut">
              <a:rPr lang="en-GB" smtClean="0"/>
              <a:t>09/12/2025</a:t>
            </a:fld>
            <a:endParaRPr lang="en-GB"/>
          </a:p>
        </p:txBody>
      </p:sp>
      <p:sp>
        <p:nvSpPr>
          <p:cNvPr id="6" name="Footer Placeholder 5">
            <a:extLst>
              <a:ext uri="{FF2B5EF4-FFF2-40B4-BE49-F238E27FC236}">
                <a16:creationId xmlns:a16="http://schemas.microsoft.com/office/drawing/2014/main" id="{C606E631-3CE5-4B63-BACC-32588372DB7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DF3C3F0-B25B-47E7-924A-27991E20E444}"/>
              </a:ext>
            </a:extLst>
          </p:cNvPr>
          <p:cNvSpPr>
            <a:spLocks noGrp="1"/>
          </p:cNvSpPr>
          <p:nvPr>
            <p:ph type="sldNum" sz="quarter" idx="12"/>
          </p:nvPr>
        </p:nvSpPr>
        <p:spPr/>
        <p:txBody>
          <a:bodyPr/>
          <a:lstStyle/>
          <a:p>
            <a:fld id="{6B7450D9-5FB2-4C83-AE7D-5A1C06FC4715}" type="slidenum">
              <a:rPr lang="en-GB" smtClean="0"/>
              <a:t>‹#›</a:t>
            </a:fld>
            <a:endParaRPr lang="en-GB"/>
          </a:p>
        </p:txBody>
      </p:sp>
    </p:spTree>
    <p:extLst>
      <p:ext uri="{BB962C8B-B14F-4D97-AF65-F5344CB8AC3E}">
        <p14:creationId xmlns:p14="http://schemas.microsoft.com/office/powerpoint/2010/main" val="22342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81FD9-C380-4442-8297-C35F114E86B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379CBE3-7582-40FE-888B-B426E06843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D1CD458-0CDF-42D7-9BBA-AEFCA30A6466}"/>
              </a:ext>
            </a:extLst>
          </p:cNvPr>
          <p:cNvSpPr>
            <a:spLocks noGrp="1"/>
          </p:cNvSpPr>
          <p:nvPr>
            <p:ph type="dt" sz="half" idx="10"/>
          </p:nvPr>
        </p:nvSpPr>
        <p:spPr/>
        <p:txBody>
          <a:bodyPr/>
          <a:lstStyle/>
          <a:p>
            <a:fld id="{F7A477DE-645A-442F-8DB5-BC49F143C262}" type="datetimeFigureOut">
              <a:rPr lang="en-GB" smtClean="0"/>
              <a:t>09/12/2025</a:t>
            </a:fld>
            <a:endParaRPr lang="en-GB"/>
          </a:p>
        </p:txBody>
      </p:sp>
      <p:sp>
        <p:nvSpPr>
          <p:cNvPr id="5" name="Footer Placeholder 4">
            <a:extLst>
              <a:ext uri="{FF2B5EF4-FFF2-40B4-BE49-F238E27FC236}">
                <a16:creationId xmlns:a16="http://schemas.microsoft.com/office/drawing/2014/main" id="{E9F20B6D-A9AA-4CD4-B8BA-AD0459DA752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9FE5A31-624F-4FB4-A424-8A23311BD5D7}"/>
              </a:ext>
            </a:extLst>
          </p:cNvPr>
          <p:cNvSpPr>
            <a:spLocks noGrp="1"/>
          </p:cNvSpPr>
          <p:nvPr>
            <p:ph type="sldNum" sz="quarter" idx="12"/>
          </p:nvPr>
        </p:nvSpPr>
        <p:spPr/>
        <p:txBody>
          <a:bodyPr/>
          <a:lstStyle/>
          <a:p>
            <a:fld id="{6B7450D9-5FB2-4C83-AE7D-5A1C06FC4715}" type="slidenum">
              <a:rPr lang="en-GB" smtClean="0"/>
              <a:t>‹#›</a:t>
            </a:fld>
            <a:endParaRPr lang="en-GB"/>
          </a:p>
        </p:txBody>
      </p:sp>
    </p:spTree>
    <p:extLst>
      <p:ext uri="{BB962C8B-B14F-4D97-AF65-F5344CB8AC3E}">
        <p14:creationId xmlns:p14="http://schemas.microsoft.com/office/powerpoint/2010/main" val="2160763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7B7E35-F4E2-4CD4-9051-54CBFB6B3C8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5CE0369-51AC-4D12-A771-FA2997BEBA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5F6A32D-E507-419A-907B-016BA708094F}"/>
              </a:ext>
            </a:extLst>
          </p:cNvPr>
          <p:cNvSpPr>
            <a:spLocks noGrp="1"/>
          </p:cNvSpPr>
          <p:nvPr>
            <p:ph type="dt" sz="half" idx="10"/>
          </p:nvPr>
        </p:nvSpPr>
        <p:spPr/>
        <p:txBody>
          <a:bodyPr/>
          <a:lstStyle/>
          <a:p>
            <a:fld id="{F7A477DE-645A-442F-8DB5-BC49F143C262}" type="datetimeFigureOut">
              <a:rPr lang="en-GB" smtClean="0"/>
              <a:t>09/12/2025</a:t>
            </a:fld>
            <a:endParaRPr lang="en-GB"/>
          </a:p>
        </p:txBody>
      </p:sp>
      <p:sp>
        <p:nvSpPr>
          <p:cNvPr id="5" name="Footer Placeholder 4">
            <a:extLst>
              <a:ext uri="{FF2B5EF4-FFF2-40B4-BE49-F238E27FC236}">
                <a16:creationId xmlns:a16="http://schemas.microsoft.com/office/drawing/2014/main" id="{BDCB02D3-21E4-481F-860B-8E11036C666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1F12F55-CF64-4EC2-A9E1-10CFDEA83511}"/>
              </a:ext>
            </a:extLst>
          </p:cNvPr>
          <p:cNvSpPr>
            <a:spLocks noGrp="1"/>
          </p:cNvSpPr>
          <p:nvPr>
            <p:ph type="sldNum" sz="quarter" idx="12"/>
          </p:nvPr>
        </p:nvSpPr>
        <p:spPr/>
        <p:txBody>
          <a:bodyPr/>
          <a:lstStyle/>
          <a:p>
            <a:fld id="{6B7450D9-5FB2-4C83-AE7D-5A1C06FC4715}" type="slidenum">
              <a:rPr lang="en-GB" smtClean="0"/>
              <a:t>‹#›</a:t>
            </a:fld>
            <a:endParaRPr lang="en-GB"/>
          </a:p>
        </p:txBody>
      </p:sp>
    </p:spTree>
    <p:extLst>
      <p:ext uri="{BB962C8B-B14F-4D97-AF65-F5344CB8AC3E}">
        <p14:creationId xmlns:p14="http://schemas.microsoft.com/office/powerpoint/2010/main" val="3121072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92162"/>
          </a:xfrm>
        </p:spPr>
        <p:txBody>
          <a:bodyPr/>
          <a:lstStyle/>
          <a:p>
            <a:r>
              <a:rPr lang="en-US"/>
              <a:t>Click to edit Master title style</a:t>
            </a:r>
          </a:p>
        </p:txBody>
      </p:sp>
      <p:sp>
        <p:nvSpPr>
          <p:cNvPr id="3" name="Table Placeholder 2"/>
          <p:cNvSpPr>
            <a:spLocks noGrp="1"/>
          </p:cNvSpPr>
          <p:nvPr>
            <p:ph type="tbl" idx="1"/>
          </p:nvPr>
        </p:nvSpPr>
        <p:spPr>
          <a:xfrm>
            <a:off x="609600" y="1143000"/>
            <a:ext cx="10972800" cy="5143500"/>
          </a:xfrm>
        </p:spPr>
        <p:txBody>
          <a:bodyPr/>
          <a:lstStyle/>
          <a:p>
            <a:endParaRPr lang="en-US"/>
          </a:p>
        </p:txBody>
      </p:sp>
    </p:spTree>
    <p:extLst>
      <p:ext uri="{BB962C8B-B14F-4D97-AF65-F5344CB8AC3E}">
        <p14:creationId xmlns:p14="http://schemas.microsoft.com/office/powerpoint/2010/main" val="22039610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92162"/>
          </a:xfrm>
        </p:spPr>
        <p:txBody>
          <a:bodyPr/>
          <a:lstStyle/>
          <a:p>
            <a:r>
              <a:rPr lang="en-US"/>
              <a:t>Click to edit Master title style</a:t>
            </a:r>
          </a:p>
        </p:txBody>
      </p:sp>
      <p:sp>
        <p:nvSpPr>
          <p:cNvPr id="3" name="Text Placeholder 2"/>
          <p:cNvSpPr>
            <a:spLocks noGrp="1"/>
          </p:cNvSpPr>
          <p:nvPr>
            <p:ph type="body" sz="half" idx="1"/>
          </p:nvPr>
        </p:nvSpPr>
        <p:spPr>
          <a:xfrm>
            <a:off x="609600" y="1143000"/>
            <a:ext cx="5384800"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43000"/>
            <a:ext cx="5384800"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9269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1F85FF-A9AC-4800-BAA5-F6E4766E3D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DA30A36-850B-4F29-B62E-C15691A728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6BB2A87-802E-4BED-8666-F5DA8AF85B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A477DE-645A-442F-8DB5-BC49F143C262}" type="datetimeFigureOut">
              <a:rPr lang="en-GB" smtClean="0"/>
              <a:t>09/12/2025</a:t>
            </a:fld>
            <a:endParaRPr lang="en-GB"/>
          </a:p>
        </p:txBody>
      </p:sp>
      <p:sp>
        <p:nvSpPr>
          <p:cNvPr id="5" name="Footer Placeholder 4">
            <a:extLst>
              <a:ext uri="{FF2B5EF4-FFF2-40B4-BE49-F238E27FC236}">
                <a16:creationId xmlns:a16="http://schemas.microsoft.com/office/drawing/2014/main" id="{9309332A-24F7-48AA-8BF3-6352DD827D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2C79DB2-C440-4C04-9DA9-7691DA3838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7450D9-5FB2-4C83-AE7D-5A1C06FC4715}" type="slidenum">
              <a:rPr lang="en-GB" smtClean="0"/>
              <a:t>‹#›</a:t>
            </a:fld>
            <a:endParaRPr lang="en-GB"/>
          </a:p>
        </p:txBody>
      </p:sp>
    </p:spTree>
    <p:extLst>
      <p:ext uri="{BB962C8B-B14F-4D97-AF65-F5344CB8AC3E}">
        <p14:creationId xmlns:p14="http://schemas.microsoft.com/office/powerpoint/2010/main" val="3017349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9.png"/><Relationship Id="rId4" Type="http://schemas.openxmlformats.org/officeDocument/2006/relationships/image" Target="../media/image8.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6.png"/><Relationship Id="rId4" Type="http://schemas.openxmlformats.org/officeDocument/2006/relationships/image" Target="../media/image15.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7.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16BA987-4AD9-4BCC-8668-04FFD7D1AAFD}"/>
              </a:ext>
            </a:extLst>
          </p:cNvPr>
          <p:cNvSpPr>
            <a:spLocks noGrp="1"/>
          </p:cNvSpPr>
          <p:nvPr>
            <p:ph idx="1"/>
          </p:nvPr>
        </p:nvSpPr>
        <p:spPr>
          <a:xfrm>
            <a:off x="80683" y="134471"/>
            <a:ext cx="12021670" cy="6660776"/>
          </a:xfrm>
        </p:spPr>
        <p:txBody>
          <a:bodyPr>
            <a:normAutofit/>
          </a:bodyPr>
          <a:lstStyle/>
          <a:p>
            <a:pPr algn="ctr"/>
            <a:endParaRPr lang="en-FI" sz="3200" b="1" dirty="0">
              <a:solidFill>
                <a:srgbClr val="FF0000"/>
              </a:solidFill>
              <a:effectLst/>
              <a:latin typeface="Comic Sans MS" panose="030F0702030302020204" pitchFamily="66" charset="0"/>
              <a:ea typeface="Calibri" panose="020F0502020204030204" pitchFamily="34" charset="0"/>
              <a:cs typeface="TimesNewRomanPS-BoldMT"/>
            </a:endParaRPr>
          </a:p>
          <a:p>
            <a:pPr algn="ctr"/>
            <a:endParaRPr lang="en-FI" sz="3200" b="1" dirty="0">
              <a:solidFill>
                <a:srgbClr val="FF0000"/>
              </a:solidFill>
              <a:latin typeface="Comic Sans MS" panose="030F0702030302020204" pitchFamily="66" charset="0"/>
              <a:ea typeface="Calibri" panose="020F0502020204030204" pitchFamily="34" charset="0"/>
              <a:cs typeface="TimesNewRomanPS-BoldMT"/>
            </a:endParaRPr>
          </a:p>
          <a:p>
            <a:pPr algn="ctr"/>
            <a:r>
              <a:rPr lang="en-GB" sz="3600" b="1" dirty="0">
                <a:solidFill>
                  <a:srgbClr val="FF0000"/>
                </a:solidFill>
                <a:effectLst/>
                <a:latin typeface="Comic Sans MS" panose="030F0702030302020204" pitchFamily="66" charset="0"/>
                <a:ea typeface="Calibri" panose="020F0502020204030204" pitchFamily="34" charset="0"/>
                <a:cs typeface="TimesNewRomanPS-BoldMT"/>
              </a:rPr>
              <a:t>Numbering Systems</a:t>
            </a:r>
            <a:endParaRPr lang="en-FI" sz="3600" b="1" dirty="0">
              <a:solidFill>
                <a:srgbClr val="FF0000"/>
              </a:solidFill>
              <a:effectLst/>
              <a:latin typeface="Comic Sans MS" panose="030F0702030302020204" pitchFamily="66" charset="0"/>
              <a:ea typeface="Calibri" panose="020F0502020204030204" pitchFamily="34" charset="0"/>
              <a:cs typeface="TimesNewRomanPS-BoldMT"/>
            </a:endParaRPr>
          </a:p>
          <a:p>
            <a:pPr marL="0" indent="0" algn="ctr">
              <a:buNone/>
            </a:pPr>
            <a:endParaRPr lang="en-FI" sz="3200" b="1" dirty="0">
              <a:solidFill>
                <a:srgbClr val="FF0000"/>
              </a:solidFill>
              <a:latin typeface="Comic Sans MS" panose="030F0702030302020204" pitchFamily="66" charset="0"/>
              <a:ea typeface="Calibri" panose="020F0502020204030204" pitchFamily="34" charset="0"/>
            </a:endParaRPr>
          </a:p>
          <a:p>
            <a:pPr algn="ctr"/>
            <a:endParaRPr lang="en-FI" sz="3200" b="1" dirty="0">
              <a:solidFill>
                <a:srgbClr val="FF0000"/>
              </a:solidFill>
              <a:latin typeface="Comic Sans MS" panose="030F0702030302020204" pitchFamily="66" charset="0"/>
              <a:ea typeface="Calibri" panose="020F0502020204030204" pitchFamily="34" charset="0"/>
            </a:endParaRPr>
          </a:p>
          <a:p>
            <a:pPr algn="ctr"/>
            <a:r>
              <a:rPr lang="en-FI" sz="3200" b="1" dirty="0">
                <a:latin typeface="Comic Sans MS" panose="030F0702030302020204" pitchFamily="66" charset="0"/>
                <a:ea typeface="Calibri" panose="020F0502020204030204" pitchFamily="34" charset="0"/>
              </a:rPr>
              <a:t>Alamu Femi O PhD</a:t>
            </a:r>
          </a:p>
          <a:p>
            <a:pPr algn="ctr"/>
            <a:endParaRPr lang="en-GB" sz="4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1396996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3F4A58-5EB2-4432-AFCD-28297CC81319}"/>
              </a:ext>
            </a:extLst>
          </p:cNvPr>
          <p:cNvSpPr>
            <a:spLocks noGrp="1"/>
          </p:cNvSpPr>
          <p:nvPr>
            <p:ph idx="1"/>
          </p:nvPr>
        </p:nvSpPr>
        <p:spPr>
          <a:xfrm>
            <a:off x="80682" y="89646"/>
            <a:ext cx="11985812" cy="6660777"/>
          </a:xfrm>
        </p:spPr>
        <p:txBody>
          <a:bodyPr>
            <a:normAutofit/>
          </a:bodyPr>
          <a:lstStyle/>
          <a:p>
            <a:pPr algn="just"/>
            <a:r>
              <a:rPr lang="en-FI" b="1" i="0" u="none" strike="noStrike" baseline="0" dirty="0">
                <a:latin typeface="Comic Sans MS" panose="030F0702030302020204" pitchFamily="66" charset="0"/>
              </a:rPr>
              <a:t>We have </a:t>
            </a:r>
            <a:r>
              <a:rPr lang="en-GB" b="1" i="0" u="none" strike="noStrike" baseline="0" dirty="0">
                <a:latin typeface="Comic Sans MS" panose="030F0702030302020204" pitchFamily="66" charset="0"/>
              </a:rPr>
              <a:t>discussed how computers remember numbers using</a:t>
            </a:r>
            <a:r>
              <a:rPr lang="en-FI" b="1" i="0" u="none" strike="noStrike" baseline="0" dirty="0">
                <a:latin typeface="Comic Sans MS" panose="030F0702030302020204" pitchFamily="66" charset="0"/>
              </a:rPr>
              <a:t> </a:t>
            </a:r>
            <a:r>
              <a:rPr lang="en-GB" b="1" i="0" u="none" strike="noStrike" baseline="0" dirty="0">
                <a:latin typeface="Comic Sans MS" panose="030F0702030302020204" pitchFamily="66" charset="0"/>
              </a:rPr>
              <a:t>transistors, tiny devices that act like switches with only two positions,</a:t>
            </a:r>
            <a:r>
              <a:rPr lang="en-FI" b="1" i="0" u="none" strike="noStrike" baseline="0" dirty="0">
                <a:latin typeface="Comic Sans MS" panose="030F0702030302020204" pitchFamily="66" charset="0"/>
              </a:rPr>
              <a:t> </a:t>
            </a:r>
            <a:r>
              <a:rPr lang="en-GB" b="1" i="0" u="none" strike="noStrike" baseline="0" dirty="0">
                <a:latin typeface="Comic Sans MS" panose="030F0702030302020204" pitchFamily="66" charset="0"/>
              </a:rPr>
              <a:t>on or off. </a:t>
            </a:r>
            <a:endParaRPr lang="en-FI" b="1" i="0" u="none" strike="noStrike" baseline="0" dirty="0">
              <a:latin typeface="Comic Sans MS" panose="030F0702030302020204" pitchFamily="66" charset="0"/>
            </a:endParaRPr>
          </a:p>
          <a:p>
            <a:pPr algn="just"/>
            <a:endParaRPr lang="en-FI" b="1" dirty="0">
              <a:latin typeface="Comic Sans MS" panose="030F0702030302020204" pitchFamily="66" charset="0"/>
            </a:endParaRPr>
          </a:p>
          <a:p>
            <a:pPr algn="just"/>
            <a:r>
              <a:rPr lang="en-GB" b="1" i="0" u="none" strike="noStrike" baseline="0" dirty="0">
                <a:latin typeface="Comic Sans MS" panose="030F0702030302020204" pitchFamily="66" charset="0"/>
              </a:rPr>
              <a:t>A single transistor, therefore, can only remember one of two</a:t>
            </a:r>
            <a:r>
              <a:rPr lang="en-FI" b="1" i="0" u="none" strike="noStrike" baseline="0" dirty="0">
                <a:latin typeface="Comic Sans MS" panose="030F0702030302020204" pitchFamily="66" charset="0"/>
              </a:rPr>
              <a:t> </a:t>
            </a:r>
            <a:r>
              <a:rPr lang="en-GB" b="1" i="0" u="none" strike="noStrike" baseline="0" dirty="0">
                <a:latin typeface="Comic Sans MS" panose="030F0702030302020204" pitchFamily="66" charset="0"/>
              </a:rPr>
              <a:t>possible numbers, a </a:t>
            </a:r>
            <a:r>
              <a:rPr lang="en-GB" b="1" dirty="0">
                <a:latin typeface="Comic Sans MS" panose="030F0702030302020204" pitchFamily="66" charset="0"/>
              </a:rPr>
              <a:t>“</a:t>
            </a:r>
            <a:r>
              <a:rPr lang="en-GB" b="1" i="0" u="none" strike="noStrike" baseline="0" dirty="0">
                <a:latin typeface="Comic Sans MS" panose="030F0702030302020204" pitchFamily="66" charset="0"/>
              </a:rPr>
              <a:t>one” or a </a:t>
            </a:r>
            <a:r>
              <a:rPr lang="en-GB" b="1" i="0" u="none" strike="noStrike" baseline="0" dirty="0">
                <a:solidFill>
                  <a:srgbClr val="FF0000"/>
                </a:solidFill>
                <a:latin typeface="Comic Sans MS" panose="030F0702030302020204" pitchFamily="66" charset="0"/>
              </a:rPr>
              <a:t>“zero”.</a:t>
            </a:r>
            <a:endParaRPr lang="en-FI" b="1" i="0" u="none" strike="noStrike" baseline="0" dirty="0">
              <a:solidFill>
                <a:srgbClr val="FF0000"/>
              </a:solidFill>
              <a:latin typeface="Comic Sans MS" panose="030F0702030302020204" pitchFamily="66" charset="0"/>
            </a:endParaRPr>
          </a:p>
          <a:p>
            <a:pPr algn="just"/>
            <a:endParaRPr lang="en-FI" b="1" dirty="0">
              <a:latin typeface="Comic Sans MS" panose="030F0702030302020204" pitchFamily="66" charset="0"/>
            </a:endParaRPr>
          </a:p>
          <a:p>
            <a:pPr algn="just"/>
            <a:r>
              <a:rPr lang="en-GB" b="1" i="0" u="none" strike="noStrike" baseline="0" dirty="0">
                <a:latin typeface="Comic Sans MS" panose="030F0702030302020204" pitchFamily="66" charset="0"/>
              </a:rPr>
              <a:t>This isn't useful for anything more</a:t>
            </a:r>
            <a:r>
              <a:rPr lang="en-FI" b="1" i="0" u="none" strike="noStrike" baseline="0" dirty="0">
                <a:latin typeface="Comic Sans MS" panose="030F0702030302020204" pitchFamily="66" charset="0"/>
              </a:rPr>
              <a:t> </a:t>
            </a:r>
            <a:r>
              <a:rPr lang="en-GB" b="1" i="0" u="none" strike="noStrike" baseline="0" dirty="0">
                <a:latin typeface="Comic Sans MS" panose="030F0702030302020204" pitchFamily="66" charset="0"/>
              </a:rPr>
              <a:t>complex than controlling a light bulb, so for larger values, transistors</a:t>
            </a:r>
            <a:r>
              <a:rPr lang="en-FI" b="1" i="0" u="none" strike="noStrike" baseline="0" dirty="0">
                <a:latin typeface="Comic Sans MS" panose="030F0702030302020204" pitchFamily="66" charset="0"/>
              </a:rPr>
              <a:t> </a:t>
            </a:r>
            <a:r>
              <a:rPr lang="en-GB" b="1" i="0" u="none" strike="noStrike" baseline="0" dirty="0">
                <a:latin typeface="Comic Sans MS" panose="030F0702030302020204" pitchFamily="66" charset="0"/>
              </a:rPr>
              <a:t>are grouped together so that their combination of ones and zeros can be</a:t>
            </a:r>
            <a:r>
              <a:rPr lang="en-FI" b="1" i="0" u="none" strike="noStrike" baseline="0" dirty="0">
                <a:latin typeface="Comic Sans MS" panose="030F0702030302020204" pitchFamily="66" charset="0"/>
              </a:rPr>
              <a:t> </a:t>
            </a:r>
            <a:r>
              <a:rPr lang="en-GB" b="1" i="0" u="none" strike="noStrike" baseline="0" dirty="0">
                <a:latin typeface="Comic Sans MS" panose="030F0702030302020204" pitchFamily="66" charset="0"/>
              </a:rPr>
              <a:t>used to represent larger numbers.</a:t>
            </a:r>
            <a:endParaRPr lang="en-FI" b="1" i="0" u="none" strike="noStrike" baseline="0" dirty="0">
              <a:latin typeface="Comic Sans MS" panose="030F0702030302020204" pitchFamily="66" charset="0"/>
            </a:endParaRPr>
          </a:p>
          <a:p>
            <a:pPr algn="just"/>
            <a:endParaRPr lang="en-FI" sz="4000" b="1" dirty="0">
              <a:latin typeface="Comic Sans MS" panose="030F0702030302020204" pitchFamily="66" charset="0"/>
            </a:endParaRPr>
          </a:p>
          <a:p>
            <a:pPr algn="just"/>
            <a:r>
              <a:rPr lang="en-GB" b="1" dirty="0">
                <a:latin typeface="Comic Sans MS" panose="030F0702030302020204" pitchFamily="66" charset="0"/>
              </a:rPr>
              <a:t>I</a:t>
            </a:r>
            <a:r>
              <a:rPr lang="en-FI" b="1" dirty="0">
                <a:latin typeface="Comic Sans MS" panose="030F0702030302020204" pitchFamily="66" charset="0"/>
              </a:rPr>
              <a:t>t is therefore important to </a:t>
            </a:r>
            <a:r>
              <a:rPr lang="en-GB" b="1" i="0" u="none" strike="noStrike" baseline="0" dirty="0">
                <a:latin typeface="Comic Sans MS" panose="030F0702030302020204" pitchFamily="66" charset="0"/>
              </a:rPr>
              <a:t>discusses some of the methods that are used to</a:t>
            </a:r>
            <a:r>
              <a:rPr lang="en-FI" b="1" i="0" u="none" strike="noStrike" baseline="0" dirty="0">
                <a:latin typeface="Comic Sans MS" panose="030F0702030302020204" pitchFamily="66" charset="0"/>
              </a:rPr>
              <a:t> </a:t>
            </a:r>
            <a:r>
              <a:rPr lang="en-GB" b="1" i="0" u="none" strike="noStrike" baseline="0" dirty="0">
                <a:latin typeface="Comic Sans MS" panose="030F0702030302020204" pitchFamily="66" charset="0"/>
              </a:rPr>
              <a:t>represent numbers with groups of transistors or </a:t>
            </a:r>
            <a:r>
              <a:rPr lang="en-GB" b="1" i="1" u="none" strike="noStrike" baseline="0" dirty="0">
                <a:latin typeface="Comic Sans MS" panose="030F0702030302020204" pitchFamily="66" charset="0"/>
              </a:rPr>
              <a:t>bits</a:t>
            </a:r>
            <a:r>
              <a:rPr lang="en-GB" sz="1800" b="0" i="0" u="none" strike="noStrike" baseline="0" dirty="0">
                <a:latin typeface="TimesNewRomanPSMT"/>
              </a:rPr>
              <a:t>.</a:t>
            </a:r>
            <a:endParaRPr lang="en-GB" sz="4000" b="1" dirty="0">
              <a:latin typeface="Comic Sans MS" panose="030F0702030302020204" pitchFamily="66" charset="0"/>
            </a:endParaRPr>
          </a:p>
        </p:txBody>
      </p:sp>
    </p:spTree>
    <p:extLst>
      <p:ext uri="{BB962C8B-B14F-4D97-AF65-F5344CB8AC3E}">
        <p14:creationId xmlns:p14="http://schemas.microsoft.com/office/powerpoint/2010/main" val="808258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14062D-0B79-49B1-8AFF-991E8E742B73}"/>
              </a:ext>
            </a:extLst>
          </p:cNvPr>
          <p:cNvSpPr>
            <a:spLocks noGrp="1"/>
          </p:cNvSpPr>
          <p:nvPr>
            <p:ph idx="1"/>
          </p:nvPr>
        </p:nvSpPr>
        <p:spPr>
          <a:xfrm>
            <a:off x="0" y="0"/>
            <a:ext cx="9439835" cy="6858000"/>
          </a:xfrm>
        </p:spPr>
        <p:txBody>
          <a:bodyPr>
            <a:normAutofit fontScale="92500"/>
          </a:bodyPr>
          <a:lstStyle/>
          <a:p>
            <a:pPr algn="ctr"/>
            <a:r>
              <a:rPr lang="en-GB" b="1" i="0" u="none" strike="noStrike" baseline="0" dirty="0">
                <a:solidFill>
                  <a:srgbClr val="FF0000"/>
                </a:solidFill>
                <a:latin typeface="Comic Sans MS" panose="030F0702030302020204" pitchFamily="66" charset="0"/>
              </a:rPr>
              <a:t>Unsigned Binary Counting</a:t>
            </a:r>
            <a:endParaRPr lang="en-FI" sz="4000" b="1" i="0" u="none" strike="noStrike" baseline="0" dirty="0">
              <a:solidFill>
                <a:srgbClr val="FF0000"/>
              </a:solidFill>
              <a:latin typeface="Comic Sans MS" panose="030F0702030302020204" pitchFamily="66" charset="0"/>
            </a:endParaRPr>
          </a:p>
          <a:p>
            <a:pPr algn="just"/>
            <a:r>
              <a:rPr lang="en-GB" sz="2600" b="0" i="0" u="none" strike="noStrike" baseline="0" dirty="0">
                <a:latin typeface="Comic Sans MS" panose="030F0702030302020204" pitchFamily="66" charset="0"/>
              </a:rPr>
              <a:t>The simplest form of numeric representation with bits is </a:t>
            </a:r>
            <a:r>
              <a:rPr lang="en-GB" sz="2600" b="1" i="1" u="none" strike="noStrike" baseline="0" dirty="0">
                <a:solidFill>
                  <a:srgbClr val="FF0000"/>
                </a:solidFill>
                <a:latin typeface="Comic Sans MS" panose="030F0702030302020204" pitchFamily="66" charset="0"/>
              </a:rPr>
              <a:t>unsigned</a:t>
            </a:r>
            <a:r>
              <a:rPr lang="en-FI" sz="2600" b="1" i="1" u="none" strike="noStrike" baseline="0" dirty="0">
                <a:solidFill>
                  <a:srgbClr val="FF0000"/>
                </a:solidFill>
                <a:latin typeface="Comic Sans MS" panose="030F0702030302020204" pitchFamily="66" charset="0"/>
              </a:rPr>
              <a:t> </a:t>
            </a:r>
            <a:r>
              <a:rPr lang="en-GB" sz="2600" b="1" i="1" u="none" strike="noStrike" baseline="0" dirty="0">
                <a:solidFill>
                  <a:srgbClr val="FF0000"/>
                </a:solidFill>
                <a:latin typeface="Comic Sans MS" panose="030F0702030302020204" pitchFamily="66" charset="0"/>
              </a:rPr>
              <a:t>binary</a:t>
            </a:r>
            <a:r>
              <a:rPr lang="en-GB" sz="2600" b="0" i="0" u="none" strike="noStrike" baseline="0" dirty="0">
                <a:latin typeface="Comic Sans MS" panose="030F0702030302020204" pitchFamily="66" charset="0"/>
              </a:rPr>
              <a:t>. </a:t>
            </a:r>
            <a:endParaRPr lang="en-FI" sz="2600" b="0" i="0" u="none" strike="noStrike" baseline="0" dirty="0">
              <a:latin typeface="Comic Sans MS" panose="030F0702030302020204" pitchFamily="66" charset="0"/>
            </a:endParaRPr>
          </a:p>
          <a:p>
            <a:pPr algn="just"/>
            <a:endParaRPr lang="en-FI" sz="2600" dirty="0">
              <a:latin typeface="Comic Sans MS" panose="030F0702030302020204" pitchFamily="66" charset="0"/>
            </a:endParaRPr>
          </a:p>
          <a:p>
            <a:pPr algn="just"/>
            <a:r>
              <a:rPr lang="en-GB" sz="2600" b="0" i="0" u="none" strike="noStrike" baseline="0" dirty="0">
                <a:latin typeface="Comic Sans MS" panose="030F0702030302020204" pitchFamily="66" charset="0"/>
              </a:rPr>
              <a:t>When we count upward through the positive integers using</a:t>
            </a:r>
            <a:r>
              <a:rPr lang="en-FI" sz="2600" b="0" i="0" u="none" strike="noStrike" baseline="0" dirty="0">
                <a:latin typeface="Comic Sans MS" panose="030F0702030302020204" pitchFamily="66" charset="0"/>
              </a:rPr>
              <a:t> </a:t>
            </a:r>
            <a:r>
              <a:rPr lang="en-GB" sz="2600" b="0" i="0" u="none" strike="noStrike" baseline="0" dirty="0">
                <a:latin typeface="Comic Sans MS" panose="030F0702030302020204" pitchFamily="66" charset="0"/>
              </a:rPr>
              <a:t>decimal, we start with a “0” in the one's place and increment that value until we reach the upper limit of a single digit, i.e., 9. </a:t>
            </a:r>
          </a:p>
          <a:p>
            <a:pPr algn="just"/>
            <a:endParaRPr lang="en-GB" sz="2600" b="0" i="0" u="none" strike="noStrike" baseline="0" dirty="0">
              <a:latin typeface="Comic Sans MS" panose="030F0702030302020204" pitchFamily="66" charset="0"/>
            </a:endParaRPr>
          </a:p>
          <a:p>
            <a:pPr algn="just"/>
            <a:r>
              <a:rPr lang="en-GB" sz="2600" b="0" i="0" u="none" strike="noStrike" baseline="0" dirty="0">
                <a:latin typeface="Comic Sans MS" panose="030F0702030302020204" pitchFamily="66" charset="0"/>
              </a:rPr>
              <a:t>At that point, we've run out of the </a:t>
            </a:r>
            <a:r>
              <a:rPr lang="en-GB" sz="2600" b="0" i="0" u="none" strike="noStrike" baseline="0" dirty="0">
                <a:solidFill>
                  <a:srgbClr val="FF0000"/>
                </a:solidFill>
                <a:latin typeface="Comic Sans MS" panose="030F0702030302020204" pitchFamily="66" charset="0"/>
              </a:rPr>
              <a:t>"symbols" </a:t>
            </a:r>
            <a:r>
              <a:rPr lang="en-GB" sz="2600" b="0" i="0" u="none" strike="noStrike" baseline="0" dirty="0">
                <a:latin typeface="Comic Sans MS" panose="030F0702030302020204" pitchFamily="66" charset="0"/>
              </a:rPr>
              <a:t>we use to count, and we need to increment the </a:t>
            </a:r>
            <a:r>
              <a:rPr lang="en-GB" sz="2600" b="0" i="0" u="none" strike="noStrike" baseline="0" dirty="0">
                <a:solidFill>
                  <a:srgbClr val="FF0000"/>
                </a:solidFill>
                <a:latin typeface="Comic Sans MS" panose="030F0702030302020204" pitchFamily="66" charset="0"/>
              </a:rPr>
              <a:t>next digit</a:t>
            </a:r>
            <a:r>
              <a:rPr lang="en-GB" sz="2600" b="0" i="0" u="none" strike="noStrike" baseline="0" dirty="0">
                <a:latin typeface="Comic Sans MS" panose="030F0702030302020204" pitchFamily="66" charset="0"/>
              </a:rPr>
              <a:t>, the ten's place. </a:t>
            </a:r>
          </a:p>
          <a:p>
            <a:pPr algn="just"/>
            <a:endParaRPr lang="en-GB" sz="2600" dirty="0">
              <a:latin typeface="Comic Sans MS" panose="030F0702030302020204" pitchFamily="66" charset="0"/>
            </a:endParaRPr>
          </a:p>
          <a:p>
            <a:pPr algn="just"/>
            <a:r>
              <a:rPr lang="en-GB" sz="2600" b="0" i="0" u="none" strike="noStrike" baseline="0" dirty="0">
                <a:latin typeface="Comic Sans MS" panose="030F0702030302020204" pitchFamily="66" charset="0"/>
              </a:rPr>
              <a:t>We then reset the one's place to zero, and start the cycle again</a:t>
            </a:r>
            <a:r>
              <a:rPr lang="en-GB" b="0" i="0" u="none" strike="noStrike" baseline="0" dirty="0">
                <a:latin typeface="Comic Sans MS" panose="030F0702030302020204" pitchFamily="66" charset="0"/>
              </a:rPr>
              <a:t>.</a:t>
            </a:r>
          </a:p>
          <a:p>
            <a:pPr marL="0" indent="0" algn="just">
              <a:buNone/>
            </a:pPr>
            <a:endParaRPr lang="en-GB" b="0" i="0" u="none" strike="noStrike" baseline="0" dirty="0">
              <a:latin typeface="Comic Sans MS" panose="030F0702030302020204" pitchFamily="66" charset="0"/>
            </a:endParaRPr>
          </a:p>
          <a:p>
            <a:pPr algn="just"/>
            <a:r>
              <a:rPr lang="en-GB" sz="2400" b="1" i="0" u="none" strike="noStrike" baseline="0" dirty="0">
                <a:latin typeface="Comic Sans MS" panose="030F0702030302020204" pitchFamily="66" charset="0"/>
              </a:rPr>
              <a:t>Since computers do not have an infinite number of transistors, the number of digits that can be used to represent a number is limited.</a:t>
            </a:r>
            <a:endParaRPr lang="en-FI" sz="4800" b="1" i="0" u="none" strike="noStrike" baseline="0" dirty="0">
              <a:solidFill>
                <a:srgbClr val="FF0000"/>
              </a:solidFill>
              <a:latin typeface="Comic Sans MS" panose="030F0702030302020204" pitchFamily="66" charset="0"/>
            </a:endParaRPr>
          </a:p>
        </p:txBody>
      </p:sp>
      <p:pic>
        <p:nvPicPr>
          <p:cNvPr id="5" name="Picture 4">
            <a:extLst>
              <a:ext uri="{FF2B5EF4-FFF2-40B4-BE49-F238E27FC236}">
                <a16:creationId xmlns:a16="http://schemas.microsoft.com/office/drawing/2014/main" id="{89F35AD5-8B26-465E-BFBC-2BF9D707DAE8}"/>
              </a:ext>
            </a:extLst>
          </p:cNvPr>
          <p:cNvPicPr>
            <a:picLocks noChangeAspect="1"/>
          </p:cNvPicPr>
          <p:nvPr/>
        </p:nvPicPr>
        <p:blipFill>
          <a:blip r:embed="rId2"/>
          <a:stretch>
            <a:fillRect/>
          </a:stretch>
        </p:blipFill>
        <p:spPr>
          <a:xfrm>
            <a:off x="9592236" y="1652811"/>
            <a:ext cx="2474259" cy="4481298"/>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TextBox 6">
            <a:extLst>
              <a:ext uri="{FF2B5EF4-FFF2-40B4-BE49-F238E27FC236}">
                <a16:creationId xmlns:a16="http://schemas.microsoft.com/office/drawing/2014/main" id="{0A578D4A-B8E7-4CD5-85FD-54D0EF18F838}"/>
              </a:ext>
            </a:extLst>
          </p:cNvPr>
          <p:cNvSpPr txBox="1"/>
          <p:nvPr/>
        </p:nvSpPr>
        <p:spPr>
          <a:xfrm>
            <a:off x="9179859" y="6277544"/>
            <a:ext cx="3012141" cy="461665"/>
          </a:xfrm>
          <a:prstGeom prst="rect">
            <a:avLst/>
          </a:prstGeom>
          <a:noFill/>
        </p:spPr>
        <p:txBody>
          <a:bodyPr wrap="square">
            <a:spAutoFit/>
          </a:bodyPr>
          <a:lstStyle/>
          <a:p>
            <a:r>
              <a:rPr lang="en-GB" sz="2400" b="0" i="0" u="none" strike="noStrike" baseline="0" dirty="0">
                <a:solidFill>
                  <a:srgbClr val="FF0000"/>
                </a:solidFill>
                <a:latin typeface="Comic Sans MS" panose="030F0702030302020204" pitchFamily="66" charset="0"/>
              </a:rPr>
              <a:t>Counting in Decimal</a:t>
            </a:r>
            <a:endParaRPr lang="en-GB" sz="2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903821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14B6DA-18C6-472C-8066-4123BEECA5A9}"/>
              </a:ext>
            </a:extLst>
          </p:cNvPr>
          <p:cNvSpPr>
            <a:spLocks noGrp="1"/>
          </p:cNvSpPr>
          <p:nvPr>
            <p:ph idx="1"/>
          </p:nvPr>
        </p:nvSpPr>
        <p:spPr>
          <a:xfrm>
            <a:off x="170329" y="98612"/>
            <a:ext cx="11905130" cy="6687670"/>
          </a:xfrm>
        </p:spPr>
        <p:txBody>
          <a:bodyPr>
            <a:normAutofit/>
          </a:bodyPr>
          <a:lstStyle/>
          <a:p>
            <a:pPr algn="just"/>
            <a:r>
              <a:rPr lang="en-GB" b="0" i="0" u="none" strike="noStrike" baseline="0" dirty="0">
                <a:latin typeface="Comic Sans MS" panose="030F0702030302020204" pitchFamily="66" charset="0"/>
              </a:rPr>
              <a:t>The Figure below  shows that when counting in binary, we run out of symbols quickly </a:t>
            </a:r>
            <a:r>
              <a:rPr lang="en-GB" b="0" i="0" u="none" strike="noStrike" baseline="0" dirty="0">
                <a:solidFill>
                  <a:srgbClr val="FF0000"/>
                </a:solidFill>
                <a:latin typeface="Comic Sans MS" panose="030F0702030302020204" pitchFamily="66" charset="0"/>
              </a:rPr>
              <a:t>requiring the addition of another "place“ </a:t>
            </a:r>
            <a:r>
              <a:rPr lang="en-GB" b="0" i="0" u="none" strike="noStrike" baseline="0" dirty="0">
                <a:latin typeface="Comic Sans MS" panose="030F0702030302020204" pitchFamily="66" charset="0"/>
              </a:rPr>
              <a:t>after only the second increment.</a:t>
            </a:r>
            <a:endParaRPr lang="en-GB" sz="4000" dirty="0">
              <a:latin typeface="Comic Sans MS" panose="030F0702030302020204" pitchFamily="66" charset="0"/>
            </a:endParaRPr>
          </a:p>
        </p:txBody>
      </p:sp>
      <p:pic>
        <p:nvPicPr>
          <p:cNvPr id="5" name="Picture 4">
            <a:extLst>
              <a:ext uri="{FF2B5EF4-FFF2-40B4-BE49-F238E27FC236}">
                <a16:creationId xmlns:a16="http://schemas.microsoft.com/office/drawing/2014/main" id="{33AD335D-D09A-4194-A233-BE9D9BBCD0BC}"/>
              </a:ext>
            </a:extLst>
          </p:cNvPr>
          <p:cNvPicPr>
            <a:picLocks noChangeAspect="1"/>
          </p:cNvPicPr>
          <p:nvPr/>
        </p:nvPicPr>
        <p:blipFill>
          <a:blip r:embed="rId2"/>
          <a:stretch>
            <a:fillRect/>
          </a:stretch>
        </p:blipFill>
        <p:spPr>
          <a:xfrm>
            <a:off x="3406589" y="1745639"/>
            <a:ext cx="8302120" cy="3057952"/>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TextBox 6">
            <a:extLst>
              <a:ext uri="{FF2B5EF4-FFF2-40B4-BE49-F238E27FC236}">
                <a16:creationId xmlns:a16="http://schemas.microsoft.com/office/drawing/2014/main" id="{657E8249-BD8C-4883-AFAF-38C7C3B04E6E}"/>
              </a:ext>
            </a:extLst>
          </p:cNvPr>
          <p:cNvSpPr txBox="1"/>
          <p:nvPr/>
        </p:nvSpPr>
        <p:spPr>
          <a:xfrm>
            <a:off x="8408895" y="4803591"/>
            <a:ext cx="3415553" cy="523220"/>
          </a:xfrm>
          <a:prstGeom prst="rect">
            <a:avLst/>
          </a:prstGeom>
          <a:noFill/>
        </p:spPr>
        <p:txBody>
          <a:bodyPr wrap="square">
            <a:spAutoFit/>
          </a:bodyPr>
          <a:lstStyle/>
          <a:p>
            <a:r>
              <a:rPr lang="en-GB" sz="2800" b="0" i="0" u="none" strike="noStrike" baseline="0" dirty="0">
                <a:solidFill>
                  <a:srgbClr val="FF0000"/>
                </a:solidFill>
                <a:latin typeface="Comic Sans MS" panose="030F0702030302020204" pitchFamily="66" charset="0"/>
              </a:rPr>
              <a:t>Counting in Binary</a:t>
            </a:r>
            <a:endParaRPr lang="en-GB" sz="28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3944070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41F222-306B-4B20-92DB-DABA69441BF2}"/>
              </a:ext>
            </a:extLst>
          </p:cNvPr>
          <p:cNvSpPr>
            <a:spLocks noGrp="1"/>
          </p:cNvSpPr>
          <p:nvPr>
            <p:ph idx="1"/>
          </p:nvPr>
        </p:nvSpPr>
        <p:spPr>
          <a:xfrm>
            <a:off x="134471" y="80682"/>
            <a:ext cx="11967882" cy="6714565"/>
          </a:xfrm>
        </p:spPr>
        <p:txBody>
          <a:bodyPr>
            <a:normAutofit/>
          </a:bodyPr>
          <a:lstStyle/>
          <a:p>
            <a:pPr algn="just"/>
            <a:r>
              <a:rPr lang="en-GB" b="0" i="0" u="none" strike="noStrike" baseline="0" dirty="0">
                <a:latin typeface="Comic Sans MS" panose="030F0702030302020204" pitchFamily="66" charset="0"/>
              </a:rPr>
              <a:t>If we were counting using four bits, then the sequence would look like: </a:t>
            </a:r>
          </a:p>
          <a:p>
            <a:pPr algn="just"/>
            <a:endParaRPr lang="en-GB" dirty="0">
              <a:latin typeface="Comic Sans MS" panose="030F0702030302020204" pitchFamily="66" charset="0"/>
            </a:endParaRPr>
          </a:p>
          <a:p>
            <a:pPr lvl="2" algn="just"/>
            <a:r>
              <a:rPr lang="en-GB" sz="2800" b="0" i="0" u="none" strike="noStrike" baseline="0" dirty="0">
                <a:latin typeface="Comic Sans MS" panose="030F0702030302020204" pitchFamily="66" charset="0"/>
              </a:rPr>
              <a:t>0000, 0001, 0010, 0011, 0100, 0101, 0110, 0111, 1000, 1001,</a:t>
            </a:r>
          </a:p>
          <a:p>
            <a:pPr lvl="2" algn="just"/>
            <a:r>
              <a:rPr lang="en-GB" sz="2800" b="0" i="0" u="none" strike="noStrike" baseline="0" dirty="0">
                <a:latin typeface="Comic Sans MS" panose="030F0702030302020204" pitchFamily="66" charset="0"/>
              </a:rPr>
              <a:t>1010, 1011, 1100, 1101, 1110, and 1111. </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Notice that when restricted to four bits, we reach our limit at 1111, which happens to be the fifteenth value. </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It should also be noted that we ended up with </a:t>
            </a:r>
            <a:r>
              <a:rPr lang="en-GB" b="0" i="0" u="none" strike="noStrike" baseline="0" dirty="0">
                <a:solidFill>
                  <a:srgbClr val="FF0000"/>
                </a:solidFill>
                <a:latin typeface="Comic Sans MS" panose="030F0702030302020204" pitchFamily="66" charset="0"/>
              </a:rPr>
              <a:t>2 x 2 x 2 x 2 = 16 </a:t>
            </a:r>
            <a:r>
              <a:rPr lang="en-GB" b="0" i="0" u="none" strike="noStrike" baseline="0" dirty="0">
                <a:latin typeface="Comic Sans MS" panose="030F0702030302020204" pitchFamily="66" charset="0"/>
              </a:rPr>
              <a:t>different values. </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With two symbols for each bit, we have </a:t>
            </a:r>
            <a:r>
              <a:rPr lang="en-GB" b="0" i="0" u="none" strike="noStrike" baseline="0" dirty="0">
                <a:solidFill>
                  <a:srgbClr val="FF0000"/>
                </a:solidFill>
                <a:latin typeface="Comic Sans MS" panose="030F0702030302020204" pitchFamily="66" charset="0"/>
              </a:rPr>
              <a:t>2</a:t>
            </a:r>
            <a:r>
              <a:rPr lang="en-GB" b="0" i="0" u="none" strike="noStrike" baseline="30000" dirty="0">
                <a:solidFill>
                  <a:srgbClr val="FF0000"/>
                </a:solidFill>
                <a:latin typeface="Comic Sans MS" panose="030F0702030302020204" pitchFamily="66" charset="0"/>
              </a:rPr>
              <a:t>n</a:t>
            </a:r>
            <a:r>
              <a:rPr lang="en-GB" b="0" i="0" u="none" strike="noStrike" baseline="0" dirty="0">
                <a:latin typeface="Comic Sans MS" panose="030F0702030302020204" pitchFamily="66" charset="0"/>
              </a:rPr>
              <a:t> possible combinations of symbols where </a:t>
            </a:r>
            <a:r>
              <a:rPr lang="en-GB" b="0" i="0" u="none" strike="noStrike" baseline="0" dirty="0">
                <a:solidFill>
                  <a:srgbClr val="FF0000"/>
                </a:solidFill>
                <a:latin typeface="Comic Sans MS" panose="030F0702030302020204" pitchFamily="66" charset="0"/>
              </a:rPr>
              <a:t>n</a:t>
            </a:r>
            <a:r>
              <a:rPr lang="en-GB" b="0" i="0" u="none" strike="noStrike" baseline="0" dirty="0">
                <a:latin typeface="Comic Sans MS" panose="030F0702030302020204" pitchFamily="66" charset="0"/>
              </a:rPr>
              <a:t> represents the </a:t>
            </a:r>
            <a:r>
              <a:rPr lang="en-GB" b="0" i="0" u="none" strike="noStrike" baseline="0" dirty="0">
                <a:solidFill>
                  <a:srgbClr val="FF0000"/>
                </a:solidFill>
                <a:latin typeface="Comic Sans MS" panose="030F0702030302020204" pitchFamily="66" charset="0"/>
              </a:rPr>
              <a:t>number of bits</a:t>
            </a:r>
            <a:r>
              <a:rPr lang="en-GB" b="0" i="0" u="none" strike="noStrike" baseline="0" dirty="0">
                <a:latin typeface="Comic Sans MS" panose="030F0702030302020204" pitchFamily="66" charset="0"/>
              </a:rPr>
              <a:t>.</a:t>
            </a:r>
            <a:endParaRPr lang="en-GB" sz="4000" dirty="0">
              <a:latin typeface="Comic Sans MS" panose="030F0702030302020204" pitchFamily="66" charset="0"/>
            </a:endParaRPr>
          </a:p>
        </p:txBody>
      </p:sp>
    </p:spTree>
    <p:extLst>
      <p:ext uri="{BB962C8B-B14F-4D97-AF65-F5344CB8AC3E}">
        <p14:creationId xmlns:p14="http://schemas.microsoft.com/office/powerpoint/2010/main" val="31760360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D20815-EC51-4B82-9A1C-A650E2D4F054}"/>
              </a:ext>
            </a:extLst>
          </p:cNvPr>
          <p:cNvSpPr>
            <a:spLocks noGrp="1"/>
          </p:cNvSpPr>
          <p:nvPr>
            <p:ph idx="1"/>
          </p:nvPr>
        </p:nvSpPr>
        <p:spPr>
          <a:xfrm>
            <a:off x="98612" y="107576"/>
            <a:ext cx="12021670" cy="6750424"/>
          </a:xfrm>
        </p:spPr>
        <p:txBody>
          <a:bodyPr>
            <a:normAutofit/>
          </a:bodyPr>
          <a:lstStyle/>
          <a:p>
            <a:pPr algn="just"/>
            <a:r>
              <a:rPr lang="en-GB" sz="2700" b="1" i="0" u="none" strike="noStrike" baseline="0" dirty="0">
                <a:latin typeface="Comic Sans MS" panose="030F0702030302020204" pitchFamily="66" charset="0"/>
              </a:rPr>
              <a:t>In binary, the rightmost place is considered the ones place just like decimal. </a:t>
            </a:r>
          </a:p>
          <a:p>
            <a:pPr algn="just"/>
            <a:endParaRPr lang="en-GB" sz="2700" b="1" dirty="0">
              <a:latin typeface="Comic Sans MS" panose="030F0702030302020204" pitchFamily="66" charset="0"/>
            </a:endParaRPr>
          </a:p>
          <a:p>
            <a:pPr algn="just"/>
            <a:r>
              <a:rPr lang="en-GB" sz="2700" b="1" i="0" u="none" strike="noStrike" baseline="0" dirty="0">
                <a:latin typeface="Comic Sans MS" panose="030F0702030302020204" pitchFamily="66" charset="0"/>
              </a:rPr>
              <a:t>The next place is incremented after the ones place reaches 1. This means that the second place in binary represents the value after 1, i.e., a decimal 2. </a:t>
            </a:r>
          </a:p>
          <a:p>
            <a:pPr algn="just"/>
            <a:endParaRPr lang="en-GB" sz="2700" b="1" dirty="0">
              <a:latin typeface="Comic Sans MS" panose="030F0702030302020204" pitchFamily="66" charset="0"/>
            </a:endParaRPr>
          </a:p>
          <a:p>
            <a:pPr algn="just"/>
            <a:r>
              <a:rPr lang="en-GB" sz="2700" b="1" i="0" u="none" strike="noStrike" baseline="0" dirty="0">
                <a:latin typeface="Comic Sans MS" panose="030F0702030302020204" pitchFamily="66" charset="0"/>
              </a:rPr>
              <a:t>The third place is incremented after a 1 is in both the ones place and the twos place, i.e., we've counted to a decimal 3.</a:t>
            </a:r>
          </a:p>
          <a:p>
            <a:pPr algn="just"/>
            <a:endParaRPr lang="en-GB" sz="2700" b="1" dirty="0">
              <a:latin typeface="Comic Sans MS" panose="030F0702030302020204" pitchFamily="66" charset="0"/>
            </a:endParaRPr>
          </a:p>
          <a:p>
            <a:pPr algn="just"/>
            <a:r>
              <a:rPr lang="en-GB" sz="2700" b="1" i="0" u="none" strike="noStrike" baseline="0" dirty="0">
                <a:latin typeface="Comic Sans MS" panose="030F0702030302020204" pitchFamily="66" charset="0"/>
              </a:rPr>
              <a:t>Therefore, the third place represents a decimal 4. </a:t>
            </a:r>
          </a:p>
          <a:p>
            <a:pPr algn="just"/>
            <a:endParaRPr lang="en-GB" sz="2700" b="1" dirty="0">
              <a:latin typeface="Comic Sans MS" panose="030F0702030302020204" pitchFamily="66" charset="0"/>
            </a:endParaRPr>
          </a:p>
          <a:p>
            <a:pPr algn="just"/>
            <a:r>
              <a:rPr lang="en-GB" sz="2700" b="1" i="0" u="none" strike="noStrike" baseline="0" dirty="0">
                <a:latin typeface="Comic Sans MS" panose="030F0702030302020204" pitchFamily="66" charset="0"/>
              </a:rPr>
              <a:t>Continuing this process shows us that each place in binary represents a successive power of two.</a:t>
            </a:r>
            <a:endParaRPr lang="en-GB" sz="2700" b="1" dirty="0">
              <a:latin typeface="Comic Sans MS" panose="030F0702030302020204" pitchFamily="66" charset="0"/>
            </a:endParaRPr>
          </a:p>
        </p:txBody>
      </p:sp>
    </p:spTree>
    <p:extLst>
      <p:ext uri="{BB962C8B-B14F-4D97-AF65-F5344CB8AC3E}">
        <p14:creationId xmlns:p14="http://schemas.microsoft.com/office/powerpoint/2010/main" val="963704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E19DE1-2239-4DF5-8325-80F62606D0A4}"/>
              </a:ext>
            </a:extLst>
          </p:cNvPr>
          <p:cNvSpPr>
            <a:spLocks noGrp="1"/>
          </p:cNvSpPr>
          <p:nvPr>
            <p:ph idx="1"/>
          </p:nvPr>
        </p:nvSpPr>
        <p:spPr>
          <a:xfrm>
            <a:off x="89647" y="0"/>
            <a:ext cx="12003741" cy="6777318"/>
          </a:xfrm>
        </p:spPr>
        <p:txBody>
          <a:bodyPr>
            <a:normAutofit/>
          </a:bodyPr>
          <a:lstStyle/>
          <a:p>
            <a:pPr algn="just"/>
            <a:r>
              <a:rPr lang="en-GB" sz="2400" b="0" i="0" u="none" strike="noStrike" baseline="0" dirty="0">
                <a:latin typeface="Comic Sans MS" panose="030F0702030302020204" pitchFamily="66" charset="0"/>
              </a:rPr>
              <a:t>The Figure below uses </a:t>
            </a:r>
            <a:r>
              <a:rPr lang="en-GB" sz="2400" b="0" i="0" u="none" strike="noStrike" baseline="0" dirty="0">
                <a:solidFill>
                  <a:srgbClr val="FF0000"/>
                </a:solidFill>
                <a:latin typeface="Comic Sans MS" panose="030F0702030302020204" pitchFamily="66" charset="0"/>
              </a:rPr>
              <a:t>5 bits </a:t>
            </a:r>
            <a:r>
              <a:rPr lang="en-GB" sz="2400" b="0" i="0" u="none" strike="noStrike" baseline="0" dirty="0">
                <a:latin typeface="Comic Sans MS" panose="030F0702030302020204" pitchFamily="66" charset="0"/>
              </a:rPr>
              <a:t>to count up to a decimal 17. Examine each row where a single one is present in the binary number. </a:t>
            </a:r>
            <a:r>
              <a:rPr lang="en-GB" sz="2400" b="0" i="0" u="none" strike="noStrike" baseline="0" dirty="0">
                <a:solidFill>
                  <a:srgbClr val="FF0000"/>
                </a:solidFill>
                <a:latin typeface="Comic Sans MS" panose="030F0702030302020204" pitchFamily="66" charset="0"/>
              </a:rPr>
              <a:t>This reveals what that position represents</a:t>
            </a:r>
            <a:r>
              <a:rPr lang="en-GB" sz="2400" b="0" i="0" u="none" strike="noStrike" baseline="0" dirty="0">
                <a:latin typeface="Comic Sans MS" panose="030F0702030302020204" pitchFamily="66" charset="0"/>
              </a:rPr>
              <a:t>. </a:t>
            </a:r>
          </a:p>
          <a:p>
            <a:pPr algn="just"/>
            <a:endParaRPr lang="en-GB"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For example, a binary 01000 is shown to be equivalent to a decimal 8. Therefore, the fourth bit position from the right is the 8’s position</a:t>
            </a:r>
            <a:r>
              <a:rPr lang="en-GB" b="0" i="0" u="none" strike="noStrike" baseline="0" dirty="0">
                <a:latin typeface="Comic Sans MS" panose="030F0702030302020204" pitchFamily="66" charset="0"/>
              </a:rPr>
              <a:t>.</a:t>
            </a:r>
            <a:endParaRPr lang="en-GB" sz="4000" dirty="0">
              <a:latin typeface="Comic Sans MS" panose="030F0702030302020204" pitchFamily="66" charset="0"/>
            </a:endParaRPr>
          </a:p>
        </p:txBody>
      </p:sp>
      <p:pic>
        <p:nvPicPr>
          <p:cNvPr id="5" name="Picture 4">
            <a:extLst>
              <a:ext uri="{FF2B5EF4-FFF2-40B4-BE49-F238E27FC236}">
                <a16:creationId xmlns:a16="http://schemas.microsoft.com/office/drawing/2014/main" id="{681CE5FF-0A28-456C-868C-2830842DFF5B}"/>
              </a:ext>
            </a:extLst>
          </p:cNvPr>
          <p:cNvPicPr>
            <a:picLocks noChangeAspect="1"/>
          </p:cNvPicPr>
          <p:nvPr/>
        </p:nvPicPr>
        <p:blipFill>
          <a:blip r:embed="rId2"/>
          <a:stretch>
            <a:fillRect/>
          </a:stretch>
        </p:blipFill>
        <p:spPr>
          <a:xfrm>
            <a:off x="329661" y="2428257"/>
            <a:ext cx="9183382" cy="4429743"/>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TextBox 6">
            <a:extLst>
              <a:ext uri="{FF2B5EF4-FFF2-40B4-BE49-F238E27FC236}">
                <a16:creationId xmlns:a16="http://schemas.microsoft.com/office/drawing/2014/main" id="{B708D9F1-3850-45FE-9B0A-B2E7C7C43EBF}"/>
              </a:ext>
            </a:extLst>
          </p:cNvPr>
          <p:cNvSpPr txBox="1"/>
          <p:nvPr/>
        </p:nvSpPr>
        <p:spPr>
          <a:xfrm>
            <a:off x="9753057" y="5130861"/>
            <a:ext cx="2198255" cy="1569660"/>
          </a:xfrm>
          <a:prstGeom prst="rect">
            <a:avLst/>
          </a:prstGeom>
          <a:noFill/>
        </p:spPr>
        <p:txBody>
          <a:bodyPr wrap="square">
            <a:spAutoFit/>
          </a:bodyPr>
          <a:lstStyle/>
          <a:p>
            <a:pPr algn="just"/>
            <a:r>
              <a:rPr lang="en-GB" sz="2400" b="0" i="0" u="none" strike="noStrike" baseline="0" dirty="0">
                <a:solidFill>
                  <a:srgbClr val="FF0000"/>
                </a:solidFill>
                <a:latin typeface="Comic Sans MS" panose="030F0702030302020204" pitchFamily="66" charset="0"/>
              </a:rPr>
              <a:t>Binary-Decimal Equivalents from 0 to 17</a:t>
            </a:r>
            <a:endParaRPr lang="en-GB" sz="2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3278944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1F42BA-B1A3-469C-8F4F-E9CA22A64CB6}"/>
              </a:ext>
            </a:extLst>
          </p:cNvPr>
          <p:cNvSpPr>
            <a:spLocks noGrp="1"/>
          </p:cNvSpPr>
          <p:nvPr>
            <p:ph idx="1"/>
          </p:nvPr>
        </p:nvSpPr>
        <p:spPr>
          <a:xfrm>
            <a:off x="92363" y="120072"/>
            <a:ext cx="12025745" cy="6594763"/>
          </a:xfrm>
        </p:spPr>
        <p:txBody>
          <a:bodyPr>
            <a:normAutofit lnSpcReduction="10000"/>
          </a:bodyPr>
          <a:lstStyle/>
          <a:p>
            <a:pPr algn="just"/>
            <a:r>
              <a:rPr lang="en-GB" b="0" i="0" u="none" strike="noStrike" baseline="0" dirty="0">
                <a:latin typeface="Comic Sans MS" panose="030F0702030302020204" pitchFamily="66" charset="0"/>
              </a:rPr>
              <a:t>The information above helps us develop a method for converting unsigned binary numbers to decimal and back to unsigned binary.</a:t>
            </a: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This gives us a method for indicating which representation is being used when writing a number down on paper. </a:t>
            </a:r>
          </a:p>
          <a:p>
            <a:pPr algn="just"/>
            <a:endParaRPr lang="en-GB" dirty="0">
              <a:latin typeface="Comic Sans MS" panose="030F0702030302020204" pitchFamily="66" charset="0"/>
            </a:endParaRPr>
          </a:p>
          <a:p>
            <a:pPr lvl="2" algn="just"/>
            <a:r>
              <a:rPr lang="en-GB" sz="2800" b="0" i="0" u="none" strike="noStrike" baseline="0" dirty="0">
                <a:solidFill>
                  <a:srgbClr val="FF0000"/>
                </a:solidFill>
                <a:latin typeface="Comic Sans MS" panose="030F0702030302020204" pitchFamily="66" charset="0"/>
              </a:rPr>
              <a:t>For example, does the number 100 represent a decimal value or a binary value? </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Since </a:t>
            </a:r>
            <a:r>
              <a:rPr lang="en-GB" b="0" i="0" u="none" strike="noStrike" baseline="0" dirty="0">
                <a:solidFill>
                  <a:srgbClr val="FF0000"/>
                </a:solidFill>
                <a:latin typeface="Comic Sans MS" panose="030F0702030302020204" pitchFamily="66" charset="0"/>
              </a:rPr>
              <a:t>binary is base-2 </a:t>
            </a:r>
            <a:r>
              <a:rPr lang="en-GB" b="0" i="0" u="none" strike="noStrike" baseline="0" dirty="0">
                <a:latin typeface="Comic Sans MS" panose="030F0702030302020204" pitchFamily="66" charset="0"/>
              </a:rPr>
              <a:t>and </a:t>
            </a:r>
            <a:r>
              <a:rPr lang="en-GB" b="0" i="0" u="none" strike="noStrike" baseline="0" dirty="0">
                <a:solidFill>
                  <a:srgbClr val="FF0000"/>
                </a:solidFill>
                <a:latin typeface="Comic Sans MS" panose="030F0702030302020204" pitchFamily="66" charset="0"/>
              </a:rPr>
              <a:t>decimal is base-10</a:t>
            </a:r>
            <a:r>
              <a:rPr lang="en-GB" b="0" i="0" u="none" strike="noStrike" baseline="0" dirty="0">
                <a:latin typeface="Comic Sans MS" panose="030F0702030302020204" pitchFamily="66" charset="0"/>
              </a:rPr>
              <a:t>, a </a:t>
            </a:r>
            <a:r>
              <a:rPr lang="en-GB" b="0" i="0" u="none" strike="noStrike" baseline="0" dirty="0">
                <a:solidFill>
                  <a:srgbClr val="FF0000"/>
                </a:solidFill>
                <a:latin typeface="Comic Sans MS" panose="030F0702030302020204" pitchFamily="66" charset="0"/>
              </a:rPr>
              <a:t>subscript "2"</a:t>
            </a:r>
            <a:r>
              <a:rPr lang="en-GB" b="0" i="0" u="none" strike="noStrike" baseline="0" dirty="0">
                <a:latin typeface="Comic Sans MS" panose="030F0702030302020204" pitchFamily="66" charset="0"/>
              </a:rPr>
              <a:t> is placed at the end of all binary numbers and a </a:t>
            </a:r>
            <a:r>
              <a:rPr lang="en-GB" b="0" i="0" u="none" strike="noStrike" baseline="0" dirty="0">
                <a:solidFill>
                  <a:srgbClr val="FF0000"/>
                </a:solidFill>
                <a:latin typeface="Comic Sans MS" panose="030F0702030302020204" pitchFamily="66" charset="0"/>
              </a:rPr>
              <a:t>subscript "10" </a:t>
            </a:r>
            <a:r>
              <a:rPr lang="en-GB" b="0" i="0" u="none" strike="noStrike" baseline="0" dirty="0">
                <a:latin typeface="Comic Sans MS" panose="030F0702030302020204" pitchFamily="66" charset="0"/>
              </a:rPr>
              <a:t>is placed at the end of all decimal numbers. </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This means a binary 100 should be written as </a:t>
            </a:r>
            <a:r>
              <a:rPr lang="en-GB" b="0" i="0" u="none" strike="noStrike" baseline="0" dirty="0">
                <a:solidFill>
                  <a:srgbClr val="FF0000"/>
                </a:solidFill>
                <a:latin typeface="Comic Sans MS" panose="030F0702030302020204" pitchFamily="66" charset="0"/>
              </a:rPr>
              <a:t>100</a:t>
            </a:r>
            <a:r>
              <a:rPr lang="en-GB" b="0" i="0" u="none" strike="noStrike" baseline="-25000" dirty="0">
                <a:solidFill>
                  <a:srgbClr val="FF0000"/>
                </a:solidFill>
                <a:latin typeface="Comic Sans MS" panose="030F0702030302020204" pitchFamily="66" charset="0"/>
              </a:rPr>
              <a:t>2</a:t>
            </a:r>
            <a:r>
              <a:rPr lang="en-GB" b="0" i="0" u="none" strike="noStrike" baseline="0" dirty="0">
                <a:latin typeface="Comic Sans MS" panose="030F0702030302020204" pitchFamily="66" charset="0"/>
              </a:rPr>
              <a:t> and a decimal 100 should be written as </a:t>
            </a:r>
            <a:r>
              <a:rPr lang="en-GB" b="0" i="0" u="none" strike="noStrike" baseline="0" dirty="0">
                <a:solidFill>
                  <a:srgbClr val="FF0000"/>
                </a:solidFill>
                <a:latin typeface="Comic Sans MS" panose="030F0702030302020204" pitchFamily="66" charset="0"/>
              </a:rPr>
              <a:t>100</a:t>
            </a:r>
            <a:r>
              <a:rPr lang="en-GB" b="0" i="0" u="none" strike="noStrike" baseline="-25000" dirty="0">
                <a:solidFill>
                  <a:srgbClr val="FF0000"/>
                </a:solidFill>
                <a:latin typeface="Comic Sans MS" panose="030F0702030302020204" pitchFamily="66" charset="0"/>
              </a:rPr>
              <a:t>10</a:t>
            </a:r>
            <a:r>
              <a:rPr lang="en-GB" b="0" i="0" u="none" strike="noStrike" baseline="0" dirty="0">
                <a:latin typeface="Comic Sans MS" panose="030F0702030302020204" pitchFamily="66" charset="0"/>
              </a:rPr>
              <a:t>.</a:t>
            </a:r>
            <a:endParaRPr lang="en-GB" sz="4000" dirty="0">
              <a:latin typeface="Comic Sans MS" panose="030F0702030302020204" pitchFamily="66" charset="0"/>
            </a:endParaRPr>
          </a:p>
        </p:txBody>
      </p:sp>
    </p:spTree>
    <p:extLst>
      <p:ext uri="{BB962C8B-B14F-4D97-AF65-F5344CB8AC3E}">
        <p14:creationId xmlns:p14="http://schemas.microsoft.com/office/powerpoint/2010/main" val="3439773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3299F5-3B31-49D3-914B-B5E5859C8F81}"/>
              </a:ext>
            </a:extLst>
          </p:cNvPr>
          <p:cNvSpPr>
            <a:spLocks noGrp="1"/>
          </p:cNvSpPr>
          <p:nvPr>
            <p:ph idx="1"/>
          </p:nvPr>
        </p:nvSpPr>
        <p:spPr>
          <a:xfrm>
            <a:off x="92364" y="110836"/>
            <a:ext cx="12007272" cy="6650182"/>
          </a:xfrm>
        </p:spPr>
        <p:txBody>
          <a:bodyPr>
            <a:normAutofit/>
          </a:bodyPr>
          <a:lstStyle/>
          <a:p>
            <a:pPr algn="ctr"/>
            <a:r>
              <a:rPr lang="en-GB" b="1" i="0" u="none" strike="noStrike" baseline="0" dirty="0">
                <a:solidFill>
                  <a:srgbClr val="FF0000"/>
                </a:solidFill>
                <a:latin typeface="Comic Sans MS" panose="030F0702030302020204" pitchFamily="66" charset="0"/>
              </a:rPr>
              <a:t>Binary Terminology</a:t>
            </a:r>
          </a:p>
          <a:p>
            <a:pPr algn="just"/>
            <a:r>
              <a:rPr lang="en-GB" b="0" i="0" u="none" strike="noStrike" baseline="0" dirty="0">
                <a:latin typeface="Comic Sans MS" panose="030F0702030302020204" pitchFamily="66" charset="0"/>
              </a:rPr>
              <a:t>When writing values in decimal, it is common to separate the places or positions of large numbers in groups of three digits separated by commas. </a:t>
            </a: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For example, 345323745</a:t>
            </a:r>
            <a:r>
              <a:rPr lang="en-GB" b="0" i="0" u="none" strike="noStrike" baseline="-25000" dirty="0">
                <a:latin typeface="Comic Sans MS" panose="030F0702030302020204" pitchFamily="66" charset="0"/>
              </a:rPr>
              <a:t>10</a:t>
            </a:r>
            <a:r>
              <a:rPr lang="en-GB" b="0" i="0" u="none" strike="noStrike" baseline="0" dirty="0">
                <a:latin typeface="Comic Sans MS" panose="030F0702030302020204" pitchFamily="66" charset="0"/>
              </a:rPr>
              <a:t> is typically written 345,323,745</a:t>
            </a:r>
            <a:r>
              <a:rPr lang="en-GB" b="0" i="0" u="none" strike="noStrike" baseline="-25000" dirty="0">
                <a:latin typeface="Comic Sans MS" panose="030F0702030302020204" pitchFamily="66" charset="0"/>
              </a:rPr>
              <a:t>10</a:t>
            </a:r>
            <a:r>
              <a:rPr lang="en-GB" b="0" i="0" u="none" strike="noStrike" baseline="0" dirty="0">
                <a:latin typeface="Comic Sans MS" panose="030F0702030302020204" pitchFamily="66" charset="0"/>
              </a:rPr>
              <a:t> showing that there are 345 millions, 323 thousands, and 745 ones. </a:t>
            </a: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This practice makes it easier to read and comprehend the magnitude of the numbers.</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Binary numbers are also divided into components depending on their application. Each binary grouping has been given a name.</a:t>
            </a:r>
          </a:p>
          <a:p>
            <a:pPr algn="l"/>
            <a:endParaRPr lang="en-GB" sz="2400" b="0" i="0" u="none" strike="noStrike" baseline="0" dirty="0">
              <a:latin typeface="Comic Sans MS" panose="030F0702030302020204" pitchFamily="66" charset="0"/>
            </a:endParaRPr>
          </a:p>
          <a:p>
            <a:pPr algn="l"/>
            <a:endParaRPr lang="en-GB" sz="2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3430074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B1AE3D-A8F8-4B4B-83A2-19C7334FAF29}"/>
              </a:ext>
            </a:extLst>
          </p:cNvPr>
          <p:cNvSpPr>
            <a:spLocks noGrp="1"/>
          </p:cNvSpPr>
          <p:nvPr>
            <p:ph idx="1"/>
          </p:nvPr>
        </p:nvSpPr>
        <p:spPr>
          <a:xfrm>
            <a:off x="83127" y="175491"/>
            <a:ext cx="12025746" cy="6604000"/>
          </a:xfrm>
        </p:spPr>
        <p:txBody>
          <a:bodyPr>
            <a:normAutofit/>
          </a:bodyPr>
          <a:lstStyle/>
          <a:p>
            <a:pPr algn="just"/>
            <a:r>
              <a:rPr lang="en-GB" b="0" i="0" u="none" strike="noStrike" baseline="0" dirty="0">
                <a:latin typeface="Comic Sans MS" panose="030F0702030302020204" pitchFamily="66" charset="0"/>
              </a:rPr>
              <a:t>To begin with, </a:t>
            </a:r>
            <a:r>
              <a:rPr lang="en-GB" b="0" i="0" u="none" strike="noStrike" baseline="0" dirty="0">
                <a:solidFill>
                  <a:srgbClr val="FF0000"/>
                </a:solidFill>
                <a:latin typeface="Comic Sans MS" panose="030F0702030302020204" pitchFamily="66" charset="0"/>
              </a:rPr>
              <a:t>a single place </a:t>
            </a:r>
            <a:r>
              <a:rPr lang="en-GB" b="0" i="0" u="none" strike="noStrike" baseline="0" dirty="0">
                <a:latin typeface="Comic Sans MS" panose="030F0702030302020204" pitchFamily="66" charset="0"/>
              </a:rPr>
              <a:t>or </a:t>
            </a:r>
            <a:r>
              <a:rPr lang="en-GB" b="0" i="0" u="none" strike="noStrike" baseline="0" dirty="0">
                <a:solidFill>
                  <a:srgbClr val="FF0000"/>
                </a:solidFill>
                <a:latin typeface="Comic Sans MS" panose="030F0702030302020204" pitchFamily="66" charset="0"/>
              </a:rPr>
              <a:t>position in a binary number </a:t>
            </a:r>
            <a:r>
              <a:rPr lang="en-GB" b="0" i="0" u="none" strike="noStrike" baseline="0" dirty="0">
                <a:latin typeface="Comic Sans MS" panose="030F0702030302020204" pitchFamily="66" charset="0"/>
              </a:rPr>
              <a:t>is called </a:t>
            </a:r>
            <a:r>
              <a:rPr lang="en-GB" b="0" i="0" u="none" strike="noStrike" baseline="0" dirty="0">
                <a:solidFill>
                  <a:srgbClr val="FF0000"/>
                </a:solidFill>
                <a:latin typeface="Comic Sans MS" panose="030F0702030302020204" pitchFamily="66" charset="0"/>
              </a:rPr>
              <a:t>a </a:t>
            </a:r>
            <a:r>
              <a:rPr lang="en-GB" b="1" i="1" u="none" strike="noStrike" baseline="0" dirty="0">
                <a:solidFill>
                  <a:srgbClr val="FF0000"/>
                </a:solidFill>
                <a:latin typeface="Comic Sans MS" panose="030F0702030302020204" pitchFamily="66" charset="0"/>
              </a:rPr>
              <a:t>bit</a:t>
            </a:r>
            <a:r>
              <a:rPr lang="en-GB" b="0" i="0" u="none" strike="noStrike" baseline="0" dirty="0">
                <a:latin typeface="Comic Sans MS" panose="030F0702030302020204" pitchFamily="66" charset="0"/>
              </a:rPr>
              <a:t>, short for binary digit. For example, the binary number 0110</a:t>
            </a:r>
            <a:r>
              <a:rPr lang="en-GB" b="0" i="0" u="none" strike="noStrike" baseline="-25000" dirty="0">
                <a:latin typeface="Comic Sans MS" panose="030F0702030302020204" pitchFamily="66" charset="0"/>
              </a:rPr>
              <a:t>2</a:t>
            </a:r>
            <a:r>
              <a:rPr lang="en-GB" b="0" i="0" u="none" strike="noStrike" baseline="0" dirty="0">
                <a:latin typeface="Comic Sans MS" panose="030F0702030302020204" pitchFamily="66" charset="0"/>
              </a:rPr>
              <a:t> is made up of four bits. </a:t>
            </a: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The rightmost bit, the one that represents the </a:t>
            </a:r>
            <a:r>
              <a:rPr lang="en-GB" b="0" i="0" u="none" strike="noStrike" baseline="0" dirty="0">
                <a:solidFill>
                  <a:srgbClr val="FF0000"/>
                </a:solidFill>
                <a:latin typeface="Comic Sans MS" panose="030F0702030302020204" pitchFamily="66" charset="0"/>
              </a:rPr>
              <a:t>ones place</a:t>
            </a:r>
            <a:r>
              <a:rPr lang="en-GB" b="0" i="0" u="none" strike="noStrike" baseline="0" dirty="0">
                <a:latin typeface="Comic Sans MS" panose="030F0702030302020204" pitchFamily="66" charset="0"/>
              </a:rPr>
              <a:t>, is called the </a:t>
            </a:r>
            <a:r>
              <a:rPr lang="en-GB" b="1" i="1" u="none" strike="noStrike" baseline="0" dirty="0">
                <a:solidFill>
                  <a:srgbClr val="FF0000"/>
                </a:solidFill>
                <a:latin typeface="Comic Sans MS" panose="030F0702030302020204" pitchFamily="66" charset="0"/>
              </a:rPr>
              <a:t>Least Significant Bit or LSB</a:t>
            </a:r>
            <a:r>
              <a:rPr lang="en-GB" b="0" i="0" u="none" strike="noStrike" baseline="0" dirty="0">
                <a:solidFill>
                  <a:srgbClr val="FF0000"/>
                </a:solidFill>
                <a:latin typeface="Comic Sans MS" panose="030F0702030302020204" pitchFamily="66" charset="0"/>
              </a:rPr>
              <a:t>. </a:t>
            </a:r>
            <a:endParaRPr lang="en-GB" dirty="0">
              <a:solidFill>
                <a:srgbClr val="FF0000"/>
              </a:solidFill>
              <a:latin typeface="Comic Sans MS" panose="030F0702030302020204" pitchFamily="66" charset="0"/>
            </a:endParaRPr>
          </a:p>
          <a:p>
            <a:pPr algn="just"/>
            <a:endParaRPr lang="en-GB" b="0" i="0" u="none" strike="noStrike" baseline="0" dirty="0">
              <a:solidFill>
                <a:srgbClr val="FF0000"/>
              </a:solidFill>
              <a:latin typeface="Comic Sans MS" panose="030F0702030302020204" pitchFamily="66" charset="0"/>
            </a:endParaRPr>
          </a:p>
          <a:p>
            <a:pPr algn="just"/>
            <a:r>
              <a:rPr lang="en-GB" b="0" i="0" u="none" strike="noStrike" baseline="0" dirty="0">
                <a:latin typeface="Comic Sans MS" panose="030F0702030302020204" pitchFamily="66" charset="0"/>
              </a:rPr>
              <a:t>The leftmost bit, the one that represents the highest power of two for that number, is called the </a:t>
            </a:r>
            <a:r>
              <a:rPr lang="en-GB" b="1" i="1" u="none" strike="noStrike" baseline="0" dirty="0">
                <a:solidFill>
                  <a:srgbClr val="FF0000"/>
                </a:solidFill>
                <a:latin typeface="Comic Sans MS" panose="030F0702030302020204" pitchFamily="66" charset="0"/>
              </a:rPr>
              <a:t>Most Significant Bit or MSB</a:t>
            </a:r>
            <a:r>
              <a:rPr lang="en-GB" b="0" i="0" u="none" strike="noStrike" baseline="0" dirty="0">
                <a:latin typeface="Comic Sans MS" panose="030F0702030302020204" pitchFamily="66" charset="0"/>
              </a:rPr>
              <a:t>. </a:t>
            </a: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Note that the MSB represents a bit position. It doesn't mean that a '1' must exist in that position.</a:t>
            </a:r>
            <a:endParaRPr lang="en-GB" dirty="0">
              <a:solidFill>
                <a:srgbClr val="FF0000"/>
              </a:solidFill>
              <a:latin typeface="Comic Sans MS" panose="030F0702030302020204" pitchFamily="66" charset="0"/>
            </a:endParaRPr>
          </a:p>
          <a:p>
            <a:endParaRPr lang="en-GB" dirty="0"/>
          </a:p>
        </p:txBody>
      </p:sp>
    </p:spTree>
    <p:extLst>
      <p:ext uri="{BB962C8B-B14F-4D97-AF65-F5344CB8AC3E}">
        <p14:creationId xmlns:p14="http://schemas.microsoft.com/office/powerpoint/2010/main" val="329098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C91F6E-A907-467B-B9CD-2CEFFAB6B05D}"/>
              </a:ext>
            </a:extLst>
          </p:cNvPr>
          <p:cNvSpPr>
            <a:spLocks noGrp="1"/>
          </p:cNvSpPr>
          <p:nvPr>
            <p:ph idx="1"/>
          </p:nvPr>
        </p:nvSpPr>
        <p:spPr>
          <a:xfrm>
            <a:off x="73891" y="73891"/>
            <a:ext cx="11998036" cy="6668654"/>
          </a:xfrm>
        </p:spPr>
        <p:txBody>
          <a:bodyPr>
            <a:normAutofit/>
          </a:bodyPr>
          <a:lstStyle/>
          <a:p>
            <a:pPr algn="l"/>
            <a:r>
              <a:rPr lang="en-GB" b="0" i="0" u="none" strike="noStrike" baseline="0" dirty="0">
                <a:latin typeface="Comic Sans MS" panose="030F0702030302020204" pitchFamily="66" charset="0"/>
              </a:rPr>
              <a:t>The next four terms describe how bits might be grouped together.</a:t>
            </a:r>
          </a:p>
          <a:p>
            <a:pPr marL="914400" lvl="2" indent="0" algn="just">
              <a:buNone/>
            </a:pPr>
            <a:r>
              <a:rPr lang="en-GB" sz="2600" b="0" i="0" u="none" strike="noStrike" baseline="0" dirty="0">
                <a:latin typeface="Comic Sans MS" panose="030F0702030302020204" pitchFamily="66" charset="0"/>
              </a:rPr>
              <a:t>• </a:t>
            </a:r>
            <a:r>
              <a:rPr lang="en-GB" sz="2600" b="1" i="1" u="none" strike="noStrike" baseline="0" dirty="0">
                <a:solidFill>
                  <a:srgbClr val="FF0000"/>
                </a:solidFill>
                <a:latin typeface="Comic Sans MS" panose="030F0702030302020204" pitchFamily="66" charset="0"/>
              </a:rPr>
              <a:t>Nibble</a:t>
            </a:r>
            <a:r>
              <a:rPr lang="en-GB" sz="2600" b="1" i="1" u="none" strike="noStrike" baseline="0" dirty="0">
                <a:latin typeface="Comic Sans MS" panose="030F0702030302020204" pitchFamily="66" charset="0"/>
              </a:rPr>
              <a:t> </a:t>
            </a:r>
            <a:r>
              <a:rPr lang="en-GB" sz="2600" b="0" i="0" u="none" strike="noStrike" baseline="0" dirty="0">
                <a:latin typeface="Comic Sans MS" panose="030F0702030302020204" pitchFamily="66" charset="0"/>
              </a:rPr>
              <a:t>– A four bit binary number</a:t>
            </a:r>
          </a:p>
          <a:p>
            <a:pPr marL="914400" lvl="2" indent="0" algn="just">
              <a:buNone/>
            </a:pPr>
            <a:r>
              <a:rPr lang="en-GB" sz="2600" b="0" i="0" u="none" strike="noStrike" baseline="0" dirty="0">
                <a:latin typeface="Comic Sans MS" panose="030F0702030302020204" pitchFamily="66" charset="0"/>
              </a:rPr>
              <a:t>• </a:t>
            </a:r>
            <a:r>
              <a:rPr lang="en-GB" sz="2600" b="1" i="1" u="none" strike="noStrike" baseline="0" dirty="0">
                <a:solidFill>
                  <a:srgbClr val="FF0000"/>
                </a:solidFill>
                <a:latin typeface="Comic Sans MS" panose="030F0702030302020204" pitchFamily="66" charset="0"/>
              </a:rPr>
              <a:t>Byte</a:t>
            </a:r>
            <a:r>
              <a:rPr lang="en-GB" sz="2600" b="1" i="1" u="none" strike="noStrike" baseline="0" dirty="0">
                <a:latin typeface="Comic Sans MS" panose="030F0702030302020204" pitchFamily="66" charset="0"/>
              </a:rPr>
              <a:t> </a:t>
            </a:r>
            <a:r>
              <a:rPr lang="en-GB" sz="2600" b="0" i="0" u="none" strike="noStrike" baseline="0" dirty="0">
                <a:latin typeface="Comic Sans MS" panose="030F0702030302020204" pitchFamily="66" charset="0"/>
              </a:rPr>
              <a:t>–    A unit of storage for a single character, typically an 	    	       eight bit (2 nibble) binary number (short for binary term)</a:t>
            </a:r>
          </a:p>
          <a:p>
            <a:pPr marL="914400" lvl="2" indent="0" algn="just">
              <a:buNone/>
            </a:pPr>
            <a:r>
              <a:rPr lang="en-GB" sz="2600" b="0" i="0" u="none" strike="noStrike" baseline="0" dirty="0">
                <a:latin typeface="Comic Sans MS" panose="030F0702030302020204" pitchFamily="66" charset="0"/>
              </a:rPr>
              <a:t>• </a:t>
            </a:r>
            <a:r>
              <a:rPr lang="en-GB" sz="2600" b="1" i="1" u="none" strike="noStrike" baseline="0" dirty="0">
                <a:solidFill>
                  <a:srgbClr val="FF0000"/>
                </a:solidFill>
                <a:latin typeface="Comic Sans MS" panose="030F0702030302020204" pitchFamily="66" charset="0"/>
              </a:rPr>
              <a:t>Word</a:t>
            </a:r>
            <a:r>
              <a:rPr lang="en-GB" sz="2600" b="1" i="1" u="none" strike="noStrike" baseline="0" dirty="0">
                <a:latin typeface="Comic Sans MS" panose="030F0702030302020204" pitchFamily="66" charset="0"/>
              </a:rPr>
              <a:t> </a:t>
            </a:r>
            <a:r>
              <a:rPr lang="en-GB" sz="2600" b="0" i="0" u="none" strike="noStrike" baseline="0" dirty="0">
                <a:latin typeface="Comic Sans MS" panose="030F0702030302020204" pitchFamily="66" charset="0"/>
              </a:rPr>
              <a:t>–  Typically a sixteen bit (2 byte) binary number</a:t>
            </a:r>
          </a:p>
          <a:p>
            <a:pPr marL="914400" lvl="2" indent="0" algn="just">
              <a:buNone/>
            </a:pPr>
            <a:r>
              <a:rPr lang="en-GB" sz="2600" b="0" i="0" u="none" strike="noStrike" baseline="0" dirty="0">
                <a:latin typeface="Comic Sans MS" panose="030F0702030302020204" pitchFamily="66" charset="0"/>
              </a:rPr>
              <a:t>• </a:t>
            </a:r>
            <a:r>
              <a:rPr lang="en-GB" sz="2600" b="1" i="1" u="none" strike="noStrike" baseline="0" dirty="0">
                <a:solidFill>
                  <a:srgbClr val="FF0000"/>
                </a:solidFill>
                <a:latin typeface="Comic Sans MS" panose="030F0702030302020204" pitchFamily="66" charset="0"/>
              </a:rPr>
              <a:t>Double Word </a:t>
            </a:r>
            <a:r>
              <a:rPr lang="en-GB" sz="2600" b="0" i="0" u="none" strike="noStrike" baseline="0" dirty="0">
                <a:latin typeface="Comic Sans MS" panose="030F0702030302020204" pitchFamily="66" charset="0"/>
              </a:rPr>
              <a:t>– A thirty-two bit (2 word) binary number</a:t>
            </a:r>
          </a:p>
          <a:p>
            <a:pPr algn="l"/>
            <a:endParaRPr lang="en-GB" b="0" i="0" u="none" strike="noStrike" baseline="0" dirty="0">
              <a:latin typeface="Comic Sans MS" panose="030F0702030302020204" pitchFamily="66" charset="0"/>
            </a:endParaRPr>
          </a:p>
          <a:p>
            <a:pPr algn="l"/>
            <a:r>
              <a:rPr lang="en-GB" b="0" i="0" u="none" strike="noStrike" baseline="0" dirty="0">
                <a:latin typeface="Comic Sans MS" panose="030F0702030302020204" pitchFamily="66" charset="0"/>
              </a:rPr>
              <a:t>The following are some examples of each type of binary number.</a:t>
            </a:r>
          </a:p>
          <a:p>
            <a:pPr lvl="1"/>
            <a:r>
              <a:rPr lang="en-GB" sz="2800" b="0" i="0" u="none" strike="noStrike" baseline="0" dirty="0">
                <a:latin typeface="Comic Sans MS" panose="030F0702030302020204" pitchFamily="66" charset="0"/>
              </a:rPr>
              <a:t>Bit 				1</a:t>
            </a:r>
            <a:r>
              <a:rPr lang="en-GB" sz="2800" b="0" i="0" u="none" strike="noStrike" baseline="-25000" dirty="0">
                <a:latin typeface="Comic Sans MS" panose="030F0702030302020204" pitchFamily="66" charset="0"/>
              </a:rPr>
              <a:t>2</a:t>
            </a:r>
          </a:p>
          <a:p>
            <a:pPr lvl="1"/>
            <a:r>
              <a:rPr lang="en-GB" sz="2800" b="0" i="0" u="none" strike="noStrike" baseline="0" dirty="0">
                <a:latin typeface="Comic Sans MS" panose="030F0702030302020204" pitchFamily="66" charset="0"/>
              </a:rPr>
              <a:t>Nibble 			1010</a:t>
            </a:r>
            <a:r>
              <a:rPr lang="en-GB" sz="2800" b="0" i="0" u="none" strike="noStrike" baseline="-25000" dirty="0">
                <a:latin typeface="Comic Sans MS" panose="030F0702030302020204" pitchFamily="66" charset="0"/>
              </a:rPr>
              <a:t>2</a:t>
            </a:r>
          </a:p>
          <a:p>
            <a:pPr lvl="1"/>
            <a:r>
              <a:rPr lang="en-GB" sz="2800" b="0" i="0" u="none" strike="noStrike" baseline="0" dirty="0">
                <a:latin typeface="Comic Sans MS" panose="030F0702030302020204" pitchFamily="66" charset="0"/>
              </a:rPr>
              <a:t>Byte 				10100101</a:t>
            </a:r>
            <a:r>
              <a:rPr lang="en-GB" sz="2800" b="0" i="0" u="none" strike="noStrike" baseline="-25000" dirty="0">
                <a:latin typeface="Comic Sans MS" panose="030F0702030302020204" pitchFamily="66" charset="0"/>
              </a:rPr>
              <a:t>2</a:t>
            </a:r>
          </a:p>
          <a:p>
            <a:pPr lvl="1"/>
            <a:r>
              <a:rPr lang="en-GB" sz="2800" b="0" i="0" u="none" strike="noStrike" baseline="0" dirty="0">
                <a:latin typeface="Comic Sans MS" panose="030F0702030302020204" pitchFamily="66" charset="0"/>
              </a:rPr>
              <a:t>Word 				1010010111110000</a:t>
            </a:r>
            <a:r>
              <a:rPr lang="en-GB" sz="2800" b="0" i="0" u="none" strike="noStrike" baseline="-25000" dirty="0">
                <a:latin typeface="Comic Sans MS" panose="030F0702030302020204" pitchFamily="66" charset="0"/>
              </a:rPr>
              <a:t>2</a:t>
            </a:r>
          </a:p>
          <a:p>
            <a:pPr lvl="1"/>
            <a:r>
              <a:rPr lang="en-GB" sz="2800" b="0" i="0" u="none" strike="noStrike" baseline="0" dirty="0">
                <a:latin typeface="Comic Sans MS" panose="030F0702030302020204" pitchFamily="66" charset="0"/>
              </a:rPr>
              <a:t>Double Word 		10100101111100001100111011101101</a:t>
            </a:r>
            <a:r>
              <a:rPr lang="en-GB" sz="2800" b="0" i="0" u="none" strike="noStrike" baseline="-25000" dirty="0">
                <a:latin typeface="Comic Sans MS" panose="030F0702030302020204" pitchFamily="66" charset="0"/>
              </a:rPr>
              <a:t>2</a:t>
            </a:r>
            <a:endParaRPr lang="en-GB" sz="4000" baseline="-25000" dirty="0">
              <a:latin typeface="Comic Sans MS" panose="030F0702030302020204" pitchFamily="66" charset="0"/>
            </a:endParaRPr>
          </a:p>
        </p:txBody>
      </p:sp>
    </p:spTree>
    <p:extLst>
      <p:ext uri="{BB962C8B-B14F-4D97-AF65-F5344CB8AC3E}">
        <p14:creationId xmlns:p14="http://schemas.microsoft.com/office/powerpoint/2010/main" val="3473568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926A27-7DCB-424A-8152-88F380942FAB}"/>
              </a:ext>
            </a:extLst>
          </p:cNvPr>
          <p:cNvSpPr>
            <a:spLocks noGrp="1"/>
          </p:cNvSpPr>
          <p:nvPr>
            <p:ph idx="1"/>
          </p:nvPr>
        </p:nvSpPr>
        <p:spPr>
          <a:xfrm>
            <a:off x="92364" y="73891"/>
            <a:ext cx="11942618" cy="6659418"/>
          </a:xfrm>
        </p:spPr>
        <p:txBody>
          <a:bodyPr/>
          <a:lstStyle/>
          <a:p>
            <a:pPr algn="ctr"/>
            <a:r>
              <a:rPr lang="en-GB" b="1" i="0" u="none" strike="noStrike" baseline="0" dirty="0">
                <a:solidFill>
                  <a:srgbClr val="FF0000"/>
                </a:solidFill>
                <a:latin typeface="Comic Sans MS" panose="030F0702030302020204" pitchFamily="66" charset="0"/>
              </a:rPr>
              <a:t>Unsigned Binary to Decimal Conversion</a:t>
            </a:r>
          </a:p>
          <a:p>
            <a:pPr algn="just"/>
            <a:r>
              <a:rPr lang="en-GB" sz="2700" dirty="0">
                <a:latin typeface="Comic Sans MS" panose="030F0702030302020204" pitchFamily="66" charset="0"/>
              </a:rPr>
              <a:t>E</a:t>
            </a:r>
            <a:r>
              <a:rPr lang="en-GB" sz="2700" b="0" i="0" u="none" strike="noStrike" baseline="0" dirty="0">
                <a:latin typeface="Comic Sans MS" panose="030F0702030302020204" pitchFamily="66" charset="0"/>
              </a:rPr>
              <a:t>ach place or position in a binary number corresponds to a specific power of 2 starting with the rightmost bit which represents 2</a:t>
            </a:r>
            <a:r>
              <a:rPr lang="en-GB" sz="2700" b="0" i="0" u="none" strike="noStrike" baseline="30000" dirty="0">
                <a:latin typeface="Comic Sans MS" panose="030F0702030302020204" pitchFamily="66" charset="0"/>
              </a:rPr>
              <a:t>0</a:t>
            </a:r>
            <a:r>
              <a:rPr lang="en-GB" sz="2700" b="0" i="0" u="none" strike="noStrike" baseline="0" dirty="0">
                <a:latin typeface="Comic Sans MS" panose="030F0702030302020204" pitchFamily="66" charset="0"/>
              </a:rPr>
              <a:t>=1. </a:t>
            </a:r>
          </a:p>
          <a:p>
            <a:pPr algn="just"/>
            <a:endParaRPr lang="en-GB" sz="2700" dirty="0">
              <a:latin typeface="Comic Sans MS" panose="030F0702030302020204" pitchFamily="66" charset="0"/>
            </a:endParaRPr>
          </a:p>
          <a:p>
            <a:pPr algn="just"/>
            <a:r>
              <a:rPr lang="en-GB" sz="2700" b="0" i="0" u="none" strike="noStrike" baseline="0" dirty="0">
                <a:latin typeface="Comic Sans MS" panose="030F0702030302020204" pitchFamily="66" charset="0"/>
              </a:rPr>
              <a:t>It is through this organization of the bits that we will convert binary numbers to their decimal equivalent. </a:t>
            </a:r>
          </a:p>
          <a:p>
            <a:pPr algn="just"/>
            <a:endParaRPr lang="en-GB" sz="2700" dirty="0">
              <a:latin typeface="Comic Sans MS" panose="030F0702030302020204" pitchFamily="66" charset="0"/>
            </a:endParaRPr>
          </a:p>
          <a:p>
            <a:pPr algn="just"/>
            <a:r>
              <a:rPr lang="en-GB" sz="2700" b="0" i="0" u="none" strike="noStrike" baseline="0" dirty="0">
                <a:latin typeface="Comic Sans MS" panose="030F0702030302020204" pitchFamily="66" charset="0"/>
              </a:rPr>
              <a:t>The Figure  below shows the bit positions and the corresponding powers of two for each bit in positions 0 through 7.</a:t>
            </a:r>
            <a:endParaRPr lang="en-GB" sz="2700" dirty="0">
              <a:latin typeface="Comic Sans MS" panose="030F0702030302020204" pitchFamily="66" charset="0"/>
            </a:endParaRPr>
          </a:p>
        </p:txBody>
      </p:sp>
      <p:pic>
        <p:nvPicPr>
          <p:cNvPr id="5" name="Picture 4">
            <a:extLst>
              <a:ext uri="{FF2B5EF4-FFF2-40B4-BE49-F238E27FC236}">
                <a16:creationId xmlns:a16="http://schemas.microsoft.com/office/drawing/2014/main" id="{E1EDAD01-B6BD-4D51-ADB2-1F1AA519446F}"/>
              </a:ext>
            </a:extLst>
          </p:cNvPr>
          <p:cNvPicPr>
            <a:picLocks noChangeAspect="1"/>
          </p:cNvPicPr>
          <p:nvPr/>
        </p:nvPicPr>
        <p:blipFill>
          <a:blip r:embed="rId2"/>
          <a:stretch>
            <a:fillRect/>
          </a:stretch>
        </p:blipFill>
        <p:spPr>
          <a:xfrm>
            <a:off x="157018" y="4189779"/>
            <a:ext cx="9335803" cy="254353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TextBox 6">
            <a:extLst>
              <a:ext uri="{FF2B5EF4-FFF2-40B4-BE49-F238E27FC236}">
                <a16:creationId xmlns:a16="http://schemas.microsoft.com/office/drawing/2014/main" id="{C116DEBD-9BA8-41F2-8E0B-AAC255A2ADC3}"/>
              </a:ext>
            </a:extLst>
          </p:cNvPr>
          <p:cNvSpPr txBox="1"/>
          <p:nvPr/>
        </p:nvSpPr>
        <p:spPr>
          <a:xfrm>
            <a:off x="9677474" y="5809979"/>
            <a:ext cx="2172855" cy="1200329"/>
          </a:xfrm>
          <a:prstGeom prst="rect">
            <a:avLst/>
          </a:prstGeom>
          <a:noFill/>
        </p:spPr>
        <p:txBody>
          <a:bodyPr wrap="square">
            <a:spAutoFit/>
          </a:bodyPr>
          <a:lstStyle/>
          <a:p>
            <a:pPr algn="just"/>
            <a:r>
              <a:rPr lang="en-GB" sz="1800" b="1" i="0" u="none" strike="noStrike" baseline="0" dirty="0">
                <a:solidFill>
                  <a:srgbClr val="FF0000"/>
                </a:solidFill>
                <a:latin typeface="Comic Sans MS" panose="030F0702030302020204" pitchFamily="66" charset="0"/>
              </a:rPr>
              <a:t>Values Represented By Each of the First 8 Bit Positions</a:t>
            </a:r>
            <a:endParaRPr lang="en-GB" b="1"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87983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AE6D8A-541C-4C81-B8AF-29001E74E4EB}"/>
              </a:ext>
            </a:extLst>
          </p:cNvPr>
          <p:cNvSpPr>
            <a:spLocks noGrp="1"/>
          </p:cNvSpPr>
          <p:nvPr>
            <p:ph idx="1"/>
          </p:nvPr>
        </p:nvSpPr>
        <p:spPr>
          <a:xfrm>
            <a:off x="73891" y="64655"/>
            <a:ext cx="12025745" cy="6714836"/>
          </a:xfrm>
        </p:spPr>
        <p:txBody>
          <a:bodyPr>
            <a:normAutofit/>
          </a:bodyPr>
          <a:lstStyle/>
          <a:p>
            <a:pPr algn="just"/>
            <a:r>
              <a:rPr lang="en-GB" sz="2600" b="0" i="0" u="none" strike="noStrike" baseline="0" dirty="0">
                <a:latin typeface="Comic Sans MS" panose="030F0702030302020204" pitchFamily="66" charset="0"/>
              </a:rPr>
              <a:t>To begin converting an unsigned binary number to decimal, identify each </a:t>
            </a:r>
            <a:r>
              <a:rPr lang="en-GB" sz="2600" b="0" i="0" u="none" strike="noStrike" baseline="0" dirty="0">
                <a:solidFill>
                  <a:srgbClr val="FF0000"/>
                </a:solidFill>
                <a:latin typeface="Comic Sans MS" panose="030F0702030302020204" pitchFamily="66" charset="0"/>
              </a:rPr>
              <a:t>bit position that contains a 1. </a:t>
            </a:r>
          </a:p>
          <a:p>
            <a:pPr algn="just"/>
            <a:endParaRPr lang="en-GB" sz="2600" dirty="0">
              <a:latin typeface="Comic Sans MS" panose="030F0702030302020204" pitchFamily="66" charset="0"/>
            </a:endParaRPr>
          </a:p>
          <a:p>
            <a:pPr algn="just"/>
            <a:r>
              <a:rPr lang="en-GB" sz="2600" b="0" i="0" u="none" strike="noStrike" baseline="0" dirty="0">
                <a:latin typeface="Comic Sans MS" panose="030F0702030302020204" pitchFamily="66" charset="0"/>
              </a:rPr>
              <a:t>It is important to note that </a:t>
            </a:r>
            <a:r>
              <a:rPr lang="en-GB" sz="2600" b="0" i="0" u="none" strike="noStrike" baseline="0" dirty="0">
                <a:solidFill>
                  <a:srgbClr val="FF0000"/>
                </a:solidFill>
                <a:latin typeface="Comic Sans MS" panose="030F0702030302020204" pitchFamily="66" charset="0"/>
              </a:rPr>
              <a:t>we number the bit positions starting with 0 identifying the rightmost bit.</a:t>
            </a:r>
          </a:p>
          <a:p>
            <a:pPr algn="just"/>
            <a:endParaRPr lang="en-GB" sz="2600" b="0" i="0" u="none" strike="noStrike" baseline="0" dirty="0">
              <a:solidFill>
                <a:srgbClr val="FF0000"/>
              </a:solidFill>
              <a:latin typeface="Comic Sans MS" panose="030F0702030302020204" pitchFamily="66" charset="0"/>
            </a:endParaRPr>
          </a:p>
          <a:p>
            <a:pPr algn="just"/>
            <a:r>
              <a:rPr lang="en-GB" sz="2600" b="0" i="0" u="none" strike="noStrike" baseline="0" dirty="0">
                <a:latin typeface="Comic Sans MS" panose="030F0702030302020204" pitchFamily="66" charset="0"/>
              </a:rPr>
              <a:t>Next, </a:t>
            </a:r>
            <a:r>
              <a:rPr lang="en-GB" sz="2600" b="0" i="0" u="none" strike="noStrike" baseline="0" dirty="0">
                <a:solidFill>
                  <a:srgbClr val="FF0000"/>
                </a:solidFill>
                <a:latin typeface="Comic Sans MS" panose="030F0702030302020204" pitchFamily="66" charset="0"/>
              </a:rPr>
              <a:t>add the powers of 2 for each position containing a 1</a:t>
            </a:r>
            <a:r>
              <a:rPr lang="en-GB" sz="2600" b="0" i="0" u="none" strike="noStrike" baseline="0" dirty="0">
                <a:latin typeface="Comic Sans MS" panose="030F0702030302020204" pitchFamily="66" charset="0"/>
              </a:rPr>
              <a:t>. This sum is the decimal equivalent of the binary value.</a:t>
            </a:r>
            <a:r>
              <a:rPr lang="en-GB" sz="1800" b="0" i="0" u="none" strike="noStrike" baseline="0" dirty="0">
                <a:latin typeface="TimesNewRomanPSMT"/>
              </a:rPr>
              <a:t> </a:t>
            </a:r>
            <a:endParaRPr lang="en-GB" sz="2600" dirty="0">
              <a:latin typeface="Comic Sans MS" panose="030F0702030302020204" pitchFamily="66" charset="0"/>
            </a:endParaRPr>
          </a:p>
        </p:txBody>
      </p:sp>
      <p:pic>
        <p:nvPicPr>
          <p:cNvPr id="5" name="Picture 4">
            <a:extLst>
              <a:ext uri="{FF2B5EF4-FFF2-40B4-BE49-F238E27FC236}">
                <a16:creationId xmlns:a16="http://schemas.microsoft.com/office/drawing/2014/main" id="{2E76BAE7-3554-4DBF-8143-7DDE221FCAE9}"/>
              </a:ext>
            </a:extLst>
          </p:cNvPr>
          <p:cNvPicPr>
            <a:picLocks noChangeAspect="1"/>
          </p:cNvPicPr>
          <p:nvPr/>
        </p:nvPicPr>
        <p:blipFill>
          <a:blip r:embed="rId2"/>
          <a:stretch>
            <a:fillRect/>
          </a:stretch>
        </p:blipFill>
        <p:spPr>
          <a:xfrm>
            <a:off x="92364" y="3819819"/>
            <a:ext cx="9722870" cy="2959672"/>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TextBox 6">
            <a:extLst>
              <a:ext uri="{FF2B5EF4-FFF2-40B4-BE49-F238E27FC236}">
                <a16:creationId xmlns:a16="http://schemas.microsoft.com/office/drawing/2014/main" id="{663B3583-1C28-4A17-9759-B8158EF05742}"/>
              </a:ext>
            </a:extLst>
          </p:cNvPr>
          <p:cNvSpPr txBox="1"/>
          <p:nvPr/>
        </p:nvSpPr>
        <p:spPr>
          <a:xfrm>
            <a:off x="9962217" y="5579162"/>
            <a:ext cx="1990435" cy="1200329"/>
          </a:xfrm>
          <a:prstGeom prst="rect">
            <a:avLst/>
          </a:prstGeom>
          <a:noFill/>
        </p:spPr>
        <p:txBody>
          <a:bodyPr wrap="square">
            <a:spAutoFit/>
          </a:bodyPr>
          <a:lstStyle/>
          <a:p>
            <a:r>
              <a:rPr lang="en-GB" sz="1800" b="0" i="0" u="none" strike="noStrike" baseline="0" dirty="0">
                <a:solidFill>
                  <a:srgbClr val="FF0000"/>
                </a:solidFill>
                <a:latin typeface="Comic Sans MS" panose="030F0702030302020204" pitchFamily="66" charset="0"/>
              </a:rPr>
              <a:t>Sample Conversion of 101101002 to Decimal</a:t>
            </a:r>
            <a:endParaRPr lang="en-GB"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974903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ED0CBA-6703-4AA4-A6C6-F45A4BF9E1FB}"/>
              </a:ext>
            </a:extLst>
          </p:cNvPr>
          <p:cNvSpPr>
            <a:spLocks noGrp="1"/>
          </p:cNvSpPr>
          <p:nvPr>
            <p:ph idx="1"/>
          </p:nvPr>
        </p:nvSpPr>
        <p:spPr>
          <a:xfrm>
            <a:off x="83127" y="83126"/>
            <a:ext cx="12034982" cy="6511637"/>
          </a:xfrm>
        </p:spPr>
        <p:txBody>
          <a:bodyPr>
            <a:normAutofit lnSpcReduction="10000"/>
          </a:bodyPr>
          <a:lstStyle/>
          <a:p>
            <a:pPr algn="just"/>
            <a:r>
              <a:rPr lang="en-GB" sz="2400" b="0" i="0" u="none" strike="noStrike" baseline="0" dirty="0">
                <a:latin typeface="Comic Sans MS" panose="030F0702030302020204" pitchFamily="66" charset="0"/>
              </a:rPr>
              <a:t>This brings up an important issue when representing numbers with a computer. Note that when a computer stores a number, it uses a limited number of transistors. </a:t>
            </a:r>
          </a:p>
          <a:p>
            <a:pPr algn="just"/>
            <a:endParaRPr lang="en-GB"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If, for example, we are limited to eight transistors, each transistor storing a single bit, then we have an upper limit to the size of the decimal value we can store.</a:t>
            </a:r>
          </a:p>
          <a:p>
            <a:pPr algn="just"/>
            <a:endParaRPr lang="en-GB"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The largest unsigned eight bit number we can store has a 1 in all eight positions, i.e., 11111111</a:t>
            </a:r>
            <a:r>
              <a:rPr lang="en-GB" sz="2400" b="0" i="0" u="none" strike="noStrike" baseline="-25000" dirty="0">
                <a:latin typeface="Comic Sans MS" panose="030F0702030302020204" pitchFamily="66" charset="0"/>
              </a:rPr>
              <a:t>2</a:t>
            </a:r>
            <a:r>
              <a:rPr lang="en-GB" sz="2400" b="0" i="0" u="none" strike="noStrike" baseline="0" dirty="0">
                <a:latin typeface="Comic Sans MS" panose="030F0702030302020204" pitchFamily="66" charset="0"/>
              </a:rPr>
              <a:t>. This number cannot be incremented without forcing an overflow to the next highest bit. </a:t>
            </a:r>
          </a:p>
          <a:p>
            <a:pPr algn="just"/>
            <a:endParaRPr lang="en-GB" sz="2400" b="0" i="0" u="none" strike="noStrike" baseline="0" dirty="0">
              <a:latin typeface="Comic Sans MS" panose="030F0702030302020204" pitchFamily="66" charset="0"/>
            </a:endParaRPr>
          </a:p>
          <a:p>
            <a:pPr algn="just"/>
            <a:r>
              <a:rPr lang="en-GB" sz="2400" b="0" i="0" u="none" strike="noStrike" baseline="0" dirty="0">
                <a:latin typeface="Comic Sans MS" panose="030F0702030302020204" pitchFamily="66" charset="0"/>
              </a:rPr>
              <a:t>Therefore, the largest decimal value that 8 bits can represent in unsigned binary is the sum of all powers of two from 0 to 7.</a:t>
            </a:r>
          </a:p>
          <a:p>
            <a:pPr algn="just"/>
            <a:endParaRPr lang="en-GB" sz="2400" b="0" i="0" u="none" strike="noStrike" baseline="0" dirty="0">
              <a:latin typeface="Comic Sans MS" panose="030F0702030302020204" pitchFamily="66" charset="0"/>
            </a:endParaRPr>
          </a:p>
          <a:p>
            <a:pPr marL="914400" lvl="2" indent="0" algn="just">
              <a:buNone/>
            </a:pPr>
            <a:r>
              <a:rPr lang="en-GB" sz="2400" b="0" i="0" u="none" strike="noStrike" baseline="0" dirty="0">
                <a:latin typeface="Comic Sans MS" panose="030F0702030302020204" pitchFamily="66" charset="0"/>
              </a:rPr>
              <a:t>11111111</a:t>
            </a:r>
            <a:r>
              <a:rPr lang="en-GB" sz="2400" b="0" i="0" u="none" strike="noStrike" baseline="-25000" dirty="0">
                <a:latin typeface="Comic Sans MS" panose="030F0702030302020204" pitchFamily="66" charset="0"/>
              </a:rPr>
              <a:t>2</a:t>
            </a:r>
            <a:r>
              <a:rPr lang="en-GB" sz="2400" b="0" i="0" u="none" strike="noStrike" baseline="0" dirty="0">
                <a:latin typeface="Comic Sans MS" panose="030F0702030302020204" pitchFamily="66" charset="0"/>
              </a:rPr>
              <a:t> = 2</a:t>
            </a:r>
            <a:r>
              <a:rPr lang="en-GB" sz="2400" b="1" i="0" u="none" strike="noStrike" baseline="30000" dirty="0">
                <a:latin typeface="Comic Sans MS" panose="030F0702030302020204" pitchFamily="66" charset="0"/>
              </a:rPr>
              <a:t>7</a:t>
            </a:r>
            <a:r>
              <a:rPr lang="en-GB" sz="2400" b="0" i="0" u="none" strike="noStrike" baseline="0" dirty="0">
                <a:latin typeface="Comic Sans MS" panose="030F0702030302020204" pitchFamily="66" charset="0"/>
              </a:rPr>
              <a:t> + 2</a:t>
            </a:r>
            <a:r>
              <a:rPr lang="en-GB" sz="2400" b="1" i="0" u="none" strike="noStrike" baseline="30000" dirty="0">
                <a:latin typeface="Comic Sans MS" panose="030F0702030302020204" pitchFamily="66" charset="0"/>
              </a:rPr>
              <a:t>6</a:t>
            </a:r>
            <a:r>
              <a:rPr lang="en-GB" sz="2400" b="0" i="0" u="none" strike="noStrike" baseline="0" dirty="0">
                <a:latin typeface="Comic Sans MS" panose="030F0702030302020204" pitchFamily="66" charset="0"/>
              </a:rPr>
              <a:t> + 2</a:t>
            </a:r>
            <a:r>
              <a:rPr lang="en-GB" sz="2400" b="1" i="0" u="none" strike="noStrike" baseline="30000" dirty="0">
                <a:latin typeface="Comic Sans MS" panose="030F0702030302020204" pitchFamily="66" charset="0"/>
              </a:rPr>
              <a:t>5</a:t>
            </a:r>
            <a:r>
              <a:rPr lang="en-GB" sz="2400" b="0" i="0" u="none" strike="noStrike" baseline="0" dirty="0">
                <a:latin typeface="Comic Sans MS" panose="030F0702030302020204" pitchFamily="66" charset="0"/>
              </a:rPr>
              <a:t> + 2</a:t>
            </a:r>
            <a:r>
              <a:rPr lang="en-GB" sz="2400" b="1" i="0" u="none" strike="noStrike" baseline="30000" dirty="0">
                <a:latin typeface="Comic Sans MS" panose="030F0702030302020204" pitchFamily="66" charset="0"/>
              </a:rPr>
              <a:t>4</a:t>
            </a:r>
            <a:r>
              <a:rPr lang="en-GB" sz="2400" b="0" i="0" u="none" strike="noStrike" baseline="0" dirty="0">
                <a:latin typeface="Comic Sans MS" panose="030F0702030302020204" pitchFamily="66" charset="0"/>
              </a:rPr>
              <a:t> + 2</a:t>
            </a:r>
            <a:r>
              <a:rPr lang="en-GB" sz="2400" b="1" i="0" u="none" strike="noStrike" baseline="30000" dirty="0">
                <a:latin typeface="Comic Sans MS" panose="030F0702030302020204" pitchFamily="66" charset="0"/>
              </a:rPr>
              <a:t>3</a:t>
            </a:r>
            <a:r>
              <a:rPr lang="en-GB" sz="2400" b="0" i="0" u="none" strike="noStrike" baseline="0" dirty="0">
                <a:latin typeface="Comic Sans MS" panose="030F0702030302020204" pitchFamily="66" charset="0"/>
              </a:rPr>
              <a:t> + 2</a:t>
            </a:r>
            <a:r>
              <a:rPr lang="en-GB" sz="2400" b="1" i="0" u="none" strike="noStrike" baseline="30000" dirty="0">
                <a:latin typeface="Comic Sans MS" panose="030F0702030302020204" pitchFamily="66" charset="0"/>
              </a:rPr>
              <a:t>2</a:t>
            </a:r>
            <a:r>
              <a:rPr lang="en-GB" sz="2400" b="0" i="0" u="none" strike="noStrike" baseline="0" dirty="0">
                <a:latin typeface="Comic Sans MS" panose="030F0702030302020204" pitchFamily="66" charset="0"/>
              </a:rPr>
              <a:t> + 2</a:t>
            </a:r>
            <a:r>
              <a:rPr lang="en-GB" sz="2400" b="1" i="0" u="none" strike="noStrike" baseline="30000" dirty="0">
                <a:latin typeface="Comic Sans MS" panose="030F0702030302020204" pitchFamily="66" charset="0"/>
              </a:rPr>
              <a:t>1</a:t>
            </a:r>
            <a:r>
              <a:rPr lang="en-GB" sz="2400" b="0" i="0" u="none" strike="noStrike" baseline="0" dirty="0">
                <a:latin typeface="Comic Sans MS" panose="030F0702030302020204" pitchFamily="66" charset="0"/>
              </a:rPr>
              <a:t> + 2</a:t>
            </a:r>
            <a:r>
              <a:rPr lang="en-GB" sz="2400" b="1" i="0" u="none" strike="noStrike" baseline="30000" dirty="0">
                <a:latin typeface="Comic Sans MS" panose="030F0702030302020204" pitchFamily="66" charset="0"/>
              </a:rPr>
              <a:t>0</a:t>
            </a:r>
          </a:p>
          <a:p>
            <a:pPr marL="914400" lvl="2" indent="0" algn="just">
              <a:buNone/>
            </a:pPr>
            <a:r>
              <a:rPr lang="en-GB" sz="2400" b="0" i="0" u="none" strike="noStrike" baseline="0" dirty="0">
                <a:latin typeface="Comic Sans MS" panose="030F0702030302020204" pitchFamily="66" charset="0"/>
              </a:rPr>
              <a:t>= 128 + 64 + 32 + 16 + 8 + 4 + 2 + 1</a:t>
            </a:r>
          </a:p>
          <a:p>
            <a:pPr marL="914400" lvl="2" indent="0" algn="just">
              <a:buNone/>
            </a:pPr>
            <a:r>
              <a:rPr lang="en-GB" sz="2400" b="0" i="0" u="none" strike="noStrike" baseline="0" dirty="0">
                <a:latin typeface="Comic Sans MS" panose="030F0702030302020204" pitchFamily="66" charset="0"/>
              </a:rPr>
              <a:t>= 255</a:t>
            </a:r>
            <a:r>
              <a:rPr lang="en-GB" sz="2400" b="0" i="0" u="none" strike="noStrike" baseline="-25000" dirty="0">
                <a:latin typeface="Comic Sans MS" panose="030F0702030302020204" pitchFamily="66" charset="0"/>
              </a:rPr>
              <a:t>10</a:t>
            </a:r>
            <a:endParaRPr lang="en-GB" sz="4000" baseline="-25000" dirty="0">
              <a:latin typeface="Comic Sans MS" panose="030F0702030302020204" pitchFamily="66" charset="0"/>
            </a:endParaRPr>
          </a:p>
        </p:txBody>
      </p:sp>
    </p:spTree>
    <p:extLst>
      <p:ext uri="{BB962C8B-B14F-4D97-AF65-F5344CB8AC3E}">
        <p14:creationId xmlns:p14="http://schemas.microsoft.com/office/powerpoint/2010/main" val="3067710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630857-A2E6-4C69-820E-630D083666DA}"/>
              </a:ext>
            </a:extLst>
          </p:cNvPr>
          <p:cNvSpPr>
            <a:spLocks noGrp="1"/>
          </p:cNvSpPr>
          <p:nvPr>
            <p:ph idx="1"/>
          </p:nvPr>
        </p:nvSpPr>
        <p:spPr>
          <a:xfrm>
            <a:off x="92363" y="64655"/>
            <a:ext cx="12016509" cy="6714836"/>
          </a:xfrm>
        </p:spPr>
        <p:txBody>
          <a:bodyPr>
            <a:normAutofit fontScale="92500" lnSpcReduction="10000"/>
          </a:bodyPr>
          <a:lstStyle/>
          <a:p>
            <a:pPr algn="just"/>
            <a:r>
              <a:rPr lang="en-GB" b="0" i="0" u="none" strike="noStrike" baseline="0" dirty="0">
                <a:latin typeface="Comic Sans MS" panose="030F0702030302020204" pitchFamily="66" charset="0"/>
              </a:rPr>
              <a:t>If you add one to this value, the result is 256 which is 2</a:t>
            </a:r>
            <a:r>
              <a:rPr lang="en-GB" b="1" i="0" u="none" strike="noStrike" baseline="30000" dirty="0">
                <a:latin typeface="Comic Sans MS" panose="030F0702030302020204" pitchFamily="66" charset="0"/>
              </a:rPr>
              <a:t>8</a:t>
            </a:r>
            <a:r>
              <a:rPr lang="en-GB" b="0" i="0" u="none" strike="noStrike" baseline="0" dirty="0">
                <a:latin typeface="Comic Sans MS" panose="030F0702030302020204" pitchFamily="66" charset="0"/>
              </a:rPr>
              <a:t>, the power of two for the next bit position. This makes sense because if you add 1 to 11111111</a:t>
            </a:r>
            <a:r>
              <a:rPr lang="en-GB" b="1" i="0" u="none" strike="noStrike" baseline="-25000" dirty="0">
                <a:latin typeface="Comic Sans MS" panose="030F0702030302020204" pitchFamily="66" charset="0"/>
              </a:rPr>
              <a:t>2</a:t>
            </a:r>
            <a:r>
              <a:rPr lang="en-GB" b="0" i="0" u="none" strike="noStrike" baseline="0" dirty="0">
                <a:latin typeface="Comic Sans MS" panose="030F0702030302020204" pitchFamily="66" charset="0"/>
              </a:rPr>
              <a:t>, then beginning with the first column, 1 is added to 1 giving us a result of 0 with a 1 carry to the next column. </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This</a:t>
            </a:r>
            <a:r>
              <a:rPr lang="en-GB" dirty="0">
                <a:latin typeface="Comic Sans MS" panose="030F0702030302020204" pitchFamily="66" charset="0"/>
              </a:rPr>
              <a:t> </a:t>
            </a:r>
            <a:r>
              <a:rPr lang="en-GB" b="0" i="0" u="none" strike="noStrike" baseline="0" dirty="0">
                <a:latin typeface="Comic Sans MS" panose="030F0702030302020204" pitchFamily="66" charset="0"/>
              </a:rPr>
              <a:t>propagates to the MSB where a final carry is passed to the ninth bit.</a:t>
            </a: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The final value is then 100000000</a:t>
            </a:r>
            <a:r>
              <a:rPr lang="en-GB" b="0" i="0" u="none" strike="noStrike" baseline="-25000" dirty="0">
                <a:latin typeface="Comic Sans MS" panose="030F0702030302020204" pitchFamily="66" charset="0"/>
              </a:rPr>
              <a:t>2</a:t>
            </a:r>
            <a:r>
              <a:rPr lang="en-GB" b="0" i="0" u="none" strike="noStrike" baseline="0" dirty="0">
                <a:latin typeface="Comic Sans MS" panose="030F0702030302020204" pitchFamily="66" charset="0"/>
              </a:rPr>
              <a:t> = 256</a:t>
            </a:r>
            <a:r>
              <a:rPr lang="en-GB" b="0" i="0" u="none" strike="noStrike" baseline="-25000" dirty="0">
                <a:latin typeface="Comic Sans MS" panose="030F0702030302020204" pitchFamily="66" charset="0"/>
              </a:rPr>
              <a:t>10</a:t>
            </a:r>
            <a:r>
              <a:rPr lang="en-GB" b="0" i="0" u="none" strike="noStrike" baseline="0" dirty="0">
                <a:latin typeface="Comic Sans MS" panose="030F0702030302020204" pitchFamily="66" charset="0"/>
              </a:rPr>
              <a:t>. </a:t>
            </a: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11111111</a:t>
            </a:r>
            <a:r>
              <a:rPr lang="en-GB" b="0" i="0" u="none" strike="noStrike" baseline="-25000" dirty="0">
                <a:latin typeface="Comic Sans MS" panose="030F0702030302020204" pitchFamily="66" charset="0"/>
              </a:rPr>
              <a:t>2</a:t>
            </a:r>
            <a:r>
              <a:rPr lang="en-GB" b="0" i="0" u="none" strike="noStrike" baseline="0" dirty="0">
                <a:latin typeface="Comic Sans MS" panose="030F0702030302020204" pitchFamily="66" charset="0"/>
              </a:rPr>
              <a:t> + 1 = 100000000</a:t>
            </a:r>
            <a:r>
              <a:rPr lang="en-GB" b="0" i="0" u="none" strike="noStrike" baseline="-25000" dirty="0">
                <a:latin typeface="Comic Sans MS" panose="030F0702030302020204" pitchFamily="66" charset="0"/>
              </a:rPr>
              <a:t>2</a:t>
            </a:r>
            <a:r>
              <a:rPr lang="en-GB" b="0" i="0" u="none" strike="noStrike" baseline="0" dirty="0">
                <a:latin typeface="Comic Sans MS" panose="030F0702030302020204" pitchFamily="66" charset="0"/>
              </a:rPr>
              <a:t> = 256</a:t>
            </a:r>
            <a:r>
              <a:rPr lang="en-GB" b="0" i="0" u="none" strike="noStrike" baseline="-25000" dirty="0">
                <a:latin typeface="Comic Sans MS" panose="030F0702030302020204" pitchFamily="66" charset="0"/>
              </a:rPr>
              <a:t>10</a:t>
            </a:r>
            <a:r>
              <a:rPr lang="en-GB" b="0" i="0" u="none" strike="noStrike" baseline="0" dirty="0">
                <a:latin typeface="Comic Sans MS" panose="030F0702030302020204" pitchFamily="66" charset="0"/>
              </a:rPr>
              <a:t> = 2</a:t>
            </a:r>
            <a:r>
              <a:rPr lang="en-GB" b="0" i="0" u="none" strike="noStrike" baseline="30000" dirty="0">
                <a:latin typeface="Comic Sans MS" panose="030F0702030302020204" pitchFamily="66" charset="0"/>
              </a:rPr>
              <a:t>8</a:t>
            </a:r>
          </a:p>
          <a:p>
            <a:pPr algn="just"/>
            <a:r>
              <a:rPr lang="en-GB" b="0" i="0" u="none" strike="noStrike" baseline="0" dirty="0">
                <a:latin typeface="Comic Sans MS" panose="030F0702030302020204" pitchFamily="66" charset="0"/>
              </a:rPr>
              <a:t>Therefore, the maximum value that can be represented with 8 bits in unsigned binary is 2</a:t>
            </a:r>
            <a:r>
              <a:rPr lang="en-GB" b="0" i="0" u="none" strike="noStrike" baseline="30000" dirty="0">
                <a:latin typeface="Comic Sans MS" panose="030F0702030302020204" pitchFamily="66" charset="0"/>
              </a:rPr>
              <a:t>8</a:t>
            </a:r>
            <a:r>
              <a:rPr lang="en-GB" b="0" i="0" u="none" strike="noStrike" baseline="0" dirty="0">
                <a:latin typeface="Comic Sans MS" panose="030F0702030302020204" pitchFamily="66" charset="0"/>
              </a:rPr>
              <a:t> – 1 = 255.</a:t>
            </a: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It turns out that the same result is found for any number of bits. The maximum value that can be represented with </a:t>
            </a:r>
            <a:r>
              <a:rPr lang="en-GB" b="0" i="0" u="none" strike="noStrike" baseline="0" dirty="0">
                <a:solidFill>
                  <a:srgbClr val="FF0000"/>
                </a:solidFill>
                <a:latin typeface="Comic Sans MS" panose="030F0702030302020204" pitchFamily="66" charset="0"/>
              </a:rPr>
              <a:t>n</a:t>
            </a:r>
            <a:r>
              <a:rPr lang="en-GB" b="0" i="0" u="none" strike="noStrike" baseline="0" dirty="0">
                <a:latin typeface="Comic Sans MS" panose="030F0702030302020204" pitchFamily="66" charset="0"/>
              </a:rPr>
              <a:t> bits in unsigned binary </a:t>
            </a:r>
            <a:r>
              <a:rPr lang="en-GB" b="0" i="0" u="none" strike="noStrike" baseline="0" dirty="0">
                <a:solidFill>
                  <a:srgbClr val="FF0000"/>
                </a:solidFill>
                <a:latin typeface="Comic Sans MS" panose="030F0702030302020204" pitchFamily="66" charset="0"/>
              </a:rPr>
              <a:t>is 2</a:t>
            </a:r>
            <a:r>
              <a:rPr lang="en-GB" b="1" i="0" u="none" strike="noStrike" baseline="30000" dirty="0">
                <a:solidFill>
                  <a:srgbClr val="FF0000"/>
                </a:solidFill>
                <a:latin typeface="Comic Sans MS" panose="030F0702030302020204" pitchFamily="66" charset="0"/>
              </a:rPr>
              <a:t>n</a:t>
            </a:r>
            <a:r>
              <a:rPr lang="en-GB" b="0" i="0" u="none" strike="noStrike" baseline="0" dirty="0">
                <a:solidFill>
                  <a:srgbClr val="FF0000"/>
                </a:solidFill>
                <a:latin typeface="Comic Sans MS" panose="030F0702030302020204" pitchFamily="66" charset="0"/>
              </a:rPr>
              <a:t> – 1.</a:t>
            </a:r>
            <a:endParaRPr lang="en-GB" sz="40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86682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900AC58-30CD-45C8-B9E7-E84EE3D5AD60}"/>
              </a:ext>
            </a:extLst>
          </p:cNvPr>
          <p:cNvPicPr>
            <a:picLocks noGrp="1" noChangeAspect="1"/>
          </p:cNvPicPr>
          <p:nvPr>
            <p:ph idx="1"/>
          </p:nvPr>
        </p:nvPicPr>
        <p:blipFill>
          <a:blip r:embed="rId2"/>
          <a:stretch>
            <a:fillRect/>
          </a:stretch>
        </p:blipFill>
        <p:spPr>
          <a:xfrm>
            <a:off x="135582" y="116897"/>
            <a:ext cx="3404907" cy="6662594"/>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p14="http://schemas.microsoft.com/office/powerpoint/2010/main" val="2771351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5900" y="0"/>
            <a:ext cx="11728450" cy="6756400"/>
          </a:xfrm>
        </p:spPr>
        <p:txBody>
          <a:bodyPr>
            <a:normAutofit fontScale="70000" lnSpcReduction="20000"/>
          </a:bodyPr>
          <a:lstStyle/>
          <a:p>
            <a:pPr>
              <a:lnSpc>
                <a:spcPct val="150000"/>
              </a:lnSpc>
            </a:pPr>
            <a:r>
              <a:rPr lang="en-US" sz="4100" b="1" dirty="0">
                <a:latin typeface="Comic Sans MS" panose="030F0702030302020204" pitchFamily="66" charset="0"/>
              </a:rPr>
              <a:t>Binary Numbers</a:t>
            </a:r>
          </a:p>
          <a:p>
            <a:pPr>
              <a:lnSpc>
                <a:spcPct val="150000"/>
              </a:lnSpc>
            </a:pPr>
            <a:r>
              <a:rPr lang="en-US" sz="4100" b="1" dirty="0">
                <a:latin typeface="Comic Sans MS" panose="030F0702030302020204" pitchFamily="66" charset="0"/>
              </a:rPr>
              <a:t>Hexadecimal Numbers</a:t>
            </a:r>
          </a:p>
          <a:p>
            <a:pPr>
              <a:lnSpc>
                <a:spcPct val="150000"/>
              </a:lnSpc>
            </a:pPr>
            <a:r>
              <a:rPr lang="en-US" sz="4100" b="1" dirty="0">
                <a:latin typeface="Comic Sans MS" panose="030F0702030302020204" pitchFamily="66" charset="0"/>
              </a:rPr>
              <a:t>Base Conversions</a:t>
            </a:r>
          </a:p>
          <a:p>
            <a:pPr>
              <a:lnSpc>
                <a:spcPct val="150000"/>
              </a:lnSpc>
            </a:pPr>
            <a:r>
              <a:rPr lang="en-US" sz="4100" b="1" dirty="0">
                <a:latin typeface="Comic Sans MS" panose="030F0702030302020204" pitchFamily="66" charset="0"/>
              </a:rPr>
              <a:t>Integer Storage Sizes</a:t>
            </a:r>
          </a:p>
          <a:p>
            <a:pPr>
              <a:lnSpc>
                <a:spcPct val="150000"/>
              </a:lnSpc>
            </a:pPr>
            <a:r>
              <a:rPr lang="en-US" sz="4100" b="1" dirty="0">
                <a:latin typeface="Comic Sans MS" panose="030F0702030302020204" pitchFamily="66" charset="0"/>
              </a:rPr>
              <a:t>Binary and Hexadecimal Addition</a:t>
            </a:r>
          </a:p>
          <a:p>
            <a:pPr>
              <a:lnSpc>
                <a:spcPct val="150000"/>
              </a:lnSpc>
            </a:pPr>
            <a:r>
              <a:rPr lang="en-US" sz="4100" b="1" dirty="0">
                <a:latin typeface="Comic Sans MS" panose="030F0702030302020204" pitchFamily="66" charset="0"/>
              </a:rPr>
              <a:t>Signed Integers and 2's Complement Notation</a:t>
            </a:r>
          </a:p>
          <a:p>
            <a:pPr>
              <a:lnSpc>
                <a:spcPct val="150000"/>
              </a:lnSpc>
            </a:pPr>
            <a:r>
              <a:rPr lang="en-US" sz="4100" b="1" dirty="0">
                <a:latin typeface="Comic Sans MS" panose="030F0702030302020204" pitchFamily="66" charset="0"/>
              </a:rPr>
              <a:t>Binary and Hexadecimal subtraction</a:t>
            </a:r>
          </a:p>
          <a:p>
            <a:pPr>
              <a:lnSpc>
                <a:spcPct val="150000"/>
              </a:lnSpc>
            </a:pPr>
            <a:r>
              <a:rPr lang="en-US" sz="4100" b="1" dirty="0">
                <a:latin typeface="Comic Sans MS" panose="030F0702030302020204" pitchFamily="66" charset="0"/>
              </a:rPr>
              <a:t>Carry and Overflow</a:t>
            </a:r>
          </a:p>
          <a:p>
            <a:pPr>
              <a:lnSpc>
                <a:spcPct val="150000"/>
              </a:lnSpc>
            </a:pPr>
            <a:r>
              <a:rPr lang="en-US" sz="4100" b="1" dirty="0">
                <a:latin typeface="Comic Sans MS" panose="030F0702030302020204" pitchFamily="66" charset="0"/>
              </a:rPr>
              <a:t>Character Storage</a:t>
            </a:r>
          </a:p>
          <a:p>
            <a:endParaRPr lang="en-US" dirty="0"/>
          </a:p>
        </p:txBody>
      </p:sp>
    </p:spTree>
    <p:extLst>
      <p:ext uri="{BB962C8B-B14F-4D97-AF65-F5344CB8AC3E}">
        <p14:creationId xmlns:p14="http://schemas.microsoft.com/office/powerpoint/2010/main" val="19252895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10515600" cy="1325563"/>
          </a:xfrm>
        </p:spPr>
        <p:txBody>
          <a:bodyPr/>
          <a:lstStyle/>
          <a:p>
            <a:r>
              <a:rPr lang="en-US" b="1" dirty="0">
                <a:solidFill>
                  <a:srgbClr val="FF0000"/>
                </a:solidFill>
                <a:latin typeface="Comic Sans MS" panose="030F0702030302020204" pitchFamily="66" charset="0"/>
              </a:rPr>
              <a:t>Binary Numbers</a:t>
            </a:r>
          </a:p>
        </p:txBody>
      </p:sp>
      <p:sp>
        <p:nvSpPr>
          <p:cNvPr id="3" name="Content Placeholder 2"/>
          <p:cNvSpPr>
            <a:spLocks noGrp="1"/>
          </p:cNvSpPr>
          <p:nvPr>
            <p:ph idx="1"/>
          </p:nvPr>
        </p:nvSpPr>
        <p:spPr>
          <a:xfrm>
            <a:off x="457200" y="1066800"/>
            <a:ext cx="10896600" cy="5581650"/>
          </a:xfrm>
        </p:spPr>
        <p:txBody>
          <a:bodyPr/>
          <a:lstStyle/>
          <a:p>
            <a:r>
              <a:rPr lang="en-US" sz="3600" dirty="0">
                <a:latin typeface="Comic Sans MS" panose="030F0702030302020204" pitchFamily="66" charset="0"/>
              </a:rPr>
              <a:t>Digits are 1 and 0</a:t>
            </a:r>
          </a:p>
          <a:p>
            <a:pPr lvl="1"/>
            <a:r>
              <a:rPr lang="en-US" sz="3200" dirty="0">
                <a:latin typeface="Comic Sans MS" panose="030F0702030302020204" pitchFamily="66" charset="0"/>
              </a:rPr>
              <a:t>1 = true</a:t>
            </a:r>
          </a:p>
          <a:p>
            <a:pPr lvl="1"/>
            <a:r>
              <a:rPr lang="en-US" sz="3200" dirty="0">
                <a:latin typeface="Comic Sans MS" panose="030F0702030302020204" pitchFamily="66" charset="0"/>
              </a:rPr>
              <a:t>0 = false</a:t>
            </a:r>
          </a:p>
          <a:p>
            <a:r>
              <a:rPr lang="en-US" sz="3600" dirty="0">
                <a:latin typeface="Comic Sans MS" panose="030F0702030302020204" pitchFamily="66" charset="0"/>
              </a:rPr>
              <a:t>MSB – most significant bit</a:t>
            </a:r>
          </a:p>
          <a:p>
            <a:r>
              <a:rPr lang="en-US" sz="3600" dirty="0">
                <a:latin typeface="Comic Sans MS" panose="030F0702030302020204" pitchFamily="66" charset="0"/>
              </a:rPr>
              <a:t>LSB – least significant bit</a:t>
            </a:r>
          </a:p>
          <a:p>
            <a:endParaRPr lang="en-US" sz="3600" dirty="0">
              <a:latin typeface="Comic Sans MS" panose="030F0702030302020204" pitchFamily="66" charset="0"/>
            </a:endParaRPr>
          </a:p>
          <a:p>
            <a:r>
              <a:rPr lang="en-US" sz="3600" dirty="0">
                <a:latin typeface="Comic Sans MS" panose="030F0702030302020204" pitchFamily="66" charset="0"/>
              </a:rPr>
              <a:t>Bit numbering:</a:t>
            </a:r>
          </a:p>
          <a:p>
            <a:endParaRPr lang="en-US" dirty="0"/>
          </a:p>
        </p:txBody>
      </p:sp>
      <p:graphicFrame>
        <p:nvGraphicFramePr>
          <p:cNvPr id="4" name="Object 4"/>
          <p:cNvGraphicFramePr>
            <a:graphicFrameLocks noChangeAspect="1"/>
          </p:cNvGraphicFramePr>
          <p:nvPr/>
        </p:nvGraphicFramePr>
        <p:xfrm>
          <a:off x="4195762" y="5135563"/>
          <a:ext cx="3986751" cy="1150937"/>
        </p:xfrm>
        <a:graphic>
          <a:graphicData uri="http://schemas.openxmlformats.org/presentationml/2006/ole">
            <mc:AlternateContent xmlns:mc="http://schemas.openxmlformats.org/markup-compatibility/2006">
              <mc:Choice xmlns:v="urn:schemas-microsoft-com:vml" Requires="v">
                <p:oleObj spid="_x0000_s1045" name="Microsoft Visio 2000/2002 Drawing" r:id="rId3" imgW="1928160" imgH="556920" progId="Visio.Drawing.11">
                  <p:embed/>
                </p:oleObj>
              </mc:Choice>
              <mc:Fallback>
                <p:oleObj name="Microsoft Visio 2000/2002 Drawing" r:id="rId3" imgW="1928160" imgH="556920" progId="Visio.Drawing.11">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5762" y="5135563"/>
                        <a:ext cx="3986751" cy="1150937"/>
                      </a:xfrm>
                      <a:prstGeom prst="rect">
                        <a:avLst/>
                      </a:prstGeom>
                      <a:solidFill>
                        <a:schemeClr val="accent1"/>
                      </a:solidFill>
                      <a:ln>
                        <a:noFill/>
                      </a:ln>
                      <a:effectLst/>
                    </p:spPr>
                  </p:pic>
                </p:oleObj>
              </mc:Fallback>
            </mc:AlternateContent>
          </a:graphicData>
        </a:graphic>
      </p:graphicFrame>
    </p:spTree>
    <p:extLst>
      <p:ext uri="{BB962C8B-B14F-4D97-AF65-F5344CB8AC3E}">
        <p14:creationId xmlns:p14="http://schemas.microsoft.com/office/powerpoint/2010/main" val="612757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a:xfrm>
            <a:off x="1" y="0"/>
            <a:ext cx="10515600" cy="1325563"/>
          </a:xfrm>
        </p:spPr>
        <p:txBody>
          <a:bodyPr/>
          <a:lstStyle/>
          <a:p>
            <a:r>
              <a:rPr lang="en-US" dirty="0">
                <a:solidFill>
                  <a:srgbClr val="FF0000"/>
                </a:solidFill>
                <a:latin typeface="Comic Sans MS" panose="030F0702030302020204" pitchFamily="66" charset="0"/>
              </a:rPr>
              <a:t>Binary Numbers</a:t>
            </a:r>
          </a:p>
        </p:txBody>
      </p:sp>
      <p:sp>
        <p:nvSpPr>
          <p:cNvPr id="122883" name="Rectangle 3"/>
          <p:cNvSpPr>
            <a:spLocks noGrp="1" noChangeArrowheads="1"/>
          </p:cNvSpPr>
          <p:nvPr>
            <p:ph type="body" idx="1"/>
          </p:nvPr>
        </p:nvSpPr>
        <p:spPr>
          <a:xfrm>
            <a:off x="634206" y="1192213"/>
            <a:ext cx="5567363" cy="958850"/>
          </a:xfrm>
        </p:spPr>
        <p:txBody>
          <a:bodyPr>
            <a:normAutofit/>
          </a:bodyPr>
          <a:lstStyle/>
          <a:p>
            <a:r>
              <a:rPr lang="en-US" sz="2400" dirty="0">
                <a:latin typeface="Comic Sans MS" panose="030F0702030302020204" pitchFamily="66" charset="0"/>
              </a:rPr>
              <a:t>Each digit (bit) is either 1 or 0</a:t>
            </a:r>
          </a:p>
          <a:p>
            <a:r>
              <a:rPr lang="en-US" sz="2400" dirty="0">
                <a:latin typeface="Comic Sans MS" panose="030F0702030302020204" pitchFamily="66" charset="0"/>
              </a:rPr>
              <a:t>Each bit represents a power of 2:</a:t>
            </a:r>
          </a:p>
        </p:txBody>
      </p:sp>
      <p:graphicFrame>
        <p:nvGraphicFramePr>
          <p:cNvPr id="122884" name="Object 4"/>
          <p:cNvGraphicFramePr>
            <a:graphicFrameLocks noChangeAspect="1"/>
          </p:cNvGraphicFramePr>
          <p:nvPr/>
        </p:nvGraphicFramePr>
        <p:xfrm>
          <a:off x="5885894" y="541339"/>
          <a:ext cx="5611342" cy="1485899"/>
        </p:xfrm>
        <a:graphic>
          <a:graphicData uri="http://schemas.openxmlformats.org/presentationml/2006/ole">
            <mc:AlternateContent xmlns:mc="http://schemas.openxmlformats.org/markup-compatibility/2006">
              <mc:Choice xmlns:v="urn:schemas-microsoft-com:vml" Requires="v">
                <p:oleObj spid="_x0000_s2069" name="VISIO" r:id="rId3" imgW="1791000" imgH="450360" progId="Visio.Drawing.6">
                  <p:embed/>
                </p:oleObj>
              </mc:Choice>
              <mc:Fallback>
                <p:oleObj name="VISIO" r:id="rId3" imgW="1791000" imgH="450360" progId="Visio.Drawing.6">
                  <p:embed/>
                  <p:pic>
                    <p:nvPicPr>
                      <p:cNvPr id="122884" name="Object 4"/>
                      <p:cNvPicPr>
                        <a:picLocks noChangeAspect="1" noChangeArrowheads="1"/>
                      </p:cNvPicPr>
                      <p:nvPr/>
                    </p:nvPicPr>
                    <p:blipFill>
                      <a:blip r:embed="rId4">
                        <a:extLst>
                          <a:ext uri="{28A0092B-C50C-407E-A947-70E740481C1C}">
                            <a14:useLocalDpi xmlns:a14="http://schemas.microsoft.com/office/drawing/2010/main" val="0"/>
                          </a:ext>
                        </a:extLst>
                      </a:blip>
                      <a:srcRect l="-2777" t="-11035" r="-2777"/>
                      <a:stretch>
                        <a:fillRect/>
                      </a:stretch>
                    </p:blipFill>
                    <p:spPr bwMode="auto">
                      <a:xfrm>
                        <a:off x="5885894" y="541339"/>
                        <a:ext cx="5611342" cy="1485899"/>
                      </a:xfrm>
                      <a:prstGeom prst="rect">
                        <a:avLst/>
                      </a:prstGeom>
                      <a:solidFill>
                        <a:schemeClr val="accent1"/>
                      </a:solidFill>
                      <a:ln>
                        <a:noFill/>
                      </a:ln>
                      <a:effectLst/>
                    </p:spPr>
                  </p:pic>
                </p:oleObj>
              </mc:Fallback>
            </mc:AlternateContent>
          </a:graphicData>
        </a:graphic>
      </p:graphicFrame>
      <p:pic>
        <p:nvPicPr>
          <p:cNvPr id="12288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9050" y="2428557"/>
            <a:ext cx="7143750" cy="4260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886" name="Text Box 6"/>
          <p:cNvSpPr txBox="1">
            <a:spLocks noChangeArrowheads="1"/>
          </p:cNvSpPr>
          <p:nvPr/>
        </p:nvSpPr>
        <p:spPr bwMode="auto">
          <a:xfrm>
            <a:off x="323850" y="3343276"/>
            <a:ext cx="3646488"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37160" bIns="137160">
            <a:spAutoFit/>
          </a:bodyPr>
          <a:lstStyle/>
          <a:p>
            <a:pPr>
              <a:spcBef>
                <a:spcPct val="50000"/>
              </a:spcBef>
            </a:pPr>
            <a:r>
              <a:rPr lang="en-US" sz="2400" dirty="0">
                <a:latin typeface="Comic Sans MS" panose="030F0702030302020204" pitchFamily="66" charset="0"/>
              </a:rPr>
              <a:t>Every binary number is a sum of powers of 2</a:t>
            </a:r>
          </a:p>
        </p:txBody>
      </p:sp>
    </p:spTree>
    <p:extLst>
      <p:ext uri="{BB962C8B-B14F-4D97-AF65-F5344CB8AC3E}">
        <p14:creationId xmlns:p14="http://schemas.microsoft.com/office/powerpoint/2010/main" val="3667962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en-US" b="1" dirty="0">
                <a:solidFill>
                  <a:srgbClr val="FF0000"/>
                </a:solidFill>
                <a:latin typeface="Comic Sans MS" panose="030F0702030302020204" pitchFamily="66" charset="0"/>
              </a:rPr>
              <a:t>Converting Binary to Decimal</a:t>
            </a:r>
          </a:p>
        </p:txBody>
      </p:sp>
      <p:sp>
        <p:nvSpPr>
          <p:cNvPr id="123907" name="Rectangle 3"/>
          <p:cNvSpPr>
            <a:spLocks noGrp="1" noChangeArrowheads="1"/>
          </p:cNvSpPr>
          <p:nvPr>
            <p:ph type="body" idx="1"/>
          </p:nvPr>
        </p:nvSpPr>
        <p:spPr>
          <a:xfrm>
            <a:off x="566057" y="1371599"/>
            <a:ext cx="10787743" cy="5072743"/>
          </a:xfrm>
        </p:spPr>
        <p:txBody>
          <a:bodyPr>
            <a:normAutofit/>
          </a:bodyPr>
          <a:lstStyle/>
          <a:p>
            <a:pPr marL="114300" indent="0">
              <a:spcBef>
                <a:spcPts val="600"/>
              </a:spcBef>
              <a:spcAft>
                <a:spcPts val="600"/>
              </a:spcAft>
              <a:buNone/>
            </a:pPr>
            <a:r>
              <a:rPr lang="en-US" sz="3200" dirty="0">
                <a:latin typeface="Comic Sans MS" panose="030F0702030302020204" pitchFamily="66" charset="0"/>
              </a:rPr>
              <a:t>Weighted positional notation shows how to calculate the decimal value of each binary bit:</a:t>
            </a:r>
            <a:endParaRPr lang="en-US" sz="3200" i="1" dirty="0">
              <a:latin typeface="Comic Sans MS" panose="030F0702030302020204" pitchFamily="66" charset="0"/>
            </a:endParaRPr>
          </a:p>
          <a:p>
            <a:pPr marL="114300" indent="0">
              <a:spcBef>
                <a:spcPts val="600"/>
              </a:spcBef>
              <a:spcAft>
                <a:spcPts val="600"/>
              </a:spcAft>
              <a:buNone/>
            </a:pPr>
            <a:r>
              <a:rPr lang="en-US" sz="3200" i="1" dirty="0">
                <a:solidFill>
                  <a:schemeClr val="tx2"/>
                </a:solidFill>
                <a:latin typeface="Comic Sans MS" panose="030F0702030302020204" pitchFamily="66" charset="0"/>
              </a:rPr>
              <a:t>Decimal</a:t>
            </a:r>
            <a:r>
              <a:rPr lang="en-US" sz="3200" dirty="0">
                <a:solidFill>
                  <a:schemeClr val="tx2"/>
                </a:solidFill>
                <a:latin typeface="Comic Sans MS" panose="030F0702030302020204" pitchFamily="66" charset="0"/>
              </a:rPr>
              <a:t> = (</a:t>
            </a:r>
            <a:r>
              <a:rPr lang="en-US" sz="3200" i="1" dirty="0">
                <a:solidFill>
                  <a:schemeClr val="tx2"/>
                </a:solidFill>
                <a:latin typeface="Comic Sans MS" panose="030F0702030302020204" pitchFamily="66" charset="0"/>
              </a:rPr>
              <a:t>d</a:t>
            </a:r>
            <a:r>
              <a:rPr lang="en-US" sz="3200" i="1" baseline="-25000" dirty="0">
                <a:solidFill>
                  <a:schemeClr val="tx2"/>
                </a:solidFill>
                <a:latin typeface="Comic Sans MS" panose="030F0702030302020204" pitchFamily="66" charset="0"/>
              </a:rPr>
              <a:t>n-1</a:t>
            </a:r>
            <a:r>
              <a:rPr lang="en-US" sz="3200" dirty="0">
                <a:solidFill>
                  <a:schemeClr val="tx2"/>
                </a:solidFill>
                <a:latin typeface="Comic Sans MS" panose="030F0702030302020204" pitchFamily="66" charset="0"/>
              </a:rPr>
              <a:t> </a:t>
            </a:r>
            <a:r>
              <a:rPr lang="en-US" sz="3200" dirty="0">
                <a:solidFill>
                  <a:schemeClr val="tx2"/>
                </a:solidFill>
                <a:latin typeface="Comic Sans MS" panose="030F0702030302020204" pitchFamily="66" charset="0"/>
                <a:sym typeface="Symbol" panose="05050102010706020507" pitchFamily="18" charset="2"/>
              </a:rPr>
              <a:t></a:t>
            </a:r>
            <a:r>
              <a:rPr lang="en-US" sz="3200" dirty="0">
                <a:solidFill>
                  <a:schemeClr val="tx2"/>
                </a:solidFill>
                <a:latin typeface="Comic Sans MS" panose="030F0702030302020204" pitchFamily="66" charset="0"/>
              </a:rPr>
              <a:t> 2</a:t>
            </a:r>
            <a:r>
              <a:rPr lang="en-US" sz="3200" i="1" baseline="30000" dirty="0">
                <a:solidFill>
                  <a:schemeClr val="tx2"/>
                </a:solidFill>
                <a:latin typeface="Comic Sans MS" panose="030F0702030302020204" pitchFamily="66" charset="0"/>
              </a:rPr>
              <a:t>n</a:t>
            </a:r>
            <a:r>
              <a:rPr lang="en-US" sz="3200" baseline="30000" dirty="0">
                <a:solidFill>
                  <a:schemeClr val="tx2"/>
                </a:solidFill>
                <a:latin typeface="Comic Sans MS" panose="030F0702030302020204" pitchFamily="66" charset="0"/>
              </a:rPr>
              <a:t>-1</a:t>
            </a:r>
            <a:r>
              <a:rPr lang="en-US" sz="3200" dirty="0">
                <a:solidFill>
                  <a:schemeClr val="tx2"/>
                </a:solidFill>
                <a:latin typeface="Comic Sans MS" panose="030F0702030302020204" pitchFamily="66" charset="0"/>
              </a:rPr>
              <a:t>) + (</a:t>
            </a:r>
            <a:r>
              <a:rPr lang="en-US" sz="3200" i="1" dirty="0">
                <a:solidFill>
                  <a:schemeClr val="tx2"/>
                </a:solidFill>
                <a:latin typeface="Comic Sans MS" panose="030F0702030302020204" pitchFamily="66" charset="0"/>
              </a:rPr>
              <a:t>d</a:t>
            </a:r>
            <a:r>
              <a:rPr lang="en-US" sz="3200" i="1" baseline="-25000" dirty="0">
                <a:solidFill>
                  <a:schemeClr val="tx2"/>
                </a:solidFill>
                <a:latin typeface="Comic Sans MS" panose="030F0702030302020204" pitchFamily="66" charset="0"/>
              </a:rPr>
              <a:t>n-2</a:t>
            </a:r>
            <a:r>
              <a:rPr lang="en-US" sz="3200" dirty="0">
                <a:solidFill>
                  <a:schemeClr val="tx2"/>
                </a:solidFill>
                <a:latin typeface="Comic Sans MS" panose="030F0702030302020204" pitchFamily="66" charset="0"/>
              </a:rPr>
              <a:t> </a:t>
            </a:r>
            <a:r>
              <a:rPr lang="en-US" sz="3200" dirty="0">
                <a:solidFill>
                  <a:schemeClr val="tx2"/>
                </a:solidFill>
                <a:latin typeface="Comic Sans MS" panose="030F0702030302020204" pitchFamily="66" charset="0"/>
                <a:sym typeface="Symbol" panose="05050102010706020507" pitchFamily="18" charset="2"/>
              </a:rPr>
              <a:t></a:t>
            </a:r>
            <a:r>
              <a:rPr lang="en-US" sz="3200" dirty="0">
                <a:solidFill>
                  <a:schemeClr val="tx2"/>
                </a:solidFill>
                <a:latin typeface="Comic Sans MS" panose="030F0702030302020204" pitchFamily="66" charset="0"/>
              </a:rPr>
              <a:t> 2</a:t>
            </a:r>
            <a:r>
              <a:rPr lang="en-US" sz="3200" i="1" baseline="30000" dirty="0">
                <a:solidFill>
                  <a:schemeClr val="tx2"/>
                </a:solidFill>
                <a:latin typeface="Comic Sans MS" panose="030F0702030302020204" pitchFamily="66" charset="0"/>
              </a:rPr>
              <a:t>n</a:t>
            </a:r>
            <a:r>
              <a:rPr lang="en-US" sz="3200" baseline="30000" dirty="0">
                <a:solidFill>
                  <a:schemeClr val="tx2"/>
                </a:solidFill>
                <a:latin typeface="Comic Sans MS" panose="030F0702030302020204" pitchFamily="66" charset="0"/>
              </a:rPr>
              <a:t>-2</a:t>
            </a:r>
            <a:r>
              <a:rPr lang="en-US" sz="3200" dirty="0">
                <a:solidFill>
                  <a:schemeClr val="tx2"/>
                </a:solidFill>
                <a:latin typeface="Comic Sans MS" panose="030F0702030302020204" pitchFamily="66" charset="0"/>
              </a:rPr>
              <a:t>) + ... + (</a:t>
            </a:r>
            <a:r>
              <a:rPr lang="en-US" sz="3200" i="1" dirty="0">
                <a:solidFill>
                  <a:schemeClr val="tx2"/>
                </a:solidFill>
                <a:latin typeface="Comic Sans MS" panose="030F0702030302020204" pitchFamily="66" charset="0"/>
              </a:rPr>
              <a:t>d</a:t>
            </a:r>
            <a:r>
              <a:rPr lang="en-US" sz="3200" i="1" baseline="-25000" dirty="0">
                <a:solidFill>
                  <a:schemeClr val="tx2"/>
                </a:solidFill>
                <a:latin typeface="Comic Sans MS" panose="030F0702030302020204" pitchFamily="66" charset="0"/>
              </a:rPr>
              <a:t>1</a:t>
            </a:r>
            <a:r>
              <a:rPr lang="en-US" sz="3200" dirty="0">
                <a:solidFill>
                  <a:schemeClr val="tx2"/>
                </a:solidFill>
                <a:latin typeface="Comic Sans MS" panose="030F0702030302020204" pitchFamily="66" charset="0"/>
              </a:rPr>
              <a:t> </a:t>
            </a:r>
            <a:r>
              <a:rPr lang="en-US" sz="3200" dirty="0">
                <a:solidFill>
                  <a:schemeClr val="tx2"/>
                </a:solidFill>
                <a:latin typeface="Comic Sans MS" panose="030F0702030302020204" pitchFamily="66" charset="0"/>
                <a:sym typeface="Symbol" panose="05050102010706020507" pitchFamily="18" charset="2"/>
              </a:rPr>
              <a:t></a:t>
            </a:r>
            <a:r>
              <a:rPr lang="en-US" sz="3200" dirty="0">
                <a:solidFill>
                  <a:schemeClr val="tx2"/>
                </a:solidFill>
                <a:latin typeface="Comic Sans MS" panose="030F0702030302020204" pitchFamily="66" charset="0"/>
              </a:rPr>
              <a:t> 2</a:t>
            </a:r>
            <a:r>
              <a:rPr lang="en-US" sz="3200" baseline="30000" dirty="0">
                <a:solidFill>
                  <a:schemeClr val="tx2"/>
                </a:solidFill>
                <a:latin typeface="Comic Sans MS" panose="030F0702030302020204" pitchFamily="66" charset="0"/>
              </a:rPr>
              <a:t>1</a:t>
            </a:r>
            <a:r>
              <a:rPr lang="en-US" sz="3200" dirty="0">
                <a:solidFill>
                  <a:schemeClr val="tx2"/>
                </a:solidFill>
                <a:latin typeface="Comic Sans MS" panose="030F0702030302020204" pitchFamily="66" charset="0"/>
              </a:rPr>
              <a:t>) + (</a:t>
            </a:r>
            <a:r>
              <a:rPr lang="en-US" sz="3200" i="1" dirty="0">
                <a:solidFill>
                  <a:schemeClr val="tx2"/>
                </a:solidFill>
                <a:latin typeface="Comic Sans MS" panose="030F0702030302020204" pitchFamily="66" charset="0"/>
              </a:rPr>
              <a:t>d</a:t>
            </a:r>
            <a:r>
              <a:rPr lang="en-US" sz="3200" i="1" baseline="-25000" dirty="0">
                <a:solidFill>
                  <a:schemeClr val="tx2"/>
                </a:solidFill>
                <a:latin typeface="Comic Sans MS" panose="030F0702030302020204" pitchFamily="66" charset="0"/>
              </a:rPr>
              <a:t>0</a:t>
            </a:r>
            <a:r>
              <a:rPr lang="en-US" sz="3200" dirty="0">
                <a:solidFill>
                  <a:schemeClr val="tx2"/>
                </a:solidFill>
                <a:latin typeface="Comic Sans MS" panose="030F0702030302020204" pitchFamily="66" charset="0"/>
              </a:rPr>
              <a:t> </a:t>
            </a:r>
            <a:r>
              <a:rPr lang="en-US" sz="3200" dirty="0">
                <a:solidFill>
                  <a:schemeClr val="tx2"/>
                </a:solidFill>
                <a:latin typeface="Comic Sans MS" panose="030F0702030302020204" pitchFamily="66" charset="0"/>
                <a:sym typeface="Symbol" panose="05050102010706020507" pitchFamily="18" charset="2"/>
              </a:rPr>
              <a:t></a:t>
            </a:r>
            <a:r>
              <a:rPr lang="en-US" sz="3200" dirty="0">
                <a:solidFill>
                  <a:schemeClr val="tx2"/>
                </a:solidFill>
                <a:latin typeface="Comic Sans MS" panose="030F0702030302020204" pitchFamily="66" charset="0"/>
              </a:rPr>
              <a:t> 2</a:t>
            </a:r>
            <a:r>
              <a:rPr lang="en-US" sz="3200" baseline="30000" dirty="0">
                <a:solidFill>
                  <a:schemeClr val="tx2"/>
                </a:solidFill>
                <a:latin typeface="Comic Sans MS" panose="030F0702030302020204" pitchFamily="66" charset="0"/>
              </a:rPr>
              <a:t>0</a:t>
            </a:r>
            <a:r>
              <a:rPr lang="en-US" sz="3200" dirty="0">
                <a:solidFill>
                  <a:schemeClr val="tx2"/>
                </a:solidFill>
                <a:latin typeface="Comic Sans MS" panose="030F0702030302020204" pitchFamily="66" charset="0"/>
              </a:rPr>
              <a:t>)</a:t>
            </a:r>
          </a:p>
          <a:p>
            <a:pPr marL="114300" indent="0">
              <a:spcBef>
                <a:spcPts val="600"/>
              </a:spcBef>
              <a:spcAft>
                <a:spcPts val="600"/>
              </a:spcAft>
              <a:buNone/>
            </a:pPr>
            <a:r>
              <a:rPr lang="en-US" sz="3200" i="1" dirty="0">
                <a:latin typeface="Comic Sans MS" panose="030F0702030302020204" pitchFamily="66" charset="0"/>
                <a:cs typeface="Times New Roman" panose="02020603050405020304" pitchFamily="18" charset="0"/>
              </a:rPr>
              <a:t>d</a:t>
            </a:r>
            <a:r>
              <a:rPr lang="en-US" sz="3200" dirty="0">
                <a:latin typeface="Comic Sans MS" panose="030F0702030302020204" pitchFamily="66" charset="0"/>
                <a:cs typeface="Times New Roman" panose="02020603050405020304" pitchFamily="18" charset="0"/>
              </a:rPr>
              <a:t> = binary digit</a:t>
            </a:r>
          </a:p>
          <a:p>
            <a:pPr marL="114300" indent="0">
              <a:spcBef>
                <a:spcPts val="600"/>
              </a:spcBef>
              <a:spcAft>
                <a:spcPts val="600"/>
              </a:spcAft>
              <a:buNone/>
            </a:pPr>
            <a:endParaRPr lang="en-US" sz="3200" dirty="0">
              <a:latin typeface="Comic Sans MS" panose="030F0702030302020204" pitchFamily="66" charset="0"/>
              <a:cs typeface="Times New Roman" panose="02020603050405020304" pitchFamily="18" charset="0"/>
            </a:endParaRPr>
          </a:p>
          <a:p>
            <a:pPr marL="114300" indent="0">
              <a:spcBef>
                <a:spcPts val="600"/>
              </a:spcBef>
              <a:spcAft>
                <a:spcPts val="600"/>
              </a:spcAft>
              <a:buNone/>
            </a:pPr>
            <a:r>
              <a:rPr lang="en-US" sz="3200" dirty="0">
                <a:latin typeface="Comic Sans MS" panose="030F0702030302020204" pitchFamily="66" charset="0"/>
              </a:rPr>
              <a:t>binary 00001001 = decimal 9:</a:t>
            </a:r>
          </a:p>
          <a:p>
            <a:pPr marL="114300" indent="0">
              <a:spcBef>
                <a:spcPts val="600"/>
              </a:spcBef>
              <a:spcAft>
                <a:spcPts val="600"/>
              </a:spcAft>
              <a:buNone/>
            </a:pPr>
            <a:r>
              <a:rPr lang="en-US" sz="3200" dirty="0">
                <a:latin typeface="Comic Sans MS" panose="030F0702030302020204" pitchFamily="66" charset="0"/>
              </a:rPr>
              <a:t>	(1 </a:t>
            </a:r>
            <a:r>
              <a:rPr lang="en-US" sz="3200" dirty="0">
                <a:latin typeface="Comic Sans MS" panose="030F0702030302020204" pitchFamily="66" charset="0"/>
                <a:sym typeface="Symbol" panose="05050102010706020507" pitchFamily="18" charset="2"/>
              </a:rPr>
              <a:t></a:t>
            </a:r>
            <a:r>
              <a:rPr lang="en-US" sz="3200" dirty="0">
                <a:latin typeface="Comic Sans MS" panose="030F0702030302020204" pitchFamily="66" charset="0"/>
              </a:rPr>
              <a:t> 2</a:t>
            </a:r>
            <a:r>
              <a:rPr lang="en-US" sz="3200" baseline="30000" dirty="0">
                <a:latin typeface="Comic Sans MS" panose="030F0702030302020204" pitchFamily="66" charset="0"/>
              </a:rPr>
              <a:t>3</a:t>
            </a:r>
            <a:r>
              <a:rPr lang="en-US" sz="3200" dirty="0">
                <a:latin typeface="Comic Sans MS" panose="030F0702030302020204" pitchFamily="66" charset="0"/>
              </a:rPr>
              <a:t>) + (1 </a:t>
            </a:r>
            <a:r>
              <a:rPr lang="en-US" sz="3200" dirty="0">
                <a:latin typeface="Comic Sans MS" panose="030F0702030302020204" pitchFamily="66" charset="0"/>
                <a:sym typeface="Symbol" panose="05050102010706020507" pitchFamily="18" charset="2"/>
              </a:rPr>
              <a:t></a:t>
            </a:r>
            <a:r>
              <a:rPr lang="en-US" sz="3200" dirty="0">
                <a:latin typeface="Comic Sans MS" panose="030F0702030302020204" pitchFamily="66" charset="0"/>
              </a:rPr>
              <a:t> 2</a:t>
            </a:r>
            <a:r>
              <a:rPr lang="en-US" sz="3200" baseline="30000" dirty="0">
                <a:latin typeface="Comic Sans MS" panose="030F0702030302020204" pitchFamily="66" charset="0"/>
              </a:rPr>
              <a:t>0</a:t>
            </a:r>
            <a:r>
              <a:rPr lang="en-US" sz="3200" dirty="0">
                <a:latin typeface="Comic Sans MS" panose="030F0702030302020204" pitchFamily="66" charset="0"/>
              </a:rPr>
              <a:t>) = 9</a:t>
            </a:r>
          </a:p>
        </p:txBody>
      </p:sp>
    </p:spTree>
    <p:extLst>
      <p:ext uri="{BB962C8B-B14F-4D97-AF65-F5344CB8AC3E}">
        <p14:creationId xmlns:p14="http://schemas.microsoft.com/office/powerpoint/2010/main" val="632819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xfrm>
            <a:off x="838200" y="0"/>
            <a:ext cx="10515600" cy="1325563"/>
          </a:xfrm>
        </p:spPr>
        <p:txBody>
          <a:bodyPr/>
          <a:lstStyle/>
          <a:p>
            <a:r>
              <a:rPr lang="en-US" b="1" dirty="0">
                <a:solidFill>
                  <a:srgbClr val="FF0000"/>
                </a:solidFill>
                <a:latin typeface="Comic Sans MS" panose="030F0702030302020204" pitchFamily="66" charset="0"/>
              </a:rPr>
              <a:t>Convert Unsigned Decimal to Binary</a:t>
            </a:r>
          </a:p>
        </p:txBody>
      </p:sp>
      <p:sp>
        <p:nvSpPr>
          <p:cNvPr id="124931" name="Rectangle 3"/>
          <p:cNvSpPr>
            <a:spLocks noGrp="1" noChangeArrowheads="1"/>
          </p:cNvSpPr>
          <p:nvPr>
            <p:ph type="body" idx="1"/>
          </p:nvPr>
        </p:nvSpPr>
        <p:spPr>
          <a:xfrm>
            <a:off x="457200" y="1143001"/>
            <a:ext cx="11334750" cy="1133475"/>
          </a:xfrm>
        </p:spPr>
        <p:txBody>
          <a:bodyPr/>
          <a:lstStyle/>
          <a:p>
            <a:r>
              <a:rPr lang="en-US" dirty="0">
                <a:latin typeface="Comic Sans MS" panose="030F0702030302020204" pitchFamily="66" charset="0"/>
              </a:rPr>
              <a:t>Repeatedly divide the decimal integer by 2. Each remainder is a binary digit in the translated value:</a:t>
            </a:r>
          </a:p>
        </p:txBody>
      </p:sp>
      <p:grpSp>
        <p:nvGrpSpPr>
          <p:cNvPr id="124936" name="Group 8"/>
          <p:cNvGrpSpPr>
            <a:grpSpLocks/>
          </p:cNvGrpSpPr>
          <p:nvPr/>
        </p:nvGrpSpPr>
        <p:grpSpPr bwMode="auto">
          <a:xfrm>
            <a:off x="1393825" y="1955889"/>
            <a:ext cx="6164263" cy="4552950"/>
            <a:chOff x="1008" y="1344"/>
            <a:chExt cx="3312" cy="2052"/>
          </a:xfrm>
        </p:grpSpPr>
        <p:pic>
          <p:nvPicPr>
            <p:cNvPr id="12493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8" y="2208"/>
              <a:ext cx="3312" cy="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493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 y="1344"/>
              <a:ext cx="3312" cy="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24934" name="Text Box 6"/>
          <p:cNvSpPr txBox="1">
            <a:spLocks noChangeArrowheads="1"/>
          </p:cNvSpPr>
          <p:nvPr/>
        </p:nvSpPr>
        <p:spPr bwMode="auto">
          <a:xfrm>
            <a:off x="7819839" y="6278992"/>
            <a:ext cx="2209800"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pPr algn="ctr">
              <a:spcBef>
                <a:spcPct val="50000"/>
              </a:spcBef>
            </a:pPr>
            <a:r>
              <a:rPr lang="en-US" sz="2100" dirty="0"/>
              <a:t>37 = 100101</a:t>
            </a:r>
          </a:p>
        </p:txBody>
      </p:sp>
      <p:grpSp>
        <p:nvGrpSpPr>
          <p:cNvPr id="124947" name="Group 19"/>
          <p:cNvGrpSpPr>
            <a:grpSpLocks/>
          </p:cNvGrpSpPr>
          <p:nvPr/>
        </p:nvGrpSpPr>
        <p:grpSpPr bwMode="auto">
          <a:xfrm>
            <a:off x="4800722" y="5825284"/>
            <a:ext cx="2170785" cy="328062"/>
            <a:chOff x="2372" y="3212"/>
            <a:chExt cx="1705" cy="658"/>
          </a:xfrm>
        </p:grpSpPr>
        <p:sp>
          <p:nvSpPr>
            <p:cNvPr id="124937" name="Text Box 9"/>
            <p:cNvSpPr txBox="1">
              <a:spLocks noChangeArrowheads="1"/>
            </p:cNvSpPr>
            <p:nvPr/>
          </p:nvSpPr>
          <p:spPr bwMode="auto">
            <a:xfrm>
              <a:off x="2916" y="3466"/>
              <a:ext cx="1161"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dirty="0">
                  <a:solidFill>
                    <a:srgbClr val="FF0000"/>
                  </a:solidFill>
                </a:rPr>
                <a:t>stop when quotient is zero</a:t>
              </a:r>
            </a:p>
          </p:txBody>
        </p:sp>
        <p:sp>
          <p:nvSpPr>
            <p:cNvPr id="124940" name="Line 12"/>
            <p:cNvSpPr>
              <a:spLocks noChangeShapeType="1"/>
            </p:cNvSpPr>
            <p:nvPr/>
          </p:nvSpPr>
          <p:spPr bwMode="auto">
            <a:xfrm flipH="1" flipV="1">
              <a:off x="2372" y="3212"/>
              <a:ext cx="689" cy="436"/>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24945" name="Group 17"/>
          <p:cNvGrpSpPr>
            <a:grpSpLocks/>
          </p:cNvGrpSpPr>
          <p:nvPr/>
        </p:nvGrpSpPr>
        <p:grpSpPr bwMode="auto">
          <a:xfrm>
            <a:off x="6589066" y="2751251"/>
            <a:ext cx="3455988" cy="366713"/>
            <a:chOff x="3388" y="1688"/>
            <a:chExt cx="2177" cy="231"/>
          </a:xfrm>
        </p:grpSpPr>
        <p:sp>
          <p:nvSpPr>
            <p:cNvPr id="124941" name="Line 13"/>
            <p:cNvSpPr>
              <a:spLocks noChangeShapeType="1"/>
            </p:cNvSpPr>
            <p:nvPr/>
          </p:nvSpPr>
          <p:spPr bwMode="auto">
            <a:xfrm flipH="1" flipV="1">
              <a:off x="3388" y="1833"/>
              <a:ext cx="617"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4942" name="Text Box 14"/>
            <p:cNvSpPr txBox="1">
              <a:spLocks noChangeArrowheads="1"/>
            </p:cNvSpPr>
            <p:nvPr/>
          </p:nvSpPr>
          <p:spPr bwMode="auto">
            <a:xfrm>
              <a:off x="3787" y="1688"/>
              <a:ext cx="177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dirty="0">
                  <a:solidFill>
                    <a:srgbClr val="FF0000"/>
                  </a:solidFill>
                </a:rPr>
                <a:t>least significant bit</a:t>
              </a:r>
            </a:p>
          </p:txBody>
        </p:sp>
      </p:grpSp>
      <p:grpSp>
        <p:nvGrpSpPr>
          <p:cNvPr id="124946" name="Group 18"/>
          <p:cNvGrpSpPr>
            <a:grpSpLocks/>
          </p:cNvGrpSpPr>
          <p:nvPr/>
        </p:nvGrpSpPr>
        <p:grpSpPr bwMode="auto">
          <a:xfrm>
            <a:off x="6971507" y="5747334"/>
            <a:ext cx="3455988" cy="366712"/>
            <a:chOff x="3388" y="3031"/>
            <a:chExt cx="2177" cy="231"/>
          </a:xfrm>
        </p:grpSpPr>
        <p:sp>
          <p:nvSpPr>
            <p:cNvPr id="124943" name="Line 15"/>
            <p:cNvSpPr>
              <a:spLocks noChangeShapeType="1"/>
            </p:cNvSpPr>
            <p:nvPr/>
          </p:nvSpPr>
          <p:spPr bwMode="auto">
            <a:xfrm flipH="1" flipV="1">
              <a:off x="3388" y="3176"/>
              <a:ext cx="617"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4944" name="Text Box 16"/>
            <p:cNvSpPr txBox="1">
              <a:spLocks noChangeArrowheads="1"/>
            </p:cNvSpPr>
            <p:nvPr/>
          </p:nvSpPr>
          <p:spPr bwMode="auto">
            <a:xfrm>
              <a:off x="3787" y="3031"/>
              <a:ext cx="177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dirty="0">
                  <a:solidFill>
                    <a:srgbClr val="FF0000"/>
                  </a:solidFill>
                </a:rPr>
                <a:t>most significant bit</a:t>
              </a:r>
            </a:p>
          </p:txBody>
        </p:sp>
      </p:grpSp>
    </p:spTree>
    <p:extLst>
      <p:ext uri="{BB962C8B-B14F-4D97-AF65-F5344CB8AC3E}">
        <p14:creationId xmlns:p14="http://schemas.microsoft.com/office/powerpoint/2010/main" val="7951608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24945"/>
                                        </p:tgtEl>
                                        <p:attrNameLst>
                                          <p:attrName>style.visibility</p:attrName>
                                        </p:attrNameLst>
                                      </p:cBhvr>
                                      <p:to>
                                        <p:strVal val="visible"/>
                                      </p:to>
                                    </p:set>
                                    <p:animEffect transition="in" filter="dissolve">
                                      <p:cBhvr>
                                        <p:cTn id="7" dur="500"/>
                                        <p:tgtEl>
                                          <p:spTgt spid="1249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24946"/>
                                        </p:tgtEl>
                                        <p:attrNameLst>
                                          <p:attrName>style.visibility</p:attrName>
                                        </p:attrNameLst>
                                      </p:cBhvr>
                                      <p:to>
                                        <p:strVal val="visible"/>
                                      </p:to>
                                    </p:set>
                                    <p:animEffect transition="in" filter="dissolve">
                                      <p:cBhvr>
                                        <p:cTn id="12" dur="500"/>
                                        <p:tgtEl>
                                          <p:spTgt spid="1249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24947"/>
                                        </p:tgtEl>
                                        <p:attrNameLst>
                                          <p:attrName>style.visibility</p:attrName>
                                        </p:attrNameLst>
                                      </p:cBhvr>
                                      <p:to>
                                        <p:strVal val="visible"/>
                                      </p:to>
                                    </p:set>
                                    <p:animEffect transition="in" filter="dissolve">
                                      <p:cBhvr>
                                        <p:cTn id="17" dur="500"/>
                                        <p:tgtEl>
                                          <p:spTgt spid="1249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24934"/>
                                        </p:tgtEl>
                                        <p:attrNameLst>
                                          <p:attrName>style.visibility</p:attrName>
                                        </p:attrNameLst>
                                      </p:cBhvr>
                                      <p:to>
                                        <p:strVal val="visible"/>
                                      </p:to>
                                    </p:set>
                                    <p:animEffect transition="in" filter="dissolve">
                                      <p:cBhvr>
                                        <p:cTn id="22" dur="500"/>
                                        <p:tgtEl>
                                          <p:spTgt spid="124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a:xfrm>
            <a:off x="800100" y="0"/>
            <a:ext cx="10515600" cy="957431"/>
          </a:xfrm>
        </p:spPr>
        <p:txBody>
          <a:bodyPr/>
          <a:lstStyle/>
          <a:p>
            <a:r>
              <a:rPr lang="en-US" dirty="0">
                <a:solidFill>
                  <a:srgbClr val="FF0000"/>
                </a:solidFill>
                <a:latin typeface="Comic Sans MS" panose="030F0702030302020204" pitchFamily="66" charset="0"/>
              </a:rPr>
              <a:t>Hexadecimal Integers</a:t>
            </a:r>
          </a:p>
        </p:txBody>
      </p:sp>
      <p:pic>
        <p:nvPicPr>
          <p:cNvPr id="1280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4295" y="1366882"/>
            <a:ext cx="9507210" cy="5325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8004" name="Text Box 4"/>
          <p:cNvSpPr txBox="1">
            <a:spLocks noChangeArrowheads="1"/>
          </p:cNvSpPr>
          <p:nvPr/>
        </p:nvSpPr>
        <p:spPr bwMode="auto">
          <a:xfrm>
            <a:off x="2398059" y="862075"/>
            <a:ext cx="6781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pPr>
              <a:spcBef>
                <a:spcPct val="50000"/>
              </a:spcBef>
            </a:pPr>
            <a:r>
              <a:rPr lang="en-US" sz="2400" dirty="0">
                <a:latin typeface="Comic Sans MS" panose="030F0702030302020204" pitchFamily="66" charset="0"/>
              </a:rPr>
              <a:t>Binary values are represented in hexadecimal.</a:t>
            </a:r>
          </a:p>
        </p:txBody>
      </p:sp>
    </p:spTree>
    <p:extLst>
      <p:ext uri="{BB962C8B-B14F-4D97-AF65-F5344CB8AC3E}">
        <p14:creationId xmlns:p14="http://schemas.microsoft.com/office/powerpoint/2010/main" val="707332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r>
              <a:rPr lang="en-US" b="1" dirty="0">
                <a:solidFill>
                  <a:srgbClr val="FF0000"/>
                </a:solidFill>
                <a:latin typeface="Comic Sans MS" panose="030F0702030302020204" pitchFamily="66" charset="0"/>
              </a:rPr>
              <a:t>Converting Binary to Hexadecimal</a:t>
            </a:r>
          </a:p>
        </p:txBody>
      </p:sp>
      <p:sp>
        <p:nvSpPr>
          <p:cNvPr id="129027" name="Text Box 3"/>
          <p:cNvSpPr txBox="1">
            <a:spLocks noChangeArrowheads="1"/>
          </p:cNvSpPr>
          <p:nvPr/>
        </p:nvSpPr>
        <p:spPr bwMode="auto">
          <a:xfrm>
            <a:off x="838200" y="1652195"/>
            <a:ext cx="10686143"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37160" bIns="137160">
            <a:spAutoFit/>
          </a:bodyPr>
          <a:lstStyle>
            <a:lvl1pPr marL="228600" indent="-228600">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50000"/>
              </a:spcBef>
              <a:buFontTx/>
              <a:buChar char="•"/>
            </a:pPr>
            <a:r>
              <a:rPr lang="en-US" sz="2400" b="1" dirty="0">
                <a:latin typeface="Comic Sans MS" panose="030F0702030302020204" pitchFamily="66" charset="0"/>
              </a:rPr>
              <a:t>Each hexadecimal digit corresponds to 4 binary bits.</a:t>
            </a:r>
          </a:p>
          <a:p>
            <a:pPr>
              <a:spcBef>
                <a:spcPct val="50000"/>
              </a:spcBef>
              <a:buFontTx/>
              <a:buChar char="•"/>
            </a:pPr>
            <a:r>
              <a:rPr lang="en-US" sz="2400" b="1" dirty="0">
                <a:latin typeface="Comic Sans MS" panose="030F0702030302020204" pitchFamily="66" charset="0"/>
              </a:rPr>
              <a:t>Example: Translate the binary integer 000101101010011110010100 to  hexadecimal</a:t>
            </a:r>
            <a:r>
              <a:rPr lang="en-US" sz="2400" dirty="0">
                <a:latin typeface="Comic Sans MS" panose="030F0702030302020204" pitchFamily="66" charset="0"/>
              </a:rPr>
              <a:t>:</a:t>
            </a:r>
          </a:p>
        </p:txBody>
      </p:sp>
      <p:pic>
        <p:nvPicPr>
          <p:cNvPr id="129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4328" y="3738956"/>
            <a:ext cx="9903344" cy="1466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32781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a:xfrm>
            <a:off x="628650" y="0"/>
            <a:ext cx="9163050" cy="914400"/>
          </a:xfrm>
        </p:spPr>
        <p:txBody>
          <a:bodyPr>
            <a:normAutofit fontScale="90000"/>
          </a:bodyPr>
          <a:lstStyle/>
          <a:p>
            <a:r>
              <a:rPr lang="en-US" b="1" dirty="0">
                <a:solidFill>
                  <a:srgbClr val="FF0000"/>
                </a:solidFill>
                <a:latin typeface="Comic Sans MS" panose="030F0702030302020204" pitchFamily="66" charset="0"/>
              </a:rPr>
              <a:t>Converting Hexadecimal to Decimal</a:t>
            </a:r>
          </a:p>
        </p:txBody>
      </p:sp>
      <p:sp>
        <p:nvSpPr>
          <p:cNvPr id="130051" name="Rectangle 3"/>
          <p:cNvSpPr>
            <a:spLocks noGrp="1" noChangeArrowheads="1"/>
          </p:cNvSpPr>
          <p:nvPr>
            <p:ph type="body" idx="1"/>
          </p:nvPr>
        </p:nvSpPr>
        <p:spPr>
          <a:xfrm>
            <a:off x="133350" y="1104900"/>
            <a:ext cx="11868150" cy="5619750"/>
          </a:xfrm>
        </p:spPr>
        <p:txBody>
          <a:bodyPr>
            <a:normAutofit/>
          </a:bodyPr>
          <a:lstStyle/>
          <a:p>
            <a:pPr>
              <a:spcBef>
                <a:spcPct val="50000"/>
              </a:spcBef>
            </a:pPr>
            <a:r>
              <a:rPr lang="en-US" dirty="0">
                <a:latin typeface="Comic Sans MS" panose="030F0702030302020204" pitchFamily="66" charset="0"/>
              </a:rPr>
              <a:t>Multiply each digit by its corresponding power of 16:</a:t>
            </a:r>
          </a:p>
          <a:p>
            <a:pPr>
              <a:spcBef>
                <a:spcPct val="50000"/>
              </a:spcBef>
              <a:buFont typeface="Wingdings" panose="05000000000000000000" pitchFamily="2" charset="2"/>
              <a:buNone/>
            </a:pPr>
            <a:r>
              <a:rPr lang="en-US" i="1" dirty="0">
                <a:latin typeface="Comic Sans MS" panose="030F0702030302020204" pitchFamily="66" charset="0"/>
                <a:cs typeface="Times New Roman" panose="02020603050405020304" pitchFamily="18" charset="0"/>
              </a:rPr>
              <a:t>	</a:t>
            </a:r>
            <a:r>
              <a:rPr lang="en-US" i="1" dirty="0">
                <a:solidFill>
                  <a:srgbClr val="FF0000"/>
                </a:solidFill>
                <a:latin typeface="Comic Sans MS" panose="030F0702030302020204" pitchFamily="66" charset="0"/>
                <a:cs typeface="Times New Roman" panose="02020603050405020304" pitchFamily="18" charset="0"/>
              </a:rPr>
              <a:t>Decimal</a:t>
            </a:r>
            <a:r>
              <a:rPr lang="en-US" dirty="0">
                <a:latin typeface="Comic Sans MS" panose="030F0702030302020204" pitchFamily="66" charset="0"/>
                <a:cs typeface="Times New Roman" panose="02020603050405020304" pitchFamily="18" charset="0"/>
              </a:rPr>
              <a:t> = (</a:t>
            </a:r>
            <a:r>
              <a:rPr lang="en-US" i="1" dirty="0">
                <a:latin typeface="Comic Sans MS" panose="030F0702030302020204" pitchFamily="66" charset="0"/>
                <a:cs typeface="Times New Roman" panose="02020603050405020304" pitchFamily="18" charset="0"/>
              </a:rPr>
              <a:t>d</a:t>
            </a:r>
            <a:r>
              <a:rPr lang="en-US" baseline="-25000" dirty="0">
                <a:latin typeface="Comic Sans MS" panose="030F0702030302020204" pitchFamily="66" charset="0"/>
                <a:cs typeface="Times New Roman" panose="02020603050405020304" pitchFamily="18" charset="0"/>
              </a:rPr>
              <a:t>3</a:t>
            </a:r>
            <a:r>
              <a:rPr lang="en-US" dirty="0">
                <a:latin typeface="Comic Sans MS" panose="030F0702030302020204" pitchFamily="66" charset="0"/>
                <a:cs typeface="Times New Roman" panose="02020603050405020304" pitchFamily="18" charset="0"/>
              </a:rPr>
              <a:t> </a:t>
            </a:r>
            <a:r>
              <a:rPr lang="en-US" dirty="0">
                <a:latin typeface="Comic Sans MS" panose="030F0702030302020204" pitchFamily="66" charset="0"/>
                <a:cs typeface="Times New Roman" panose="02020603050405020304" pitchFamily="18" charset="0"/>
                <a:sym typeface="Symbol" panose="05050102010706020507" pitchFamily="18" charset="2"/>
              </a:rPr>
              <a:t></a:t>
            </a:r>
            <a:r>
              <a:rPr lang="en-US" dirty="0">
                <a:latin typeface="Comic Sans MS" panose="030F0702030302020204" pitchFamily="66" charset="0"/>
                <a:cs typeface="Times New Roman" panose="02020603050405020304" pitchFamily="18" charset="0"/>
              </a:rPr>
              <a:t> 16</a:t>
            </a:r>
            <a:r>
              <a:rPr lang="en-US" baseline="30000" dirty="0">
                <a:latin typeface="Comic Sans MS" panose="030F0702030302020204" pitchFamily="66" charset="0"/>
                <a:cs typeface="Times New Roman" panose="02020603050405020304" pitchFamily="18" charset="0"/>
              </a:rPr>
              <a:t>3</a:t>
            </a:r>
            <a:r>
              <a:rPr lang="en-US" dirty="0">
                <a:latin typeface="Comic Sans MS" panose="030F0702030302020204" pitchFamily="66" charset="0"/>
                <a:cs typeface="Times New Roman" panose="02020603050405020304" pitchFamily="18" charset="0"/>
              </a:rPr>
              <a:t>) + (</a:t>
            </a:r>
            <a:r>
              <a:rPr lang="en-US" i="1" dirty="0">
                <a:latin typeface="Comic Sans MS" panose="030F0702030302020204" pitchFamily="66" charset="0"/>
                <a:cs typeface="Times New Roman" panose="02020603050405020304" pitchFamily="18" charset="0"/>
              </a:rPr>
              <a:t>d</a:t>
            </a:r>
            <a:r>
              <a:rPr lang="en-US" baseline="-25000" dirty="0">
                <a:latin typeface="Comic Sans MS" panose="030F0702030302020204" pitchFamily="66" charset="0"/>
                <a:cs typeface="Times New Roman" panose="02020603050405020304" pitchFamily="18" charset="0"/>
              </a:rPr>
              <a:t>2</a:t>
            </a:r>
            <a:r>
              <a:rPr lang="en-US" dirty="0">
                <a:latin typeface="Comic Sans MS" panose="030F0702030302020204" pitchFamily="66" charset="0"/>
                <a:cs typeface="Times New Roman" panose="02020603050405020304" pitchFamily="18" charset="0"/>
              </a:rPr>
              <a:t> </a:t>
            </a:r>
            <a:r>
              <a:rPr lang="en-US" dirty="0">
                <a:latin typeface="Comic Sans MS" panose="030F0702030302020204" pitchFamily="66" charset="0"/>
                <a:cs typeface="Times New Roman" panose="02020603050405020304" pitchFamily="18" charset="0"/>
                <a:sym typeface="Symbol" panose="05050102010706020507" pitchFamily="18" charset="2"/>
              </a:rPr>
              <a:t></a:t>
            </a:r>
            <a:r>
              <a:rPr lang="en-US" dirty="0">
                <a:latin typeface="Comic Sans MS" panose="030F0702030302020204" pitchFamily="66" charset="0"/>
                <a:cs typeface="Times New Roman" panose="02020603050405020304" pitchFamily="18" charset="0"/>
              </a:rPr>
              <a:t> 16</a:t>
            </a:r>
            <a:r>
              <a:rPr lang="en-US" baseline="30000" dirty="0">
                <a:latin typeface="Comic Sans MS" panose="030F0702030302020204" pitchFamily="66" charset="0"/>
                <a:cs typeface="Times New Roman" panose="02020603050405020304" pitchFamily="18" charset="0"/>
              </a:rPr>
              <a:t>2</a:t>
            </a:r>
            <a:r>
              <a:rPr lang="en-US" dirty="0">
                <a:latin typeface="Comic Sans MS" panose="030F0702030302020204" pitchFamily="66" charset="0"/>
                <a:cs typeface="Times New Roman" panose="02020603050405020304" pitchFamily="18" charset="0"/>
              </a:rPr>
              <a:t>) + (</a:t>
            </a:r>
            <a:r>
              <a:rPr lang="en-US" i="1" dirty="0">
                <a:latin typeface="Comic Sans MS" panose="030F0702030302020204" pitchFamily="66" charset="0"/>
                <a:cs typeface="Times New Roman" panose="02020603050405020304" pitchFamily="18" charset="0"/>
              </a:rPr>
              <a:t>d</a:t>
            </a:r>
            <a:r>
              <a:rPr lang="en-US" baseline="-25000" dirty="0">
                <a:latin typeface="Comic Sans MS" panose="030F0702030302020204" pitchFamily="66" charset="0"/>
                <a:cs typeface="Times New Roman" panose="02020603050405020304" pitchFamily="18" charset="0"/>
              </a:rPr>
              <a:t>1</a:t>
            </a:r>
            <a:r>
              <a:rPr lang="en-US" dirty="0">
                <a:latin typeface="Comic Sans MS" panose="030F0702030302020204" pitchFamily="66" charset="0"/>
                <a:cs typeface="Times New Roman" panose="02020603050405020304" pitchFamily="18" charset="0"/>
              </a:rPr>
              <a:t> </a:t>
            </a:r>
            <a:r>
              <a:rPr lang="en-US" dirty="0">
                <a:latin typeface="Comic Sans MS" panose="030F0702030302020204" pitchFamily="66" charset="0"/>
                <a:cs typeface="Times New Roman" panose="02020603050405020304" pitchFamily="18" charset="0"/>
                <a:sym typeface="Symbol" panose="05050102010706020507" pitchFamily="18" charset="2"/>
              </a:rPr>
              <a:t></a:t>
            </a:r>
            <a:r>
              <a:rPr lang="en-US" dirty="0">
                <a:latin typeface="Comic Sans MS" panose="030F0702030302020204" pitchFamily="66" charset="0"/>
                <a:cs typeface="Times New Roman" panose="02020603050405020304" pitchFamily="18" charset="0"/>
              </a:rPr>
              <a:t> 16</a:t>
            </a:r>
            <a:r>
              <a:rPr lang="en-US" baseline="30000" dirty="0">
                <a:latin typeface="Comic Sans MS" panose="030F0702030302020204" pitchFamily="66" charset="0"/>
                <a:cs typeface="Times New Roman" panose="02020603050405020304" pitchFamily="18" charset="0"/>
              </a:rPr>
              <a:t>1</a:t>
            </a:r>
            <a:r>
              <a:rPr lang="en-US" dirty="0">
                <a:latin typeface="Comic Sans MS" panose="030F0702030302020204" pitchFamily="66" charset="0"/>
                <a:cs typeface="Times New Roman" panose="02020603050405020304" pitchFamily="18" charset="0"/>
              </a:rPr>
              <a:t>) + (</a:t>
            </a:r>
            <a:r>
              <a:rPr lang="en-US" i="1" dirty="0">
                <a:latin typeface="Comic Sans MS" panose="030F0702030302020204" pitchFamily="66" charset="0"/>
                <a:cs typeface="Times New Roman" panose="02020603050405020304" pitchFamily="18" charset="0"/>
              </a:rPr>
              <a:t>d</a:t>
            </a:r>
            <a:r>
              <a:rPr lang="en-US" baseline="-25000" dirty="0">
                <a:latin typeface="Comic Sans MS" panose="030F0702030302020204" pitchFamily="66" charset="0"/>
                <a:cs typeface="Times New Roman" panose="02020603050405020304" pitchFamily="18" charset="0"/>
              </a:rPr>
              <a:t>0</a:t>
            </a:r>
            <a:r>
              <a:rPr lang="en-US" dirty="0">
                <a:latin typeface="Comic Sans MS" panose="030F0702030302020204" pitchFamily="66" charset="0"/>
                <a:cs typeface="Times New Roman" panose="02020603050405020304" pitchFamily="18" charset="0"/>
              </a:rPr>
              <a:t> </a:t>
            </a:r>
            <a:r>
              <a:rPr lang="en-US" dirty="0">
                <a:latin typeface="Comic Sans MS" panose="030F0702030302020204" pitchFamily="66" charset="0"/>
                <a:cs typeface="Times New Roman" panose="02020603050405020304" pitchFamily="18" charset="0"/>
                <a:sym typeface="Symbol" panose="05050102010706020507" pitchFamily="18" charset="2"/>
              </a:rPr>
              <a:t></a:t>
            </a:r>
            <a:r>
              <a:rPr lang="en-US" dirty="0">
                <a:latin typeface="Comic Sans MS" panose="030F0702030302020204" pitchFamily="66" charset="0"/>
                <a:cs typeface="Times New Roman" panose="02020603050405020304" pitchFamily="18" charset="0"/>
              </a:rPr>
              <a:t> 16</a:t>
            </a:r>
            <a:r>
              <a:rPr lang="en-US" baseline="30000" dirty="0">
                <a:latin typeface="Comic Sans MS" panose="030F0702030302020204" pitchFamily="66" charset="0"/>
                <a:cs typeface="Times New Roman" panose="02020603050405020304" pitchFamily="18" charset="0"/>
              </a:rPr>
              <a:t>0</a:t>
            </a:r>
            <a:r>
              <a:rPr lang="en-US" dirty="0">
                <a:latin typeface="Comic Sans MS" panose="030F0702030302020204" pitchFamily="66" charset="0"/>
                <a:cs typeface="Times New Roman" panose="02020603050405020304" pitchFamily="18" charset="0"/>
              </a:rPr>
              <a:t>)</a:t>
            </a:r>
          </a:p>
          <a:p>
            <a:pPr>
              <a:spcBef>
                <a:spcPct val="50000"/>
              </a:spcBef>
              <a:spcAft>
                <a:spcPts val="600"/>
              </a:spcAft>
              <a:buNone/>
            </a:pPr>
            <a:r>
              <a:rPr lang="en-US" dirty="0">
                <a:latin typeface="Comic Sans MS" panose="030F0702030302020204" pitchFamily="66" charset="0"/>
                <a:cs typeface="Times New Roman" panose="02020603050405020304" pitchFamily="18" charset="0"/>
              </a:rPr>
              <a:t>	</a:t>
            </a:r>
            <a:r>
              <a:rPr lang="en-US" i="1" dirty="0">
                <a:latin typeface="Comic Sans MS" panose="030F0702030302020204" pitchFamily="66" charset="0"/>
                <a:cs typeface="Times New Roman" panose="02020603050405020304" pitchFamily="18" charset="0"/>
              </a:rPr>
              <a:t>d</a:t>
            </a:r>
            <a:r>
              <a:rPr lang="en-US" dirty="0">
                <a:latin typeface="Comic Sans MS" panose="030F0702030302020204" pitchFamily="66" charset="0"/>
                <a:cs typeface="Times New Roman" panose="02020603050405020304" pitchFamily="18" charset="0"/>
              </a:rPr>
              <a:t> = hexadecimal digit</a:t>
            </a:r>
          </a:p>
          <a:p>
            <a:pPr>
              <a:spcBef>
                <a:spcPct val="50000"/>
              </a:spcBef>
              <a:spcAft>
                <a:spcPts val="600"/>
              </a:spcAft>
            </a:pPr>
            <a:r>
              <a:rPr lang="en-US" dirty="0">
                <a:latin typeface="Comic Sans MS" panose="030F0702030302020204" pitchFamily="66" charset="0"/>
              </a:rPr>
              <a:t>Examples:</a:t>
            </a:r>
          </a:p>
          <a:p>
            <a:pPr lvl="1">
              <a:spcBef>
                <a:spcPct val="50000"/>
              </a:spcBef>
              <a:spcAft>
                <a:spcPts val="600"/>
              </a:spcAft>
            </a:pPr>
            <a:r>
              <a:rPr lang="en-US" dirty="0">
                <a:latin typeface="Comic Sans MS" panose="030F0702030302020204" pitchFamily="66" charset="0"/>
              </a:rPr>
              <a:t>Hex 1234 = (1 </a:t>
            </a:r>
            <a:r>
              <a:rPr lang="en-US" dirty="0">
                <a:latin typeface="Comic Sans MS" panose="030F0702030302020204" pitchFamily="66" charset="0"/>
                <a:sym typeface="Symbol" panose="05050102010706020507" pitchFamily="18" charset="2"/>
              </a:rPr>
              <a:t></a:t>
            </a:r>
            <a:r>
              <a:rPr lang="en-US" dirty="0">
                <a:latin typeface="Comic Sans MS" panose="030F0702030302020204" pitchFamily="66" charset="0"/>
              </a:rPr>
              <a:t> 16</a:t>
            </a:r>
            <a:r>
              <a:rPr lang="en-US" baseline="30000" dirty="0">
                <a:latin typeface="Comic Sans MS" panose="030F0702030302020204" pitchFamily="66" charset="0"/>
              </a:rPr>
              <a:t>3</a:t>
            </a:r>
            <a:r>
              <a:rPr lang="en-US" dirty="0">
                <a:latin typeface="Comic Sans MS" panose="030F0702030302020204" pitchFamily="66" charset="0"/>
              </a:rPr>
              <a:t>) + (2 </a:t>
            </a:r>
            <a:r>
              <a:rPr lang="en-US" dirty="0">
                <a:latin typeface="Comic Sans MS" panose="030F0702030302020204" pitchFamily="66" charset="0"/>
                <a:sym typeface="Symbol" panose="05050102010706020507" pitchFamily="18" charset="2"/>
              </a:rPr>
              <a:t></a:t>
            </a:r>
            <a:r>
              <a:rPr lang="en-US" dirty="0">
                <a:latin typeface="Comic Sans MS" panose="030F0702030302020204" pitchFamily="66" charset="0"/>
              </a:rPr>
              <a:t> 16</a:t>
            </a:r>
            <a:r>
              <a:rPr lang="en-US" baseline="30000" dirty="0">
                <a:latin typeface="Comic Sans MS" panose="030F0702030302020204" pitchFamily="66" charset="0"/>
              </a:rPr>
              <a:t>2</a:t>
            </a:r>
            <a:r>
              <a:rPr lang="en-US" dirty="0">
                <a:latin typeface="Comic Sans MS" panose="030F0702030302020204" pitchFamily="66" charset="0"/>
              </a:rPr>
              <a:t>) + (3 </a:t>
            </a:r>
            <a:r>
              <a:rPr lang="en-US" dirty="0">
                <a:latin typeface="Comic Sans MS" panose="030F0702030302020204" pitchFamily="66" charset="0"/>
                <a:sym typeface="Symbol" panose="05050102010706020507" pitchFamily="18" charset="2"/>
              </a:rPr>
              <a:t></a:t>
            </a:r>
            <a:r>
              <a:rPr lang="en-US" dirty="0">
                <a:latin typeface="Comic Sans MS" panose="030F0702030302020204" pitchFamily="66" charset="0"/>
              </a:rPr>
              <a:t> 16</a:t>
            </a:r>
            <a:r>
              <a:rPr lang="en-US" baseline="30000" dirty="0">
                <a:latin typeface="Comic Sans MS" panose="030F0702030302020204" pitchFamily="66" charset="0"/>
              </a:rPr>
              <a:t>1</a:t>
            </a:r>
            <a:r>
              <a:rPr lang="en-US" dirty="0">
                <a:latin typeface="Comic Sans MS" panose="030F0702030302020204" pitchFamily="66" charset="0"/>
              </a:rPr>
              <a:t>) + (4 </a:t>
            </a:r>
            <a:r>
              <a:rPr lang="en-US" dirty="0">
                <a:latin typeface="Comic Sans MS" panose="030F0702030302020204" pitchFamily="66" charset="0"/>
                <a:sym typeface="Symbol" panose="05050102010706020507" pitchFamily="18" charset="2"/>
              </a:rPr>
              <a:t></a:t>
            </a:r>
            <a:r>
              <a:rPr lang="en-US" dirty="0">
                <a:latin typeface="Comic Sans MS" panose="030F0702030302020204" pitchFamily="66" charset="0"/>
              </a:rPr>
              <a:t> 16</a:t>
            </a:r>
            <a:r>
              <a:rPr lang="en-US" baseline="30000" dirty="0">
                <a:latin typeface="Comic Sans MS" panose="030F0702030302020204" pitchFamily="66" charset="0"/>
              </a:rPr>
              <a:t>0</a:t>
            </a:r>
            <a:r>
              <a:rPr lang="en-US" dirty="0">
                <a:latin typeface="Comic Sans MS" panose="030F0702030302020204" pitchFamily="66" charset="0"/>
              </a:rPr>
              <a:t>) =</a:t>
            </a:r>
          </a:p>
          <a:p>
            <a:pPr lvl="1">
              <a:spcBef>
                <a:spcPct val="50000"/>
              </a:spcBef>
              <a:spcAft>
                <a:spcPts val="600"/>
              </a:spcAft>
              <a:buNone/>
            </a:pPr>
            <a:r>
              <a:rPr lang="en-US" dirty="0">
                <a:latin typeface="Comic Sans MS" panose="030F0702030302020204" pitchFamily="66" charset="0"/>
              </a:rPr>
              <a:t>	Decimal 4,660 </a:t>
            </a:r>
          </a:p>
          <a:p>
            <a:pPr lvl="1">
              <a:spcBef>
                <a:spcPct val="50000"/>
              </a:spcBef>
              <a:spcAft>
                <a:spcPts val="600"/>
              </a:spcAft>
            </a:pPr>
            <a:r>
              <a:rPr lang="en-US" dirty="0">
                <a:latin typeface="Comic Sans MS" panose="030F0702030302020204" pitchFamily="66" charset="0"/>
              </a:rPr>
              <a:t>Hex 3BA4 = (3 </a:t>
            </a:r>
            <a:r>
              <a:rPr lang="en-US" dirty="0">
                <a:latin typeface="Comic Sans MS" panose="030F0702030302020204" pitchFamily="66" charset="0"/>
                <a:sym typeface="Symbol" panose="05050102010706020507" pitchFamily="18" charset="2"/>
              </a:rPr>
              <a:t></a:t>
            </a:r>
            <a:r>
              <a:rPr lang="en-US" dirty="0">
                <a:latin typeface="Comic Sans MS" panose="030F0702030302020204" pitchFamily="66" charset="0"/>
              </a:rPr>
              <a:t> 16</a:t>
            </a:r>
            <a:r>
              <a:rPr lang="en-US" baseline="30000" dirty="0">
                <a:latin typeface="Comic Sans MS" panose="030F0702030302020204" pitchFamily="66" charset="0"/>
              </a:rPr>
              <a:t>3</a:t>
            </a:r>
            <a:r>
              <a:rPr lang="en-US" dirty="0">
                <a:latin typeface="Comic Sans MS" panose="030F0702030302020204" pitchFamily="66" charset="0"/>
              </a:rPr>
              <a:t>) + (11 * 16</a:t>
            </a:r>
            <a:r>
              <a:rPr lang="en-US" baseline="30000" dirty="0">
                <a:latin typeface="Comic Sans MS" panose="030F0702030302020204" pitchFamily="66" charset="0"/>
              </a:rPr>
              <a:t>2</a:t>
            </a:r>
            <a:r>
              <a:rPr lang="en-US" dirty="0">
                <a:latin typeface="Comic Sans MS" panose="030F0702030302020204" pitchFamily="66" charset="0"/>
              </a:rPr>
              <a:t>) + (10 </a:t>
            </a:r>
            <a:r>
              <a:rPr lang="en-US" dirty="0">
                <a:latin typeface="Comic Sans MS" panose="030F0702030302020204" pitchFamily="66" charset="0"/>
                <a:sym typeface="Symbol" panose="05050102010706020507" pitchFamily="18" charset="2"/>
              </a:rPr>
              <a:t></a:t>
            </a:r>
            <a:r>
              <a:rPr lang="en-US" dirty="0">
                <a:latin typeface="Comic Sans MS" panose="030F0702030302020204" pitchFamily="66" charset="0"/>
              </a:rPr>
              <a:t> 16</a:t>
            </a:r>
            <a:r>
              <a:rPr lang="en-US" baseline="30000" dirty="0">
                <a:latin typeface="Comic Sans MS" panose="030F0702030302020204" pitchFamily="66" charset="0"/>
              </a:rPr>
              <a:t>1</a:t>
            </a:r>
            <a:r>
              <a:rPr lang="en-US" dirty="0">
                <a:latin typeface="Comic Sans MS" panose="030F0702030302020204" pitchFamily="66" charset="0"/>
              </a:rPr>
              <a:t>) + (4 </a:t>
            </a:r>
            <a:r>
              <a:rPr lang="en-US" dirty="0">
                <a:latin typeface="Comic Sans MS" panose="030F0702030302020204" pitchFamily="66" charset="0"/>
                <a:sym typeface="Symbol" panose="05050102010706020507" pitchFamily="18" charset="2"/>
              </a:rPr>
              <a:t></a:t>
            </a:r>
            <a:r>
              <a:rPr lang="en-US" dirty="0">
                <a:latin typeface="Comic Sans MS" panose="030F0702030302020204" pitchFamily="66" charset="0"/>
              </a:rPr>
              <a:t> 16</a:t>
            </a:r>
            <a:r>
              <a:rPr lang="en-US" baseline="30000" dirty="0">
                <a:latin typeface="Comic Sans MS" panose="030F0702030302020204" pitchFamily="66" charset="0"/>
              </a:rPr>
              <a:t>0</a:t>
            </a:r>
            <a:r>
              <a:rPr lang="en-US" dirty="0">
                <a:latin typeface="Comic Sans MS" panose="030F0702030302020204" pitchFamily="66" charset="0"/>
              </a:rPr>
              <a:t>) =</a:t>
            </a:r>
          </a:p>
          <a:p>
            <a:pPr lvl="1">
              <a:spcBef>
                <a:spcPct val="50000"/>
              </a:spcBef>
              <a:spcAft>
                <a:spcPts val="600"/>
              </a:spcAft>
              <a:buNone/>
            </a:pPr>
            <a:r>
              <a:rPr lang="en-US" dirty="0">
                <a:latin typeface="Comic Sans MS" panose="030F0702030302020204" pitchFamily="66" charset="0"/>
              </a:rPr>
              <a:t>	Decimal 15,268</a:t>
            </a:r>
          </a:p>
        </p:txBody>
      </p:sp>
    </p:spTree>
    <p:extLst>
      <p:ext uri="{BB962C8B-B14F-4D97-AF65-F5344CB8AC3E}">
        <p14:creationId xmlns:p14="http://schemas.microsoft.com/office/powerpoint/2010/main" val="11552684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838200" y="27783"/>
            <a:ext cx="10515600" cy="942181"/>
          </a:xfrm>
        </p:spPr>
        <p:txBody>
          <a:bodyPr/>
          <a:lstStyle/>
          <a:p>
            <a:r>
              <a:rPr lang="en-US" b="1" dirty="0">
                <a:solidFill>
                  <a:srgbClr val="FF0000"/>
                </a:solidFill>
                <a:latin typeface="Comic Sans MS" panose="030F0702030302020204" pitchFamily="66" charset="0"/>
              </a:rPr>
              <a:t>Converting Decimal to Hexadecimal</a:t>
            </a:r>
          </a:p>
        </p:txBody>
      </p:sp>
      <p:pic>
        <p:nvPicPr>
          <p:cNvPr id="132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639" y="2522539"/>
            <a:ext cx="6805824" cy="2525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2100" name="Text Box 4"/>
          <p:cNvSpPr txBox="1">
            <a:spLocks noChangeArrowheads="1"/>
          </p:cNvSpPr>
          <p:nvPr/>
        </p:nvSpPr>
        <p:spPr bwMode="auto">
          <a:xfrm>
            <a:off x="3352800" y="5919878"/>
            <a:ext cx="5334000"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pPr algn="ctr">
              <a:spcBef>
                <a:spcPct val="50000"/>
              </a:spcBef>
            </a:pPr>
            <a:r>
              <a:rPr lang="en-US" sz="2100" dirty="0">
                <a:latin typeface="Comic Sans MS" panose="030F0702030302020204" pitchFamily="66" charset="0"/>
              </a:rPr>
              <a:t>Decimal 422 = 1A6 hexadecimal</a:t>
            </a:r>
          </a:p>
        </p:txBody>
      </p:sp>
      <p:grpSp>
        <p:nvGrpSpPr>
          <p:cNvPr id="132110" name="Group 14"/>
          <p:cNvGrpSpPr>
            <a:grpSpLocks/>
          </p:cNvGrpSpPr>
          <p:nvPr/>
        </p:nvGrpSpPr>
        <p:grpSpPr bwMode="auto">
          <a:xfrm>
            <a:off x="4278314" y="4803821"/>
            <a:ext cx="2649537" cy="1101725"/>
            <a:chOff x="2299" y="2584"/>
            <a:chExt cx="1669" cy="694"/>
          </a:xfrm>
        </p:grpSpPr>
        <p:sp>
          <p:nvSpPr>
            <p:cNvPr id="132101" name="Text Box 5"/>
            <p:cNvSpPr txBox="1">
              <a:spLocks noChangeArrowheads="1"/>
            </p:cNvSpPr>
            <p:nvPr/>
          </p:nvSpPr>
          <p:spPr bwMode="auto">
            <a:xfrm>
              <a:off x="2807" y="2874"/>
              <a:ext cx="1161"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solidFill>
                    <a:srgbClr val="FF0000"/>
                  </a:solidFill>
                </a:rPr>
                <a:t>stop when quotient is zero</a:t>
              </a:r>
            </a:p>
          </p:txBody>
        </p:sp>
        <p:sp>
          <p:nvSpPr>
            <p:cNvPr id="132102" name="Line 6"/>
            <p:cNvSpPr>
              <a:spLocks noChangeShapeType="1"/>
            </p:cNvSpPr>
            <p:nvPr/>
          </p:nvSpPr>
          <p:spPr bwMode="auto">
            <a:xfrm flipH="1" flipV="1">
              <a:off x="2299" y="2584"/>
              <a:ext cx="689" cy="436"/>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32108" name="Group 12"/>
          <p:cNvGrpSpPr>
            <a:grpSpLocks/>
          </p:cNvGrpSpPr>
          <p:nvPr/>
        </p:nvGrpSpPr>
        <p:grpSpPr bwMode="auto">
          <a:xfrm>
            <a:off x="6753229" y="3167449"/>
            <a:ext cx="3398837" cy="366712"/>
            <a:chOff x="3315" y="1881"/>
            <a:chExt cx="2141" cy="231"/>
          </a:xfrm>
        </p:grpSpPr>
        <p:sp>
          <p:nvSpPr>
            <p:cNvPr id="132103" name="Line 7"/>
            <p:cNvSpPr>
              <a:spLocks noChangeShapeType="1"/>
            </p:cNvSpPr>
            <p:nvPr/>
          </p:nvSpPr>
          <p:spPr bwMode="auto">
            <a:xfrm flipH="1" flipV="1">
              <a:off x="3315" y="2004"/>
              <a:ext cx="617"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2104" name="Text Box 8"/>
            <p:cNvSpPr txBox="1">
              <a:spLocks noChangeArrowheads="1"/>
            </p:cNvSpPr>
            <p:nvPr/>
          </p:nvSpPr>
          <p:spPr bwMode="auto">
            <a:xfrm>
              <a:off x="3823" y="1881"/>
              <a:ext cx="16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solidFill>
                    <a:srgbClr val="FF0000"/>
                  </a:solidFill>
                </a:rPr>
                <a:t>least significant digit</a:t>
              </a:r>
            </a:p>
          </p:txBody>
        </p:sp>
      </p:grpSp>
      <p:grpSp>
        <p:nvGrpSpPr>
          <p:cNvPr id="132109" name="Group 13"/>
          <p:cNvGrpSpPr>
            <a:grpSpLocks/>
          </p:cNvGrpSpPr>
          <p:nvPr/>
        </p:nvGrpSpPr>
        <p:grpSpPr bwMode="auto">
          <a:xfrm>
            <a:off x="6759578" y="4506099"/>
            <a:ext cx="3398837" cy="366713"/>
            <a:chOff x="3315" y="2426"/>
            <a:chExt cx="2141" cy="231"/>
          </a:xfrm>
        </p:grpSpPr>
        <p:sp>
          <p:nvSpPr>
            <p:cNvPr id="132105" name="Line 9"/>
            <p:cNvSpPr>
              <a:spLocks noChangeShapeType="1"/>
            </p:cNvSpPr>
            <p:nvPr/>
          </p:nvSpPr>
          <p:spPr bwMode="auto">
            <a:xfrm flipH="1" flipV="1">
              <a:off x="3315" y="2548"/>
              <a:ext cx="617"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2106" name="Text Box 10"/>
            <p:cNvSpPr txBox="1">
              <a:spLocks noChangeArrowheads="1"/>
            </p:cNvSpPr>
            <p:nvPr/>
          </p:nvSpPr>
          <p:spPr bwMode="auto">
            <a:xfrm>
              <a:off x="3859" y="2426"/>
              <a:ext cx="159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solidFill>
                    <a:srgbClr val="FF0000"/>
                  </a:solidFill>
                </a:rPr>
                <a:t>most significant digit</a:t>
              </a:r>
            </a:p>
          </p:txBody>
        </p:sp>
      </p:grpSp>
      <p:sp>
        <p:nvSpPr>
          <p:cNvPr id="132107" name="Rectangle 11"/>
          <p:cNvSpPr>
            <a:spLocks noChangeArrowheads="1"/>
          </p:cNvSpPr>
          <p:nvPr/>
        </p:nvSpPr>
        <p:spPr bwMode="auto">
          <a:xfrm>
            <a:off x="133350" y="1062037"/>
            <a:ext cx="11772900" cy="113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7663" indent="-347663">
              <a:spcBef>
                <a:spcPct val="40000"/>
              </a:spcBef>
              <a:buFont typeface="Wingdings" panose="05000000000000000000" pitchFamily="2" charset="2"/>
              <a:buChar char="v"/>
              <a:defRPr sz="2400">
                <a:solidFill>
                  <a:schemeClr val="tx1"/>
                </a:solidFill>
                <a:latin typeface="Arial" panose="020B0604020202020204" pitchFamily="34" charset="0"/>
                <a:cs typeface="Arial" panose="020B0604020202020204" pitchFamily="34" charset="0"/>
              </a:defRPr>
            </a:lvl1pPr>
            <a:lvl2pPr marL="798513" indent="-336550">
              <a:spcBef>
                <a:spcPct val="40000"/>
              </a:spcBef>
              <a:buFont typeface="Wingdings" panose="05000000000000000000" pitchFamily="2" charset="2"/>
              <a:buChar char="²"/>
              <a:defRPr sz="2000">
                <a:solidFill>
                  <a:schemeClr val="tx1"/>
                </a:solidFill>
                <a:latin typeface="Arial" panose="020B0604020202020204" pitchFamily="34" charset="0"/>
                <a:cs typeface="Arial" panose="020B0604020202020204" pitchFamily="34" charset="0"/>
              </a:defRPr>
            </a:lvl2pPr>
            <a:lvl3pPr marL="1144588" indent="-231775">
              <a:spcBef>
                <a:spcPct val="4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481138" indent="-222250">
              <a:spcBef>
                <a:spcPct val="40000"/>
              </a:spcBef>
              <a:buChar char="–"/>
              <a:defRPr sz="1600">
                <a:solidFill>
                  <a:schemeClr val="tx1"/>
                </a:solidFill>
                <a:latin typeface="Arial" panose="020B0604020202020204" pitchFamily="34" charset="0"/>
                <a:cs typeface="Arial" panose="020B0604020202020204" pitchFamily="34" charset="0"/>
              </a:defRPr>
            </a:lvl4pPr>
            <a:lvl5pPr indent="-233363">
              <a:spcBef>
                <a:spcPct val="40000"/>
              </a:spcBef>
              <a:buChar char="»"/>
              <a:defRPr sz="1600">
                <a:solidFill>
                  <a:schemeClr val="tx1"/>
                </a:solidFill>
                <a:latin typeface="Arial" panose="020B0604020202020204" pitchFamily="34" charset="0"/>
                <a:cs typeface="Arial" panose="020B0604020202020204" pitchFamily="34" charset="0"/>
              </a:defRPr>
            </a:lvl5pPr>
            <a:lvl6pPr indent="-233363" fontAlgn="base">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6pPr>
            <a:lvl7pPr indent="-233363" fontAlgn="base">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7pPr>
            <a:lvl8pPr indent="-233363" fontAlgn="base">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8pPr>
            <a:lvl9pPr indent="-233363" fontAlgn="base">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r>
              <a:rPr lang="en-US" sz="2800" dirty="0">
                <a:latin typeface="Comic Sans MS" panose="030F0702030302020204" pitchFamily="66" charset="0"/>
              </a:rPr>
              <a:t>Repeatedly divide the decimal integer by 16. Each remainder is a hex digit in the translated value</a:t>
            </a:r>
            <a:r>
              <a:rPr lang="en-US" dirty="0">
                <a:latin typeface="Comic Sans MS" panose="030F0702030302020204" pitchFamily="66" charset="0"/>
              </a:rPr>
              <a:t>:</a:t>
            </a:r>
          </a:p>
        </p:txBody>
      </p:sp>
    </p:spTree>
    <p:extLst>
      <p:ext uri="{BB962C8B-B14F-4D97-AF65-F5344CB8AC3E}">
        <p14:creationId xmlns:p14="http://schemas.microsoft.com/office/powerpoint/2010/main" val="13578880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32108"/>
                                        </p:tgtEl>
                                        <p:attrNameLst>
                                          <p:attrName>style.visibility</p:attrName>
                                        </p:attrNameLst>
                                      </p:cBhvr>
                                      <p:to>
                                        <p:strVal val="visible"/>
                                      </p:to>
                                    </p:set>
                                    <p:animEffect transition="in" filter="dissolve">
                                      <p:cBhvr>
                                        <p:cTn id="7" dur="500"/>
                                        <p:tgtEl>
                                          <p:spTgt spid="1321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32109"/>
                                        </p:tgtEl>
                                        <p:attrNameLst>
                                          <p:attrName>style.visibility</p:attrName>
                                        </p:attrNameLst>
                                      </p:cBhvr>
                                      <p:to>
                                        <p:strVal val="visible"/>
                                      </p:to>
                                    </p:set>
                                    <p:animEffect transition="in" filter="dissolve">
                                      <p:cBhvr>
                                        <p:cTn id="12" dur="500"/>
                                        <p:tgtEl>
                                          <p:spTgt spid="13210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32110"/>
                                        </p:tgtEl>
                                        <p:attrNameLst>
                                          <p:attrName>style.visibility</p:attrName>
                                        </p:attrNameLst>
                                      </p:cBhvr>
                                      <p:to>
                                        <p:strVal val="visible"/>
                                      </p:to>
                                    </p:set>
                                    <p:animEffect transition="in" filter="dissolve">
                                      <p:cBhvr>
                                        <p:cTn id="17" dur="500"/>
                                        <p:tgtEl>
                                          <p:spTgt spid="1321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2100"/>
                                        </p:tgtEl>
                                        <p:attrNameLst>
                                          <p:attrName>style.visibility</p:attrName>
                                        </p:attrNameLst>
                                      </p:cBhvr>
                                      <p:to>
                                        <p:strVal val="visible"/>
                                      </p:to>
                                    </p:set>
                                    <p:animEffect transition="in" filter="dissolve">
                                      <p:cBhvr>
                                        <p:cTn id="22" dur="500"/>
                                        <p:tgtEl>
                                          <p:spTgt spid="132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a:xfrm>
            <a:off x="800100" y="33337"/>
            <a:ext cx="10515600" cy="1325563"/>
          </a:xfrm>
        </p:spPr>
        <p:txBody>
          <a:bodyPr/>
          <a:lstStyle/>
          <a:p>
            <a:r>
              <a:rPr lang="en-US" b="1" dirty="0">
                <a:solidFill>
                  <a:srgbClr val="FF0000"/>
                </a:solidFill>
                <a:latin typeface="Comic Sans MS" panose="030F0702030302020204" pitchFamily="66" charset="0"/>
              </a:rPr>
              <a:t>Integer Storage Sizes</a:t>
            </a:r>
          </a:p>
        </p:txBody>
      </p:sp>
      <p:graphicFrame>
        <p:nvGraphicFramePr>
          <p:cNvPr id="126979" name="Object 3"/>
          <p:cNvGraphicFramePr>
            <a:graphicFrameLocks noChangeAspect="1"/>
          </p:cNvGraphicFramePr>
          <p:nvPr/>
        </p:nvGraphicFramePr>
        <p:xfrm>
          <a:off x="5128120" y="1200570"/>
          <a:ext cx="4392330" cy="1714080"/>
        </p:xfrm>
        <a:graphic>
          <a:graphicData uri="http://schemas.openxmlformats.org/presentationml/2006/ole">
            <mc:AlternateContent xmlns:mc="http://schemas.openxmlformats.org/markup-compatibility/2006">
              <mc:Choice xmlns:v="urn:schemas-microsoft-com:vml" Requires="v">
                <p:oleObj spid="_x0000_s3093" name="VISIO" r:id="rId3" imgW="2926800" imgH="892080" progId="Visio.Drawing.6">
                  <p:embed/>
                </p:oleObj>
              </mc:Choice>
              <mc:Fallback>
                <p:oleObj name="VISIO" r:id="rId3" imgW="2926800" imgH="892080" progId="Visio.Drawing.6">
                  <p:embed/>
                  <p:pic>
                    <p:nvPicPr>
                      <p:cNvPr id="126979" name="Object 3"/>
                      <p:cNvPicPr>
                        <a:picLocks noChangeAspect="1" noChangeArrowheads="1"/>
                      </p:cNvPicPr>
                      <p:nvPr/>
                    </p:nvPicPr>
                    <p:blipFill>
                      <a:blip r:embed="rId4">
                        <a:extLst>
                          <a:ext uri="{28A0092B-C50C-407E-A947-70E740481C1C}">
                            <a14:useLocalDpi xmlns:a14="http://schemas.microsoft.com/office/drawing/2010/main" val="0"/>
                          </a:ext>
                        </a:extLst>
                      </a:blip>
                      <a:srcRect l="11111" t="-7295" r="-2223" b="-9422"/>
                      <a:stretch>
                        <a:fillRect/>
                      </a:stretch>
                    </p:blipFill>
                    <p:spPr bwMode="auto">
                      <a:xfrm>
                        <a:off x="5128120" y="1200570"/>
                        <a:ext cx="4392330" cy="1714080"/>
                      </a:xfrm>
                      <a:prstGeom prst="rect">
                        <a:avLst/>
                      </a:prstGeom>
                      <a:solidFill>
                        <a:schemeClr val="accent1"/>
                      </a:solidFill>
                      <a:ln>
                        <a:noFill/>
                      </a:ln>
                      <a:effectLst/>
                    </p:spPr>
                  </p:pic>
                </p:oleObj>
              </mc:Fallback>
            </mc:AlternateContent>
          </a:graphicData>
        </a:graphic>
      </p:graphicFrame>
      <p:sp>
        <p:nvSpPr>
          <p:cNvPr id="126981" name="Text Box 5"/>
          <p:cNvSpPr txBox="1">
            <a:spLocks noChangeArrowheads="1"/>
          </p:cNvSpPr>
          <p:nvPr/>
        </p:nvSpPr>
        <p:spPr bwMode="auto">
          <a:xfrm>
            <a:off x="1262743" y="5717778"/>
            <a:ext cx="8257707" cy="104644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37160" bIns="137160">
            <a:spAutoFit/>
          </a:bodyPr>
          <a:lstStyle/>
          <a:p>
            <a:pPr>
              <a:spcBef>
                <a:spcPct val="50000"/>
              </a:spcBef>
            </a:pPr>
            <a:r>
              <a:rPr lang="en-US" sz="2000" dirty="0">
                <a:solidFill>
                  <a:srgbClr val="FF0000"/>
                </a:solidFill>
                <a:latin typeface="Comic Sans MS" panose="030F0702030302020204" pitchFamily="66" charset="0"/>
              </a:rPr>
              <a:t>Class work </a:t>
            </a:r>
          </a:p>
          <a:p>
            <a:pPr>
              <a:spcBef>
                <a:spcPct val="50000"/>
              </a:spcBef>
            </a:pPr>
            <a:r>
              <a:rPr lang="en-US" sz="2000" dirty="0">
                <a:solidFill>
                  <a:schemeClr val="tx2"/>
                </a:solidFill>
                <a:latin typeface="Comic Sans MS" panose="030F0702030302020204" pitchFamily="66" charset="0"/>
              </a:rPr>
              <a:t>What is the largest unsigned integer that may be stored in 20 bits</a:t>
            </a:r>
            <a:r>
              <a:rPr lang="en-US" sz="1700" dirty="0">
                <a:solidFill>
                  <a:schemeClr val="tx2"/>
                </a:solidFill>
                <a:latin typeface="Comic Sans MS" panose="030F0702030302020204" pitchFamily="66" charset="0"/>
              </a:rPr>
              <a:t>?</a:t>
            </a:r>
          </a:p>
        </p:txBody>
      </p:sp>
      <p:sp>
        <p:nvSpPr>
          <p:cNvPr id="126982" name="Text Box 6"/>
          <p:cNvSpPr txBox="1">
            <a:spLocks noChangeArrowheads="1"/>
          </p:cNvSpPr>
          <p:nvPr/>
        </p:nvSpPr>
        <p:spPr bwMode="auto">
          <a:xfrm>
            <a:off x="2362200" y="1458074"/>
            <a:ext cx="2384920"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37160" bIns="137160">
            <a:spAutoFit/>
          </a:bodyPr>
          <a:lstStyle/>
          <a:p>
            <a:pPr>
              <a:spcBef>
                <a:spcPct val="50000"/>
              </a:spcBef>
            </a:pPr>
            <a:r>
              <a:rPr lang="en-US" sz="2100" dirty="0">
                <a:latin typeface="Comic Sans MS" panose="030F0702030302020204" pitchFamily="66" charset="0"/>
              </a:rPr>
              <a:t>Standard sizes:</a:t>
            </a:r>
          </a:p>
        </p:txBody>
      </p:sp>
      <p:pic>
        <p:nvPicPr>
          <p:cNvPr id="12698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9137" y="3029346"/>
            <a:ext cx="8254463" cy="268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68685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6981"/>
                                        </p:tgtEl>
                                        <p:attrNameLst>
                                          <p:attrName>style.visibility</p:attrName>
                                        </p:attrNameLst>
                                      </p:cBhvr>
                                      <p:to>
                                        <p:strVal val="visible"/>
                                      </p:to>
                                    </p:set>
                                    <p:animEffect transition="in" filter="dissolve">
                                      <p:cBhvr>
                                        <p:cTn id="7" dur="500"/>
                                        <p:tgtEl>
                                          <p:spTgt spid="1269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1"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6CA710-751E-4A65-B9C1-6E502C05E19B}"/>
              </a:ext>
            </a:extLst>
          </p:cNvPr>
          <p:cNvSpPr>
            <a:spLocks noGrp="1"/>
          </p:cNvSpPr>
          <p:nvPr>
            <p:ph idx="1"/>
          </p:nvPr>
        </p:nvSpPr>
        <p:spPr>
          <a:xfrm>
            <a:off x="71718" y="62752"/>
            <a:ext cx="12120282" cy="6714565"/>
          </a:xfrm>
        </p:spPr>
        <p:txBody>
          <a:bodyPr/>
          <a:lstStyle/>
          <a:p>
            <a:pPr algn="ctr"/>
            <a:endParaRPr lang="en-GB" sz="2800" b="1" dirty="0">
              <a:solidFill>
                <a:srgbClr val="FF0000"/>
              </a:solidFill>
              <a:effectLst/>
              <a:latin typeface="Comic Sans MS" panose="030F0702030302020204" pitchFamily="66" charset="0"/>
              <a:ea typeface="Calibri" panose="020F0502020204030204" pitchFamily="34" charset="0"/>
              <a:cs typeface="TimesNewRomanPS-BoldMT"/>
            </a:endParaRPr>
          </a:p>
          <a:p>
            <a:pPr algn="ctr"/>
            <a:endParaRPr lang="en-GB" b="1" dirty="0">
              <a:solidFill>
                <a:srgbClr val="FF0000"/>
              </a:solidFill>
              <a:latin typeface="Comic Sans MS" panose="030F0702030302020204" pitchFamily="66" charset="0"/>
              <a:ea typeface="Calibri" panose="020F0502020204030204" pitchFamily="34" charset="0"/>
              <a:cs typeface="TimesNewRomanPS-BoldMT"/>
            </a:endParaRPr>
          </a:p>
          <a:p>
            <a:pPr algn="ctr"/>
            <a:r>
              <a:rPr lang="en-GB" sz="4800" b="1" dirty="0">
                <a:solidFill>
                  <a:srgbClr val="FF0000"/>
                </a:solidFill>
                <a:effectLst/>
                <a:latin typeface="Comic Sans MS" panose="030F0702030302020204" pitchFamily="66" charset="0"/>
                <a:ea typeface="Calibri" panose="020F0502020204030204" pitchFamily="34" charset="0"/>
                <a:cs typeface="TimesNewRomanPS-BoldMT"/>
              </a:rPr>
              <a:t>Binary Math and Signed Representations</a:t>
            </a:r>
            <a:endParaRPr lang="en-GB" sz="4800" b="1" dirty="0">
              <a:solidFill>
                <a:srgbClr val="FF0000"/>
              </a:solidFill>
              <a:effectLst/>
              <a:latin typeface="Comic Sans MS" panose="030F0702030302020204" pitchFamily="66" charset="0"/>
              <a:ea typeface="Calibri" panose="020F0502020204030204" pitchFamily="34" charset="0"/>
              <a:cs typeface="Times New Roman" panose="02020603050405020304" pitchFamily="18" charset="0"/>
            </a:endParaRPr>
          </a:p>
          <a:p>
            <a:endParaRPr lang="en-GB" dirty="0"/>
          </a:p>
          <a:p>
            <a:endParaRPr lang="en-GB" dirty="0"/>
          </a:p>
          <a:p>
            <a:pPr algn="ctr"/>
            <a:r>
              <a:rPr lang="en-GB" sz="3600" b="1" dirty="0">
                <a:latin typeface="Comic Sans MS" panose="030F0702030302020204" pitchFamily="66" charset="0"/>
              </a:rPr>
              <a:t>Alamu Femi O. PhD </a:t>
            </a:r>
          </a:p>
        </p:txBody>
      </p:sp>
    </p:spTree>
    <p:extLst>
      <p:ext uri="{BB962C8B-B14F-4D97-AF65-F5344CB8AC3E}">
        <p14:creationId xmlns:p14="http://schemas.microsoft.com/office/powerpoint/2010/main" val="33472913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a:xfrm>
            <a:off x="736600" y="5557"/>
            <a:ext cx="10515600" cy="1325563"/>
          </a:xfrm>
        </p:spPr>
        <p:txBody>
          <a:bodyPr/>
          <a:lstStyle/>
          <a:p>
            <a:r>
              <a:rPr lang="en-US" b="1" dirty="0">
                <a:solidFill>
                  <a:srgbClr val="FF0000"/>
                </a:solidFill>
                <a:latin typeface="Comic Sans MS" panose="030F0702030302020204" pitchFamily="66" charset="0"/>
              </a:rPr>
              <a:t>Binary Addition</a:t>
            </a:r>
          </a:p>
        </p:txBody>
      </p:sp>
      <p:sp>
        <p:nvSpPr>
          <p:cNvPr id="125955" name="Rectangle 3"/>
          <p:cNvSpPr>
            <a:spLocks noGrp="1" noChangeArrowheads="1"/>
          </p:cNvSpPr>
          <p:nvPr>
            <p:ph type="body" idx="1"/>
          </p:nvPr>
        </p:nvSpPr>
        <p:spPr>
          <a:xfrm>
            <a:off x="736600" y="1030541"/>
            <a:ext cx="10089220" cy="1998663"/>
          </a:xfrm>
        </p:spPr>
        <p:txBody>
          <a:bodyPr>
            <a:noAutofit/>
          </a:bodyPr>
          <a:lstStyle/>
          <a:p>
            <a:r>
              <a:rPr lang="en-US" sz="3200" dirty="0">
                <a:latin typeface="Comic Sans MS" panose="030F0702030302020204" pitchFamily="66" charset="0"/>
              </a:rPr>
              <a:t>Start with the least significant bit (rightmost bit)</a:t>
            </a:r>
          </a:p>
          <a:p>
            <a:r>
              <a:rPr lang="en-US" sz="3200" dirty="0">
                <a:latin typeface="Comic Sans MS" panose="030F0702030302020204" pitchFamily="66" charset="0"/>
              </a:rPr>
              <a:t>Add each pair of bits</a:t>
            </a:r>
          </a:p>
          <a:p>
            <a:r>
              <a:rPr lang="en-US" sz="3200" dirty="0">
                <a:latin typeface="Comic Sans MS" panose="030F0702030302020204" pitchFamily="66" charset="0"/>
              </a:rPr>
              <a:t>Include the carry in the addition, if present</a:t>
            </a:r>
          </a:p>
        </p:txBody>
      </p:sp>
      <p:grpSp>
        <p:nvGrpSpPr>
          <p:cNvPr id="126023" name="Group 71"/>
          <p:cNvGrpSpPr>
            <a:grpSpLocks/>
          </p:cNvGrpSpPr>
          <p:nvPr/>
        </p:nvGrpSpPr>
        <p:grpSpPr bwMode="auto">
          <a:xfrm>
            <a:off x="1333500" y="3101978"/>
            <a:ext cx="9505950" cy="3332162"/>
            <a:chOff x="1440" y="2101"/>
            <a:chExt cx="2928" cy="1511"/>
          </a:xfrm>
        </p:grpSpPr>
        <p:sp>
          <p:nvSpPr>
            <p:cNvPr id="125957" name="AutoShape 5"/>
            <p:cNvSpPr>
              <a:spLocks noChangeAspect="1" noChangeArrowheads="1" noTextEdit="1"/>
            </p:cNvSpPr>
            <p:nvPr/>
          </p:nvSpPr>
          <p:spPr bwMode="auto">
            <a:xfrm>
              <a:off x="1440" y="2101"/>
              <a:ext cx="2928" cy="151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25959" name="Rectangle 7"/>
            <p:cNvSpPr>
              <a:spLocks noChangeArrowheads="1"/>
            </p:cNvSpPr>
            <p:nvPr/>
          </p:nvSpPr>
          <p:spPr bwMode="auto">
            <a:xfrm>
              <a:off x="2111" y="2668"/>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25960" name="Rectangle 8"/>
            <p:cNvSpPr>
              <a:spLocks noChangeArrowheads="1"/>
            </p:cNvSpPr>
            <p:nvPr/>
          </p:nvSpPr>
          <p:spPr bwMode="auto">
            <a:xfrm>
              <a:off x="2186" y="2706"/>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25961" name="Rectangle 9"/>
            <p:cNvSpPr>
              <a:spLocks noChangeArrowheads="1"/>
            </p:cNvSpPr>
            <p:nvPr/>
          </p:nvSpPr>
          <p:spPr bwMode="auto">
            <a:xfrm>
              <a:off x="2328" y="2668"/>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25962" name="Rectangle 10"/>
            <p:cNvSpPr>
              <a:spLocks noChangeArrowheads="1"/>
            </p:cNvSpPr>
            <p:nvPr/>
          </p:nvSpPr>
          <p:spPr bwMode="auto">
            <a:xfrm>
              <a:off x="2403" y="2706"/>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25963" name="Rectangle 11"/>
            <p:cNvSpPr>
              <a:spLocks noChangeArrowheads="1"/>
            </p:cNvSpPr>
            <p:nvPr/>
          </p:nvSpPr>
          <p:spPr bwMode="auto">
            <a:xfrm>
              <a:off x="2545" y="2668"/>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25964" name="Rectangle 12"/>
            <p:cNvSpPr>
              <a:spLocks noChangeArrowheads="1"/>
            </p:cNvSpPr>
            <p:nvPr/>
          </p:nvSpPr>
          <p:spPr bwMode="auto">
            <a:xfrm>
              <a:off x="2620" y="2706"/>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25965" name="Rectangle 13"/>
            <p:cNvSpPr>
              <a:spLocks noChangeArrowheads="1"/>
            </p:cNvSpPr>
            <p:nvPr/>
          </p:nvSpPr>
          <p:spPr bwMode="auto">
            <a:xfrm>
              <a:off x="2762" y="2668"/>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25966" name="Rectangle 14"/>
            <p:cNvSpPr>
              <a:spLocks noChangeArrowheads="1"/>
            </p:cNvSpPr>
            <p:nvPr/>
          </p:nvSpPr>
          <p:spPr bwMode="auto">
            <a:xfrm>
              <a:off x="2837" y="2706"/>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25967" name="Rectangle 15"/>
            <p:cNvSpPr>
              <a:spLocks noChangeArrowheads="1"/>
            </p:cNvSpPr>
            <p:nvPr/>
          </p:nvSpPr>
          <p:spPr bwMode="auto">
            <a:xfrm>
              <a:off x="2979" y="2668"/>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25968" name="Rectangle 16"/>
            <p:cNvSpPr>
              <a:spLocks noChangeArrowheads="1"/>
            </p:cNvSpPr>
            <p:nvPr/>
          </p:nvSpPr>
          <p:spPr bwMode="auto">
            <a:xfrm>
              <a:off x="3054" y="2706"/>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25969" name="Rectangle 17"/>
            <p:cNvSpPr>
              <a:spLocks noChangeArrowheads="1"/>
            </p:cNvSpPr>
            <p:nvPr/>
          </p:nvSpPr>
          <p:spPr bwMode="auto">
            <a:xfrm>
              <a:off x="3196" y="2668"/>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25970" name="Rectangle 18"/>
            <p:cNvSpPr>
              <a:spLocks noChangeArrowheads="1"/>
            </p:cNvSpPr>
            <p:nvPr/>
          </p:nvSpPr>
          <p:spPr bwMode="auto">
            <a:xfrm>
              <a:off x="3271" y="2706"/>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25971" name="Rectangle 19"/>
            <p:cNvSpPr>
              <a:spLocks noChangeArrowheads="1"/>
            </p:cNvSpPr>
            <p:nvPr/>
          </p:nvSpPr>
          <p:spPr bwMode="auto">
            <a:xfrm>
              <a:off x="3413" y="2668"/>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25972" name="Rectangle 20"/>
            <p:cNvSpPr>
              <a:spLocks noChangeArrowheads="1"/>
            </p:cNvSpPr>
            <p:nvPr/>
          </p:nvSpPr>
          <p:spPr bwMode="auto">
            <a:xfrm>
              <a:off x="3488" y="2706"/>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25973" name="Rectangle 21"/>
            <p:cNvSpPr>
              <a:spLocks noChangeArrowheads="1"/>
            </p:cNvSpPr>
            <p:nvPr/>
          </p:nvSpPr>
          <p:spPr bwMode="auto">
            <a:xfrm>
              <a:off x="3630" y="2668"/>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25974" name="Rectangle 22"/>
            <p:cNvSpPr>
              <a:spLocks noChangeArrowheads="1"/>
            </p:cNvSpPr>
            <p:nvPr/>
          </p:nvSpPr>
          <p:spPr bwMode="auto">
            <a:xfrm>
              <a:off x="3705" y="2706"/>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25975" name="Rectangle 23"/>
            <p:cNvSpPr>
              <a:spLocks noChangeArrowheads="1"/>
            </p:cNvSpPr>
            <p:nvPr/>
          </p:nvSpPr>
          <p:spPr bwMode="auto">
            <a:xfrm>
              <a:off x="2111" y="2342"/>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25976" name="Rectangle 24"/>
            <p:cNvSpPr>
              <a:spLocks noChangeArrowheads="1"/>
            </p:cNvSpPr>
            <p:nvPr/>
          </p:nvSpPr>
          <p:spPr bwMode="auto">
            <a:xfrm>
              <a:off x="2186" y="23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25977" name="Rectangle 25"/>
            <p:cNvSpPr>
              <a:spLocks noChangeArrowheads="1"/>
            </p:cNvSpPr>
            <p:nvPr/>
          </p:nvSpPr>
          <p:spPr bwMode="auto">
            <a:xfrm>
              <a:off x="2328" y="2342"/>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25978" name="Rectangle 26"/>
            <p:cNvSpPr>
              <a:spLocks noChangeArrowheads="1"/>
            </p:cNvSpPr>
            <p:nvPr/>
          </p:nvSpPr>
          <p:spPr bwMode="auto">
            <a:xfrm>
              <a:off x="2403" y="23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25979" name="Rectangle 27"/>
            <p:cNvSpPr>
              <a:spLocks noChangeArrowheads="1"/>
            </p:cNvSpPr>
            <p:nvPr/>
          </p:nvSpPr>
          <p:spPr bwMode="auto">
            <a:xfrm>
              <a:off x="2545" y="2342"/>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25980" name="Rectangle 28"/>
            <p:cNvSpPr>
              <a:spLocks noChangeArrowheads="1"/>
            </p:cNvSpPr>
            <p:nvPr/>
          </p:nvSpPr>
          <p:spPr bwMode="auto">
            <a:xfrm>
              <a:off x="2620" y="23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25981" name="Rectangle 29"/>
            <p:cNvSpPr>
              <a:spLocks noChangeArrowheads="1"/>
            </p:cNvSpPr>
            <p:nvPr/>
          </p:nvSpPr>
          <p:spPr bwMode="auto">
            <a:xfrm>
              <a:off x="2762" y="2342"/>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25982" name="Rectangle 30"/>
            <p:cNvSpPr>
              <a:spLocks noChangeArrowheads="1"/>
            </p:cNvSpPr>
            <p:nvPr/>
          </p:nvSpPr>
          <p:spPr bwMode="auto">
            <a:xfrm>
              <a:off x="2837" y="23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25983" name="Rectangle 31"/>
            <p:cNvSpPr>
              <a:spLocks noChangeArrowheads="1"/>
            </p:cNvSpPr>
            <p:nvPr/>
          </p:nvSpPr>
          <p:spPr bwMode="auto">
            <a:xfrm>
              <a:off x="2979" y="2342"/>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25984" name="Rectangle 32"/>
            <p:cNvSpPr>
              <a:spLocks noChangeArrowheads="1"/>
            </p:cNvSpPr>
            <p:nvPr/>
          </p:nvSpPr>
          <p:spPr bwMode="auto">
            <a:xfrm>
              <a:off x="3054" y="23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25985" name="Rectangle 33"/>
            <p:cNvSpPr>
              <a:spLocks noChangeArrowheads="1"/>
            </p:cNvSpPr>
            <p:nvPr/>
          </p:nvSpPr>
          <p:spPr bwMode="auto">
            <a:xfrm>
              <a:off x="3196" y="2342"/>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25986" name="Rectangle 34"/>
            <p:cNvSpPr>
              <a:spLocks noChangeArrowheads="1"/>
            </p:cNvSpPr>
            <p:nvPr/>
          </p:nvSpPr>
          <p:spPr bwMode="auto">
            <a:xfrm>
              <a:off x="3271" y="23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25987" name="Rectangle 35"/>
            <p:cNvSpPr>
              <a:spLocks noChangeArrowheads="1"/>
            </p:cNvSpPr>
            <p:nvPr/>
          </p:nvSpPr>
          <p:spPr bwMode="auto">
            <a:xfrm>
              <a:off x="3413" y="2342"/>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25988" name="Rectangle 36"/>
            <p:cNvSpPr>
              <a:spLocks noChangeArrowheads="1"/>
            </p:cNvSpPr>
            <p:nvPr/>
          </p:nvSpPr>
          <p:spPr bwMode="auto">
            <a:xfrm>
              <a:off x="3488" y="23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25989" name="Rectangle 37"/>
            <p:cNvSpPr>
              <a:spLocks noChangeArrowheads="1"/>
            </p:cNvSpPr>
            <p:nvPr/>
          </p:nvSpPr>
          <p:spPr bwMode="auto">
            <a:xfrm>
              <a:off x="3630" y="2342"/>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25990" name="Rectangle 38"/>
            <p:cNvSpPr>
              <a:spLocks noChangeArrowheads="1"/>
            </p:cNvSpPr>
            <p:nvPr/>
          </p:nvSpPr>
          <p:spPr bwMode="auto">
            <a:xfrm>
              <a:off x="3705" y="23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25991" name="Line 39"/>
            <p:cNvSpPr>
              <a:spLocks noChangeShapeType="1"/>
            </p:cNvSpPr>
            <p:nvPr/>
          </p:nvSpPr>
          <p:spPr bwMode="auto">
            <a:xfrm>
              <a:off x="1785" y="2994"/>
              <a:ext cx="2062"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992" name="Rectangle 40"/>
            <p:cNvSpPr>
              <a:spLocks noChangeArrowheads="1"/>
            </p:cNvSpPr>
            <p:nvPr/>
          </p:nvSpPr>
          <p:spPr bwMode="auto">
            <a:xfrm>
              <a:off x="1879" y="2685"/>
              <a:ext cx="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b="1">
                  <a:solidFill>
                    <a:srgbClr val="000000"/>
                  </a:solidFill>
                  <a:latin typeface="Helvetica" panose="020B0604020202020204" pitchFamily="34" charset="0"/>
                </a:rPr>
                <a:t>+</a:t>
              </a:r>
              <a:endParaRPr lang="en-US"/>
            </a:p>
          </p:txBody>
        </p:sp>
        <p:sp>
          <p:nvSpPr>
            <p:cNvPr id="125993" name="Rectangle 41"/>
            <p:cNvSpPr>
              <a:spLocks noChangeArrowheads="1"/>
            </p:cNvSpPr>
            <p:nvPr/>
          </p:nvSpPr>
          <p:spPr bwMode="auto">
            <a:xfrm>
              <a:off x="2111" y="3103"/>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25994" name="Rectangle 42"/>
            <p:cNvSpPr>
              <a:spLocks noChangeArrowheads="1"/>
            </p:cNvSpPr>
            <p:nvPr/>
          </p:nvSpPr>
          <p:spPr bwMode="auto">
            <a:xfrm>
              <a:off x="2186" y="314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25995" name="Rectangle 43"/>
            <p:cNvSpPr>
              <a:spLocks noChangeArrowheads="1"/>
            </p:cNvSpPr>
            <p:nvPr/>
          </p:nvSpPr>
          <p:spPr bwMode="auto">
            <a:xfrm>
              <a:off x="2328" y="3103"/>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25996" name="Rectangle 44"/>
            <p:cNvSpPr>
              <a:spLocks noChangeArrowheads="1"/>
            </p:cNvSpPr>
            <p:nvPr/>
          </p:nvSpPr>
          <p:spPr bwMode="auto">
            <a:xfrm>
              <a:off x="2403" y="314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25997" name="Rectangle 45"/>
            <p:cNvSpPr>
              <a:spLocks noChangeArrowheads="1"/>
            </p:cNvSpPr>
            <p:nvPr/>
          </p:nvSpPr>
          <p:spPr bwMode="auto">
            <a:xfrm>
              <a:off x="2545" y="3103"/>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25998" name="Rectangle 46"/>
            <p:cNvSpPr>
              <a:spLocks noChangeArrowheads="1"/>
            </p:cNvSpPr>
            <p:nvPr/>
          </p:nvSpPr>
          <p:spPr bwMode="auto">
            <a:xfrm>
              <a:off x="2620" y="314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25999" name="Rectangle 47"/>
            <p:cNvSpPr>
              <a:spLocks noChangeArrowheads="1"/>
            </p:cNvSpPr>
            <p:nvPr/>
          </p:nvSpPr>
          <p:spPr bwMode="auto">
            <a:xfrm>
              <a:off x="2762" y="3103"/>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26000" name="Rectangle 48"/>
            <p:cNvSpPr>
              <a:spLocks noChangeArrowheads="1"/>
            </p:cNvSpPr>
            <p:nvPr/>
          </p:nvSpPr>
          <p:spPr bwMode="auto">
            <a:xfrm>
              <a:off x="2837" y="314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26001" name="Rectangle 49"/>
            <p:cNvSpPr>
              <a:spLocks noChangeArrowheads="1"/>
            </p:cNvSpPr>
            <p:nvPr/>
          </p:nvSpPr>
          <p:spPr bwMode="auto">
            <a:xfrm>
              <a:off x="2979" y="3103"/>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26002" name="Rectangle 50"/>
            <p:cNvSpPr>
              <a:spLocks noChangeArrowheads="1"/>
            </p:cNvSpPr>
            <p:nvPr/>
          </p:nvSpPr>
          <p:spPr bwMode="auto">
            <a:xfrm>
              <a:off x="3054" y="314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26003" name="Rectangle 51"/>
            <p:cNvSpPr>
              <a:spLocks noChangeArrowheads="1"/>
            </p:cNvSpPr>
            <p:nvPr/>
          </p:nvSpPr>
          <p:spPr bwMode="auto">
            <a:xfrm>
              <a:off x="3196" y="3103"/>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26004" name="Rectangle 52"/>
            <p:cNvSpPr>
              <a:spLocks noChangeArrowheads="1"/>
            </p:cNvSpPr>
            <p:nvPr/>
          </p:nvSpPr>
          <p:spPr bwMode="auto">
            <a:xfrm>
              <a:off x="3271" y="314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26005" name="Rectangle 53"/>
            <p:cNvSpPr>
              <a:spLocks noChangeArrowheads="1"/>
            </p:cNvSpPr>
            <p:nvPr/>
          </p:nvSpPr>
          <p:spPr bwMode="auto">
            <a:xfrm>
              <a:off x="3413" y="3103"/>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26006" name="Rectangle 54"/>
            <p:cNvSpPr>
              <a:spLocks noChangeArrowheads="1"/>
            </p:cNvSpPr>
            <p:nvPr/>
          </p:nvSpPr>
          <p:spPr bwMode="auto">
            <a:xfrm>
              <a:off x="3488" y="314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26007" name="Rectangle 55"/>
            <p:cNvSpPr>
              <a:spLocks noChangeArrowheads="1"/>
            </p:cNvSpPr>
            <p:nvPr/>
          </p:nvSpPr>
          <p:spPr bwMode="auto">
            <a:xfrm>
              <a:off x="3630" y="3103"/>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26008" name="Rectangle 56"/>
            <p:cNvSpPr>
              <a:spLocks noChangeArrowheads="1"/>
            </p:cNvSpPr>
            <p:nvPr/>
          </p:nvSpPr>
          <p:spPr bwMode="auto">
            <a:xfrm>
              <a:off x="3705" y="314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26009" name="Rectangle 57"/>
            <p:cNvSpPr>
              <a:spLocks noChangeArrowheads="1"/>
            </p:cNvSpPr>
            <p:nvPr/>
          </p:nvSpPr>
          <p:spPr bwMode="auto">
            <a:xfrm>
              <a:off x="3054" y="2175"/>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solidFill>
                    <a:srgbClr val="000000"/>
                  </a:solidFill>
                  <a:latin typeface="Helvetica" panose="020B0604020202020204" pitchFamily="34" charset="0"/>
                </a:rPr>
                <a:t>1</a:t>
              </a:r>
              <a:endParaRPr lang="en-US" b="1"/>
            </a:p>
          </p:txBody>
        </p:sp>
        <p:sp>
          <p:nvSpPr>
            <p:cNvPr id="126010" name="Rectangle 58"/>
            <p:cNvSpPr>
              <a:spLocks noChangeArrowheads="1"/>
            </p:cNvSpPr>
            <p:nvPr/>
          </p:nvSpPr>
          <p:spPr bwMode="auto">
            <a:xfrm>
              <a:off x="4099" y="2407"/>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(4)</a:t>
              </a:r>
              <a:endParaRPr lang="en-US"/>
            </a:p>
          </p:txBody>
        </p:sp>
        <p:sp>
          <p:nvSpPr>
            <p:cNvPr id="126011" name="Rectangle 59"/>
            <p:cNvSpPr>
              <a:spLocks noChangeArrowheads="1"/>
            </p:cNvSpPr>
            <p:nvPr/>
          </p:nvSpPr>
          <p:spPr bwMode="auto">
            <a:xfrm>
              <a:off x="4099" y="2706"/>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(7)</a:t>
              </a:r>
              <a:endParaRPr lang="en-US"/>
            </a:p>
          </p:txBody>
        </p:sp>
        <p:sp>
          <p:nvSpPr>
            <p:cNvPr id="126012" name="Rectangle 60"/>
            <p:cNvSpPr>
              <a:spLocks noChangeArrowheads="1"/>
            </p:cNvSpPr>
            <p:nvPr/>
          </p:nvSpPr>
          <p:spPr bwMode="auto">
            <a:xfrm>
              <a:off x="4066" y="3169"/>
              <a:ext cx="21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(11)</a:t>
              </a:r>
              <a:endParaRPr lang="en-US"/>
            </a:p>
          </p:txBody>
        </p:sp>
        <p:sp>
          <p:nvSpPr>
            <p:cNvPr id="126013" name="Rectangle 61"/>
            <p:cNvSpPr>
              <a:spLocks noChangeArrowheads="1"/>
            </p:cNvSpPr>
            <p:nvPr/>
          </p:nvSpPr>
          <p:spPr bwMode="auto">
            <a:xfrm>
              <a:off x="2688" y="2175"/>
              <a:ext cx="26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solidFill>
                    <a:srgbClr val="000000"/>
                  </a:solidFill>
                  <a:latin typeface="Helvetica" panose="020B0604020202020204" pitchFamily="34" charset="0"/>
                </a:rPr>
                <a:t>carry:</a:t>
              </a:r>
              <a:endParaRPr lang="en-US" b="1"/>
            </a:p>
          </p:txBody>
        </p:sp>
        <p:sp>
          <p:nvSpPr>
            <p:cNvPr id="126014" name="Rectangle 62"/>
            <p:cNvSpPr>
              <a:spLocks noChangeArrowheads="1"/>
            </p:cNvSpPr>
            <p:nvPr/>
          </p:nvSpPr>
          <p:spPr bwMode="auto">
            <a:xfrm>
              <a:off x="3718" y="3425"/>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solidFill>
                    <a:srgbClr val="000000"/>
                  </a:solidFill>
                  <a:latin typeface="Helvetica" panose="020B0604020202020204" pitchFamily="34" charset="0"/>
                </a:rPr>
                <a:t>0</a:t>
              </a:r>
              <a:endParaRPr lang="en-US" b="1"/>
            </a:p>
          </p:txBody>
        </p:sp>
        <p:sp>
          <p:nvSpPr>
            <p:cNvPr id="126015" name="Rectangle 63"/>
            <p:cNvSpPr>
              <a:spLocks noChangeArrowheads="1"/>
            </p:cNvSpPr>
            <p:nvPr/>
          </p:nvSpPr>
          <p:spPr bwMode="auto">
            <a:xfrm>
              <a:off x="3501" y="3425"/>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solidFill>
                    <a:srgbClr val="000000"/>
                  </a:solidFill>
                  <a:latin typeface="Helvetica" panose="020B0604020202020204" pitchFamily="34" charset="0"/>
                </a:rPr>
                <a:t>1</a:t>
              </a:r>
              <a:endParaRPr lang="en-US" b="1"/>
            </a:p>
          </p:txBody>
        </p:sp>
        <p:sp>
          <p:nvSpPr>
            <p:cNvPr id="126016" name="Rectangle 64"/>
            <p:cNvSpPr>
              <a:spLocks noChangeArrowheads="1"/>
            </p:cNvSpPr>
            <p:nvPr/>
          </p:nvSpPr>
          <p:spPr bwMode="auto">
            <a:xfrm>
              <a:off x="3284" y="3425"/>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solidFill>
                    <a:srgbClr val="000000"/>
                  </a:solidFill>
                  <a:latin typeface="Helvetica" panose="020B0604020202020204" pitchFamily="34" charset="0"/>
                </a:rPr>
                <a:t>2</a:t>
              </a:r>
              <a:endParaRPr lang="en-US" b="1"/>
            </a:p>
          </p:txBody>
        </p:sp>
        <p:sp>
          <p:nvSpPr>
            <p:cNvPr id="126017" name="Rectangle 65"/>
            <p:cNvSpPr>
              <a:spLocks noChangeArrowheads="1"/>
            </p:cNvSpPr>
            <p:nvPr/>
          </p:nvSpPr>
          <p:spPr bwMode="auto">
            <a:xfrm>
              <a:off x="3067" y="3425"/>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solidFill>
                    <a:srgbClr val="000000"/>
                  </a:solidFill>
                  <a:latin typeface="Helvetica" panose="020B0604020202020204" pitchFamily="34" charset="0"/>
                </a:rPr>
                <a:t>3</a:t>
              </a:r>
              <a:endParaRPr lang="en-US" b="1"/>
            </a:p>
          </p:txBody>
        </p:sp>
        <p:sp>
          <p:nvSpPr>
            <p:cNvPr id="126018" name="Rectangle 66"/>
            <p:cNvSpPr>
              <a:spLocks noChangeArrowheads="1"/>
            </p:cNvSpPr>
            <p:nvPr/>
          </p:nvSpPr>
          <p:spPr bwMode="auto">
            <a:xfrm>
              <a:off x="2837" y="3425"/>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solidFill>
                    <a:srgbClr val="000000"/>
                  </a:solidFill>
                  <a:latin typeface="Helvetica" panose="020B0604020202020204" pitchFamily="34" charset="0"/>
                </a:rPr>
                <a:t>4</a:t>
              </a:r>
              <a:endParaRPr lang="en-US" b="1"/>
            </a:p>
          </p:txBody>
        </p:sp>
        <p:sp>
          <p:nvSpPr>
            <p:cNvPr id="126019" name="Rectangle 67"/>
            <p:cNvSpPr>
              <a:spLocks noChangeArrowheads="1"/>
            </p:cNvSpPr>
            <p:nvPr/>
          </p:nvSpPr>
          <p:spPr bwMode="auto">
            <a:xfrm>
              <a:off x="1543" y="3425"/>
              <a:ext cx="55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solidFill>
                    <a:srgbClr val="000000"/>
                  </a:solidFill>
                  <a:latin typeface="Helvetica" panose="020B0604020202020204" pitchFamily="34" charset="0"/>
                </a:rPr>
                <a:t>bit position:</a:t>
              </a:r>
              <a:endParaRPr lang="en-US" b="1"/>
            </a:p>
          </p:txBody>
        </p:sp>
        <p:sp>
          <p:nvSpPr>
            <p:cNvPr id="126020" name="Rectangle 68"/>
            <p:cNvSpPr>
              <a:spLocks noChangeArrowheads="1"/>
            </p:cNvSpPr>
            <p:nvPr/>
          </p:nvSpPr>
          <p:spPr bwMode="auto">
            <a:xfrm>
              <a:off x="2620" y="3425"/>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solidFill>
                    <a:srgbClr val="000000"/>
                  </a:solidFill>
                  <a:latin typeface="Helvetica" panose="020B0604020202020204" pitchFamily="34" charset="0"/>
                </a:rPr>
                <a:t>5</a:t>
              </a:r>
              <a:endParaRPr lang="en-US" b="1"/>
            </a:p>
          </p:txBody>
        </p:sp>
        <p:sp>
          <p:nvSpPr>
            <p:cNvPr id="126021" name="Rectangle 69"/>
            <p:cNvSpPr>
              <a:spLocks noChangeArrowheads="1"/>
            </p:cNvSpPr>
            <p:nvPr/>
          </p:nvSpPr>
          <p:spPr bwMode="auto">
            <a:xfrm>
              <a:off x="2403" y="3425"/>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solidFill>
                    <a:srgbClr val="000000"/>
                  </a:solidFill>
                  <a:latin typeface="Helvetica" panose="020B0604020202020204" pitchFamily="34" charset="0"/>
                </a:rPr>
                <a:t>6</a:t>
              </a:r>
              <a:endParaRPr lang="en-US" b="1"/>
            </a:p>
          </p:txBody>
        </p:sp>
        <p:sp>
          <p:nvSpPr>
            <p:cNvPr id="126022" name="Rectangle 70"/>
            <p:cNvSpPr>
              <a:spLocks noChangeArrowheads="1"/>
            </p:cNvSpPr>
            <p:nvPr/>
          </p:nvSpPr>
          <p:spPr bwMode="auto">
            <a:xfrm>
              <a:off x="2186" y="3425"/>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solidFill>
                    <a:srgbClr val="000000"/>
                  </a:solidFill>
                  <a:latin typeface="Helvetica" panose="020B0604020202020204" pitchFamily="34" charset="0"/>
                </a:rPr>
                <a:t>7</a:t>
              </a:r>
              <a:endParaRPr lang="en-US" b="1"/>
            </a:p>
          </p:txBody>
        </p:sp>
      </p:grpSp>
    </p:spTree>
    <p:extLst>
      <p:ext uri="{BB962C8B-B14F-4D97-AF65-F5344CB8AC3E}">
        <p14:creationId xmlns:p14="http://schemas.microsoft.com/office/powerpoint/2010/main" val="38116474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838200" y="61914"/>
            <a:ext cx="10515600" cy="722313"/>
          </a:xfrm>
        </p:spPr>
        <p:txBody>
          <a:bodyPr/>
          <a:lstStyle/>
          <a:p>
            <a:r>
              <a:rPr lang="en-US" b="1" dirty="0">
                <a:solidFill>
                  <a:srgbClr val="FF0000"/>
                </a:solidFill>
                <a:latin typeface="Comic Sans MS" panose="030F0702030302020204" pitchFamily="66" charset="0"/>
              </a:rPr>
              <a:t>Hexadecimal Addition</a:t>
            </a:r>
          </a:p>
        </p:txBody>
      </p:sp>
      <p:sp>
        <p:nvSpPr>
          <p:cNvPr id="133123" name="Rectangle 3"/>
          <p:cNvSpPr>
            <a:spLocks noGrp="1" noChangeArrowheads="1"/>
          </p:cNvSpPr>
          <p:nvPr>
            <p:ph type="body" idx="1"/>
          </p:nvPr>
        </p:nvSpPr>
        <p:spPr>
          <a:xfrm>
            <a:off x="838200" y="784227"/>
            <a:ext cx="10287000" cy="925512"/>
          </a:xfrm>
        </p:spPr>
        <p:txBody>
          <a:bodyPr>
            <a:noAutofit/>
          </a:bodyPr>
          <a:lstStyle/>
          <a:p>
            <a:pPr algn="just">
              <a:lnSpc>
                <a:spcPct val="110000"/>
              </a:lnSpc>
            </a:pPr>
            <a:r>
              <a:rPr lang="en-US" b="1" dirty="0">
                <a:latin typeface="Comic Sans MS" panose="030F0702030302020204" pitchFamily="66" charset="0"/>
              </a:rPr>
              <a:t>Divide the sum of two digits by the number base (16). The quotient becomes the carry value, and the remainder is the sum digit</a:t>
            </a:r>
            <a:r>
              <a:rPr lang="en-US" sz="2400" dirty="0">
                <a:latin typeface="Comic Sans MS" panose="030F0702030302020204" pitchFamily="66" charset="0"/>
              </a:rPr>
              <a:t>.</a:t>
            </a:r>
          </a:p>
        </p:txBody>
      </p:sp>
      <p:grpSp>
        <p:nvGrpSpPr>
          <p:cNvPr id="133132" name="Group 12"/>
          <p:cNvGrpSpPr>
            <a:grpSpLocks/>
          </p:cNvGrpSpPr>
          <p:nvPr/>
        </p:nvGrpSpPr>
        <p:grpSpPr bwMode="auto">
          <a:xfrm>
            <a:off x="3886201" y="2697164"/>
            <a:ext cx="4918075" cy="2198688"/>
            <a:chOff x="1488" y="1663"/>
            <a:chExt cx="3098" cy="1385"/>
          </a:xfrm>
        </p:grpSpPr>
        <p:grpSp>
          <p:nvGrpSpPr>
            <p:cNvPr id="133131" name="Group 11"/>
            <p:cNvGrpSpPr>
              <a:grpSpLocks/>
            </p:cNvGrpSpPr>
            <p:nvPr/>
          </p:nvGrpSpPr>
          <p:grpSpPr bwMode="auto">
            <a:xfrm>
              <a:off x="1488" y="1663"/>
              <a:ext cx="2448" cy="818"/>
              <a:chOff x="1488" y="1431"/>
              <a:chExt cx="2448" cy="818"/>
            </a:xfrm>
          </p:grpSpPr>
          <p:sp>
            <p:nvSpPr>
              <p:cNvPr id="133124" name="Text Box 4"/>
              <p:cNvSpPr txBox="1">
                <a:spLocks noChangeArrowheads="1"/>
              </p:cNvSpPr>
              <p:nvPr/>
            </p:nvSpPr>
            <p:spPr bwMode="auto">
              <a:xfrm>
                <a:off x="1488" y="1632"/>
                <a:ext cx="2448" cy="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pPr>
                  <a:lnSpc>
                    <a:spcPct val="40000"/>
                  </a:lnSpc>
                  <a:spcBef>
                    <a:spcPct val="50000"/>
                  </a:spcBef>
                </a:pPr>
                <a:r>
                  <a:rPr lang="en-US" sz="2100" dirty="0">
                    <a:latin typeface="Comic Sans MS" panose="030F0702030302020204" pitchFamily="66" charset="0"/>
                  </a:rPr>
                  <a:t>36	28	28	6A</a:t>
                </a:r>
              </a:p>
              <a:p>
                <a:pPr>
                  <a:lnSpc>
                    <a:spcPct val="40000"/>
                  </a:lnSpc>
                  <a:spcBef>
                    <a:spcPct val="50000"/>
                  </a:spcBef>
                </a:pPr>
                <a:r>
                  <a:rPr lang="en-US" sz="2100" dirty="0">
                    <a:latin typeface="Comic Sans MS" panose="030F0702030302020204" pitchFamily="66" charset="0"/>
                  </a:rPr>
                  <a:t>42	45	58	4B</a:t>
                </a:r>
              </a:p>
              <a:p>
                <a:pPr>
                  <a:lnSpc>
                    <a:spcPct val="40000"/>
                  </a:lnSpc>
                  <a:spcBef>
                    <a:spcPct val="50000"/>
                  </a:spcBef>
                </a:pPr>
                <a:r>
                  <a:rPr lang="en-US" sz="2100" dirty="0">
                    <a:latin typeface="Comic Sans MS" panose="030F0702030302020204" pitchFamily="66" charset="0"/>
                  </a:rPr>
                  <a:t>78	6D	80	B5</a:t>
                </a:r>
              </a:p>
            </p:txBody>
          </p:sp>
          <p:sp>
            <p:nvSpPr>
              <p:cNvPr id="133125" name="Line 5"/>
              <p:cNvSpPr>
                <a:spLocks noChangeShapeType="1"/>
              </p:cNvSpPr>
              <p:nvPr/>
            </p:nvSpPr>
            <p:spPr bwMode="auto">
              <a:xfrm flipV="1">
                <a:off x="1536" y="1986"/>
                <a:ext cx="20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endParaRPr lang="en-US"/>
              </a:p>
            </p:txBody>
          </p:sp>
          <p:sp>
            <p:nvSpPr>
              <p:cNvPr id="133126" name="Text Box 6"/>
              <p:cNvSpPr txBox="1">
                <a:spLocks noChangeArrowheads="1"/>
              </p:cNvSpPr>
              <p:nvPr/>
            </p:nvSpPr>
            <p:spPr bwMode="auto">
              <a:xfrm>
                <a:off x="3234" y="1431"/>
                <a:ext cx="178"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pPr>
                  <a:spcBef>
                    <a:spcPct val="50000"/>
                  </a:spcBef>
                </a:pPr>
                <a:r>
                  <a:rPr lang="en-US" sz="1300" b="1"/>
                  <a:t>1</a:t>
                </a:r>
              </a:p>
            </p:txBody>
          </p:sp>
          <p:sp>
            <p:nvSpPr>
              <p:cNvPr id="133127" name="Text Box 7"/>
              <p:cNvSpPr txBox="1">
                <a:spLocks noChangeArrowheads="1"/>
              </p:cNvSpPr>
              <p:nvPr/>
            </p:nvSpPr>
            <p:spPr bwMode="auto">
              <a:xfrm>
                <a:off x="2652" y="1440"/>
                <a:ext cx="178"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pPr>
                  <a:spcBef>
                    <a:spcPct val="50000"/>
                  </a:spcBef>
                </a:pPr>
                <a:r>
                  <a:rPr lang="en-US" sz="1300" b="1"/>
                  <a:t>1</a:t>
                </a:r>
              </a:p>
            </p:txBody>
          </p:sp>
        </p:grpSp>
        <p:sp>
          <p:nvSpPr>
            <p:cNvPr id="133128" name="Line 8"/>
            <p:cNvSpPr>
              <a:spLocks noChangeShapeType="1"/>
            </p:cNvSpPr>
            <p:nvPr/>
          </p:nvSpPr>
          <p:spPr bwMode="auto">
            <a:xfrm flipH="1" flipV="1">
              <a:off x="3424" y="2444"/>
              <a:ext cx="2" cy="2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endParaRPr lang="en-US"/>
            </a:p>
          </p:txBody>
        </p:sp>
        <p:sp>
          <p:nvSpPr>
            <p:cNvPr id="133129" name="Text Box 9"/>
            <p:cNvSpPr txBox="1">
              <a:spLocks noChangeArrowheads="1"/>
            </p:cNvSpPr>
            <p:nvPr/>
          </p:nvSpPr>
          <p:spPr bwMode="auto">
            <a:xfrm>
              <a:off x="2652" y="2673"/>
              <a:ext cx="1934" cy="3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37160" bIns="137160">
              <a:spAutoFit/>
            </a:bodyPr>
            <a:lstStyle/>
            <a:p>
              <a:pPr>
                <a:lnSpc>
                  <a:spcPct val="110000"/>
                </a:lnSpc>
                <a:spcBef>
                  <a:spcPct val="50000"/>
                </a:spcBef>
              </a:pPr>
              <a:r>
                <a:rPr lang="en-US" sz="2000" dirty="0">
                  <a:latin typeface="Comic Sans MS" panose="030F0702030302020204" pitchFamily="66" charset="0"/>
                </a:rPr>
                <a:t>21 / 16 = 1, remainder 5</a:t>
              </a:r>
            </a:p>
          </p:txBody>
        </p:sp>
      </p:grpSp>
      <p:sp>
        <p:nvSpPr>
          <p:cNvPr id="133130" name="Text Box 10"/>
          <p:cNvSpPr txBox="1">
            <a:spLocks noChangeArrowheads="1"/>
          </p:cNvSpPr>
          <p:nvPr/>
        </p:nvSpPr>
        <p:spPr bwMode="auto">
          <a:xfrm>
            <a:off x="1828800" y="5181601"/>
            <a:ext cx="7848600" cy="860425"/>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37160" bIns="137160">
            <a:spAutoFit/>
          </a:bodyPr>
          <a:lstStyle/>
          <a:p>
            <a:pPr>
              <a:spcBef>
                <a:spcPct val="50000"/>
              </a:spcBef>
            </a:pPr>
            <a:r>
              <a:rPr lang="en-US" sz="1900" dirty="0">
                <a:solidFill>
                  <a:schemeClr val="tx2"/>
                </a:solidFill>
                <a:latin typeface="Comic Sans MS" panose="030F0702030302020204" pitchFamily="66" charset="0"/>
              </a:rPr>
              <a:t>Important skill: Programmers frequently add and subtract the addresses of variables and instructions.</a:t>
            </a:r>
          </a:p>
        </p:txBody>
      </p:sp>
    </p:spTree>
    <p:extLst>
      <p:ext uri="{BB962C8B-B14F-4D97-AF65-F5344CB8AC3E}">
        <p14:creationId xmlns:p14="http://schemas.microsoft.com/office/powerpoint/2010/main" val="513334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3130"/>
                                        </p:tgtEl>
                                        <p:attrNameLst>
                                          <p:attrName>style.visibility</p:attrName>
                                        </p:attrNameLst>
                                      </p:cBhvr>
                                      <p:to>
                                        <p:strVal val="visible"/>
                                      </p:to>
                                    </p:set>
                                    <p:animEffect transition="in" filter="dissolve">
                                      <p:cBhvr>
                                        <p:cTn id="7" dur="500"/>
                                        <p:tgtEl>
                                          <p:spTgt spid="133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30"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a:xfrm>
            <a:off x="0" y="0"/>
            <a:ext cx="10515600" cy="1325563"/>
          </a:xfrm>
        </p:spPr>
        <p:txBody>
          <a:bodyPr/>
          <a:lstStyle/>
          <a:p>
            <a:r>
              <a:rPr lang="en-US" b="1" dirty="0">
                <a:solidFill>
                  <a:srgbClr val="FF0000"/>
                </a:solidFill>
                <a:latin typeface="Comic Sans MS" panose="030F0702030302020204" pitchFamily="66" charset="0"/>
              </a:rPr>
              <a:t>Signed Integers</a:t>
            </a:r>
          </a:p>
        </p:txBody>
      </p:sp>
      <p:sp>
        <p:nvSpPr>
          <p:cNvPr id="189443" name="Rectangle 3"/>
          <p:cNvSpPr>
            <a:spLocks noGrp="1" noChangeArrowheads="1"/>
          </p:cNvSpPr>
          <p:nvPr>
            <p:ph type="body" idx="1"/>
          </p:nvPr>
        </p:nvSpPr>
        <p:spPr>
          <a:xfrm>
            <a:off x="190500" y="1085850"/>
            <a:ext cx="11639550" cy="5472113"/>
          </a:xfrm>
        </p:spPr>
        <p:txBody>
          <a:bodyPr>
            <a:normAutofit/>
          </a:bodyPr>
          <a:lstStyle/>
          <a:p>
            <a:r>
              <a:rPr lang="en-US" sz="3200" dirty="0">
                <a:latin typeface="Comic Sans MS" panose="030F0702030302020204" pitchFamily="66" charset="0"/>
              </a:rPr>
              <a:t>Several ways to represent a signed number</a:t>
            </a:r>
          </a:p>
          <a:p>
            <a:pPr lvl="1"/>
            <a:r>
              <a:rPr lang="en-US" sz="2800" dirty="0">
                <a:latin typeface="Comic Sans MS" panose="030F0702030302020204" pitchFamily="66" charset="0"/>
              </a:rPr>
              <a:t>Sign-Magnitude</a:t>
            </a:r>
          </a:p>
          <a:p>
            <a:pPr lvl="1"/>
            <a:r>
              <a:rPr lang="en-US" sz="2800" dirty="0">
                <a:latin typeface="Comic Sans MS" panose="030F0702030302020204" pitchFamily="66" charset="0"/>
              </a:rPr>
              <a:t>Biased</a:t>
            </a:r>
          </a:p>
          <a:p>
            <a:pPr lvl="1"/>
            <a:r>
              <a:rPr lang="en-US" sz="2800" dirty="0">
                <a:latin typeface="Comic Sans MS" panose="030F0702030302020204" pitchFamily="66" charset="0"/>
              </a:rPr>
              <a:t>1's complement</a:t>
            </a:r>
          </a:p>
          <a:p>
            <a:pPr lvl="1"/>
            <a:r>
              <a:rPr lang="en-US" sz="2800" dirty="0">
                <a:latin typeface="Comic Sans MS" panose="030F0702030302020204" pitchFamily="66" charset="0"/>
              </a:rPr>
              <a:t>2's complement</a:t>
            </a:r>
          </a:p>
          <a:p>
            <a:r>
              <a:rPr lang="en-US" sz="3200" dirty="0">
                <a:latin typeface="Comic Sans MS" panose="030F0702030302020204" pitchFamily="66" charset="0"/>
              </a:rPr>
              <a:t>Divide the range of values into 2 equal parts</a:t>
            </a:r>
          </a:p>
          <a:p>
            <a:pPr lvl="1"/>
            <a:r>
              <a:rPr lang="en-US" sz="2800" dirty="0">
                <a:latin typeface="Comic Sans MS" panose="030F0702030302020204" pitchFamily="66" charset="0"/>
              </a:rPr>
              <a:t>First part corresponds to the positive numbers (≥ 0)</a:t>
            </a:r>
          </a:p>
          <a:p>
            <a:pPr lvl="1"/>
            <a:r>
              <a:rPr lang="en-US" sz="2800" dirty="0">
                <a:latin typeface="Comic Sans MS" panose="030F0702030302020204" pitchFamily="66" charset="0"/>
              </a:rPr>
              <a:t>Second part correspond to the negative numbers (&lt; 0)</a:t>
            </a:r>
          </a:p>
          <a:p>
            <a:r>
              <a:rPr lang="en-US" sz="3200" dirty="0">
                <a:latin typeface="Comic Sans MS" panose="030F0702030302020204" pitchFamily="66" charset="0"/>
              </a:rPr>
              <a:t>Focus will be on the 2's complement representation</a:t>
            </a:r>
          </a:p>
          <a:p>
            <a:pPr lvl="1"/>
            <a:r>
              <a:rPr lang="en-US" sz="2800" dirty="0">
                <a:latin typeface="Comic Sans MS" panose="030F0702030302020204" pitchFamily="66" charset="0"/>
              </a:rPr>
              <a:t>Has many advantages over other representations</a:t>
            </a:r>
          </a:p>
          <a:p>
            <a:pPr lvl="1"/>
            <a:r>
              <a:rPr lang="en-US" sz="2800" dirty="0">
                <a:latin typeface="Comic Sans MS" panose="030F0702030302020204" pitchFamily="66" charset="0"/>
              </a:rPr>
              <a:t>Used widely in processors to represent signed integers</a:t>
            </a:r>
          </a:p>
        </p:txBody>
      </p:sp>
    </p:spTree>
    <p:extLst>
      <p:ext uri="{BB962C8B-B14F-4D97-AF65-F5344CB8AC3E}">
        <p14:creationId xmlns:p14="http://schemas.microsoft.com/office/powerpoint/2010/main" val="14201690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r>
              <a:rPr lang="en-US" b="1" dirty="0">
                <a:solidFill>
                  <a:srgbClr val="FF0000"/>
                </a:solidFill>
                <a:latin typeface="Comic Sans MS" panose="030F0702030302020204" pitchFamily="66" charset="0"/>
              </a:rPr>
              <a:t>Two's Complement Representation</a:t>
            </a:r>
          </a:p>
        </p:txBody>
      </p:sp>
      <p:graphicFrame>
        <p:nvGraphicFramePr>
          <p:cNvPr id="190661" name="Group 197"/>
          <p:cNvGraphicFramePr>
            <a:graphicFrameLocks noGrp="1"/>
          </p:cNvGraphicFramePr>
          <p:nvPr>
            <p:ph idx="1"/>
          </p:nvPr>
        </p:nvGraphicFramePr>
        <p:xfrm>
          <a:off x="6954838" y="1296989"/>
          <a:ext cx="3230562" cy="4747264"/>
        </p:xfrm>
        <a:graphic>
          <a:graphicData uri="http://schemas.openxmlformats.org/drawingml/2006/table">
            <a:tbl>
              <a:tblPr/>
              <a:tblGrid>
                <a:gridCol w="1211262">
                  <a:extLst>
                    <a:ext uri="{9D8B030D-6E8A-4147-A177-3AD203B41FA5}">
                      <a16:colId xmlns:a16="http://schemas.microsoft.com/office/drawing/2014/main" val="20000"/>
                    </a:ext>
                  </a:extLst>
                </a:gridCol>
                <a:gridCol w="1039813">
                  <a:extLst>
                    <a:ext uri="{9D8B030D-6E8A-4147-A177-3AD203B41FA5}">
                      <a16:colId xmlns:a16="http://schemas.microsoft.com/office/drawing/2014/main" val="20001"/>
                    </a:ext>
                  </a:extLst>
                </a:gridCol>
                <a:gridCol w="979487">
                  <a:extLst>
                    <a:ext uri="{9D8B030D-6E8A-4147-A177-3AD203B41FA5}">
                      <a16:colId xmlns:a16="http://schemas.microsoft.com/office/drawing/2014/main" val="20002"/>
                    </a:ext>
                  </a:extLst>
                </a:gridCol>
              </a:tblGrid>
              <a:tr h="144463">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8-bit Binary</a:t>
                      </a:r>
                    </a:p>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value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Unsigned</a:t>
                      </a:r>
                    </a:p>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value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Signed</a:t>
                      </a:r>
                    </a:p>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value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00000000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00000001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5288">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00000010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5288">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 .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5288">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01111110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126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+126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5288">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01111111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127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+127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5288">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10000000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128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-128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5288">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10000001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129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-127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5288">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 .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 .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 .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95288">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11111110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254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92100">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11111111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255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190578" name="Rectangle 114"/>
          <p:cNvSpPr>
            <a:spLocks noChangeArrowheads="1"/>
          </p:cNvSpPr>
          <p:nvPr/>
        </p:nvSpPr>
        <p:spPr bwMode="auto">
          <a:xfrm>
            <a:off x="1981200" y="1143001"/>
            <a:ext cx="4921250" cy="516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marL="347663" indent="-347663">
              <a:spcBef>
                <a:spcPct val="40000"/>
              </a:spcBef>
              <a:buFont typeface="Wingdings" panose="05000000000000000000" pitchFamily="2" charset="2"/>
              <a:buChar char="v"/>
              <a:defRPr sz="2400">
                <a:solidFill>
                  <a:schemeClr val="tx1"/>
                </a:solidFill>
                <a:latin typeface="Arial" panose="020B0604020202020204" pitchFamily="34" charset="0"/>
                <a:cs typeface="Arial" panose="020B0604020202020204" pitchFamily="34" charset="0"/>
              </a:defRPr>
            </a:lvl1pPr>
            <a:lvl2pPr marL="798513" indent="-336550">
              <a:spcBef>
                <a:spcPct val="40000"/>
              </a:spcBef>
              <a:buFont typeface="Wingdings" panose="05000000000000000000" pitchFamily="2" charset="2"/>
              <a:buChar char="²"/>
              <a:defRPr sz="2000">
                <a:solidFill>
                  <a:schemeClr val="tx1"/>
                </a:solidFill>
                <a:latin typeface="Arial" panose="020B0604020202020204" pitchFamily="34" charset="0"/>
                <a:cs typeface="Arial" panose="020B0604020202020204" pitchFamily="34" charset="0"/>
              </a:defRPr>
            </a:lvl2pPr>
            <a:lvl3pPr marL="1144588" indent="-231775">
              <a:spcBef>
                <a:spcPct val="4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481138" indent="-222250">
              <a:spcBef>
                <a:spcPct val="40000"/>
              </a:spcBef>
              <a:buChar char="–"/>
              <a:defRPr sz="1600">
                <a:solidFill>
                  <a:schemeClr val="tx1"/>
                </a:solidFill>
                <a:latin typeface="Arial" panose="020B0604020202020204" pitchFamily="34" charset="0"/>
                <a:cs typeface="Arial" panose="020B0604020202020204" pitchFamily="34" charset="0"/>
              </a:defRPr>
            </a:lvl4pPr>
            <a:lvl5pPr indent="-233363">
              <a:spcBef>
                <a:spcPct val="40000"/>
              </a:spcBef>
              <a:buChar char="»"/>
              <a:defRPr sz="1600">
                <a:solidFill>
                  <a:schemeClr val="tx1"/>
                </a:solidFill>
                <a:latin typeface="Arial" panose="020B0604020202020204" pitchFamily="34" charset="0"/>
                <a:cs typeface="Arial" panose="020B0604020202020204" pitchFamily="34" charset="0"/>
              </a:defRPr>
            </a:lvl5pPr>
            <a:lvl6pPr indent="-233363" fontAlgn="base">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6pPr>
            <a:lvl7pPr indent="-233363" fontAlgn="base">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7pPr>
            <a:lvl8pPr indent="-233363" fontAlgn="base">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8pPr>
            <a:lvl9pPr indent="-233363" fontAlgn="base">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r>
              <a:rPr lang="en-US" dirty="0">
                <a:solidFill>
                  <a:srgbClr val="FF0000"/>
                </a:solidFill>
                <a:latin typeface="Comic Sans MS" panose="030F0702030302020204" pitchFamily="66" charset="0"/>
              </a:rPr>
              <a:t>Positive numbers</a:t>
            </a:r>
          </a:p>
          <a:p>
            <a:pPr lvl="1"/>
            <a:r>
              <a:rPr lang="en-US" dirty="0">
                <a:latin typeface="Comic Sans MS" panose="030F0702030302020204" pitchFamily="66" charset="0"/>
              </a:rPr>
              <a:t>Signed value = Unsigned value</a:t>
            </a:r>
          </a:p>
          <a:p>
            <a:r>
              <a:rPr lang="en-US" dirty="0">
                <a:solidFill>
                  <a:srgbClr val="FF0000"/>
                </a:solidFill>
                <a:latin typeface="Comic Sans MS" panose="030F0702030302020204" pitchFamily="66" charset="0"/>
              </a:rPr>
              <a:t>Negative numbers</a:t>
            </a:r>
          </a:p>
          <a:p>
            <a:pPr lvl="1"/>
            <a:r>
              <a:rPr lang="en-US" dirty="0">
                <a:latin typeface="Comic Sans MS" panose="030F0702030302020204" pitchFamily="66" charset="0"/>
              </a:rPr>
              <a:t>Signed value = Unsigned value – 2</a:t>
            </a:r>
            <a:r>
              <a:rPr lang="en-US" i="1" baseline="30000" dirty="0">
                <a:latin typeface="Comic Sans MS" panose="030F0702030302020204" pitchFamily="66" charset="0"/>
              </a:rPr>
              <a:t>n</a:t>
            </a:r>
            <a:endParaRPr lang="en-US" dirty="0">
              <a:latin typeface="Comic Sans MS" panose="030F0702030302020204" pitchFamily="66" charset="0"/>
            </a:endParaRPr>
          </a:p>
          <a:p>
            <a:pPr lvl="1"/>
            <a:r>
              <a:rPr lang="en-US" i="1" dirty="0">
                <a:latin typeface="Comic Sans MS" panose="030F0702030302020204" pitchFamily="66" charset="0"/>
              </a:rPr>
              <a:t>n</a:t>
            </a:r>
            <a:r>
              <a:rPr lang="en-US" dirty="0">
                <a:latin typeface="Comic Sans MS" panose="030F0702030302020204" pitchFamily="66" charset="0"/>
              </a:rPr>
              <a:t> = number of bits</a:t>
            </a:r>
          </a:p>
          <a:p>
            <a:r>
              <a:rPr lang="en-US" dirty="0">
                <a:solidFill>
                  <a:srgbClr val="FF0000"/>
                </a:solidFill>
                <a:latin typeface="Comic Sans MS" panose="030F0702030302020204" pitchFamily="66" charset="0"/>
              </a:rPr>
              <a:t>Negative weight for MSB</a:t>
            </a:r>
          </a:p>
          <a:p>
            <a:pPr lvl="1"/>
            <a:r>
              <a:rPr lang="en-US" dirty="0">
                <a:latin typeface="Comic Sans MS" panose="030F0702030302020204" pitchFamily="66" charset="0"/>
              </a:rPr>
              <a:t>Another way to obtain the signed value is to </a:t>
            </a:r>
            <a:r>
              <a:rPr lang="en-US" dirty="0">
                <a:solidFill>
                  <a:srgbClr val="FF0000"/>
                </a:solidFill>
                <a:latin typeface="Comic Sans MS" panose="030F0702030302020204" pitchFamily="66" charset="0"/>
              </a:rPr>
              <a:t>assign a negative </a:t>
            </a:r>
            <a:r>
              <a:rPr lang="en-US" dirty="0">
                <a:latin typeface="Comic Sans MS" panose="030F0702030302020204" pitchFamily="66" charset="0"/>
              </a:rPr>
              <a:t>weight </a:t>
            </a:r>
            <a:r>
              <a:rPr lang="en-US" dirty="0">
                <a:solidFill>
                  <a:srgbClr val="FF0000"/>
                </a:solidFill>
                <a:latin typeface="Comic Sans MS" panose="030F0702030302020204" pitchFamily="66" charset="0"/>
              </a:rPr>
              <a:t>to most-significant bit</a:t>
            </a:r>
          </a:p>
          <a:p>
            <a:pPr lvl="1"/>
            <a:endParaRPr lang="en-US" dirty="0"/>
          </a:p>
          <a:p>
            <a:pPr lvl="1">
              <a:buFont typeface="Wingdings" panose="05000000000000000000" pitchFamily="2" charset="2"/>
              <a:buNone/>
            </a:pPr>
            <a:endParaRPr lang="en-US" dirty="0"/>
          </a:p>
          <a:p>
            <a:pPr lvl="1">
              <a:buFont typeface="Wingdings" panose="05000000000000000000" pitchFamily="2" charset="2"/>
              <a:buNone/>
            </a:pPr>
            <a:r>
              <a:rPr lang="en-US" dirty="0"/>
              <a:t>= -128 + 32 + 16 + 4 = -76</a:t>
            </a:r>
          </a:p>
        </p:txBody>
      </p:sp>
      <p:grpSp>
        <p:nvGrpSpPr>
          <p:cNvPr id="190717" name="Group 253"/>
          <p:cNvGrpSpPr>
            <a:grpSpLocks/>
          </p:cNvGrpSpPr>
          <p:nvPr/>
        </p:nvGrpSpPr>
        <p:grpSpPr bwMode="auto">
          <a:xfrm>
            <a:off x="2740025" y="5024438"/>
            <a:ext cx="2895600" cy="766762"/>
            <a:chOff x="812" y="2704"/>
            <a:chExt cx="1824" cy="483"/>
          </a:xfrm>
        </p:grpSpPr>
        <p:sp>
          <p:nvSpPr>
            <p:cNvPr id="190667" name="AutoShape 203"/>
            <p:cNvSpPr>
              <a:spLocks noChangeAspect="1" noChangeArrowheads="1" noTextEdit="1"/>
            </p:cNvSpPr>
            <p:nvPr/>
          </p:nvSpPr>
          <p:spPr bwMode="auto">
            <a:xfrm>
              <a:off x="812" y="2704"/>
              <a:ext cx="1824" cy="48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0669" name="Freeform 205"/>
            <p:cNvSpPr>
              <a:spLocks/>
            </p:cNvSpPr>
            <p:nvPr/>
          </p:nvSpPr>
          <p:spPr bwMode="auto">
            <a:xfrm>
              <a:off x="876" y="2926"/>
              <a:ext cx="243" cy="32"/>
            </a:xfrm>
            <a:custGeom>
              <a:avLst/>
              <a:gdLst>
                <a:gd name="T0" fmla="*/ 215 w 243"/>
                <a:gd name="T1" fmla="*/ 0 h 32"/>
                <a:gd name="T2" fmla="*/ 0 w 243"/>
                <a:gd name="T3" fmla="*/ 0 h 32"/>
                <a:gd name="T4" fmla="*/ 28 w 243"/>
                <a:gd name="T5" fmla="*/ 32 h 32"/>
                <a:gd name="T6" fmla="*/ 243 w 243"/>
                <a:gd name="T7" fmla="*/ 32 h 32"/>
                <a:gd name="T8" fmla="*/ 215 w 243"/>
                <a:gd name="T9" fmla="*/ 0 h 32"/>
              </a:gdLst>
              <a:ahLst/>
              <a:cxnLst>
                <a:cxn ang="0">
                  <a:pos x="T0" y="T1"/>
                </a:cxn>
                <a:cxn ang="0">
                  <a:pos x="T2" y="T3"/>
                </a:cxn>
                <a:cxn ang="0">
                  <a:pos x="T4" y="T5"/>
                </a:cxn>
                <a:cxn ang="0">
                  <a:pos x="T6" y="T7"/>
                </a:cxn>
                <a:cxn ang="0">
                  <a:pos x="T8" y="T9"/>
                </a:cxn>
              </a:cxnLst>
              <a:rect l="0" t="0" r="r" b="b"/>
              <a:pathLst>
                <a:path w="243" h="32">
                  <a:moveTo>
                    <a:pt x="215" y="0"/>
                  </a:moveTo>
                  <a:lnTo>
                    <a:pt x="0" y="0"/>
                  </a:lnTo>
                  <a:lnTo>
                    <a:pt x="28" y="32"/>
                  </a:lnTo>
                  <a:lnTo>
                    <a:pt x="243" y="32"/>
                  </a:lnTo>
                  <a:lnTo>
                    <a:pt x="215" y="0"/>
                  </a:lnTo>
                  <a:close/>
                </a:path>
              </a:pathLst>
            </a:custGeom>
            <a:solidFill>
              <a:srgbClr val="C0C0C0"/>
            </a:solidFill>
            <a:ln w="4763">
              <a:solidFill>
                <a:srgbClr val="000000"/>
              </a:solidFill>
              <a:prstDash val="solid"/>
              <a:round/>
              <a:headEnd/>
              <a:tailEnd/>
            </a:ln>
          </p:spPr>
          <p:txBody>
            <a:bodyPr/>
            <a:lstStyle/>
            <a:p>
              <a:endParaRPr lang="en-US"/>
            </a:p>
          </p:txBody>
        </p:sp>
        <p:sp>
          <p:nvSpPr>
            <p:cNvPr id="190670" name="Freeform 206"/>
            <p:cNvSpPr>
              <a:spLocks/>
            </p:cNvSpPr>
            <p:nvPr/>
          </p:nvSpPr>
          <p:spPr bwMode="auto">
            <a:xfrm>
              <a:off x="1091" y="2779"/>
              <a:ext cx="28" cy="179"/>
            </a:xfrm>
            <a:custGeom>
              <a:avLst/>
              <a:gdLst>
                <a:gd name="T0" fmla="*/ 28 w 28"/>
                <a:gd name="T1" fmla="*/ 179 h 179"/>
                <a:gd name="T2" fmla="*/ 0 w 28"/>
                <a:gd name="T3" fmla="*/ 147 h 179"/>
                <a:gd name="T4" fmla="*/ 0 w 28"/>
                <a:gd name="T5" fmla="*/ 0 h 179"/>
                <a:gd name="T6" fmla="*/ 28 w 28"/>
                <a:gd name="T7" fmla="*/ 32 h 179"/>
                <a:gd name="T8" fmla="*/ 28 w 28"/>
                <a:gd name="T9" fmla="*/ 179 h 179"/>
              </a:gdLst>
              <a:ahLst/>
              <a:cxnLst>
                <a:cxn ang="0">
                  <a:pos x="T0" y="T1"/>
                </a:cxn>
                <a:cxn ang="0">
                  <a:pos x="T2" y="T3"/>
                </a:cxn>
                <a:cxn ang="0">
                  <a:pos x="T4" y="T5"/>
                </a:cxn>
                <a:cxn ang="0">
                  <a:pos x="T6" y="T7"/>
                </a:cxn>
                <a:cxn ang="0">
                  <a:pos x="T8" y="T9"/>
                </a:cxn>
              </a:cxnLst>
              <a:rect l="0" t="0" r="r" b="b"/>
              <a:pathLst>
                <a:path w="28" h="179">
                  <a:moveTo>
                    <a:pt x="28" y="179"/>
                  </a:moveTo>
                  <a:lnTo>
                    <a:pt x="0" y="147"/>
                  </a:lnTo>
                  <a:lnTo>
                    <a:pt x="0" y="0"/>
                  </a:lnTo>
                  <a:lnTo>
                    <a:pt x="28" y="32"/>
                  </a:lnTo>
                  <a:lnTo>
                    <a:pt x="28" y="179"/>
                  </a:lnTo>
                  <a:close/>
                </a:path>
              </a:pathLst>
            </a:custGeom>
            <a:solidFill>
              <a:srgbClr val="C0C0C0"/>
            </a:solidFill>
            <a:ln w="4763">
              <a:solidFill>
                <a:srgbClr val="000000"/>
              </a:solidFill>
              <a:prstDash val="solid"/>
              <a:round/>
              <a:headEnd/>
              <a:tailEnd/>
            </a:ln>
          </p:spPr>
          <p:txBody>
            <a:bodyPr/>
            <a:lstStyle/>
            <a:p>
              <a:endParaRPr lang="en-US"/>
            </a:p>
          </p:txBody>
        </p:sp>
        <p:sp>
          <p:nvSpPr>
            <p:cNvPr id="190671" name="Rectangle 207"/>
            <p:cNvSpPr>
              <a:spLocks noChangeArrowheads="1"/>
            </p:cNvSpPr>
            <p:nvPr/>
          </p:nvSpPr>
          <p:spPr bwMode="auto">
            <a:xfrm>
              <a:off x="876" y="2779"/>
              <a:ext cx="215" cy="147"/>
            </a:xfrm>
            <a:prstGeom prst="rect">
              <a:avLst/>
            </a:prstGeom>
            <a:solidFill>
              <a:srgbClr val="FFFFFF"/>
            </a:solidFill>
            <a:ln w="4763">
              <a:solidFill>
                <a:srgbClr val="000000"/>
              </a:solidFill>
              <a:miter lim="800000"/>
              <a:headEnd/>
              <a:tailEnd/>
            </a:ln>
          </p:spPr>
          <p:txBody>
            <a:bodyPr/>
            <a:lstStyle/>
            <a:p>
              <a:endParaRPr lang="en-US"/>
            </a:p>
          </p:txBody>
        </p:sp>
        <p:sp>
          <p:nvSpPr>
            <p:cNvPr id="190672" name="Rectangle 208"/>
            <p:cNvSpPr>
              <a:spLocks noChangeArrowheads="1"/>
            </p:cNvSpPr>
            <p:nvPr/>
          </p:nvSpPr>
          <p:spPr bwMode="auto">
            <a:xfrm>
              <a:off x="950" y="27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0673" name="Freeform 209"/>
            <p:cNvSpPr>
              <a:spLocks/>
            </p:cNvSpPr>
            <p:nvPr/>
          </p:nvSpPr>
          <p:spPr bwMode="auto">
            <a:xfrm>
              <a:off x="1083" y="2926"/>
              <a:ext cx="235" cy="32"/>
            </a:xfrm>
            <a:custGeom>
              <a:avLst/>
              <a:gdLst>
                <a:gd name="T0" fmla="*/ 208 w 235"/>
                <a:gd name="T1" fmla="*/ 0 h 32"/>
                <a:gd name="T2" fmla="*/ 0 w 235"/>
                <a:gd name="T3" fmla="*/ 0 h 32"/>
                <a:gd name="T4" fmla="*/ 28 w 235"/>
                <a:gd name="T5" fmla="*/ 32 h 32"/>
                <a:gd name="T6" fmla="*/ 235 w 235"/>
                <a:gd name="T7" fmla="*/ 32 h 32"/>
                <a:gd name="T8" fmla="*/ 208 w 235"/>
                <a:gd name="T9" fmla="*/ 0 h 32"/>
              </a:gdLst>
              <a:ahLst/>
              <a:cxnLst>
                <a:cxn ang="0">
                  <a:pos x="T0" y="T1"/>
                </a:cxn>
                <a:cxn ang="0">
                  <a:pos x="T2" y="T3"/>
                </a:cxn>
                <a:cxn ang="0">
                  <a:pos x="T4" y="T5"/>
                </a:cxn>
                <a:cxn ang="0">
                  <a:pos x="T6" y="T7"/>
                </a:cxn>
                <a:cxn ang="0">
                  <a:pos x="T8" y="T9"/>
                </a:cxn>
              </a:cxnLst>
              <a:rect l="0" t="0" r="r" b="b"/>
              <a:pathLst>
                <a:path w="235" h="32">
                  <a:moveTo>
                    <a:pt x="208" y="0"/>
                  </a:moveTo>
                  <a:lnTo>
                    <a:pt x="0" y="0"/>
                  </a:lnTo>
                  <a:lnTo>
                    <a:pt x="28" y="32"/>
                  </a:lnTo>
                  <a:lnTo>
                    <a:pt x="235" y="32"/>
                  </a:lnTo>
                  <a:lnTo>
                    <a:pt x="208" y="0"/>
                  </a:lnTo>
                  <a:close/>
                </a:path>
              </a:pathLst>
            </a:custGeom>
            <a:solidFill>
              <a:srgbClr val="C0C0C0"/>
            </a:solidFill>
            <a:ln w="4763">
              <a:solidFill>
                <a:srgbClr val="000000"/>
              </a:solidFill>
              <a:prstDash val="solid"/>
              <a:round/>
              <a:headEnd/>
              <a:tailEnd/>
            </a:ln>
          </p:spPr>
          <p:txBody>
            <a:bodyPr/>
            <a:lstStyle/>
            <a:p>
              <a:endParaRPr lang="en-US"/>
            </a:p>
          </p:txBody>
        </p:sp>
        <p:sp>
          <p:nvSpPr>
            <p:cNvPr id="190674" name="Freeform 210"/>
            <p:cNvSpPr>
              <a:spLocks/>
            </p:cNvSpPr>
            <p:nvPr/>
          </p:nvSpPr>
          <p:spPr bwMode="auto">
            <a:xfrm>
              <a:off x="1291" y="2779"/>
              <a:ext cx="27" cy="179"/>
            </a:xfrm>
            <a:custGeom>
              <a:avLst/>
              <a:gdLst>
                <a:gd name="T0" fmla="*/ 27 w 27"/>
                <a:gd name="T1" fmla="*/ 179 h 179"/>
                <a:gd name="T2" fmla="*/ 0 w 27"/>
                <a:gd name="T3" fmla="*/ 147 h 179"/>
                <a:gd name="T4" fmla="*/ 0 w 27"/>
                <a:gd name="T5" fmla="*/ 0 h 179"/>
                <a:gd name="T6" fmla="*/ 27 w 27"/>
                <a:gd name="T7" fmla="*/ 32 h 179"/>
                <a:gd name="T8" fmla="*/ 27 w 27"/>
                <a:gd name="T9" fmla="*/ 179 h 179"/>
              </a:gdLst>
              <a:ahLst/>
              <a:cxnLst>
                <a:cxn ang="0">
                  <a:pos x="T0" y="T1"/>
                </a:cxn>
                <a:cxn ang="0">
                  <a:pos x="T2" y="T3"/>
                </a:cxn>
                <a:cxn ang="0">
                  <a:pos x="T4" y="T5"/>
                </a:cxn>
                <a:cxn ang="0">
                  <a:pos x="T6" y="T7"/>
                </a:cxn>
                <a:cxn ang="0">
                  <a:pos x="T8" y="T9"/>
                </a:cxn>
              </a:cxnLst>
              <a:rect l="0" t="0" r="r" b="b"/>
              <a:pathLst>
                <a:path w="27" h="179">
                  <a:moveTo>
                    <a:pt x="27" y="179"/>
                  </a:moveTo>
                  <a:lnTo>
                    <a:pt x="0" y="147"/>
                  </a:lnTo>
                  <a:lnTo>
                    <a:pt x="0" y="0"/>
                  </a:lnTo>
                  <a:lnTo>
                    <a:pt x="27" y="32"/>
                  </a:lnTo>
                  <a:lnTo>
                    <a:pt x="27" y="179"/>
                  </a:lnTo>
                  <a:close/>
                </a:path>
              </a:pathLst>
            </a:custGeom>
            <a:solidFill>
              <a:srgbClr val="C0C0C0"/>
            </a:solidFill>
            <a:ln w="4763">
              <a:solidFill>
                <a:srgbClr val="000000"/>
              </a:solidFill>
              <a:prstDash val="solid"/>
              <a:round/>
              <a:headEnd/>
              <a:tailEnd/>
            </a:ln>
          </p:spPr>
          <p:txBody>
            <a:bodyPr/>
            <a:lstStyle/>
            <a:p>
              <a:endParaRPr lang="en-US"/>
            </a:p>
          </p:txBody>
        </p:sp>
        <p:sp>
          <p:nvSpPr>
            <p:cNvPr id="190675" name="Rectangle 211"/>
            <p:cNvSpPr>
              <a:spLocks noChangeArrowheads="1"/>
            </p:cNvSpPr>
            <p:nvPr/>
          </p:nvSpPr>
          <p:spPr bwMode="auto">
            <a:xfrm>
              <a:off x="1083" y="2779"/>
              <a:ext cx="208" cy="147"/>
            </a:xfrm>
            <a:prstGeom prst="rect">
              <a:avLst/>
            </a:prstGeom>
            <a:solidFill>
              <a:srgbClr val="FFFFFF"/>
            </a:solidFill>
            <a:ln w="4763">
              <a:solidFill>
                <a:srgbClr val="000000"/>
              </a:solidFill>
              <a:miter lim="800000"/>
              <a:headEnd/>
              <a:tailEnd/>
            </a:ln>
          </p:spPr>
          <p:txBody>
            <a:bodyPr/>
            <a:lstStyle/>
            <a:p>
              <a:endParaRPr lang="en-US"/>
            </a:p>
          </p:txBody>
        </p:sp>
        <p:sp>
          <p:nvSpPr>
            <p:cNvPr id="190676" name="Rectangle 212"/>
            <p:cNvSpPr>
              <a:spLocks noChangeArrowheads="1"/>
            </p:cNvSpPr>
            <p:nvPr/>
          </p:nvSpPr>
          <p:spPr bwMode="auto">
            <a:xfrm>
              <a:off x="1152" y="27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0677" name="Freeform 213"/>
            <p:cNvSpPr>
              <a:spLocks/>
            </p:cNvSpPr>
            <p:nvPr/>
          </p:nvSpPr>
          <p:spPr bwMode="auto">
            <a:xfrm>
              <a:off x="1291" y="2926"/>
              <a:ext cx="233" cy="32"/>
            </a:xfrm>
            <a:custGeom>
              <a:avLst/>
              <a:gdLst>
                <a:gd name="T0" fmla="*/ 207 w 233"/>
                <a:gd name="T1" fmla="*/ 0 h 32"/>
                <a:gd name="T2" fmla="*/ 0 w 233"/>
                <a:gd name="T3" fmla="*/ 0 h 32"/>
                <a:gd name="T4" fmla="*/ 27 w 233"/>
                <a:gd name="T5" fmla="*/ 32 h 32"/>
                <a:gd name="T6" fmla="*/ 233 w 233"/>
                <a:gd name="T7" fmla="*/ 32 h 32"/>
                <a:gd name="T8" fmla="*/ 207 w 233"/>
                <a:gd name="T9" fmla="*/ 0 h 32"/>
              </a:gdLst>
              <a:ahLst/>
              <a:cxnLst>
                <a:cxn ang="0">
                  <a:pos x="T0" y="T1"/>
                </a:cxn>
                <a:cxn ang="0">
                  <a:pos x="T2" y="T3"/>
                </a:cxn>
                <a:cxn ang="0">
                  <a:pos x="T4" y="T5"/>
                </a:cxn>
                <a:cxn ang="0">
                  <a:pos x="T6" y="T7"/>
                </a:cxn>
                <a:cxn ang="0">
                  <a:pos x="T8" y="T9"/>
                </a:cxn>
              </a:cxnLst>
              <a:rect l="0" t="0" r="r" b="b"/>
              <a:pathLst>
                <a:path w="233" h="32">
                  <a:moveTo>
                    <a:pt x="207" y="0"/>
                  </a:moveTo>
                  <a:lnTo>
                    <a:pt x="0" y="0"/>
                  </a:lnTo>
                  <a:lnTo>
                    <a:pt x="27" y="32"/>
                  </a:lnTo>
                  <a:lnTo>
                    <a:pt x="233" y="32"/>
                  </a:lnTo>
                  <a:lnTo>
                    <a:pt x="207" y="0"/>
                  </a:lnTo>
                  <a:close/>
                </a:path>
              </a:pathLst>
            </a:custGeom>
            <a:solidFill>
              <a:srgbClr val="C0C0C0"/>
            </a:solidFill>
            <a:ln w="4763">
              <a:solidFill>
                <a:srgbClr val="000000"/>
              </a:solidFill>
              <a:prstDash val="solid"/>
              <a:round/>
              <a:headEnd/>
              <a:tailEnd/>
            </a:ln>
          </p:spPr>
          <p:txBody>
            <a:bodyPr/>
            <a:lstStyle/>
            <a:p>
              <a:endParaRPr lang="en-US"/>
            </a:p>
          </p:txBody>
        </p:sp>
        <p:sp>
          <p:nvSpPr>
            <p:cNvPr id="190678" name="Freeform 214"/>
            <p:cNvSpPr>
              <a:spLocks/>
            </p:cNvSpPr>
            <p:nvPr/>
          </p:nvSpPr>
          <p:spPr bwMode="auto">
            <a:xfrm>
              <a:off x="1498" y="2779"/>
              <a:ext cx="26" cy="179"/>
            </a:xfrm>
            <a:custGeom>
              <a:avLst/>
              <a:gdLst>
                <a:gd name="T0" fmla="*/ 26 w 26"/>
                <a:gd name="T1" fmla="*/ 179 h 179"/>
                <a:gd name="T2" fmla="*/ 0 w 26"/>
                <a:gd name="T3" fmla="*/ 147 h 179"/>
                <a:gd name="T4" fmla="*/ 0 w 26"/>
                <a:gd name="T5" fmla="*/ 0 h 179"/>
                <a:gd name="T6" fmla="*/ 26 w 26"/>
                <a:gd name="T7" fmla="*/ 32 h 179"/>
                <a:gd name="T8" fmla="*/ 26 w 26"/>
                <a:gd name="T9" fmla="*/ 179 h 179"/>
              </a:gdLst>
              <a:ahLst/>
              <a:cxnLst>
                <a:cxn ang="0">
                  <a:pos x="T0" y="T1"/>
                </a:cxn>
                <a:cxn ang="0">
                  <a:pos x="T2" y="T3"/>
                </a:cxn>
                <a:cxn ang="0">
                  <a:pos x="T4" y="T5"/>
                </a:cxn>
                <a:cxn ang="0">
                  <a:pos x="T6" y="T7"/>
                </a:cxn>
                <a:cxn ang="0">
                  <a:pos x="T8" y="T9"/>
                </a:cxn>
              </a:cxnLst>
              <a:rect l="0" t="0" r="r" b="b"/>
              <a:pathLst>
                <a:path w="26" h="179">
                  <a:moveTo>
                    <a:pt x="26" y="179"/>
                  </a:moveTo>
                  <a:lnTo>
                    <a:pt x="0" y="147"/>
                  </a:lnTo>
                  <a:lnTo>
                    <a:pt x="0" y="0"/>
                  </a:lnTo>
                  <a:lnTo>
                    <a:pt x="26" y="32"/>
                  </a:lnTo>
                  <a:lnTo>
                    <a:pt x="26" y="179"/>
                  </a:lnTo>
                  <a:close/>
                </a:path>
              </a:pathLst>
            </a:custGeom>
            <a:solidFill>
              <a:srgbClr val="C0C0C0"/>
            </a:solidFill>
            <a:ln w="4763">
              <a:solidFill>
                <a:srgbClr val="000000"/>
              </a:solidFill>
              <a:prstDash val="solid"/>
              <a:round/>
              <a:headEnd/>
              <a:tailEnd/>
            </a:ln>
          </p:spPr>
          <p:txBody>
            <a:bodyPr/>
            <a:lstStyle/>
            <a:p>
              <a:endParaRPr lang="en-US"/>
            </a:p>
          </p:txBody>
        </p:sp>
        <p:sp>
          <p:nvSpPr>
            <p:cNvPr id="190679" name="Rectangle 215"/>
            <p:cNvSpPr>
              <a:spLocks noChangeArrowheads="1"/>
            </p:cNvSpPr>
            <p:nvPr/>
          </p:nvSpPr>
          <p:spPr bwMode="auto">
            <a:xfrm>
              <a:off x="1291" y="2779"/>
              <a:ext cx="207" cy="147"/>
            </a:xfrm>
            <a:prstGeom prst="rect">
              <a:avLst/>
            </a:prstGeom>
            <a:solidFill>
              <a:srgbClr val="FFFFFF"/>
            </a:solidFill>
            <a:ln w="4763">
              <a:solidFill>
                <a:srgbClr val="000000"/>
              </a:solidFill>
              <a:miter lim="800000"/>
              <a:headEnd/>
              <a:tailEnd/>
            </a:ln>
          </p:spPr>
          <p:txBody>
            <a:bodyPr/>
            <a:lstStyle/>
            <a:p>
              <a:endParaRPr lang="en-US"/>
            </a:p>
          </p:txBody>
        </p:sp>
        <p:sp>
          <p:nvSpPr>
            <p:cNvPr id="190680" name="Rectangle 216"/>
            <p:cNvSpPr>
              <a:spLocks noChangeArrowheads="1"/>
            </p:cNvSpPr>
            <p:nvPr/>
          </p:nvSpPr>
          <p:spPr bwMode="auto">
            <a:xfrm>
              <a:off x="1360" y="27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0681" name="Freeform 217"/>
            <p:cNvSpPr>
              <a:spLocks/>
            </p:cNvSpPr>
            <p:nvPr/>
          </p:nvSpPr>
          <p:spPr bwMode="auto">
            <a:xfrm>
              <a:off x="1498" y="2926"/>
              <a:ext cx="233" cy="32"/>
            </a:xfrm>
            <a:custGeom>
              <a:avLst/>
              <a:gdLst>
                <a:gd name="T0" fmla="*/ 205 w 233"/>
                <a:gd name="T1" fmla="*/ 0 h 32"/>
                <a:gd name="T2" fmla="*/ 0 w 233"/>
                <a:gd name="T3" fmla="*/ 0 h 32"/>
                <a:gd name="T4" fmla="*/ 26 w 233"/>
                <a:gd name="T5" fmla="*/ 32 h 32"/>
                <a:gd name="T6" fmla="*/ 233 w 233"/>
                <a:gd name="T7" fmla="*/ 32 h 32"/>
                <a:gd name="T8" fmla="*/ 205 w 233"/>
                <a:gd name="T9" fmla="*/ 0 h 32"/>
              </a:gdLst>
              <a:ahLst/>
              <a:cxnLst>
                <a:cxn ang="0">
                  <a:pos x="T0" y="T1"/>
                </a:cxn>
                <a:cxn ang="0">
                  <a:pos x="T2" y="T3"/>
                </a:cxn>
                <a:cxn ang="0">
                  <a:pos x="T4" y="T5"/>
                </a:cxn>
                <a:cxn ang="0">
                  <a:pos x="T6" y="T7"/>
                </a:cxn>
                <a:cxn ang="0">
                  <a:pos x="T8" y="T9"/>
                </a:cxn>
              </a:cxnLst>
              <a:rect l="0" t="0" r="r" b="b"/>
              <a:pathLst>
                <a:path w="233" h="32">
                  <a:moveTo>
                    <a:pt x="205" y="0"/>
                  </a:moveTo>
                  <a:lnTo>
                    <a:pt x="0" y="0"/>
                  </a:lnTo>
                  <a:lnTo>
                    <a:pt x="26" y="32"/>
                  </a:lnTo>
                  <a:lnTo>
                    <a:pt x="233" y="32"/>
                  </a:lnTo>
                  <a:lnTo>
                    <a:pt x="205" y="0"/>
                  </a:lnTo>
                  <a:close/>
                </a:path>
              </a:pathLst>
            </a:custGeom>
            <a:solidFill>
              <a:srgbClr val="C0C0C0"/>
            </a:solidFill>
            <a:ln w="4763">
              <a:solidFill>
                <a:srgbClr val="000000"/>
              </a:solidFill>
              <a:prstDash val="solid"/>
              <a:round/>
              <a:headEnd/>
              <a:tailEnd/>
            </a:ln>
          </p:spPr>
          <p:txBody>
            <a:bodyPr/>
            <a:lstStyle/>
            <a:p>
              <a:endParaRPr lang="en-US"/>
            </a:p>
          </p:txBody>
        </p:sp>
        <p:sp>
          <p:nvSpPr>
            <p:cNvPr id="190682" name="Freeform 218"/>
            <p:cNvSpPr>
              <a:spLocks/>
            </p:cNvSpPr>
            <p:nvPr/>
          </p:nvSpPr>
          <p:spPr bwMode="auto">
            <a:xfrm>
              <a:off x="1703" y="2779"/>
              <a:ext cx="28" cy="179"/>
            </a:xfrm>
            <a:custGeom>
              <a:avLst/>
              <a:gdLst>
                <a:gd name="T0" fmla="*/ 28 w 28"/>
                <a:gd name="T1" fmla="*/ 179 h 179"/>
                <a:gd name="T2" fmla="*/ 0 w 28"/>
                <a:gd name="T3" fmla="*/ 147 h 179"/>
                <a:gd name="T4" fmla="*/ 0 w 28"/>
                <a:gd name="T5" fmla="*/ 0 h 179"/>
                <a:gd name="T6" fmla="*/ 28 w 28"/>
                <a:gd name="T7" fmla="*/ 32 h 179"/>
                <a:gd name="T8" fmla="*/ 28 w 28"/>
                <a:gd name="T9" fmla="*/ 179 h 179"/>
              </a:gdLst>
              <a:ahLst/>
              <a:cxnLst>
                <a:cxn ang="0">
                  <a:pos x="T0" y="T1"/>
                </a:cxn>
                <a:cxn ang="0">
                  <a:pos x="T2" y="T3"/>
                </a:cxn>
                <a:cxn ang="0">
                  <a:pos x="T4" y="T5"/>
                </a:cxn>
                <a:cxn ang="0">
                  <a:pos x="T6" y="T7"/>
                </a:cxn>
                <a:cxn ang="0">
                  <a:pos x="T8" y="T9"/>
                </a:cxn>
              </a:cxnLst>
              <a:rect l="0" t="0" r="r" b="b"/>
              <a:pathLst>
                <a:path w="28" h="179">
                  <a:moveTo>
                    <a:pt x="28" y="179"/>
                  </a:moveTo>
                  <a:lnTo>
                    <a:pt x="0" y="147"/>
                  </a:lnTo>
                  <a:lnTo>
                    <a:pt x="0" y="0"/>
                  </a:lnTo>
                  <a:lnTo>
                    <a:pt x="28" y="32"/>
                  </a:lnTo>
                  <a:lnTo>
                    <a:pt x="28" y="179"/>
                  </a:lnTo>
                  <a:close/>
                </a:path>
              </a:pathLst>
            </a:custGeom>
            <a:solidFill>
              <a:srgbClr val="C0C0C0"/>
            </a:solidFill>
            <a:ln w="4763">
              <a:solidFill>
                <a:srgbClr val="000000"/>
              </a:solidFill>
              <a:prstDash val="solid"/>
              <a:round/>
              <a:headEnd/>
              <a:tailEnd/>
            </a:ln>
          </p:spPr>
          <p:txBody>
            <a:bodyPr/>
            <a:lstStyle/>
            <a:p>
              <a:endParaRPr lang="en-US"/>
            </a:p>
          </p:txBody>
        </p:sp>
        <p:sp>
          <p:nvSpPr>
            <p:cNvPr id="190683" name="Rectangle 219"/>
            <p:cNvSpPr>
              <a:spLocks noChangeArrowheads="1"/>
            </p:cNvSpPr>
            <p:nvPr/>
          </p:nvSpPr>
          <p:spPr bwMode="auto">
            <a:xfrm>
              <a:off x="1498" y="2779"/>
              <a:ext cx="205" cy="147"/>
            </a:xfrm>
            <a:prstGeom prst="rect">
              <a:avLst/>
            </a:prstGeom>
            <a:solidFill>
              <a:srgbClr val="FFFFFF"/>
            </a:solidFill>
            <a:ln w="4763">
              <a:solidFill>
                <a:srgbClr val="000000"/>
              </a:solidFill>
              <a:miter lim="800000"/>
              <a:headEnd/>
              <a:tailEnd/>
            </a:ln>
          </p:spPr>
          <p:txBody>
            <a:bodyPr/>
            <a:lstStyle/>
            <a:p>
              <a:endParaRPr lang="en-US"/>
            </a:p>
          </p:txBody>
        </p:sp>
        <p:sp>
          <p:nvSpPr>
            <p:cNvPr id="190684" name="Rectangle 220"/>
            <p:cNvSpPr>
              <a:spLocks noChangeArrowheads="1"/>
            </p:cNvSpPr>
            <p:nvPr/>
          </p:nvSpPr>
          <p:spPr bwMode="auto">
            <a:xfrm>
              <a:off x="1567" y="27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0685" name="Freeform 221"/>
            <p:cNvSpPr>
              <a:spLocks/>
            </p:cNvSpPr>
            <p:nvPr/>
          </p:nvSpPr>
          <p:spPr bwMode="auto">
            <a:xfrm>
              <a:off x="1703" y="2926"/>
              <a:ext cx="236" cy="32"/>
            </a:xfrm>
            <a:custGeom>
              <a:avLst/>
              <a:gdLst>
                <a:gd name="T0" fmla="*/ 208 w 236"/>
                <a:gd name="T1" fmla="*/ 0 h 32"/>
                <a:gd name="T2" fmla="*/ 0 w 236"/>
                <a:gd name="T3" fmla="*/ 0 h 32"/>
                <a:gd name="T4" fmla="*/ 28 w 236"/>
                <a:gd name="T5" fmla="*/ 32 h 32"/>
                <a:gd name="T6" fmla="*/ 236 w 236"/>
                <a:gd name="T7" fmla="*/ 32 h 32"/>
                <a:gd name="T8" fmla="*/ 208 w 236"/>
                <a:gd name="T9" fmla="*/ 0 h 32"/>
              </a:gdLst>
              <a:ahLst/>
              <a:cxnLst>
                <a:cxn ang="0">
                  <a:pos x="T0" y="T1"/>
                </a:cxn>
                <a:cxn ang="0">
                  <a:pos x="T2" y="T3"/>
                </a:cxn>
                <a:cxn ang="0">
                  <a:pos x="T4" y="T5"/>
                </a:cxn>
                <a:cxn ang="0">
                  <a:pos x="T6" y="T7"/>
                </a:cxn>
                <a:cxn ang="0">
                  <a:pos x="T8" y="T9"/>
                </a:cxn>
              </a:cxnLst>
              <a:rect l="0" t="0" r="r" b="b"/>
              <a:pathLst>
                <a:path w="236" h="32">
                  <a:moveTo>
                    <a:pt x="208" y="0"/>
                  </a:moveTo>
                  <a:lnTo>
                    <a:pt x="0" y="0"/>
                  </a:lnTo>
                  <a:lnTo>
                    <a:pt x="28" y="32"/>
                  </a:lnTo>
                  <a:lnTo>
                    <a:pt x="236" y="32"/>
                  </a:lnTo>
                  <a:lnTo>
                    <a:pt x="208" y="0"/>
                  </a:lnTo>
                  <a:close/>
                </a:path>
              </a:pathLst>
            </a:custGeom>
            <a:solidFill>
              <a:srgbClr val="C0C0C0"/>
            </a:solidFill>
            <a:ln w="4763">
              <a:solidFill>
                <a:srgbClr val="000000"/>
              </a:solidFill>
              <a:prstDash val="solid"/>
              <a:round/>
              <a:headEnd/>
              <a:tailEnd/>
            </a:ln>
          </p:spPr>
          <p:txBody>
            <a:bodyPr/>
            <a:lstStyle/>
            <a:p>
              <a:endParaRPr lang="en-US"/>
            </a:p>
          </p:txBody>
        </p:sp>
        <p:sp>
          <p:nvSpPr>
            <p:cNvPr id="190686" name="Freeform 222"/>
            <p:cNvSpPr>
              <a:spLocks/>
            </p:cNvSpPr>
            <p:nvPr/>
          </p:nvSpPr>
          <p:spPr bwMode="auto">
            <a:xfrm>
              <a:off x="1911" y="2779"/>
              <a:ext cx="28" cy="179"/>
            </a:xfrm>
            <a:custGeom>
              <a:avLst/>
              <a:gdLst>
                <a:gd name="T0" fmla="*/ 28 w 28"/>
                <a:gd name="T1" fmla="*/ 179 h 179"/>
                <a:gd name="T2" fmla="*/ 0 w 28"/>
                <a:gd name="T3" fmla="*/ 147 h 179"/>
                <a:gd name="T4" fmla="*/ 0 w 28"/>
                <a:gd name="T5" fmla="*/ 0 h 179"/>
                <a:gd name="T6" fmla="*/ 28 w 28"/>
                <a:gd name="T7" fmla="*/ 32 h 179"/>
                <a:gd name="T8" fmla="*/ 28 w 28"/>
                <a:gd name="T9" fmla="*/ 179 h 179"/>
              </a:gdLst>
              <a:ahLst/>
              <a:cxnLst>
                <a:cxn ang="0">
                  <a:pos x="T0" y="T1"/>
                </a:cxn>
                <a:cxn ang="0">
                  <a:pos x="T2" y="T3"/>
                </a:cxn>
                <a:cxn ang="0">
                  <a:pos x="T4" y="T5"/>
                </a:cxn>
                <a:cxn ang="0">
                  <a:pos x="T6" y="T7"/>
                </a:cxn>
                <a:cxn ang="0">
                  <a:pos x="T8" y="T9"/>
                </a:cxn>
              </a:cxnLst>
              <a:rect l="0" t="0" r="r" b="b"/>
              <a:pathLst>
                <a:path w="28" h="179">
                  <a:moveTo>
                    <a:pt x="28" y="179"/>
                  </a:moveTo>
                  <a:lnTo>
                    <a:pt x="0" y="147"/>
                  </a:lnTo>
                  <a:lnTo>
                    <a:pt x="0" y="0"/>
                  </a:lnTo>
                  <a:lnTo>
                    <a:pt x="28" y="32"/>
                  </a:lnTo>
                  <a:lnTo>
                    <a:pt x="28" y="179"/>
                  </a:lnTo>
                  <a:close/>
                </a:path>
              </a:pathLst>
            </a:custGeom>
            <a:solidFill>
              <a:srgbClr val="C0C0C0"/>
            </a:solidFill>
            <a:ln w="4763">
              <a:solidFill>
                <a:srgbClr val="000000"/>
              </a:solidFill>
              <a:prstDash val="solid"/>
              <a:round/>
              <a:headEnd/>
              <a:tailEnd/>
            </a:ln>
          </p:spPr>
          <p:txBody>
            <a:bodyPr/>
            <a:lstStyle/>
            <a:p>
              <a:endParaRPr lang="en-US"/>
            </a:p>
          </p:txBody>
        </p:sp>
        <p:sp>
          <p:nvSpPr>
            <p:cNvPr id="190687" name="Rectangle 223"/>
            <p:cNvSpPr>
              <a:spLocks noChangeArrowheads="1"/>
            </p:cNvSpPr>
            <p:nvPr/>
          </p:nvSpPr>
          <p:spPr bwMode="auto">
            <a:xfrm>
              <a:off x="1703" y="2779"/>
              <a:ext cx="208" cy="147"/>
            </a:xfrm>
            <a:prstGeom prst="rect">
              <a:avLst/>
            </a:prstGeom>
            <a:solidFill>
              <a:srgbClr val="FFFFFF"/>
            </a:solidFill>
            <a:ln w="4763">
              <a:solidFill>
                <a:srgbClr val="000000"/>
              </a:solidFill>
              <a:miter lim="800000"/>
              <a:headEnd/>
              <a:tailEnd/>
            </a:ln>
          </p:spPr>
          <p:txBody>
            <a:bodyPr/>
            <a:lstStyle/>
            <a:p>
              <a:endParaRPr lang="en-US"/>
            </a:p>
          </p:txBody>
        </p:sp>
        <p:sp>
          <p:nvSpPr>
            <p:cNvPr id="190688" name="Rectangle 224"/>
            <p:cNvSpPr>
              <a:spLocks noChangeArrowheads="1"/>
            </p:cNvSpPr>
            <p:nvPr/>
          </p:nvSpPr>
          <p:spPr bwMode="auto">
            <a:xfrm>
              <a:off x="1772" y="27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0689" name="Freeform 225"/>
            <p:cNvSpPr>
              <a:spLocks/>
            </p:cNvSpPr>
            <p:nvPr/>
          </p:nvSpPr>
          <p:spPr bwMode="auto">
            <a:xfrm>
              <a:off x="1911" y="2926"/>
              <a:ext cx="233" cy="32"/>
            </a:xfrm>
            <a:custGeom>
              <a:avLst/>
              <a:gdLst>
                <a:gd name="T0" fmla="*/ 207 w 233"/>
                <a:gd name="T1" fmla="*/ 0 h 32"/>
                <a:gd name="T2" fmla="*/ 0 w 233"/>
                <a:gd name="T3" fmla="*/ 0 h 32"/>
                <a:gd name="T4" fmla="*/ 28 w 233"/>
                <a:gd name="T5" fmla="*/ 32 h 32"/>
                <a:gd name="T6" fmla="*/ 233 w 233"/>
                <a:gd name="T7" fmla="*/ 32 h 32"/>
                <a:gd name="T8" fmla="*/ 207 w 233"/>
                <a:gd name="T9" fmla="*/ 0 h 32"/>
              </a:gdLst>
              <a:ahLst/>
              <a:cxnLst>
                <a:cxn ang="0">
                  <a:pos x="T0" y="T1"/>
                </a:cxn>
                <a:cxn ang="0">
                  <a:pos x="T2" y="T3"/>
                </a:cxn>
                <a:cxn ang="0">
                  <a:pos x="T4" y="T5"/>
                </a:cxn>
                <a:cxn ang="0">
                  <a:pos x="T6" y="T7"/>
                </a:cxn>
                <a:cxn ang="0">
                  <a:pos x="T8" y="T9"/>
                </a:cxn>
              </a:cxnLst>
              <a:rect l="0" t="0" r="r" b="b"/>
              <a:pathLst>
                <a:path w="233" h="32">
                  <a:moveTo>
                    <a:pt x="207" y="0"/>
                  </a:moveTo>
                  <a:lnTo>
                    <a:pt x="0" y="0"/>
                  </a:lnTo>
                  <a:lnTo>
                    <a:pt x="28" y="32"/>
                  </a:lnTo>
                  <a:lnTo>
                    <a:pt x="233" y="32"/>
                  </a:lnTo>
                  <a:lnTo>
                    <a:pt x="207" y="0"/>
                  </a:lnTo>
                  <a:close/>
                </a:path>
              </a:pathLst>
            </a:custGeom>
            <a:solidFill>
              <a:srgbClr val="C0C0C0"/>
            </a:solidFill>
            <a:ln w="4763">
              <a:solidFill>
                <a:srgbClr val="000000"/>
              </a:solidFill>
              <a:prstDash val="solid"/>
              <a:round/>
              <a:headEnd/>
              <a:tailEnd/>
            </a:ln>
          </p:spPr>
          <p:txBody>
            <a:bodyPr/>
            <a:lstStyle/>
            <a:p>
              <a:endParaRPr lang="en-US"/>
            </a:p>
          </p:txBody>
        </p:sp>
        <p:sp>
          <p:nvSpPr>
            <p:cNvPr id="190690" name="Freeform 226"/>
            <p:cNvSpPr>
              <a:spLocks/>
            </p:cNvSpPr>
            <p:nvPr/>
          </p:nvSpPr>
          <p:spPr bwMode="auto">
            <a:xfrm>
              <a:off x="2118" y="2779"/>
              <a:ext cx="26" cy="179"/>
            </a:xfrm>
            <a:custGeom>
              <a:avLst/>
              <a:gdLst>
                <a:gd name="T0" fmla="*/ 26 w 26"/>
                <a:gd name="T1" fmla="*/ 179 h 179"/>
                <a:gd name="T2" fmla="*/ 0 w 26"/>
                <a:gd name="T3" fmla="*/ 147 h 179"/>
                <a:gd name="T4" fmla="*/ 0 w 26"/>
                <a:gd name="T5" fmla="*/ 0 h 179"/>
                <a:gd name="T6" fmla="*/ 26 w 26"/>
                <a:gd name="T7" fmla="*/ 32 h 179"/>
                <a:gd name="T8" fmla="*/ 26 w 26"/>
                <a:gd name="T9" fmla="*/ 179 h 179"/>
              </a:gdLst>
              <a:ahLst/>
              <a:cxnLst>
                <a:cxn ang="0">
                  <a:pos x="T0" y="T1"/>
                </a:cxn>
                <a:cxn ang="0">
                  <a:pos x="T2" y="T3"/>
                </a:cxn>
                <a:cxn ang="0">
                  <a:pos x="T4" y="T5"/>
                </a:cxn>
                <a:cxn ang="0">
                  <a:pos x="T6" y="T7"/>
                </a:cxn>
                <a:cxn ang="0">
                  <a:pos x="T8" y="T9"/>
                </a:cxn>
              </a:cxnLst>
              <a:rect l="0" t="0" r="r" b="b"/>
              <a:pathLst>
                <a:path w="26" h="179">
                  <a:moveTo>
                    <a:pt x="26" y="179"/>
                  </a:moveTo>
                  <a:lnTo>
                    <a:pt x="0" y="147"/>
                  </a:lnTo>
                  <a:lnTo>
                    <a:pt x="0" y="0"/>
                  </a:lnTo>
                  <a:lnTo>
                    <a:pt x="26" y="32"/>
                  </a:lnTo>
                  <a:lnTo>
                    <a:pt x="26" y="179"/>
                  </a:lnTo>
                  <a:close/>
                </a:path>
              </a:pathLst>
            </a:custGeom>
            <a:solidFill>
              <a:srgbClr val="C0C0C0"/>
            </a:solidFill>
            <a:ln w="4763">
              <a:solidFill>
                <a:srgbClr val="000000"/>
              </a:solidFill>
              <a:prstDash val="solid"/>
              <a:round/>
              <a:headEnd/>
              <a:tailEnd/>
            </a:ln>
          </p:spPr>
          <p:txBody>
            <a:bodyPr/>
            <a:lstStyle/>
            <a:p>
              <a:endParaRPr lang="en-US"/>
            </a:p>
          </p:txBody>
        </p:sp>
        <p:sp>
          <p:nvSpPr>
            <p:cNvPr id="190691" name="Rectangle 227"/>
            <p:cNvSpPr>
              <a:spLocks noChangeArrowheads="1"/>
            </p:cNvSpPr>
            <p:nvPr/>
          </p:nvSpPr>
          <p:spPr bwMode="auto">
            <a:xfrm>
              <a:off x="1911" y="2779"/>
              <a:ext cx="207" cy="147"/>
            </a:xfrm>
            <a:prstGeom prst="rect">
              <a:avLst/>
            </a:prstGeom>
            <a:solidFill>
              <a:srgbClr val="FFFFFF"/>
            </a:solidFill>
            <a:ln w="4763">
              <a:solidFill>
                <a:srgbClr val="000000"/>
              </a:solidFill>
              <a:miter lim="800000"/>
              <a:headEnd/>
              <a:tailEnd/>
            </a:ln>
          </p:spPr>
          <p:txBody>
            <a:bodyPr/>
            <a:lstStyle/>
            <a:p>
              <a:endParaRPr lang="en-US"/>
            </a:p>
          </p:txBody>
        </p:sp>
        <p:sp>
          <p:nvSpPr>
            <p:cNvPr id="190692" name="Rectangle 228"/>
            <p:cNvSpPr>
              <a:spLocks noChangeArrowheads="1"/>
            </p:cNvSpPr>
            <p:nvPr/>
          </p:nvSpPr>
          <p:spPr bwMode="auto">
            <a:xfrm>
              <a:off x="1980" y="27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0693" name="Freeform 229"/>
            <p:cNvSpPr>
              <a:spLocks/>
            </p:cNvSpPr>
            <p:nvPr/>
          </p:nvSpPr>
          <p:spPr bwMode="auto">
            <a:xfrm>
              <a:off x="2118" y="2926"/>
              <a:ext cx="233" cy="32"/>
            </a:xfrm>
            <a:custGeom>
              <a:avLst/>
              <a:gdLst>
                <a:gd name="T0" fmla="*/ 206 w 233"/>
                <a:gd name="T1" fmla="*/ 0 h 32"/>
                <a:gd name="T2" fmla="*/ 0 w 233"/>
                <a:gd name="T3" fmla="*/ 0 h 32"/>
                <a:gd name="T4" fmla="*/ 26 w 233"/>
                <a:gd name="T5" fmla="*/ 32 h 32"/>
                <a:gd name="T6" fmla="*/ 233 w 233"/>
                <a:gd name="T7" fmla="*/ 32 h 32"/>
                <a:gd name="T8" fmla="*/ 206 w 233"/>
                <a:gd name="T9" fmla="*/ 0 h 32"/>
              </a:gdLst>
              <a:ahLst/>
              <a:cxnLst>
                <a:cxn ang="0">
                  <a:pos x="T0" y="T1"/>
                </a:cxn>
                <a:cxn ang="0">
                  <a:pos x="T2" y="T3"/>
                </a:cxn>
                <a:cxn ang="0">
                  <a:pos x="T4" y="T5"/>
                </a:cxn>
                <a:cxn ang="0">
                  <a:pos x="T6" y="T7"/>
                </a:cxn>
                <a:cxn ang="0">
                  <a:pos x="T8" y="T9"/>
                </a:cxn>
              </a:cxnLst>
              <a:rect l="0" t="0" r="r" b="b"/>
              <a:pathLst>
                <a:path w="233" h="32">
                  <a:moveTo>
                    <a:pt x="206" y="0"/>
                  </a:moveTo>
                  <a:lnTo>
                    <a:pt x="0" y="0"/>
                  </a:lnTo>
                  <a:lnTo>
                    <a:pt x="26" y="32"/>
                  </a:lnTo>
                  <a:lnTo>
                    <a:pt x="233" y="32"/>
                  </a:lnTo>
                  <a:lnTo>
                    <a:pt x="206" y="0"/>
                  </a:lnTo>
                  <a:close/>
                </a:path>
              </a:pathLst>
            </a:custGeom>
            <a:solidFill>
              <a:srgbClr val="C0C0C0"/>
            </a:solidFill>
            <a:ln w="4763">
              <a:solidFill>
                <a:srgbClr val="000000"/>
              </a:solidFill>
              <a:prstDash val="solid"/>
              <a:round/>
              <a:headEnd/>
              <a:tailEnd/>
            </a:ln>
          </p:spPr>
          <p:txBody>
            <a:bodyPr/>
            <a:lstStyle/>
            <a:p>
              <a:endParaRPr lang="en-US"/>
            </a:p>
          </p:txBody>
        </p:sp>
        <p:sp>
          <p:nvSpPr>
            <p:cNvPr id="190694" name="Freeform 230"/>
            <p:cNvSpPr>
              <a:spLocks/>
            </p:cNvSpPr>
            <p:nvPr/>
          </p:nvSpPr>
          <p:spPr bwMode="auto">
            <a:xfrm>
              <a:off x="2324" y="2779"/>
              <a:ext cx="27" cy="179"/>
            </a:xfrm>
            <a:custGeom>
              <a:avLst/>
              <a:gdLst>
                <a:gd name="T0" fmla="*/ 27 w 27"/>
                <a:gd name="T1" fmla="*/ 179 h 179"/>
                <a:gd name="T2" fmla="*/ 0 w 27"/>
                <a:gd name="T3" fmla="*/ 147 h 179"/>
                <a:gd name="T4" fmla="*/ 0 w 27"/>
                <a:gd name="T5" fmla="*/ 0 h 179"/>
                <a:gd name="T6" fmla="*/ 27 w 27"/>
                <a:gd name="T7" fmla="*/ 32 h 179"/>
                <a:gd name="T8" fmla="*/ 27 w 27"/>
                <a:gd name="T9" fmla="*/ 179 h 179"/>
              </a:gdLst>
              <a:ahLst/>
              <a:cxnLst>
                <a:cxn ang="0">
                  <a:pos x="T0" y="T1"/>
                </a:cxn>
                <a:cxn ang="0">
                  <a:pos x="T2" y="T3"/>
                </a:cxn>
                <a:cxn ang="0">
                  <a:pos x="T4" y="T5"/>
                </a:cxn>
                <a:cxn ang="0">
                  <a:pos x="T6" y="T7"/>
                </a:cxn>
                <a:cxn ang="0">
                  <a:pos x="T8" y="T9"/>
                </a:cxn>
              </a:cxnLst>
              <a:rect l="0" t="0" r="r" b="b"/>
              <a:pathLst>
                <a:path w="27" h="179">
                  <a:moveTo>
                    <a:pt x="27" y="179"/>
                  </a:moveTo>
                  <a:lnTo>
                    <a:pt x="0" y="147"/>
                  </a:lnTo>
                  <a:lnTo>
                    <a:pt x="0" y="0"/>
                  </a:lnTo>
                  <a:lnTo>
                    <a:pt x="27" y="32"/>
                  </a:lnTo>
                  <a:lnTo>
                    <a:pt x="27" y="179"/>
                  </a:lnTo>
                  <a:close/>
                </a:path>
              </a:pathLst>
            </a:custGeom>
            <a:solidFill>
              <a:srgbClr val="C0C0C0"/>
            </a:solidFill>
            <a:ln w="4763">
              <a:solidFill>
                <a:srgbClr val="000000"/>
              </a:solidFill>
              <a:prstDash val="solid"/>
              <a:round/>
              <a:headEnd/>
              <a:tailEnd/>
            </a:ln>
          </p:spPr>
          <p:txBody>
            <a:bodyPr/>
            <a:lstStyle/>
            <a:p>
              <a:endParaRPr lang="en-US"/>
            </a:p>
          </p:txBody>
        </p:sp>
        <p:sp>
          <p:nvSpPr>
            <p:cNvPr id="190695" name="Rectangle 231"/>
            <p:cNvSpPr>
              <a:spLocks noChangeArrowheads="1"/>
            </p:cNvSpPr>
            <p:nvPr/>
          </p:nvSpPr>
          <p:spPr bwMode="auto">
            <a:xfrm>
              <a:off x="2118" y="2779"/>
              <a:ext cx="206" cy="147"/>
            </a:xfrm>
            <a:prstGeom prst="rect">
              <a:avLst/>
            </a:prstGeom>
            <a:solidFill>
              <a:srgbClr val="FFFFFF"/>
            </a:solidFill>
            <a:ln w="4763">
              <a:solidFill>
                <a:srgbClr val="000000"/>
              </a:solidFill>
              <a:miter lim="800000"/>
              <a:headEnd/>
              <a:tailEnd/>
            </a:ln>
          </p:spPr>
          <p:txBody>
            <a:bodyPr/>
            <a:lstStyle/>
            <a:p>
              <a:endParaRPr lang="en-US"/>
            </a:p>
          </p:txBody>
        </p:sp>
        <p:sp>
          <p:nvSpPr>
            <p:cNvPr id="190696" name="Rectangle 232"/>
            <p:cNvSpPr>
              <a:spLocks noChangeArrowheads="1"/>
            </p:cNvSpPr>
            <p:nvPr/>
          </p:nvSpPr>
          <p:spPr bwMode="auto">
            <a:xfrm>
              <a:off x="2187" y="27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0697" name="Freeform 233"/>
            <p:cNvSpPr>
              <a:spLocks/>
            </p:cNvSpPr>
            <p:nvPr/>
          </p:nvSpPr>
          <p:spPr bwMode="auto">
            <a:xfrm>
              <a:off x="2324" y="2926"/>
              <a:ext cx="235" cy="32"/>
            </a:xfrm>
            <a:custGeom>
              <a:avLst/>
              <a:gdLst>
                <a:gd name="T0" fmla="*/ 207 w 235"/>
                <a:gd name="T1" fmla="*/ 0 h 32"/>
                <a:gd name="T2" fmla="*/ 0 w 235"/>
                <a:gd name="T3" fmla="*/ 0 h 32"/>
                <a:gd name="T4" fmla="*/ 27 w 235"/>
                <a:gd name="T5" fmla="*/ 32 h 32"/>
                <a:gd name="T6" fmla="*/ 235 w 235"/>
                <a:gd name="T7" fmla="*/ 32 h 32"/>
                <a:gd name="T8" fmla="*/ 207 w 235"/>
                <a:gd name="T9" fmla="*/ 0 h 32"/>
              </a:gdLst>
              <a:ahLst/>
              <a:cxnLst>
                <a:cxn ang="0">
                  <a:pos x="T0" y="T1"/>
                </a:cxn>
                <a:cxn ang="0">
                  <a:pos x="T2" y="T3"/>
                </a:cxn>
                <a:cxn ang="0">
                  <a:pos x="T4" y="T5"/>
                </a:cxn>
                <a:cxn ang="0">
                  <a:pos x="T6" y="T7"/>
                </a:cxn>
                <a:cxn ang="0">
                  <a:pos x="T8" y="T9"/>
                </a:cxn>
              </a:cxnLst>
              <a:rect l="0" t="0" r="r" b="b"/>
              <a:pathLst>
                <a:path w="235" h="32">
                  <a:moveTo>
                    <a:pt x="207" y="0"/>
                  </a:moveTo>
                  <a:lnTo>
                    <a:pt x="0" y="0"/>
                  </a:lnTo>
                  <a:lnTo>
                    <a:pt x="27" y="32"/>
                  </a:lnTo>
                  <a:lnTo>
                    <a:pt x="235" y="32"/>
                  </a:lnTo>
                  <a:lnTo>
                    <a:pt x="207" y="0"/>
                  </a:lnTo>
                  <a:close/>
                </a:path>
              </a:pathLst>
            </a:custGeom>
            <a:solidFill>
              <a:srgbClr val="C0C0C0"/>
            </a:solidFill>
            <a:ln w="4763">
              <a:solidFill>
                <a:srgbClr val="000000"/>
              </a:solidFill>
              <a:prstDash val="solid"/>
              <a:round/>
              <a:headEnd/>
              <a:tailEnd/>
            </a:ln>
          </p:spPr>
          <p:txBody>
            <a:bodyPr/>
            <a:lstStyle/>
            <a:p>
              <a:endParaRPr lang="en-US"/>
            </a:p>
          </p:txBody>
        </p:sp>
        <p:sp>
          <p:nvSpPr>
            <p:cNvPr id="190698" name="Freeform 234"/>
            <p:cNvSpPr>
              <a:spLocks/>
            </p:cNvSpPr>
            <p:nvPr/>
          </p:nvSpPr>
          <p:spPr bwMode="auto">
            <a:xfrm>
              <a:off x="2531" y="2779"/>
              <a:ext cx="28" cy="179"/>
            </a:xfrm>
            <a:custGeom>
              <a:avLst/>
              <a:gdLst>
                <a:gd name="T0" fmla="*/ 28 w 28"/>
                <a:gd name="T1" fmla="*/ 179 h 179"/>
                <a:gd name="T2" fmla="*/ 0 w 28"/>
                <a:gd name="T3" fmla="*/ 147 h 179"/>
                <a:gd name="T4" fmla="*/ 0 w 28"/>
                <a:gd name="T5" fmla="*/ 0 h 179"/>
                <a:gd name="T6" fmla="*/ 28 w 28"/>
                <a:gd name="T7" fmla="*/ 32 h 179"/>
                <a:gd name="T8" fmla="*/ 28 w 28"/>
                <a:gd name="T9" fmla="*/ 179 h 179"/>
              </a:gdLst>
              <a:ahLst/>
              <a:cxnLst>
                <a:cxn ang="0">
                  <a:pos x="T0" y="T1"/>
                </a:cxn>
                <a:cxn ang="0">
                  <a:pos x="T2" y="T3"/>
                </a:cxn>
                <a:cxn ang="0">
                  <a:pos x="T4" y="T5"/>
                </a:cxn>
                <a:cxn ang="0">
                  <a:pos x="T6" y="T7"/>
                </a:cxn>
                <a:cxn ang="0">
                  <a:pos x="T8" y="T9"/>
                </a:cxn>
              </a:cxnLst>
              <a:rect l="0" t="0" r="r" b="b"/>
              <a:pathLst>
                <a:path w="28" h="179">
                  <a:moveTo>
                    <a:pt x="28" y="179"/>
                  </a:moveTo>
                  <a:lnTo>
                    <a:pt x="0" y="147"/>
                  </a:lnTo>
                  <a:lnTo>
                    <a:pt x="0" y="0"/>
                  </a:lnTo>
                  <a:lnTo>
                    <a:pt x="28" y="32"/>
                  </a:lnTo>
                  <a:lnTo>
                    <a:pt x="28" y="179"/>
                  </a:lnTo>
                  <a:close/>
                </a:path>
              </a:pathLst>
            </a:custGeom>
            <a:solidFill>
              <a:srgbClr val="C0C0C0"/>
            </a:solidFill>
            <a:ln w="4763">
              <a:solidFill>
                <a:srgbClr val="000000"/>
              </a:solidFill>
              <a:prstDash val="solid"/>
              <a:round/>
              <a:headEnd/>
              <a:tailEnd/>
            </a:ln>
          </p:spPr>
          <p:txBody>
            <a:bodyPr/>
            <a:lstStyle/>
            <a:p>
              <a:endParaRPr lang="en-US"/>
            </a:p>
          </p:txBody>
        </p:sp>
        <p:sp>
          <p:nvSpPr>
            <p:cNvPr id="190699" name="Rectangle 235"/>
            <p:cNvSpPr>
              <a:spLocks noChangeArrowheads="1"/>
            </p:cNvSpPr>
            <p:nvPr/>
          </p:nvSpPr>
          <p:spPr bwMode="auto">
            <a:xfrm>
              <a:off x="2324" y="2779"/>
              <a:ext cx="207" cy="147"/>
            </a:xfrm>
            <a:prstGeom prst="rect">
              <a:avLst/>
            </a:prstGeom>
            <a:solidFill>
              <a:srgbClr val="FFFFFF"/>
            </a:solidFill>
            <a:ln w="4763">
              <a:solidFill>
                <a:srgbClr val="000000"/>
              </a:solidFill>
              <a:miter lim="800000"/>
              <a:headEnd/>
              <a:tailEnd/>
            </a:ln>
          </p:spPr>
          <p:txBody>
            <a:bodyPr/>
            <a:lstStyle/>
            <a:p>
              <a:endParaRPr lang="en-US"/>
            </a:p>
          </p:txBody>
        </p:sp>
        <p:sp>
          <p:nvSpPr>
            <p:cNvPr id="190700" name="Rectangle 236"/>
            <p:cNvSpPr>
              <a:spLocks noChangeArrowheads="1"/>
            </p:cNvSpPr>
            <p:nvPr/>
          </p:nvSpPr>
          <p:spPr bwMode="auto">
            <a:xfrm>
              <a:off x="2394" y="278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0701" name="Rectangle 237"/>
            <p:cNvSpPr>
              <a:spLocks noChangeArrowheads="1"/>
            </p:cNvSpPr>
            <p:nvPr/>
          </p:nvSpPr>
          <p:spPr bwMode="auto">
            <a:xfrm>
              <a:off x="875" y="3024"/>
              <a:ext cx="19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a:solidFill>
                    <a:srgbClr val="000000"/>
                  </a:solidFill>
                  <a:latin typeface="Helvetica" panose="020B0604020202020204" pitchFamily="34" charset="0"/>
                </a:rPr>
                <a:t>-128</a:t>
              </a:r>
              <a:endParaRPr lang="en-US"/>
            </a:p>
          </p:txBody>
        </p:sp>
        <p:sp>
          <p:nvSpPr>
            <p:cNvPr id="190703" name="Rectangle 239"/>
            <p:cNvSpPr>
              <a:spLocks noChangeArrowheads="1"/>
            </p:cNvSpPr>
            <p:nvPr/>
          </p:nvSpPr>
          <p:spPr bwMode="auto">
            <a:xfrm>
              <a:off x="1149" y="3024"/>
              <a:ext cx="10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a:solidFill>
                    <a:srgbClr val="000000"/>
                  </a:solidFill>
                  <a:latin typeface="Helvetica" panose="020B0604020202020204" pitchFamily="34" charset="0"/>
                </a:rPr>
                <a:t>64</a:t>
              </a:r>
              <a:endParaRPr lang="en-US"/>
            </a:p>
          </p:txBody>
        </p:sp>
        <p:sp>
          <p:nvSpPr>
            <p:cNvPr id="190705" name="Rectangle 241"/>
            <p:cNvSpPr>
              <a:spLocks noChangeArrowheads="1"/>
            </p:cNvSpPr>
            <p:nvPr/>
          </p:nvSpPr>
          <p:spPr bwMode="auto">
            <a:xfrm>
              <a:off x="1355" y="3024"/>
              <a:ext cx="10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a:solidFill>
                    <a:srgbClr val="000000"/>
                  </a:solidFill>
                  <a:latin typeface="Helvetica" panose="020B0604020202020204" pitchFamily="34" charset="0"/>
                </a:rPr>
                <a:t>32</a:t>
              </a:r>
              <a:endParaRPr lang="en-US"/>
            </a:p>
          </p:txBody>
        </p:sp>
        <p:sp>
          <p:nvSpPr>
            <p:cNvPr id="190707" name="Rectangle 243"/>
            <p:cNvSpPr>
              <a:spLocks noChangeArrowheads="1"/>
            </p:cNvSpPr>
            <p:nvPr/>
          </p:nvSpPr>
          <p:spPr bwMode="auto">
            <a:xfrm>
              <a:off x="1561" y="3024"/>
              <a:ext cx="10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a:solidFill>
                    <a:srgbClr val="000000"/>
                  </a:solidFill>
                  <a:latin typeface="Helvetica" panose="020B0604020202020204" pitchFamily="34" charset="0"/>
                </a:rPr>
                <a:t>16</a:t>
              </a:r>
              <a:endParaRPr lang="en-US"/>
            </a:p>
          </p:txBody>
        </p:sp>
        <p:sp>
          <p:nvSpPr>
            <p:cNvPr id="190709" name="Rectangle 245"/>
            <p:cNvSpPr>
              <a:spLocks noChangeArrowheads="1"/>
            </p:cNvSpPr>
            <p:nvPr/>
          </p:nvSpPr>
          <p:spPr bwMode="auto">
            <a:xfrm>
              <a:off x="1775" y="3024"/>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a:solidFill>
                    <a:srgbClr val="000000"/>
                  </a:solidFill>
                  <a:latin typeface="Helvetica" panose="020B0604020202020204" pitchFamily="34" charset="0"/>
                </a:rPr>
                <a:t>8</a:t>
              </a:r>
              <a:endParaRPr lang="en-US"/>
            </a:p>
          </p:txBody>
        </p:sp>
        <p:sp>
          <p:nvSpPr>
            <p:cNvPr id="190711" name="Rectangle 247"/>
            <p:cNvSpPr>
              <a:spLocks noChangeArrowheads="1"/>
            </p:cNvSpPr>
            <p:nvPr/>
          </p:nvSpPr>
          <p:spPr bwMode="auto">
            <a:xfrm>
              <a:off x="1996" y="3024"/>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a:solidFill>
                    <a:srgbClr val="000000"/>
                  </a:solidFill>
                  <a:latin typeface="Helvetica" panose="020B0604020202020204" pitchFamily="34" charset="0"/>
                </a:rPr>
                <a:t>4</a:t>
              </a:r>
              <a:endParaRPr lang="en-US"/>
            </a:p>
          </p:txBody>
        </p:sp>
        <p:sp>
          <p:nvSpPr>
            <p:cNvPr id="190713" name="Rectangle 249"/>
            <p:cNvSpPr>
              <a:spLocks noChangeArrowheads="1"/>
            </p:cNvSpPr>
            <p:nvPr/>
          </p:nvSpPr>
          <p:spPr bwMode="auto">
            <a:xfrm>
              <a:off x="2203" y="3024"/>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a:solidFill>
                    <a:srgbClr val="000000"/>
                  </a:solidFill>
                  <a:latin typeface="Helvetica" panose="020B0604020202020204" pitchFamily="34" charset="0"/>
                </a:rPr>
                <a:t>2</a:t>
              </a:r>
              <a:endParaRPr lang="en-US"/>
            </a:p>
          </p:txBody>
        </p:sp>
        <p:sp>
          <p:nvSpPr>
            <p:cNvPr id="190715" name="Rectangle 251"/>
            <p:cNvSpPr>
              <a:spLocks noChangeArrowheads="1"/>
            </p:cNvSpPr>
            <p:nvPr/>
          </p:nvSpPr>
          <p:spPr bwMode="auto">
            <a:xfrm>
              <a:off x="2410" y="3024"/>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a:solidFill>
                    <a:srgbClr val="000000"/>
                  </a:solidFill>
                  <a:latin typeface="Helvetica" panose="020B0604020202020204" pitchFamily="34" charset="0"/>
                </a:rPr>
                <a:t>1</a:t>
              </a:r>
              <a:endParaRPr lang="en-US"/>
            </a:p>
          </p:txBody>
        </p:sp>
      </p:grpSp>
    </p:spTree>
    <p:extLst>
      <p:ext uri="{BB962C8B-B14F-4D97-AF65-F5344CB8AC3E}">
        <p14:creationId xmlns:p14="http://schemas.microsoft.com/office/powerpoint/2010/main" val="11138856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r>
              <a:rPr lang="en-US" dirty="0">
                <a:solidFill>
                  <a:srgbClr val="FF0000"/>
                </a:solidFill>
                <a:latin typeface="Comic Sans MS" panose="030F0702030302020204" pitchFamily="66" charset="0"/>
              </a:rPr>
              <a:t>Forming the Two's Complement</a:t>
            </a:r>
          </a:p>
        </p:txBody>
      </p:sp>
      <p:sp>
        <p:nvSpPr>
          <p:cNvPr id="136197" name="Text Box 5"/>
          <p:cNvSpPr txBox="1">
            <a:spLocks noChangeArrowheads="1"/>
          </p:cNvSpPr>
          <p:nvPr/>
        </p:nvSpPr>
        <p:spPr bwMode="auto">
          <a:xfrm>
            <a:off x="2133599" y="3429001"/>
            <a:ext cx="8795657" cy="1131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37160" bIns="137160">
            <a:spAutoFit/>
          </a:bodyPr>
          <a:lstStyle/>
          <a:p>
            <a:pPr algn="ctr">
              <a:spcBef>
                <a:spcPct val="50000"/>
              </a:spcBef>
            </a:pPr>
            <a:r>
              <a:rPr lang="en-US" sz="2400" b="1" dirty="0">
                <a:solidFill>
                  <a:srgbClr val="FF0000"/>
                </a:solidFill>
                <a:latin typeface="Comic Sans MS" panose="030F0702030302020204" pitchFamily="66" charset="0"/>
              </a:rPr>
              <a:t>Sum of an integer and its 2's complement must be zero</a:t>
            </a:r>
            <a:r>
              <a:rPr lang="en-US" sz="2400" b="1" dirty="0">
                <a:latin typeface="Comic Sans MS" panose="030F0702030302020204" pitchFamily="66" charset="0"/>
              </a:rPr>
              <a:t>:</a:t>
            </a:r>
          </a:p>
          <a:p>
            <a:pPr algn="ctr">
              <a:spcBef>
                <a:spcPct val="50000"/>
              </a:spcBef>
            </a:pPr>
            <a:r>
              <a:rPr lang="en-US" sz="2100" b="1" dirty="0">
                <a:latin typeface="Comic Sans MS" panose="030F0702030302020204" pitchFamily="66" charset="0"/>
              </a:rPr>
              <a:t>00100100 + 11011100 = 00000000 (8-bit sum) </a:t>
            </a:r>
            <a:r>
              <a:rPr lang="en-US" sz="2100" b="1" dirty="0">
                <a:latin typeface="Comic Sans MS" panose="030F0702030302020204" pitchFamily="66" charset="0"/>
                <a:sym typeface="Symbol" panose="05050102010706020507" pitchFamily="18" charset="2"/>
              </a:rPr>
              <a:t> </a:t>
            </a:r>
            <a:r>
              <a:rPr lang="en-US" sz="2100" b="1" dirty="0">
                <a:solidFill>
                  <a:srgbClr val="FF0000"/>
                </a:solidFill>
                <a:latin typeface="Comic Sans MS" panose="030F0702030302020204" pitchFamily="66" charset="0"/>
                <a:sym typeface="Symbol" panose="05050102010706020507" pitchFamily="18" charset="2"/>
              </a:rPr>
              <a:t>Ignore Carry</a:t>
            </a:r>
          </a:p>
        </p:txBody>
      </p:sp>
      <p:sp>
        <p:nvSpPr>
          <p:cNvPr id="136198" name="Text Box 6"/>
          <p:cNvSpPr txBox="1">
            <a:spLocks noChangeArrowheads="1"/>
          </p:cNvSpPr>
          <p:nvPr/>
        </p:nvSpPr>
        <p:spPr bwMode="auto">
          <a:xfrm>
            <a:off x="1451429" y="4683125"/>
            <a:ext cx="8955313" cy="1508105"/>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37160" bIns="137160">
            <a:spAutoFit/>
          </a:bodyPr>
          <a:lstStyle/>
          <a:p>
            <a:pPr algn="just">
              <a:spcBef>
                <a:spcPct val="50000"/>
              </a:spcBef>
            </a:pPr>
            <a:r>
              <a:rPr lang="en-US" sz="2000" dirty="0">
                <a:solidFill>
                  <a:srgbClr val="FF0000"/>
                </a:solidFill>
                <a:latin typeface="Comic Sans MS" panose="030F0702030302020204" pitchFamily="66" charset="0"/>
                <a:sym typeface="Symbol" panose="05050102010706020507" pitchFamily="18" charset="2"/>
              </a:rPr>
              <a:t>The easiest way to obtain the 2's complement of a binary number is by starting at the </a:t>
            </a:r>
            <a:r>
              <a:rPr lang="en-US" sz="2000" dirty="0">
                <a:latin typeface="Comic Sans MS" panose="030F0702030302020204" pitchFamily="66" charset="0"/>
                <a:sym typeface="Symbol" panose="05050102010706020507" pitchFamily="18" charset="2"/>
              </a:rPr>
              <a:t>LSB</a:t>
            </a:r>
            <a:r>
              <a:rPr lang="en-US" sz="2000" dirty="0">
                <a:solidFill>
                  <a:srgbClr val="FF0000"/>
                </a:solidFill>
                <a:latin typeface="Comic Sans MS" panose="030F0702030302020204" pitchFamily="66" charset="0"/>
                <a:sym typeface="Symbol" panose="05050102010706020507" pitchFamily="18" charset="2"/>
              </a:rPr>
              <a:t>, </a:t>
            </a:r>
            <a:r>
              <a:rPr lang="en-US" sz="2000" dirty="0">
                <a:solidFill>
                  <a:srgbClr val="00B0F0"/>
                </a:solidFill>
                <a:latin typeface="Comic Sans MS" panose="030F0702030302020204" pitchFamily="66" charset="0"/>
                <a:sym typeface="Symbol" panose="05050102010706020507" pitchFamily="18" charset="2"/>
              </a:rPr>
              <a:t>leaving all the 0</a:t>
            </a:r>
            <a:r>
              <a:rPr lang="en-US" sz="2000" b="1" dirty="0">
                <a:solidFill>
                  <a:srgbClr val="00B0F0"/>
                </a:solidFill>
                <a:latin typeface="Comic Sans MS" panose="030F0702030302020204" pitchFamily="66" charset="0"/>
              </a:rPr>
              <a:t>'</a:t>
            </a:r>
            <a:r>
              <a:rPr lang="en-US" sz="2000" dirty="0">
                <a:solidFill>
                  <a:srgbClr val="00B0F0"/>
                </a:solidFill>
                <a:latin typeface="Comic Sans MS" panose="030F0702030302020204" pitchFamily="66" charset="0"/>
                <a:sym typeface="Symbol" panose="05050102010706020507" pitchFamily="18" charset="2"/>
              </a:rPr>
              <a:t>s unchanged</a:t>
            </a:r>
            <a:r>
              <a:rPr lang="en-US" sz="2000" dirty="0">
                <a:solidFill>
                  <a:srgbClr val="002060"/>
                </a:solidFill>
                <a:latin typeface="Comic Sans MS" panose="030F0702030302020204" pitchFamily="66" charset="0"/>
                <a:sym typeface="Symbol" panose="05050102010706020507" pitchFamily="18" charset="2"/>
              </a:rPr>
              <a:t>, look for the first occurrence of a 1</a:t>
            </a:r>
            <a:r>
              <a:rPr lang="en-US" sz="2000" dirty="0">
                <a:solidFill>
                  <a:srgbClr val="FF0000"/>
                </a:solidFill>
                <a:latin typeface="Comic Sans MS" panose="030F0702030302020204" pitchFamily="66" charset="0"/>
                <a:sym typeface="Symbol" panose="05050102010706020507" pitchFamily="18" charset="2"/>
              </a:rPr>
              <a:t>. </a:t>
            </a:r>
            <a:r>
              <a:rPr lang="en-US" sz="2000" dirty="0">
                <a:solidFill>
                  <a:srgbClr val="0070C0"/>
                </a:solidFill>
                <a:latin typeface="Comic Sans MS" panose="030F0702030302020204" pitchFamily="66" charset="0"/>
                <a:sym typeface="Symbol" panose="05050102010706020507" pitchFamily="18" charset="2"/>
              </a:rPr>
              <a:t>Leave this 1 unchanged </a:t>
            </a:r>
            <a:r>
              <a:rPr lang="en-US" sz="2000" dirty="0">
                <a:solidFill>
                  <a:srgbClr val="FF0000"/>
                </a:solidFill>
                <a:latin typeface="Comic Sans MS" panose="030F0702030302020204" pitchFamily="66" charset="0"/>
                <a:sym typeface="Symbol" panose="05050102010706020507" pitchFamily="18" charset="2"/>
              </a:rPr>
              <a:t>and complement all the bits after it.</a:t>
            </a:r>
          </a:p>
        </p:txBody>
      </p:sp>
      <p:graphicFrame>
        <p:nvGraphicFramePr>
          <p:cNvPr id="136237" name="Group 45"/>
          <p:cNvGraphicFramePr>
            <a:graphicFrameLocks noGrp="1"/>
          </p:cNvGraphicFramePr>
          <p:nvPr>
            <p:ph sz="half" idx="2"/>
            <p:extLst>
              <p:ext uri="{D42A27DB-BD31-4B8C-83A1-F6EECF244321}">
                <p14:modId xmlns:p14="http://schemas.microsoft.com/office/powerpoint/2010/main" val="3068567402"/>
              </p:ext>
            </p:extLst>
          </p:nvPr>
        </p:nvGraphicFramePr>
        <p:xfrm>
          <a:off x="1792941" y="1296989"/>
          <a:ext cx="8392459" cy="2016126"/>
        </p:xfrm>
        <a:graphic>
          <a:graphicData uri="http://schemas.openxmlformats.org/drawingml/2006/table">
            <a:tbl>
              <a:tblPr/>
              <a:tblGrid>
                <a:gridCol w="5541613">
                  <a:extLst>
                    <a:ext uri="{9D8B030D-6E8A-4147-A177-3AD203B41FA5}">
                      <a16:colId xmlns:a16="http://schemas.microsoft.com/office/drawing/2014/main" val="20000"/>
                    </a:ext>
                  </a:extLst>
                </a:gridCol>
                <a:gridCol w="2850846">
                  <a:extLst>
                    <a:ext uri="{9D8B030D-6E8A-4147-A177-3AD203B41FA5}">
                      <a16:colId xmlns:a16="http://schemas.microsoft.com/office/drawing/2014/main" val="20001"/>
                    </a:ext>
                  </a:extLst>
                </a:gridCol>
              </a:tblGrid>
              <a:tr h="50482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000" b="0" i="0" u="none" strike="noStrike" cap="none" normalizeH="0" baseline="0" dirty="0">
                          <a:ln>
                            <a:noFill/>
                          </a:ln>
                          <a:solidFill>
                            <a:schemeClr val="tx1"/>
                          </a:solidFill>
                          <a:effectLst/>
                          <a:latin typeface="Comic Sans MS" panose="030F0702030302020204" pitchFamily="66" charset="0"/>
                          <a:cs typeface="Arial" panose="020B0604020202020204" pitchFamily="34" charset="0"/>
                        </a:rPr>
                        <a:t>starting value</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0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00100100 = +36</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3238">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000" b="0" i="0" u="none" strike="noStrike" cap="none" normalizeH="0" baseline="0" dirty="0">
                          <a:ln>
                            <a:noFill/>
                          </a:ln>
                          <a:solidFill>
                            <a:schemeClr val="tx1"/>
                          </a:solidFill>
                          <a:effectLst/>
                          <a:latin typeface="Comic Sans MS" panose="030F0702030302020204" pitchFamily="66" charset="0"/>
                          <a:cs typeface="Arial" panose="020B0604020202020204" pitchFamily="34" charset="0"/>
                        </a:rPr>
                        <a:t>step1: reverse the bits (1's complement)</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0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11011011</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482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000" b="0" i="0" u="none" strike="noStrike" cap="none" normalizeH="0" baseline="0" dirty="0">
                          <a:ln>
                            <a:noFill/>
                          </a:ln>
                          <a:solidFill>
                            <a:schemeClr val="tx1"/>
                          </a:solidFill>
                          <a:effectLst/>
                          <a:latin typeface="Comic Sans MS" panose="030F0702030302020204" pitchFamily="66" charset="0"/>
                          <a:cs typeface="Arial" panose="020B0604020202020204" pitchFamily="34" charset="0"/>
                        </a:rPr>
                        <a:t>step 2: add 1 to the value from step 1</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0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      1</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3238">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000" b="0" i="0" u="none" strike="noStrike" cap="none" normalizeH="0" baseline="0" dirty="0">
                          <a:ln>
                            <a:noFill/>
                          </a:ln>
                          <a:solidFill>
                            <a:schemeClr val="tx1"/>
                          </a:solidFill>
                          <a:effectLst/>
                          <a:latin typeface="Comic Sans MS" panose="030F0702030302020204" pitchFamily="66" charset="0"/>
                          <a:cs typeface="Arial" panose="020B0604020202020204" pitchFamily="34" charset="0"/>
                        </a:rPr>
                        <a:t>sum = 2's complement representation</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0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11011100 = -36</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276407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902447" y="257076"/>
            <a:ext cx="10515600" cy="762000"/>
          </a:xfrm>
        </p:spPr>
        <p:txBody>
          <a:bodyPr/>
          <a:lstStyle/>
          <a:p>
            <a:r>
              <a:rPr lang="en-US" dirty="0">
                <a:solidFill>
                  <a:srgbClr val="FF0000"/>
                </a:solidFill>
                <a:latin typeface="Comic Sans MS" panose="030F0702030302020204" pitchFamily="66" charset="0"/>
              </a:rPr>
              <a:t>Sign Bit</a:t>
            </a:r>
          </a:p>
        </p:txBody>
      </p:sp>
      <p:sp>
        <p:nvSpPr>
          <p:cNvPr id="135171" name="Rectangle 3"/>
          <p:cNvSpPr>
            <a:spLocks noGrp="1" noChangeArrowheads="1"/>
          </p:cNvSpPr>
          <p:nvPr>
            <p:ph type="body" idx="1"/>
          </p:nvPr>
        </p:nvSpPr>
        <p:spPr>
          <a:xfrm>
            <a:off x="2006600" y="1143000"/>
            <a:ext cx="8128000" cy="838200"/>
          </a:xfrm>
        </p:spPr>
        <p:txBody>
          <a:bodyPr>
            <a:normAutofit lnSpcReduction="10000"/>
          </a:bodyPr>
          <a:lstStyle/>
          <a:p>
            <a:pPr marL="0" indent="0">
              <a:buNone/>
            </a:pPr>
            <a:r>
              <a:rPr lang="en-US" b="1" dirty="0">
                <a:latin typeface="Comic Sans MS" panose="030F0702030302020204" pitchFamily="66" charset="0"/>
              </a:rPr>
              <a:t>Highest bit indicates the sign. </a:t>
            </a:r>
            <a:r>
              <a:rPr lang="en-US" b="1" dirty="0">
                <a:solidFill>
                  <a:srgbClr val="FF0000"/>
                </a:solidFill>
                <a:latin typeface="Comic Sans MS" panose="030F0702030302020204" pitchFamily="66" charset="0"/>
              </a:rPr>
              <a:t>1 = negative, 0 = positive</a:t>
            </a:r>
          </a:p>
        </p:txBody>
      </p:sp>
      <p:graphicFrame>
        <p:nvGraphicFramePr>
          <p:cNvPr id="135172" name="Object 4"/>
          <p:cNvGraphicFramePr>
            <a:graphicFrameLocks noChangeAspect="1"/>
          </p:cNvGraphicFramePr>
          <p:nvPr/>
        </p:nvGraphicFramePr>
        <p:xfrm>
          <a:off x="3733800" y="1816100"/>
          <a:ext cx="4800600" cy="2286000"/>
        </p:xfrm>
        <a:graphic>
          <a:graphicData uri="http://schemas.openxmlformats.org/presentationml/2006/ole">
            <mc:AlternateContent xmlns:mc="http://schemas.openxmlformats.org/markup-compatibility/2006">
              <mc:Choice xmlns:v="urn:schemas-microsoft-com:vml" Requires="v">
                <p:oleObj spid="_x0000_s4117" name="VISIO" r:id="rId3" imgW="2806200" imgH="1200240" progId="Visio.Drawing.6">
                  <p:embed/>
                </p:oleObj>
              </mc:Choice>
              <mc:Fallback>
                <p:oleObj name="VISIO" r:id="rId3" imgW="2806200" imgH="1200240" progId="Visio.Drawing.6">
                  <p:embed/>
                  <p:pic>
                    <p:nvPicPr>
                      <p:cNvPr id="135172" name="Object 4"/>
                      <p:cNvPicPr>
                        <a:picLocks noChangeAspect="1" noChangeArrowheads="1"/>
                      </p:cNvPicPr>
                      <p:nvPr/>
                    </p:nvPicPr>
                    <p:blipFill>
                      <a:blip r:embed="rId4">
                        <a:extLst>
                          <a:ext uri="{28A0092B-C50C-407E-A947-70E740481C1C}">
                            <a14:useLocalDpi xmlns:a14="http://schemas.microsoft.com/office/drawing/2010/main" val="0"/>
                          </a:ext>
                        </a:extLst>
                      </a:blip>
                      <a:srcRect t="-3598" r="3076" b="-4347"/>
                      <a:stretch>
                        <a:fillRect/>
                      </a:stretch>
                    </p:blipFill>
                    <p:spPr bwMode="auto">
                      <a:xfrm>
                        <a:off x="3733800" y="1816100"/>
                        <a:ext cx="4800600" cy="22860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5173" name="Text Box 5"/>
          <p:cNvSpPr txBox="1">
            <a:spLocks noChangeArrowheads="1"/>
          </p:cNvSpPr>
          <p:nvPr/>
        </p:nvSpPr>
        <p:spPr bwMode="auto">
          <a:xfrm>
            <a:off x="1349829" y="4292600"/>
            <a:ext cx="960845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37160" bIns="137160">
            <a:spAutoFit/>
          </a:bodyPr>
          <a:lstStyle/>
          <a:p>
            <a:pPr>
              <a:spcBef>
                <a:spcPct val="50000"/>
              </a:spcBef>
            </a:pPr>
            <a:r>
              <a:rPr lang="en-US" sz="2400" b="1" dirty="0">
                <a:solidFill>
                  <a:srgbClr val="FF0000"/>
                </a:solidFill>
                <a:latin typeface="Comic Sans MS" panose="030F0702030302020204" pitchFamily="66" charset="0"/>
              </a:rPr>
              <a:t>If highest digit of a hexadecimal is &gt; 7</a:t>
            </a:r>
            <a:r>
              <a:rPr lang="en-US" sz="2400" b="1" dirty="0">
                <a:latin typeface="Comic Sans MS" panose="030F0702030302020204" pitchFamily="66" charset="0"/>
              </a:rPr>
              <a:t>, the </a:t>
            </a:r>
            <a:r>
              <a:rPr lang="en-US" sz="2400" b="1" dirty="0">
                <a:solidFill>
                  <a:srgbClr val="FF0000"/>
                </a:solidFill>
                <a:latin typeface="Comic Sans MS" panose="030F0702030302020204" pitchFamily="66" charset="0"/>
              </a:rPr>
              <a:t>value is negative</a:t>
            </a:r>
          </a:p>
          <a:p>
            <a:pPr>
              <a:spcBef>
                <a:spcPct val="50000"/>
              </a:spcBef>
            </a:pPr>
            <a:r>
              <a:rPr lang="en-US" sz="2400" b="1" dirty="0">
                <a:latin typeface="Comic Sans MS" panose="030F0702030302020204" pitchFamily="66" charset="0"/>
              </a:rPr>
              <a:t>Examples: 8A and C5 are negative </a:t>
            </a:r>
            <a:r>
              <a:rPr lang="en-US" sz="2400" b="1" dirty="0">
                <a:solidFill>
                  <a:srgbClr val="FF0000"/>
                </a:solidFill>
                <a:latin typeface="Comic Sans MS" panose="030F0702030302020204" pitchFamily="66" charset="0"/>
              </a:rPr>
              <a:t>bytes</a:t>
            </a:r>
          </a:p>
          <a:p>
            <a:pPr>
              <a:spcBef>
                <a:spcPct val="50000"/>
              </a:spcBef>
            </a:pPr>
            <a:r>
              <a:rPr lang="en-US" sz="2400" b="1" dirty="0">
                <a:latin typeface="Comic Sans MS" panose="030F0702030302020204" pitchFamily="66" charset="0"/>
              </a:rPr>
              <a:t>A21F and 9D03 are negative </a:t>
            </a:r>
            <a:r>
              <a:rPr lang="en-US" sz="2400" b="1" dirty="0">
                <a:solidFill>
                  <a:srgbClr val="FF0000"/>
                </a:solidFill>
                <a:latin typeface="Comic Sans MS" panose="030F0702030302020204" pitchFamily="66" charset="0"/>
              </a:rPr>
              <a:t>words</a:t>
            </a:r>
          </a:p>
          <a:p>
            <a:pPr>
              <a:spcBef>
                <a:spcPct val="50000"/>
              </a:spcBef>
            </a:pPr>
            <a:r>
              <a:rPr lang="en-US" sz="2400" b="1" dirty="0">
                <a:latin typeface="Comic Sans MS" panose="030F0702030302020204" pitchFamily="66" charset="0"/>
              </a:rPr>
              <a:t>B1C42A00 is a negative </a:t>
            </a:r>
            <a:r>
              <a:rPr lang="en-US" sz="2400" b="1" dirty="0">
                <a:solidFill>
                  <a:srgbClr val="FF0000"/>
                </a:solidFill>
                <a:latin typeface="Comic Sans MS" panose="030F0702030302020204" pitchFamily="66" charset="0"/>
              </a:rPr>
              <a:t>double-word</a:t>
            </a:r>
          </a:p>
        </p:txBody>
      </p:sp>
    </p:spTree>
    <p:extLst>
      <p:ext uri="{BB962C8B-B14F-4D97-AF65-F5344CB8AC3E}">
        <p14:creationId xmlns:p14="http://schemas.microsoft.com/office/powerpoint/2010/main" val="11347385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a:xfrm>
            <a:off x="838200" y="38781"/>
            <a:ext cx="10515600" cy="1325563"/>
          </a:xfrm>
        </p:spPr>
        <p:txBody>
          <a:bodyPr/>
          <a:lstStyle/>
          <a:p>
            <a:r>
              <a:rPr lang="en-US" dirty="0">
                <a:solidFill>
                  <a:srgbClr val="FF0000"/>
                </a:solidFill>
                <a:latin typeface="Comic Sans MS" panose="030F0702030302020204" pitchFamily="66" charset="0"/>
              </a:rPr>
              <a:t>Sign Extension</a:t>
            </a:r>
          </a:p>
        </p:txBody>
      </p:sp>
      <p:sp>
        <p:nvSpPr>
          <p:cNvPr id="187395" name="Rectangle 3"/>
          <p:cNvSpPr>
            <a:spLocks noGrp="1" noChangeArrowheads="1"/>
          </p:cNvSpPr>
          <p:nvPr>
            <p:ph type="body" idx="1"/>
          </p:nvPr>
        </p:nvSpPr>
        <p:spPr>
          <a:xfrm>
            <a:off x="838200" y="1364344"/>
            <a:ext cx="10515600" cy="5036456"/>
          </a:xfrm>
        </p:spPr>
        <p:txBody>
          <a:bodyPr>
            <a:normAutofit/>
          </a:bodyPr>
          <a:lstStyle/>
          <a:p>
            <a:pPr>
              <a:buFont typeface="Wingdings" panose="05000000000000000000" pitchFamily="2" charset="2"/>
              <a:buNone/>
            </a:pPr>
            <a:r>
              <a:rPr lang="en-US" dirty="0">
                <a:latin typeface="Comic Sans MS" panose="030F0702030302020204" pitchFamily="66" charset="0"/>
              </a:rPr>
              <a:t>Step 1: Move the number into the lower-significant bits</a:t>
            </a:r>
          </a:p>
          <a:p>
            <a:pPr>
              <a:buFont typeface="Wingdings" panose="05000000000000000000" pitchFamily="2" charset="2"/>
              <a:buNone/>
            </a:pPr>
            <a:r>
              <a:rPr lang="en-US" dirty="0">
                <a:latin typeface="Comic Sans MS" panose="030F0702030302020204" pitchFamily="66" charset="0"/>
              </a:rPr>
              <a:t>Step 2: Fill all the remaining higher bits with the sign bit</a:t>
            </a:r>
          </a:p>
          <a:p>
            <a:r>
              <a:rPr lang="en-US" dirty="0">
                <a:latin typeface="Comic Sans MS" panose="030F0702030302020204" pitchFamily="66" charset="0"/>
              </a:rPr>
              <a:t>This will ensure that both magnitude and sign are correct</a:t>
            </a:r>
          </a:p>
          <a:p>
            <a:r>
              <a:rPr lang="en-US" dirty="0">
                <a:latin typeface="Comic Sans MS" panose="030F0702030302020204" pitchFamily="66" charset="0"/>
              </a:rPr>
              <a:t>Examples</a:t>
            </a:r>
          </a:p>
          <a:p>
            <a:pPr lvl="1"/>
            <a:r>
              <a:rPr lang="en-US" dirty="0">
                <a:latin typeface="Comic Sans MS" panose="030F0702030302020204" pitchFamily="66" charset="0"/>
              </a:rPr>
              <a:t>Sign-Extend 10110011 to 16 bits</a:t>
            </a:r>
          </a:p>
          <a:p>
            <a:pPr lvl="1"/>
            <a:endParaRPr lang="en-US" dirty="0"/>
          </a:p>
          <a:p>
            <a:pPr lvl="1"/>
            <a:r>
              <a:rPr lang="en-US" dirty="0">
                <a:latin typeface="Comic Sans MS" panose="030F0702030302020204" pitchFamily="66" charset="0"/>
              </a:rPr>
              <a:t>Sign-Extend 01100010 to 16 bits</a:t>
            </a:r>
          </a:p>
          <a:p>
            <a:pPr lvl="1"/>
            <a:endParaRPr lang="en-US" dirty="0"/>
          </a:p>
          <a:p>
            <a:pPr>
              <a:spcBef>
                <a:spcPct val="60000"/>
              </a:spcBef>
            </a:pPr>
            <a:r>
              <a:rPr lang="en-US" dirty="0">
                <a:latin typeface="Comic Sans MS" panose="030F0702030302020204" pitchFamily="66" charset="0"/>
              </a:rPr>
              <a:t>Infinite 0</a:t>
            </a:r>
            <a:r>
              <a:rPr lang="en-US" sz="2800" b="1" dirty="0">
                <a:solidFill>
                  <a:srgbClr val="FF0000"/>
                </a:solidFill>
                <a:latin typeface="Comic Sans MS" panose="030F0702030302020204" pitchFamily="66" charset="0"/>
              </a:rPr>
              <a:t>'</a:t>
            </a:r>
            <a:r>
              <a:rPr lang="en-US" dirty="0">
                <a:latin typeface="Comic Sans MS" panose="030F0702030302020204" pitchFamily="66" charset="0"/>
              </a:rPr>
              <a:t>s can be added to the left of a positive number</a:t>
            </a:r>
          </a:p>
          <a:p>
            <a:r>
              <a:rPr lang="en-US" dirty="0">
                <a:latin typeface="Comic Sans MS" panose="030F0702030302020204" pitchFamily="66" charset="0"/>
              </a:rPr>
              <a:t>Infinite 1</a:t>
            </a:r>
            <a:r>
              <a:rPr lang="en-US" sz="2800" b="1" dirty="0">
                <a:solidFill>
                  <a:srgbClr val="FF0000"/>
                </a:solidFill>
                <a:latin typeface="Comic Sans MS" panose="030F0702030302020204" pitchFamily="66" charset="0"/>
              </a:rPr>
              <a:t>'</a:t>
            </a:r>
            <a:r>
              <a:rPr lang="en-US" dirty="0">
                <a:latin typeface="Comic Sans MS" panose="030F0702030302020204" pitchFamily="66" charset="0"/>
              </a:rPr>
              <a:t>s can be added to the left of a negative number</a:t>
            </a:r>
          </a:p>
          <a:p>
            <a:pPr lvl="1"/>
            <a:endParaRPr lang="en-US" dirty="0"/>
          </a:p>
        </p:txBody>
      </p:sp>
      <p:grpSp>
        <p:nvGrpSpPr>
          <p:cNvPr id="187404" name="Group 12"/>
          <p:cNvGrpSpPr>
            <a:grpSpLocks/>
          </p:cNvGrpSpPr>
          <p:nvPr/>
        </p:nvGrpSpPr>
        <p:grpSpPr bwMode="auto">
          <a:xfrm>
            <a:off x="4117974" y="3693319"/>
            <a:ext cx="7027863" cy="576263"/>
            <a:chOff x="485" y="2269"/>
            <a:chExt cx="4427" cy="363"/>
          </a:xfrm>
        </p:grpSpPr>
        <p:sp>
          <p:nvSpPr>
            <p:cNvPr id="187397" name="Text Box 5"/>
            <p:cNvSpPr txBox="1">
              <a:spLocks noChangeArrowheads="1"/>
            </p:cNvSpPr>
            <p:nvPr/>
          </p:nvSpPr>
          <p:spPr bwMode="auto">
            <a:xfrm>
              <a:off x="485" y="2305"/>
              <a:ext cx="137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pPr algn="ctr"/>
              <a:r>
                <a:rPr lang="en-US" sz="2000" b="1" dirty="0">
                  <a:latin typeface="Courier New" panose="02070309020205020404" pitchFamily="49" charset="0"/>
                  <a:cs typeface="Courier New" panose="02070309020205020404" pitchFamily="49" charset="0"/>
                </a:rPr>
                <a:t>10110011 = -77</a:t>
              </a:r>
            </a:p>
          </p:txBody>
        </p:sp>
        <p:sp>
          <p:nvSpPr>
            <p:cNvPr id="187396" name="Text Box 4"/>
            <p:cNvSpPr txBox="1">
              <a:spLocks noChangeArrowheads="1"/>
            </p:cNvSpPr>
            <p:nvPr/>
          </p:nvSpPr>
          <p:spPr bwMode="auto">
            <a:xfrm>
              <a:off x="2590" y="2305"/>
              <a:ext cx="232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pPr algn="ctr"/>
              <a:r>
                <a:rPr lang="en-US" sz="2000" b="1">
                  <a:latin typeface="Courier New" panose="02070309020205020404" pitchFamily="49" charset="0"/>
                  <a:cs typeface="Courier New" panose="02070309020205020404" pitchFamily="49" charset="0"/>
                </a:rPr>
                <a:t>11111111 10110011 = -77</a:t>
              </a:r>
            </a:p>
          </p:txBody>
        </p:sp>
        <p:sp>
          <p:nvSpPr>
            <p:cNvPr id="187398" name="Oval 6"/>
            <p:cNvSpPr>
              <a:spLocks noChangeArrowheads="1"/>
            </p:cNvSpPr>
            <p:nvPr/>
          </p:nvSpPr>
          <p:spPr bwMode="auto">
            <a:xfrm>
              <a:off x="3497" y="2341"/>
              <a:ext cx="109" cy="218"/>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00" name="AutoShape 8"/>
            <p:cNvSpPr>
              <a:spLocks noChangeArrowheads="1"/>
            </p:cNvSpPr>
            <p:nvPr/>
          </p:nvSpPr>
          <p:spPr bwMode="auto">
            <a:xfrm>
              <a:off x="2590" y="2341"/>
              <a:ext cx="871" cy="218"/>
            </a:xfrm>
            <a:prstGeom prst="roundRect">
              <a:avLst>
                <a:gd name="adj" fmla="val 16667"/>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01" name="Arc 9"/>
            <p:cNvSpPr>
              <a:spLocks/>
            </p:cNvSpPr>
            <p:nvPr/>
          </p:nvSpPr>
          <p:spPr bwMode="auto">
            <a:xfrm flipV="1">
              <a:off x="3218" y="2269"/>
              <a:ext cx="315" cy="101"/>
            </a:xfrm>
            <a:custGeom>
              <a:avLst/>
              <a:gdLst>
                <a:gd name="G0" fmla="+- 20624 0 0"/>
                <a:gd name="G1" fmla="+- 0 0 0"/>
                <a:gd name="G2" fmla="+- 21600 0 0"/>
                <a:gd name="T0" fmla="*/ 41694 w 41694"/>
                <a:gd name="T1" fmla="*/ 4757 h 21600"/>
                <a:gd name="T2" fmla="*/ 0 w 41694"/>
                <a:gd name="T3" fmla="*/ 6421 h 21600"/>
                <a:gd name="T4" fmla="*/ 20624 w 41694"/>
                <a:gd name="T5" fmla="*/ 0 h 21600"/>
              </a:gdLst>
              <a:ahLst/>
              <a:cxnLst>
                <a:cxn ang="0">
                  <a:pos x="T0" y="T1"/>
                </a:cxn>
                <a:cxn ang="0">
                  <a:pos x="T2" y="T3"/>
                </a:cxn>
                <a:cxn ang="0">
                  <a:pos x="T4" y="T5"/>
                </a:cxn>
              </a:cxnLst>
              <a:rect l="0" t="0" r="r" b="b"/>
              <a:pathLst>
                <a:path w="41694" h="21600" fill="none" extrusionOk="0">
                  <a:moveTo>
                    <a:pt x="41693" y="4756"/>
                  </a:moveTo>
                  <a:cubicBezTo>
                    <a:pt x="39470" y="14605"/>
                    <a:pt x="30720" y="21600"/>
                    <a:pt x="20624" y="21600"/>
                  </a:cubicBezTo>
                  <a:cubicBezTo>
                    <a:pt x="11168" y="21600"/>
                    <a:pt x="2811" y="15449"/>
                    <a:pt x="0" y="6420"/>
                  </a:cubicBezTo>
                </a:path>
                <a:path w="41694" h="21600" stroke="0" extrusionOk="0">
                  <a:moveTo>
                    <a:pt x="41693" y="4756"/>
                  </a:moveTo>
                  <a:cubicBezTo>
                    <a:pt x="39470" y="14605"/>
                    <a:pt x="30720" y="21600"/>
                    <a:pt x="20624" y="21600"/>
                  </a:cubicBezTo>
                  <a:cubicBezTo>
                    <a:pt x="11168" y="21600"/>
                    <a:pt x="2811" y="15449"/>
                    <a:pt x="0" y="6420"/>
                  </a:cubicBezTo>
                  <a:lnTo>
                    <a:pt x="20624" y="0"/>
                  </a:lnTo>
                  <a:close/>
                </a:path>
              </a:pathLst>
            </a:custGeom>
            <a:noFill/>
            <a:ln w="19050">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03" name="AutoShape 11"/>
            <p:cNvSpPr>
              <a:spLocks noChangeArrowheads="1"/>
            </p:cNvSpPr>
            <p:nvPr/>
          </p:nvSpPr>
          <p:spPr bwMode="auto">
            <a:xfrm>
              <a:off x="2009" y="2378"/>
              <a:ext cx="290" cy="145"/>
            </a:xfrm>
            <a:prstGeom prs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87405" name="Group 13"/>
          <p:cNvGrpSpPr>
            <a:grpSpLocks/>
          </p:cNvGrpSpPr>
          <p:nvPr/>
        </p:nvGrpSpPr>
        <p:grpSpPr bwMode="auto">
          <a:xfrm>
            <a:off x="3023392" y="4557316"/>
            <a:ext cx="7027863" cy="576262"/>
            <a:chOff x="485" y="2269"/>
            <a:chExt cx="4427" cy="363"/>
          </a:xfrm>
        </p:grpSpPr>
        <p:sp>
          <p:nvSpPr>
            <p:cNvPr id="187406" name="Text Box 14"/>
            <p:cNvSpPr txBox="1">
              <a:spLocks noChangeArrowheads="1"/>
            </p:cNvSpPr>
            <p:nvPr/>
          </p:nvSpPr>
          <p:spPr bwMode="auto">
            <a:xfrm>
              <a:off x="485" y="2305"/>
              <a:ext cx="137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pPr algn="ctr"/>
              <a:r>
                <a:rPr lang="en-US" sz="2000" b="1" dirty="0">
                  <a:latin typeface="Courier New" panose="02070309020205020404" pitchFamily="49" charset="0"/>
                  <a:cs typeface="Courier New" panose="02070309020205020404" pitchFamily="49" charset="0"/>
                </a:rPr>
                <a:t>01100010 = +98</a:t>
              </a:r>
            </a:p>
          </p:txBody>
        </p:sp>
        <p:sp>
          <p:nvSpPr>
            <p:cNvPr id="187407" name="Text Box 15"/>
            <p:cNvSpPr txBox="1">
              <a:spLocks noChangeArrowheads="1"/>
            </p:cNvSpPr>
            <p:nvPr/>
          </p:nvSpPr>
          <p:spPr bwMode="auto">
            <a:xfrm>
              <a:off x="2590" y="2305"/>
              <a:ext cx="232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p>
              <a:pPr algn="ctr"/>
              <a:r>
                <a:rPr lang="en-US" sz="2000" b="1">
                  <a:latin typeface="Courier New" panose="02070309020205020404" pitchFamily="49" charset="0"/>
                  <a:cs typeface="Courier New" panose="02070309020205020404" pitchFamily="49" charset="0"/>
                </a:rPr>
                <a:t>00000000 01100010 = +98</a:t>
              </a:r>
            </a:p>
          </p:txBody>
        </p:sp>
        <p:sp>
          <p:nvSpPr>
            <p:cNvPr id="187408" name="Oval 16"/>
            <p:cNvSpPr>
              <a:spLocks noChangeArrowheads="1"/>
            </p:cNvSpPr>
            <p:nvPr/>
          </p:nvSpPr>
          <p:spPr bwMode="auto">
            <a:xfrm>
              <a:off x="3497" y="2341"/>
              <a:ext cx="109" cy="218"/>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09" name="AutoShape 17"/>
            <p:cNvSpPr>
              <a:spLocks noChangeArrowheads="1"/>
            </p:cNvSpPr>
            <p:nvPr/>
          </p:nvSpPr>
          <p:spPr bwMode="auto">
            <a:xfrm>
              <a:off x="2590" y="2341"/>
              <a:ext cx="871" cy="218"/>
            </a:xfrm>
            <a:prstGeom prst="roundRect">
              <a:avLst>
                <a:gd name="adj" fmla="val 16667"/>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10" name="Arc 18"/>
            <p:cNvSpPr>
              <a:spLocks/>
            </p:cNvSpPr>
            <p:nvPr/>
          </p:nvSpPr>
          <p:spPr bwMode="auto">
            <a:xfrm flipV="1">
              <a:off x="3218" y="2269"/>
              <a:ext cx="315" cy="101"/>
            </a:xfrm>
            <a:custGeom>
              <a:avLst/>
              <a:gdLst>
                <a:gd name="G0" fmla="+- 20624 0 0"/>
                <a:gd name="G1" fmla="+- 0 0 0"/>
                <a:gd name="G2" fmla="+- 21600 0 0"/>
                <a:gd name="T0" fmla="*/ 41694 w 41694"/>
                <a:gd name="T1" fmla="*/ 4757 h 21600"/>
                <a:gd name="T2" fmla="*/ 0 w 41694"/>
                <a:gd name="T3" fmla="*/ 6421 h 21600"/>
                <a:gd name="T4" fmla="*/ 20624 w 41694"/>
                <a:gd name="T5" fmla="*/ 0 h 21600"/>
              </a:gdLst>
              <a:ahLst/>
              <a:cxnLst>
                <a:cxn ang="0">
                  <a:pos x="T0" y="T1"/>
                </a:cxn>
                <a:cxn ang="0">
                  <a:pos x="T2" y="T3"/>
                </a:cxn>
                <a:cxn ang="0">
                  <a:pos x="T4" y="T5"/>
                </a:cxn>
              </a:cxnLst>
              <a:rect l="0" t="0" r="r" b="b"/>
              <a:pathLst>
                <a:path w="41694" h="21600" fill="none" extrusionOk="0">
                  <a:moveTo>
                    <a:pt x="41693" y="4756"/>
                  </a:moveTo>
                  <a:cubicBezTo>
                    <a:pt x="39470" y="14605"/>
                    <a:pt x="30720" y="21600"/>
                    <a:pt x="20624" y="21600"/>
                  </a:cubicBezTo>
                  <a:cubicBezTo>
                    <a:pt x="11168" y="21600"/>
                    <a:pt x="2811" y="15449"/>
                    <a:pt x="0" y="6420"/>
                  </a:cubicBezTo>
                </a:path>
                <a:path w="41694" h="21600" stroke="0" extrusionOk="0">
                  <a:moveTo>
                    <a:pt x="41693" y="4756"/>
                  </a:moveTo>
                  <a:cubicBezTo>
                    <a:pt x="39470" y="14605"/>
                    <a:pt x="30720" y="21600"/>
                    <a:pt x="20624" y="21600"/>
                  </a:cubicBezTo>
                  <a:cubicBezTo>
                    <a:pt x="11168" y="21600"/>
                    <a:pt x="2811" y="15449"/>
                    <a:pt x="0" y="6420"/>
                  </a:cubicBezTo>
                  <a:lnTo>
                    <a:pt x="20624" y="0"/>
                  </a:lnTo>
                  <a:close/>
                </a:path>
              </a:pathLst>
            </a:custGeom>
            <a:noFill/>
            <a:ln w="19050">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11" name="AutoShape 19"/>
            <p:cNvSpPr>
              <a:spLocks noChangeArrowheads="1"/>
            </p:cNvSpPr>
            <p:nvPr/>
          </p:nvSpPr>
          <p:spPr bwMode="auto">
            <a:xfrm>
              <a:off x="2009" y="2378"/>
              <a:ext cx="290" cy="145"/>
            </a:xfrm>
            <a:prstGeom prs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23654230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a:xfrm>
            <a:off x="838200" y="0"/>
            <a:ext cx="10515600" cy="1325563"/>
          </a:xfrm>
        </p:spPr>
        <p:txBody>
          <a:bodyPr/>
          <a:lstStyle/>
          <a:p>
            <a:r>
              <a:rPr lang="en-US" dirty="0">
                <a:solidFill>
                  <a:srgbClr val="FF0000"/>
                </a:solidFill>
                <a:latin typeface="Comic Sans MS" panose="030F0702030302020204" pitchFamily="66" charset="0"/>
              </a:rPr>
              <a:t>Two's Complement of a Hexadecimal</a:t>
            </a:r>
          </a:p>
        </p:txBody>
      </p:sp>
      <p:sp>
        <p:nvSpPr>
          <p:cNvPr id="197635" name="Rectangle 3"/>
          <p:cNvSpPr>
            <a:spLocks noGrp="1" noChangeArrowheads="1"/>
          </p:cNvSpPr>
          <p:nvPr>
            <p:ph type="body" idx="1"/>
          </p:nvPr>
        </p:nvSpPr>
        <p:spPr>
          <a:xfrm>
            <a:off x="1422400" y="1239838"/>
            <a:ext cx="8788400" cy="5364162"/>
          </a:xfrm>
        </p:spPr>
        <p:txBody>
          <a:bodyPr/>
          <a:lstStyle/>
          <a:p>
            <a:pPr>
              <a:spcBef>
                <a:spcPct val="60000"/>
              </a:spcBef>
            </a:pPr>
            <a:r>
              <a:rPr lang="en-US" dirty="0">
                <a:latin typeface="Comic Sans MS" panose="030F0702030302020204" pitchFamily="66" charset="0"/>
              </a:rPr>
              <a:t>To form the two's complement of a hexadecimal</a:t>
            </a:r>
          </a:p>
          <a:p>
            <a:pPr lvl="1">
              <a:spcBef>
                <a:spcPct val="60000"/>
              </a:spcBef>
            </a:pPr>
            <a:r>
              <a:rPr lang="en-US" dirty="0">
                <a:latin typeface="Comic Sans MS" panose="030F0702030302020204" pitchFamily="66" charset="0"/>
              </a:rPr>
              <a:t>Subtract each hexadecimal digit from 15</a:t>
            </a:r>
          </a:p>
          <a:p>
            <a:pPr lvl="1">
              <a:spcBef>
                <a:spcPct val="60000"/>
              </a:spcBef>
            </a:pPr>
            <a:r>
              <a:rPr lang="en-US" dirty="0">
                <a:latin typeface="Comic Sans MS" panose="030F0702030302020204" pitchFamily="66" charset="0"/>
              </a:rPr>
              <a:t>Add 1</a:t>
            </a:r>
          </a:p>
          <a:p>
            <a:pPr>
              <a:spcBef>
                <a:spcPct val="60000"/>
              </a:spcBef>
            </a:pPr>
            <a:r>
              <a:rPr lang="en-US" dirty="0">
                <a:latin typeface="Comic Sans MS" panose="030F0702030302020204" pitchFamily="66" charset="0"/>
              </a:rPr>
              <a:t>Examples:	    15 15 15 15</a:t>
            </a:r>
          </a:p>
          <a:p>
            <a:pPr lvl="1">
              <a:spcBef>
                <a:spcPct val="60000"/>
              </a:spcBef>
              <a:buFont typeface="Wingdings" panose="05000000000000000000" pitchFamily="2" charset="2"/>
              <a:buNone/>
            </a:pPr>
            <a:r>
              <a:rPr lang="en-US" dirty="0">
                <a:latin typeface="Comic Sans MS" panose="030F0702030302020204" pitchFamily="66" charset="0"/>
              </a:rPr>
              <a:t>2's complement of  6   A    3     D = 95C2 + 1 = 95C3</a:t>
            </a:r>
          </a:p>
          <a:p>
            <a:pPr lvl="1">
              <a:spcBef>
                <a:spcPct val="60000"/>
              </a:spcBef>
              <a:buFont typeface="Wingdings" panose="05000000000000000000" pitchFamily="2" charset="2"/>
              <a:buNone/>
            </a:pPr>
            <a:r>
              <a:rPr lang="en-US" dirty="0">
                <a:latin typeface="Comic Sans MS" panose="030F0702030302020204" pitchFamily="66" charset="0"/>
              </a:rPr>
              <a:t>2's complement of 92F0 = 6D0F + 1 = 6D10</a:t>
            </a:r>
          </a:p>
          <a:p>
            <a:pPr lvl="1">
              <a:spcBef>
                <a:spcPct val="60000"/>
              </a:spcBef>
              <a:buFont typeface="Wingdings" panose="05000000000000000000" pitchFamily="2" charset="2"/>
              <a:buNone/>
            </a:pPr>
            <a:r>
              <a:rPr lang="en-US" dirty="0">
                <a:latin typeface="Comic Sans MS" panose="030F0702030302020204" pitchFamily="66" charset="0"/>
              </a:rPr>
              <a:t>2's complement of FFFF = 0000 + 1 = 0001</a:t>
            </a:r>
          </a:p>
          <a:p>
            <a:pPr>
              <a:spcBef>
                <a:spcPct val="60000"/>
              </a:spcBef>
            </a:pPr>
            <a:r>
              <a:rPr lang="en-US" dirty="0">
                <a:latin typeface="Comic Sans MS" panose="030F0702030302020204" pitchFamily="66" charset="0"/>
              </a:rPr>
              <a:t>No need to convert hexadecimal to binary</a:t>
            </a:r>
          </a:p>
        </p:txBody>
      </p:sp>
    </p:spTree>
    <p:extLst>
      <p:ext uri="{BB962C8B-B14F-4D97-AF65-F5344CB8AC3E}">
        <p14:creationId xmlns:p14="http://schemas.microsoft.com/office/powerpoint/2010/main" val="4140459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698160" y="41159"/>
            <a:ext cx="10515600" cy="1325563"/>
          </a:xfrm>
        </p:spPr>
        <p:txBody>
          <a:bodyPr/>
          <a:lstStyle/>
          <a:p>
            <a:r>
              <a:rPr lang="en-US" b="1" dirty="0">
                <a:latin typeface="Comic Sans MS" panose="030F0702030302020204" pitchFamily="66" charset="0"/>
              </a:rPr>
              <a:t>Binary Subtraction</a:t>
            </a:r>
          </a:p>
        </p:txBody>
      </p:sp>
      <p:sp>
        <p:nvSpPr>
          <p:cNvPr id="137219" name="Rectangle 3"/>
          <p:cNvSpPr>
            <a:spLocks noGrp="1" noChangeArrowheads="1"/>
          </p:cNvSpPr>
          <p:nvPr>
            <p:ph type="body" idx="1"/>
          </p:nvPr>
        </p:nvSpPr>
        <p:spPr>
          <a:xfrm>
            <a:off x="478971" y="1366723"/>
            <a:ext cx="11321143" cy="4609462"/>
          </a:xfrm>
        </p:spPr>
        <p:txBody>
          <a:bodyPr/>
          <a:lstStyle/>
          <a:p>
            <a:pPr>
              <a:tabLst>
                <a:tab pos="4124325" algn="l"/>
              </a:tabLst>
            </a:pPr>
            <a:r>
              <a:rPr lang="en-US" dirty="0">
                <a:latin typeface="Comic Sans MS" panose="030F0702030302020204" pitchFamily="66" charset="0"/>
              </a:rPr>
              <a:t>When subtracting A – B, convert B to its 2's complement</a:t>
            </a:r>
          </a:p>
          <a:p>
            <a:pPr>
              <a:tabLst>
                <a:tab pos="4124325" algn="l"/>
              </a:tabLst>
            </a:pPr>
            <a:r>
              <a:rPr lang="en-US" dirty="0">
                <a:latin typeface="Comic Sans MS" panose="030F0702030302020204" pitchFamily="66" charset="0"/>
              </a:rPr>
              <a:t>Add A to (–B)</a:t>
            </a:r>
          </a:p>
          <a:p>
            <a:pPr>
              <a:buNone/>
              <a:tabLst>
                <a:tab pos="4124325" algn="l"/>
              </a:tabLst>
            </a:pPr>
            <a:r>
              <a:rPr lang="en-US" dirty="0">
                <a:latin typeface="Comic Sans MS" panose="030F0702030302020204" pitchFamily="66" charset="0"/>
              </a:rPr>
              <a:t>	 0 0 0 0 1 1 0 0	0 0 0 0 1 1 0 0</a:t>
            </a:r>
          </a:p>
          <a:p>
            <a:pPr>
              <a:buNone/>
              <a:tabLst>
                <a:tab pos="4124325" algn="l"/>
              </a:tabLst>
            </a:pPr>
            <a:r>
              <a:rPr lang="en-US" dirty="0">
                <a:latin typeface="Comic Sans MS" panose="030F0702030302020204" pitchFamily="66" charset="0"/>
              </a:rPr>
              <a:t>	 0 0 0 0 0 0 1 0	</a:t>
            </a:r>
            <a:r>
              <a:rPr lang="en-US" dirty="0">
                <a:solidFill>
                  <a:srgbClr val="FF0000"/>
                </a:solidFill>
                <a:latin typeface="Comic Sans MS" panose="030F0702030302020204" pitchFamily="66" charset="0"/>
              </a:rPr>
              <a:t>1  1  1 1 1 1  1 0</a:t>
            </a:r>
            <a:r>
              <a:rPr lang="en-US" dirty="0">
                <a:latin typeface="Comic Sans MS" panose="030F0702030302020204" pitchFamily="66" charset="0"/>
              </a:rPr>
              <a:t>  </a:t>
            </a:r>
            <a:r>
              <a:rPr lang="en-US" sz="1800" dirty="0">
                <a:latin typeface="Comic Sans MS" panose="030F0702030302020204" pitchFamily="66" charset="0"/>
              </a:rPr>
              <a:t>(2's complement)</a:t>
            </a:r>
          </a:p>
          <a:p>
            <a:pPr>
              <a:buNone/>
              <a:tabLst>
                <a:tab pos="4124325" algn="l"/>
              </a:tabLst>
            </a:pPr>
            <a:r>
              <a:rPr lang="en-US" dirty="0">
                <a:latin typeface="Comic Sans MS" panose="030F0702030302020204" pitchFamily="66" charset="0"/>
              </a:rPr>
              <a:t>	 0 0 0 0 1 0 1 0	0 0 0 0 1 0 1 0  </a:t>
            </a:r>
            <a:r>
              <a:rPr lang="en-US" sz="1800" dirty="0">
                <a:latin typeface="Comic Sans MS" panose="030F0702030302020204" pitchFamily="66" charset="0"/>
              </a:rPr>
              <a:t>(same result)</a:t>
            </a:r>
          </a:p>
          <a:p>
            <a:pPr>
              <a:tabLst>
                <a:tab pos="4124325" algn="l"/>
              </a:tabLst>
            </a:pPr>
            <a:r>
              <a:rPr lang="en-US" dirty="0">
                <a:latin typeface="Comic Sans MS" panose="030F0702030302020204" pitchFamily="66" charset="0"/>
              </a:rPr>
              <a:t>Carry is ignored, because</a:t>
            </a:r>
          </a:p>
          <a:p>
            <a:pPr lvl="1">
              <a:tabLst>
                <a:tab pos="4124325" algn="l"/>
              </a:tabLst>
            </a:pPr>
            <a:r>
              <a:rPr lang="en-US" dirty="0">
                <a:latin typeface="Comic Sans MS" panose="030F0702030302020204" pitchFamily="66" charset="0"/>
              </a:rPr>
              <a:t>Negative number is sign-extended with 1's</a:t>
            </a:r>
          </a:p>
          <a:p>
            <a:pPr lvl="1">
              <a:tabLst>
                <a:tab pos="4124325" algn="l"/>
              </a:tabLst>
            </a:pPr>
            <a:r>
              <a:rPr lang="en-US" dirty="0">
                <a:latin typeface="Comic Sans MS" panose="030F0702030302020204" pitchFamily="66" charset="0"/>
              </a:rPr>
              <a:t>You can imagine infinite 1's to the left of a negative number</a:t>
            </a:r>
          </a:p>
          <a:p>
            <a:pPr lvl="1">
              <a:tabLst>
                <a:tab pos="4124325" algn="l"/>
              </a:tabLst>
            </a:pPr>
            <a:r>
              <a:rPr lang="en-US" dirty="0">
                <a:latin typeface="Comic Sans MS" panose="030F0702030302020204" pitchFamily="66" charset="0"/>
              </a:rPr>
              <a:t>Adding the carry to the extended 1's produces extended zeros</a:t>
            </a:r>
          </a:p>
        </p:txBody>
      </p:sp>
      <p:sp>
        <p:nvSpPr>
          <p:cNvPr id="137221" name="Line 5"/>
          <p:cNvSpPr>
            <a:spLocks noChangeShapeType="1"/>
          </p:cNvSpPr>
          <p:nvPr/>
        </p:nvSpPr>
        <p:spPr bwMode="auto">
          <a:xfrm>
            <a:off x="842682" y="3366005"/>
            <a:ext cx="2439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37160" bIns="137160">
            <a:spAutoFit/>
          </a:bodyPr>
          <a:lstStyle/>
          <a:p>
            <a:endParaRPr lang="en-US"/>
          </a:p>
        </p:txBody>
      </p:sp>
      <p:sp>
        <p:nvSpPr>
          <p:cNvPr id="137222" name="Line 6"/>
          <p:cNvSpPr>
            <a:spLocks noChangeShapeType="1"/>
          </p:cNvSpPr>
          <p:nvPr/>
        </p:nvSpPr>
        <p:spPr bwMode="auto">
          <a:xfrm>
            <a:off x="4700813" y="3366005"/>
            <a:ext cx="242612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37160" bIns="137160">
            <a:spAutoFit/>
          </a:bodyPr>
          <a:lstStyle/>
          <a:p>
            <a:endParaRPr lang="en-US"/>
          </a:p>
        </p:txBody>
      </p:sp>
      <p:sp>
        <p:nvSpPr>
          <p:cNvPr id="137223" name="Text Box 7"/>
          <p:cNvSpPr txBox="1">
            <a:spLocks noChangeArrowheads="1"/>
          </p:cNvSpPr>
          <p:nvPr/>
        </p:nvSpPr>
        <p:spPr bwMode="auto">
          <a:xfrm>
            <a:off x="3149600" y="5976184"/>
            <a:ext cx="5236029" cy="553998"/>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37160" bIns="137160">
            <a:spAutoFit/>
          </a:bodyPr>
          <a:lstStyle/>
          <a:p>
            <a:pPr algn="ctr">
              <a:spcBef>
                <a:spcPct val="50000"/>
              </a:spcBef>
            </a:pPr>
            <a:r>
              <a:rPr lang="en-US" dirty="0">
                <a:solidFill>
                  <a:schemeClr val="tx2"/>
                </a:solidFill>
                <a:latin typeface="Comic Sans MS" panose="030F0702030302020204" pitchFamily="66" charset="0"/>
              </a:rPr>
              <a:t>Practice: Subtract 00100101 from 01101001</a:t>
            </a:r>
            <a:r>
              <a:rPr lang="en-US" sz="1700" dirty="0">
                <a:solidFill>
                  <a:schemeClr val="tx2"/>
                </a:solidFill>
              </a:rPr>
              <a:t>.</a:t>
            </a:r>
          </a:p>
        </p:txBody>
      </p:sp>
      <p:sp>
        <p:nvSpPr>
          <p:cNvPr id="137224" name="Rectangle 8"/>
          <p:cNvSpPr>
            <a:spLocks noChangeArrowheads="1"/>
          </p:cNvSpPr>
          <p:nvPr/>
        </p:nvSpPr>
        <p:spPr bwMode="auto">
          <a:xfrm>
            <a:off x="2120900" y="2392364"/>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t>–</a:t>
            </a:r>
          </a:p>
        </p:txBody>
      </p:sp>
      <p:sp>
        <p:nvSpPr>
          <p:cNvPr id="137225" name="Rectangle 9"/>
          <p:cNvSpPr>
            <a:spLocks noChangeArrowheads="1"/>
          </p:cNvSpPr>
          <p:nvPr/>
        </p:nvSpPr>
        <p:spPr bwMode="auto">
          <a:xfrm>
            <a:off x="4285118" y="2904340"/>
            <a:ext cx="3248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400" dirty="0"/>
              <a:t>+</a:t>
            </a:r>
          </a:p>
        </p:txBody>
      </p:sp>
      <p:sp>
        <p:nvSpPr>
          <p:cNvPr id="137226" name="AutoShape 10"/>
          <p:cNvSpPr>
            <a:spLocks noChangeArrowheads="1"/>
          </p:cNvSpPr>
          <p:nvPr/>
        </p:nvSpPr>
        <p:spPr bwMode="auto">
          <a:xfrm>
            <a:off x="3594555" y="3418607"/>
            <a:ext cx="690563" cy="287338"/>
          </a:xfrm>
          <a:prstGeom prst="rightArrow">
            <a:avLst>
              <a:gd name="adj1" fmla="val 50000"/>
              <a:gd name="adj2" fmla="val 6008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6365980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7223"/>
                                        </p:tgtEl>
                                        <p:attrNameLst>
                                          <p:attrName>style.visibility</p:attrName>
                                        </p:attrNameLst>
                                      </p:cBhvr>
                                      <p:to>
                                        <p:strVal val="visible"/>
                                      </p:to>
                                    </p:set>
                                    <p:animEffect transition="in" filter="dissolve">
                                      <p:cBhvr>
                                        <p:cTn id="7" dur="500"/>
                                        <p:tgtEl>
                                          <p:spTgt spid="137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3"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816769" y="86518"/>
            <a:ext cx="10515600" cy="1325563"/>
          </a:xfrm>
        </p:spPr>
        <p:txBody>
          <a:bodyPr/>
          <a:lstStyle/>
          <a:p>
            <a:r>
              <a:rPr lang="en-US" b="1" dirty="0">
                <a:latin typeface="Comic Sans MS" panose="030F0702030302020204" pitchFamily="66" charset="0"/>
              </a:rPr>
              <a:t>Hexadecimal Subtraction</a:t>
            </a:r>
          </a:p>
        </p:txBody>
      </p:sp>
      <p:sp>
        <p:nvSpPr>
          <p:cNvPr id="134147" name="Rectangle 3"/>
          <p:cNvSpPr>
            <a:spLocks noGrp="1" noChangeArrowheads="1"/>
          </p:cNvSpPr>
          <p:nvPr>
            <p:ph type="body" idx="1"/>
          </p:nvPr>
        </p:nvSpPr>
        <p:spPr>
          <a:xfrm>
            <a:off x="2063751" y="1144588"/>
            <a:ext cx="7777163" cy="3840162"/>
          </a:xfrm>
        </p:spPr>
        <p:txBody>
          <a:bodyPr>
            <a:normAutofit fontScale="92500" lnSpcReduction="10000"/>
          </a:bodyPr>
          <a:lstStyle/>
          <a:p>
            <a:pPr>
              <a:spcBef>
                <a:spcPct val="60000"/>
              </a:spcBef>
            </a:pPr>
            <a:r>
              <a:rPr lang="en-US" dirty="0">
                <a:latin typeface="Comic Sans MS" panose="030F0702030302020204" pitchFamily="66" charset="0"/>
              </a:rPr>
              <a:t>When a borrow is required from the digit to the left, add 16 (decimal) to the current digit's value</a:t>
            </a:r>
          </a:p>
          <a:p>
            <a:pPr>
              <a:spcBef>
                <a:spcPct val="60000"/>
              </a:spcBef>
            </a:pPr>
            <a:endParaRPr lang="en-US" dirty="0"/>
          </a:p>
          <a:p>
            <a:pPr>
              <a:spcBef>
                <a:spcPct val="60000"/>
              </a:spcBef>
            </a:pPr>
            <a:endParaRPr lang="en-US" dirty="0"/>
          </a:p>
          <a:p>
            <a:pPr>
              <a:spcBef>
                <a:spcPct val="60000"/>
              </a:spcBef>
            </a:pPr>
            <a:endParaRPr lang="en-US" dirty="0"/>
          </a:p>
          <a:p>
            <a:pPr>
              <a:spcBef>
                <a:spcPct val="60000"/>
              </a:spcBef>
            </a:pPr>
            <a:endParaRPr lang="en-US" dirty="0"/>
          </a:p>
          <a:p>
            <a:pPr>
              <a:spcBef>
                <a:spcPct val="60000"/>
              </a:spcBef>
            </a:pPr>
            <a:r>
              <a:rPr lang="en-US" dirty="0">
                <a:solidFill>
                  <a:srgbClr val="FF0000"/>
                </a:solidFill>
                <a:latin typeface="Comic Sans MS" panose="030F0702030302020204" pitchFamily="66" charset="0"/>
              </a:rPr>
              <a:t>Last Carry is ignored</a:t>
            </a:r>
          </a:p>
        </p:txBody>
      </p:sp>
      <p:sp>
        <p:nvSpPr>
          <p:cNvPr id="134153" name="Text Box 9"/>
          <p:cNvSpPr txBox="1">
            <a:spLocks noChangeArrowheads="1"/>
          </p:cNvSpPr>
          <p:nvPr/>
        </p:nvSpPr>
        <p:spPr bwMode="auto">
          <a:xfrm>
            <a:off x="1959428" y="5157788"/>
            <a:ext cx="8302171" cy="1200329"/>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37160" bIns="137160">
            <a:spAutoFit/>
          </a:bodyPr>
          <a:lstStyle/>
          <a:p>
            <a:pPr>
              <a:spcBef>
                <a:spcPct val="50000"/>
              </a:spcBef>
            </a:pPr>
            <a:r>
              <a:rPr lang="en-US" sz="2000" b="1" dirty="0">
                <a:latin typeface="Comic Sans MS" panose="030F0702030302020204" pitchFamily="66" charset="0"/>
              </a:rPr>
              <a:t>Practice: The address of </a:t>
            </a:r>
            <a:r>
              <a:rPr lang="en-US" sz="2000" b="1" dirty="0">
                <a:solidFill>
                  <a:schemeClr val="tx2"/>
                </a:solidFill>
                <a:latin typeface="Comic Sans MS" panose="030F0702030302020204" pitchFamily="66" charset="0"/>
              </a:rPr>
              <a:t>var1</a:t>
            </a:r>
            <a:r>
              <a:rPr lang="en-US" sz="2000" b="1" dirty="0">
                <a:latin typeface="Comic Sans MS" panose="030F0702030302020204" pitchFamily="66" charset="0"/>
              </a:rPr>
              <a:t> is 00400B20. The address of the next variable after var1 is 0040A06C. How many bytes are used by var1?</a:t>
            </a:r>
          </a:p>
        </p:txBody>
      </p:sp>
      <p:grpSp>
        <p:nvGrpSpPr>
          <p:cNvPr id="134176" name="Group 32"/>
          <p:cNvGrpSpPr>
            <a:grpSpLocks/>
          </p:cNvGrpSpPr>
          <p:nvPr/>
        </p:nvGrpSpPr>
        <p:grpSpPr bwMode="auto">
          <a:xfrm>
            <a:off x="2581275" y="2290763"/>
            <a:ext cx="6567488" cy="1903412"/>
            <a:chOff x="594" y="1942"/>
            <a:chExt cx="4137" cy="1199"/>
          </a:xfrm>
        </p:grpSpPr>
        <p:grpSp>
          <p:nvGrpSpPr>
            <p:cNvPr id="134166" name="Group 22"/>
            <p:cNvGrpSpPr>
              <a:grpSpLocks/>
            </p:cNvGrpSpPr>
            <p:nvPr/>
          </p:nvGrpSpPr>
          <p:grpSpPr bwMode="auto">
            <a:xfrm>
              <a:off x="594" y="1942"/>
              <a:ext cx="1125" cy="1199"/>
              <a:chOff x="594" y="1942"/>
              <a:chExt cx="1125" cy="1199"/>
            </a:xfrm>
          </p:grpSpPr>
          <p:sp>
            <p:nvSpPr>
              <p:cNvPr id="134151" name="Line 7"/>
              <p:cNvSpPr>
                <a:spLocks noChangeShapeType="1"/>
              </p:cNvSpPr>
              <p:nvPr/>
            </p:nvSpPr>
            <p:spPr bwMode="auto">
              <a:xfrm flipH="1">
                <a:off x="1247" y="2124"/>
                <a:ext cx="0" cy="20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endParaRPr lang="en-US"/>
              </a:p>
            </p:txBody>
          </p:sp>
          <p:sp>
            <p:nvSpPr>
              <p:cNvPr id="134148" name="Text Box 4"/>
              <p:cNvSpPr txBox="1">
                <a:spLocks noChangeArrowheads="1"/>
              </p:cNvSpPr>
              <p:nvPr/>
            </p:nvSpPr>
            <p:spPr bwMode="auto">
              <a:xfrm>
                <a:off x="794" y="2269"/>
                <a:ext cx="925" cy="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r>
                  <a:rPr lang="en-US" sz="2400" b="1">
                    <a:latin typeface="Courier New" panose="02070309020205020404" pitchFamily="49" charset="0"/>
                    <a:cs typeface="Courier New" panose="02070309020205020404" pitchFamily="49" charset="0"/>
                  </a:rPr>
                  <a:t>C675</a:t>
                </a:r>
              </a:p>
              <a:p>
                <a:r>
                  <a:rPr lang="en-US" sz="2400" b="1">
                    <a:latin typeface="Courier New" panose="02070309020205020404" pitchFamily="49" charset="0"/>
                    <a:cs typeface="Courier New" panose="02070309020205020404" pitchFamily="49" charset="0"/>
                  </a:rPr>
                  <a:t>A247</a:t>
                </a:r>
              </a:p>
              <a:p>
                <a:r>
                  <a:rPr lang="en-US" sz="2400" b="1">
                    <a:latin typeface="Courier New" panose="02070309020205020404" pitchFamily="49" charset="0"/>
                    <a:cs typeface="Courier New" panose="02070309020205020404" pitchFamily="49" charset="0"/>
                  </a:rPr>
                  <a:t>242E</a:t>
                </a:r>
              </a:p>
            </p:txBody>
          </p:sp>
          <p:sp>
            <p:nvSpPr>
              <p:cNvPr id="134149" name="Line 5"/>
              <p:cNvSpPr>
                <a:spLocks noChangeShapeType="1"/>
              </p:cNvSpPr>
              <p:nvPr/>
            </p:nvSpPr>
            <p:spPr bwMode="auto">
              <a:xfrm flipV="1">
                <a:off x="800" y="2813"/>
                <a:ext cx="55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endParaRPr lang="en-US"/>
              </a:p>
            </p:txBody>
          </p:sp>
          <p:sp>
            <p:nvSpPr>
              <p:cNvPr id="134150" name="Text Box 6"/>
              <p:cNvSpPr txBox="1">
                <a:spLocks noChangeArrowheads="1"/>
              </p:cNvSpPr>
              <p:nvPr/>
            </p:nvSpPr>
            <p:spPr bwMode="auto">
              <a:xfrm>
                <a:off x="1066" y="2232"/>
                <a:ext cx="145"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spcBef>
                    <a:spcPct val="50000"/>
                  </a:spcBef>
                </a:pPr>
                <a:r>
                  <a:rPr lang="en-US" sz="1400" b="1">
                    <a:solidFill>
                      <a:schemeClr val="tx2"/>
                    </a:solidFill>
                    <a:latin typeface="Courier New" panose="02070309020205020404" pitchFamily="49" charset="0"/>
                    <a:cs typeface="Courier New" panose="02070309020205020404" pitchFamily="49" charset="0"/>
                  </a:rPr>
                  <a:t>-1</a:t>
                </a:r>
              </a:p>
            </p:txBody>
          </p:sp>
          <p:sp>
            <p:nvSpPr>
              <p:cNvPr id="134156" name="Text Box 12"/>
              <p:cNvSpPr txBox="1">
                <a:spLocks noChangeArrowheads="1"/>
              </p:cNvSpPr>
              <p:nvPr/>
            </p:nvSpPr>
            <p:spPr bwMode="auto">
              <a:xfrm>
                <a:off x="594" y="2378"/>
                <a:ext cx="191"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pPr>
                  <a:spcBef>
                    <a:spcPct val="50000"/>
                  </a:spcBef>
                </a:pPr>
                <a:r>
                  <a:rPr lang="en-US" sz="2400" b="1">
                    <a:solidFill>
                      <a:schemeClr val="tx2"/>
                    </a:solidFill>
                    <a:latin typeface="Courier New" panose="02070309020205020404" pitchFamily="49" charset="0"/>
                    <a:cs typeface="Courier New" panose="02070309020205020404" pitchFamily="49" charset="0"/>
                  </a:rPr>
                  <a:t>-</a:t>
                </a:r>
              </a:p>
            </p:txBody>
          </p:sp>
          <p:sp>
            <p:nvSpPr>
              <p:cNvPr id="134152" name="Text Box 8"/>
              <p:cNvSpPr txBox="1">
                <a:spLocks noChangeArrowheads="1"/>
              </p:cNvSpPr>
              <p:nvPr/>
            </p:nvSpPr>
            <p:spPr bwMode="auto">
              <a:xfrm>
                <a:off x="848" y="1942"/>
                <a:ext cx="782" cy="21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36000" anchor="ctr">
                <a:spAutoFit/>
              </a:bodyPr>
              <a:lstStyle/>
              <a:p>
                <a:pPr algn="ctr">
                  <a:lnSpc>
                    <a:spcPct val="110000"/>
                  </a:lnSpc>
                  <a:spcBef>
                    <a:spcPct val="50000"/>
                  </a:spcBef>
                </a:pPr>
                <a:r>
                  <a:rPr lang="en-US" sz="1500"/>
                  <a:t>16 + 5 = 21</a:t>
                </a:r>
              </a:p>
            </p:txBody>
          </p:sp>
        </p:grpSp>
        <p:sp>
          <p:nvSpPr>
            <p:cNvPr id="134165" name="AutoShape 21"/>
            <p:cNvSpPr>
              <a:spLocks noChangeArrowheads="1"/>
            </p:cNvSpPr>
            <p:nvPr/>
          </p:nvSpPr>
          <p:spPr bwMode="auto">
            <a:xfrm>
              <a:off x="1828" y="2487"/>
              <a:ext cx="435" cy="181"/>
            </a:xfrm>
            <a:prstGeom prst="rightArrow">
              <a:avLst>
                <a:gd name="adj1" fmla="val 50000"/>
                <a:gd name="adj2" fmla="val 6008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34175" name="Group 31"/>
            <p:cNvGrpSpPr>
              <a:grpSpLocks/>
            </p:cNvGrpSpPr>
            <p:nvPr/>
          </p:nvGrpSpPr>
          <p:grpSpPr bwMode="auto">
            <a:xfrm>
              <a:off x="2699" y="2232"/>
              <a:ext cx="2032" cy="909"/>
              <a:chOff x="3134" y="2232"/>
              <a:chExt cx="2032" cy="909"/>
            </a:xfrm>
          </p:grpSpPr>
          <p:sp>
            <p:nvSpPr>
              <p:cNvPr id="134169" name="Text Box 25"/>
              <p:cNvSpPr txBox="1">
                <a:spLocks noChangeArrowheads="1"/>
              </p:cNvSpPr>
              <p:nvPr/>
            </p:nvSpPr>
            <p:spPr bwMode="auto">
              <a:xfrm>
                <a:off x="3334" y="2269"/>
                <a:ext cx="1832" cy="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r>
                  <a:rPr lang="en-US" sz="2400" b="1">
                    <a:latin typeface="Courier New" panose="02070309020205020404" pitchFamily="49" charset="0"/>
                    <a:cs typeface="Courier New" panose="02070309020205020404" pitchFamily="49" charset="0"/>
                  </a:rPr>
                  <a:t>C675</a:t>
                </a:r>
              </a:p>
              <a:p>
                <a:r>
                  <a:rPr lang="en-US" sz="2400" b="1">
                    <a:solidFill>
                      <a:srgbClr val="FF0000"/>
                    </a:solidFill>
                    <a:latin typeface="Courier New" panose="02070309020205020404" pitchFamily="49" charset="0"/>
                    <a:cs typeface="Courier New" panose="02070309020205020404" pitchFamily="49" charset="0"/>
                  </a:rPr>
                  <a:t>5DB9</a:t>
                </a:r>
                <a:r>
                  <a:rPr lang="en-US" sz="2400" b="1">
                    <a:latin typeface="Courier New" panose="02070309020205020404" pitchFamily="49" charset="0"/>
                    <a:cs typeface="Courier New" panose="02070309020205020404" pitchFamily="49" charset="0"/>
                  </a:rPr>
                  <a:t> </a:t>
                </a:r>
                <a:r>
                  <a:rPr lang="en-US"/>
                  <a:t>(2's complement)</a:t>
                </a:r>
                <a:endParaRPr lang="en-US" sz="2400" b="1">
                  <a:latin typeface="Courier New" panose="02070309020205020404" pitchFamily="49" charset="0"/>
                  <a:cs typeface="Courier New" panose="02070309020205020404" pitchFamily="49" charset="0"/>
                </a:endParaRPr>
              </a:p>
              <a:p>
                <a:r>
                  <a:rPr lang="en-US" sz="2400" b="1">
                    <a:latin typeface="Courier New" panose="02070309020205020404" pitchFamily="49" charset="0"/>
                    <a:cs typeface="Courier New" panose="02070309020205020404" pitchFamily="49" charset="0"/>
                  </a:rPr>
                  <a:t>242E </a:t>
                </a:r>
                <a:r>
                  <a:rPr lang="en-US"/>
                  <a:t>(same result)</a:t>
                </a:r>
              </a:p>
            </p:txBody>
          </p:sp>
          <p:sp>
            <p:nvSpPr>
              <p:cNvPr id="134170" name="Line 26"/>
              <p:cNvSpPr>
                <a:spLocks noChangeShapeType="1"/>
              </p:cNvSpPr>
              <p:nvPr/>
            </p:nvSpPr>
            <p:spPr bwMode="auto">
              <a:xfrm flipV="1">
                <a:off x="3340" y="2813"/>
                <a:ext cx="55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endParaRPr lang="en-US"/>
              </a:p>
            </p:txBody>
          </p:sp>
          <p:sp>
            <p:nvSpPr>
              <p:cNvPr id="134171" name="Text Box 27"/>
              <p:cNvSpPr txBox="1">
                <a:spLocks noChangeArrowheads="1"/>
              </p:cNvSpPr>
              <p:nvPr/>
            </p:nvSpPr>
            <p:spPr bwMode="auto">
              <a:xfrm>
                <a:off x="3497" y="2232"/>
                <a:ext cx="145"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ctr">
                  <a:spcBef>
                    <a:spcPct val="50000"/>
                  </a:spcBef>
                </a:pPr>
                <a:r>
                  <a:rPr lang="en-US" sz="1400" b="1">
                    <a:solidFill>
                      <a:schemeClr val="tx2"/>
                    </a:solidFill>
                    <a:latin typeface="Courier New" panose="02070309020205020404" pitchFamily="49" charset="0"/>
                    <a:cs typeface="Courier New" panose="02070309020205020404" pitchFamily="49" charset="0"/>
                  </a:rPr>
                  <a:t>1</a:t>
                </a:r>
              </a:p>
            </p:txBody>
          </p:sp>
          <p:sp>
            <p:nvSpPr>
              <p:cNvPr id="134172" name="Text Box 28"/>
              <p:cNvSpPr txBox="1">
                <a:spLocks noChangeArrowheads="1"/>
              </p:cNvSpPr>
              <p:nvPr/>
            </p:nvSpPr>
            <p:spPr bwMode="auto">
              <a:xfrm>
                <a:off x="3134" y="2378"/>
                <a:ext cx="191"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pPr>
                  <a:spcBef>
                    <a:spcPct val="50000"/>
                  </a:spcBef>
                </a:pPr>
                <a:r>
                  <a:rPr lang="en-US" sz="2400" b="1">
                    <a:solidFill>
                      <a:schemeClr val="tx2"/>
                    </a:solidFill>
                    <a:latin typeface="Courier New" panose="02070309020205020404" pitchFamily="49" charset="0"/>
                    <a:cs typeface="Courier New" panose="02070309020205020404" pitchFamily="49" charset="0"/>
                  </a:rPr>
                  <a:t>+</a:t>
                </a:r>
              </a:p>
            </p:txBody>
          </p:sp>
          <p:sp>
            <p:nvSpPr>
              <p:cNvPr id="134174" name="Text Box 30"/>
              <p:cNvSpPr txBox="1">
                <a:spLocks noChangeArrowheads="1"/>
              </p:cNvSpPr>
              <p:nvPr/>
            </p:nvSpPr>
            <p:spPr bwMode="auto">
              <a:xfrm>
                <a:off x="3388" y="2232"/>
                <a:ext cx="145"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ctr">
                  <a:spcBef>
                    <a:spcPct val="50000"/>
                  </a:spcBef>
                </a:pPr>
                <a:r>
                  <a:rPr lang="en-US" sz="1400" b="1">
                    <a:solidFill>
                      <a:schemeClr val="tx2"/>
                    </a:solidFill>
                    <a:latin typeface="Courier New" panose="02070309020205020404" pitchFamily="49" charset="0"/>
                    <a:cs typeface="Courier New" panose="02070309020205020404" pitchFamily="49" charset="0"/>
                  </a:rPr>
                  <a:t>1</a:t>
                </a:r>
              </a:p>
            </p:txBody>
          </p:sp>
        </p:grpSp>
      </p:grpSp>
    </p:spTree>
    <p:extLst>
      <p:ext uri="{BB962C8B-B14F-4D97-AF65-F5344CB8AC3E}">
        <p14:creationId xmlns:p14="http://schemas.microsoft.com/office/powerpoint/2010/main" val="21508777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4153"/>
                                        </p:tgtEl>
                                        <p:attrNameLst>
                                          <p:attrName>style.visibility</p:attrName>
                                        </p:attrNameLst>
                                      </p:cBhvr>
                                      <p:to>
                                        <p:strVal val="visible"/>
                                      </p:to>
                                    </p:set>
                                    <p:animEffect transition="in" filter="dissolve">
                                      <p:cBhvr>
                                        <p:cTn id="7" dur="500"/>
                                        <p:tgtEl>
                                          <p:spTgt spid="134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53"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730623" y="96185"/>
            <a:ext cx="10515600" cy="872004"/>
          </a:xfrm>
        </p:spPr>
        <p:txBody>
          <a:bodyPr/>
          <a:lstStyle/>
          <a:p>
            <a:r>
              <a:rPr lang="en-US" dirty="0">
                <a:solidFill>
                  <a:srgbClr val="FF0000"/>
                </a:solidFill>
                <a:latin typeface="Comic Sans MS" panose="030F0702030302020204" pitchFamily="66" charset="0"/>
              </a:rPr>
              <a:t>Ranges of Signed Integers</a:t>
            </a:r>
          </a:p>
        </p:txBody>
      </p:sp>
      <p:pic>
        <p:nvPicPr>
          <p:cNvPr id="139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219326"/>
            <a:ext cx="8153400" cy="2506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9268" name="Text Box 4"/>
          <p:cNvSpPr txBox="1">
            <a:spLocks noChangeArrowheads="1"/>
          </p:cNvSpPr>
          <p:nvPr/>
        </p:nvSpPr>
        <p:spPr bwMode="auto">
          <a:xfrm>
            <a:off x="2057400" y="1143000"/>
            <a:ext cx="80772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pPr algn="just">
              <a:spcBef>
                <a:spcPct val="50000"/>
              </a:spcBef>
            </a:pPr>
            <a:r>
              <a:rPr lang="en-US" sz="2400" dirty="0">
                <a:latin typeface="Comic Sans MS" panose="030F0702030302020204" pitchFamily="66" charset="0"/>
              </a:rPr>
              <a:t>The unsigned range is divided into two signed ranges for positive and negative numbers</a:t>
            </a:r>
          </a:p>
        </p:txBody>
      </p:sp>
      <p:sp>
        <p:nvSpPr>
          <p:cNvPr id="139269" name="Text Box 5"/>
          <p:cNvSpPr txBox="1">
            <a:spLocks noChangeArrowheads="1"/>
          </p:cNvSpPr>
          <p:nvPr/>
        </p:nvSpPr>
        <p:spPr bwMode="auto">
          <a:xfrm>
            <a:off x="2390775" y="5249864"/>
            <a:ext cx="7391400" cy="541337"/>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pPr>
              <a:spcBef>
                <a:spcPct val="50000"/>
              </a:spcBef>
            </a:pPr>
            <a:r>
              <a:rPr lang="en-US" sz="1700">
                <a:solidFill>
                  <a:schemeClr val="tx2"/>
                </a:solidFill>
              </a:rPr>
              <a:t>Practice: What is the range of signed values that may be stored in 20 bits?</a:t>
            </a:r>
          </a:p>
        </p:txBody>
      </p:sp>
    </p:spTree>
    <p:extLst>
      <p:ext uri="{BB962C8B-B14F-4D97-AF65-F5344CB8AC3E}">
        <p14:creationId xmlns:p14="http://schemas.microsoft.com/office/powerpoint/2010/main" val="15985355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9269"/>
                                        </p:tgtEl>
                                        <p:attrNameLst>
                                          <p:attrName>style.visibility</p:attrName>
                                        </p:attrNameLst>
                                      </p:cBhvr>
                                      <p:to>
                                        <p:strVal val="visible"/>
                                      </p:to>
                                    </p:set>
                                    <p:animEffect transition="in" filter="dissolve">
                                      <p:cBhvr>
                                        <p:cTn id="7" dur="500"/>
                                        <p:tgtEl>
                                          <p:spTgt spid="139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9"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p:txBody>
          <a:bodyPr/>
          <a:lstStyle/>
          <a:p>
            <a:r>
              <a:rPr lang="en-US" dirty="0">
                <a:solidFill>
                  <a:srgbClr val="FF0000"/>
                </a:solidFill>
                <a:latin typeface="Comic Sans MS" panose="030F0702030302020204" pitchFamily="66" charset="0"/>
              </a:rPr>
              <a:t>Carry and Overflow</a:t>
            </a:r>
          </a:p>
        </p:txBody>
      </p:sp>
      <p:sp>
        <p:nvSpPr>
          <p:cNvPr id="195587" name="Rectangle 3"/>
          <p:cNvSpPr>
            <a:spLocks noGrp="1" noChangeArrowheads="1"/>
          </p:cNvSpPr>
          <p:nvPr>
            <p:ph type="body" idx="1"/>
          </p:nvPr>
        </p:nvSpPr>
        <p:spPr>
          <a:xfrm>
            <a:off x="464457" y="1349828"/>
            <a:ext cx="11335657" cy="5254171"/>
          </a:xfrm>
        </p:spPr>
        <p:txBody>
          <a:bodyPr>
            <a:normAutofit/>
          </a:bodyPr>
          <a:lstStyle/>
          <a:p>
            <a:r>
              <a:rPr lang="en-US" dirty="0">
                <a:latin typeface="Comic Sans MS" panose="030F0702030302020204" pitchFamily="66" charset="0"/>
              </a:rPr>
              <a:t>Carry is important when …</a:t>
            </a:r>
          </a:p>
          <a:p>
            <a:pPr lvl="1"/>
            <a:r>
              <a:rPr lang="en-US" dirty="0">
                <a:latin typeface="Comic Sans MS" panose="030F0702030302020204" pitchFamily="66" charset="0"/>
              </a:rPr>
              <a:t>Adding or subtracting </a:t>
            </a:r>
            <a:r>
              <a:rPr lang="en-US" dirty="0">
                <a:solidFill>
                  <a:srgbClr val="FF0000"/>
                </a:solidFill>
                <a:latin typeface="Comic Sans MS" panose="030F0702030302020204" pitchFamily="66" charset="0"/>
              </a:rPr>
              <a:t>unsigned integers</a:t>
            </a:r>
          </a:p>
          <a:p>
            <a:pPr lvl="1"/>
            <a:r>
              <a:rPr lang="en-US" dirty="0">
                <a:latin typeface="Comic Sans MS" panose="030F0702030302020204" pitchFamily="66" charset="0"/>
              </a:rPr>
              <a:t>Indicates that the </a:t>
            </a:r>
            <a:r>
              <a:rPr lang="en-US" dirty="0">
                <a:solidFill>
                  <a:srgbClr val="FF0000"/>
                </a:solidFill>
                <a:latin typeface="Comic Sans MS" panose="030F0702030302020204" pitchFamily="66" charset="0"/>
              </a:rPr>
              <a:t>unsigned sum</a:t>
            </a:r>
            <a:r>
              <a:rPr lang="en-US" dirty="0">
                <a:latin typeface="Comic Sans MS" panose="030F0702030302020204" pitchFamily="66" charset="0"/>
              </a:rPr>
              <a:t> is out of range</a:t>
            </a:r>
          </a:p>
          <a:p>
            <a:pPr lvl="1"/>
            <a:r>
              <a:rPr lang="en-US" dirty="0">
                <a:latin typeface="Comic Sans MS" panose="030F0702030302020204" pitchFamily="66" charset="0"/>
              </a:rPr>
              <a:t>Either &lt; 0 or &gt;maximum unsigned </a:t>
            </a:r>
            <a:r>
              <a:rPr lang="en-US" i="1" dirty="0">
                <a:latin typeface="Comic Sans MS" panose="030F0702030302020204" pitchFamily="66" charset="0"/>
              </a:rPr>
              <a:t>n</a:t>
            </a:r>
            <a:r>
              <a:rPr lang="en-US" dirty="0">
                <a:latin typeface="Comic Sans MS" panose="030F0702030302020204" pitchFamily="66" charset="0"/>
              </a:rPr>
              <a:t>-bit value</a:t>
            </a:r>
          </a:p>
          <a:p>
            <a:r>
              <a:rPr lang="en-US" dirty="0">
                <a:latin typeface="Comic Sans MS" panose="030F0702030302020204" pitchFamily="66" charset="0"/>
              </a:rPr>
              <a:t>Overflow is important when …</a:t>
            </a:r>
          </a:p>
          <a:p>
            <a:pPr lvl="1"/>
            <a:r>
              <a:rPr lang="en-US" dirty="0">
                <a:latin typeface="Comic Sans MS" panose="030F0702030302020204" pitchFamily="66" charset="0"/>
              </a:rPr>
              <a:t>Adding or subtracting </a:t>
            </a:r>
            <a:r>
              <a:rPr lang="en-US" dirty="0">
                <a:solidFill>
                  <a:srgbClr val="FF0000"/>
                </a:solidFill>
                <a:latin typeface="Comic Sans MS" panose="030F0702030302020204" pitchFamily="66" charset="0"/>
              </a:rPr>
              <a:t>signed integers</a:t>
            </a:r>
          </a:p>
          <a:p>
            <a:pPr lvl="1"/>
            <a:r>
              <a:rPr lang="en-US" dirty="0">
                <a:latin typeface="Comic Sans MS" panose="030F0702030302020204" pitchFamily="66" charset="0"/>
              </a:rPr>
              <a:t>Indicates that the </a:t>
            </a:r>
            <a:r>
              <a:rPr lang="en-US" dirty="0">
                <a:solidFill>
                  <a:srgbClr val="FF0000"/>
                </a:solidFill>
                <a:latin typeface="Comic Sans MS" panose="030F0702030302020204" pitchFamily="66" charset="0"/>
              </a:rPr>
              <a:t>signed sum</a:t>
            </a:r>
            <a:r>
              <a:rPr lang="en-US" dirty="0">
                <a:latin typeface="Comic Sans MS" panose="030F0702030302020204" pitchFamily="66" charset="0"/>
              </a:rPr>
              <a:t> is out of range</a:t>
            </a:r>
          </a:p>
          <a:p>
            <a:r>
              <a:rPr lang="en-US" dirty="0">
                <a:latin typeface="Comic Sans MS" panose="030F0702030302020204" pitchFamily="66" charset="0"/>
              </a:rPr>
              <a:t>Overflow occurs when</a:t>
            </a:r>
          </a:p>
          <a:p>
            <a:pPr lvl="1"/>
            <a:r>
              <a:rPr lang="en-US" dirty="0">
                <a:latin typeface="Comic Sans MS" panose="030F0702030302020204" pitchFamily="66" charset="0"/>
              </a:rPr>
              <a:t>Adding two positive numbers and the sum is negative</a:t>
            </a:r>
          </a:p>
          <a:p>
            <a:pPr lvl="1"/>
            <a:r>
              <a:rPr lang="en-US" dirty="0">
                <a:latin typeface="Comic Sans MS" panose="030F0702030302020204" pitchFamily="66" charset="0"/>
              </a:rPr>
              <a:t>Adding two negative numbers and the sum is positive</a:t>
            </a:r>
          </a:p>
          <a:p>
            <a:pPr lvl="1"/>
            <a:r>
              <a:rPr lang="en-US" dirty="0">
                <a:latin typeface="Comic Sans MS" panose="030F0702030302020204" pitchFamily="66" charset="0"/>
              </a:rPr>
              <a:t>Can happen because of the fixed number of sum bits</a:t>
            </a:r>
            <a:endParaRPr lang="en-US" i="1" dirty="0">
              <a:latin typeface="Comic Sans MS" panose="030F0702030302020204" pitchFamily="66" charset="0"/>
            </a:endParaRPr>
          </a:p>
        </p:txBody>
      </p:sp>
    </p:spTree>
    <p:extLst>
      <p:ext uri="{BB962C8B-B14F-4D97-AF65-F5344CB8AC3E}">
        <p14:creationId xmlns:p14="http://schemas.microsoft.com/office/powerpoint/2010/main" val="35632555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6948" name="Group 340"/>
          <p:cNvGrpSpPr>
            <a:grpSpLocks/>
          </p:cNvGrpSpPr>
          <p:nvPr/>
        </p:nvGrpSpPr>
        <p:grpSpPr bwMode="auto">
          <a:xfrm>
            <a:off x="2006600" y="4235451"/>
            <a:ext cx="4032250" cy="2016125"/>
            <a:chOff x="2953" y="1398"/>
            <a:chExt cx="2540" cy="1270"/>
          </a:xfrm>
        </p:grpSpPr>
        <p:sp>
          <p:nvSpPr>
            <p:cNvPr id="196949" name="AutoShape 341"/>
            <p:cNvSpPr>
              <a:spLocks noChangeAspect="1" noChangeArrowheads="1" noTextEdit="1"/>
            </p:cNvSpPr>
            <p:nvPr/>
          </p:nvSpPr>
          <p:spPr bwMode="auto">
            <a:xfrm>
              <a:off x="2953" y="1398"/>
              <a:ext cx="2540" cy="127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950" name="Rectangle 342"/>
            <p:cNvSpPr>
              <a:spLocks noChangeArrowheads="1"/>
            </p:cNvSpPr>
            <p:nvPr/>
          </p:nvSpPr>
          <p:spPr bwMode="auto">
            <a:xfrm>
              <a:off x="3152"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51" name="Rectangle 343"/>
            <p:cNvSpPr>
              <a:spLocks noChangeArrowheads="1"/>
            </p:cNvSpPr>
            <p:nvPr/>
          </p:nvSpPr>
          <p:spPr bwMode="auto">
            <a:xfrm>
              <a:off x="3227"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952" name="Rectangle 344"/>
            <p:cNvSpPr>
              <a:spLocks noChangeArrowheads="1"/>
            </p:cNvSpPr>
            <p:nvPr/>
          </p:nvSpPr>
          <p:spPr bwMode="auto">
            <a:xfrm>
              <a:off x="3369"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53" name="Rectangle 345"/>
            <p:cNvSpPr>
              <a:spLocks noChangeArrowheads="1"/>
            </p:cNvSpPr>
            <p:nvPr/>
          </p:nvSpPr>
          <p:spPr bwMode="auto">
            <a:xfrm>
              <a:off x="3444"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54" name="Rectangle 346"/>
            <p:cNvSpPr>
              <a:spLocks noChangeArrowheads="1"/>
            </p:cNvSpPr>
            <p:nvPr/>
          </p:nvSpPr>
          <p:spPr bwMode="auto">
            <a:xfrm>
              <a:off x="3586"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55" name="Rectangle 347"/>
            <p:cNvSpPr>
              <a:spLocks noChangeArrowheads="1"/>
            </p:cNvSpPr>
            <p:nvPr/>
          </p:nvSpPr>
          <p:spPr bwMode="auto">
            <a:xfrm>
              <a:off x="3661"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956" name="Rectangle 348"/>
            <p:cNvSpPr>
              <a:spLocks noChangeArrowheads="1"/>
            </p:cNvSpPr>
            <p:nvPr/>
          </p:nvSpPr>
          <p:spPr bwMode="auto">
            <a:xfrm>
              <a:off x="3803"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57" name="Rectangle 349"/>
            <p:cNvSpPr>
              <a:spLocks noChangeArrowheads="1"/>
            </p:cNvSpPr>
            <p:nvPr/>
          </p:nvSpPr>
          <p:spPr bwMode="auto">
            <a:xfrm>
              <a:off x="3878"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958" name="Rectangle 350"/>
            <p:cNvSpPr>
              <a:spLocks noChangeArrowheads="1"/>
            </p:cNvSpPr>
            <p:nvPr/>
          </p:nvSpPr>
          <p:spPr bwMode="auto">
            <a:xfrm>
              <a:off x="4020"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59" name="Rectangle 351"/>
            <p:cNvSpPr>
              <a:spLocks noChangeArrowheads="1"/>
            </p:cNvSpPr>
            <p:nvPr/>
          </p:nvSpPr>
          <p:spPr bwMode="auto">
            <a:xfrm>
              <a:off x="4095"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960" name="Rectangle 352"/>
            <p:cNvSpPr>
              <a:spLocks noChangeArrowheads="1"/>
            </p:cNvSpPr>
            <p:nvPr/>
          </p:nvSpPr>
          <p:spPr bwMode="auto">
            <a:xfrm>
              <a:off x="4237"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61" name="Rectangle 353"/>
            <p:cNvSpPr>
              <a:spLocks noChangeArrowheads="1"/>
            </p:cNvSpPr>
            <p:nvPr/>
          </p:nvSpPr>
          <p:spPr bwMode="auto">
            <a:xfrm>
              <a:off x="4312"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962" name="Rectangle 354"/>
            <p:cNvSpPr>
              <a:spLocks noChangeArrowheads="1"/>
            </p:cNvSpPr>
            <p:nvPr/>
          </p:nvSpPr>
          <p:spPr bwMode="auto">
            <a:xfrm>
              <a:off x="4454"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63" name="Rectangle 355"/>
            <p:cNvSpPr>
              <a:spLocks noChangeArrowheads="1"/>
            </p:cNvSpPr>
            <p:nvPr/>
          </p:nvSpPr>
          <p:spPr bwMode="auto">
            <a:xfrm>
              <a:off x="4529"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964" name="Rectangle 356"/>
            <p:cNvSpPr>
              <a:spLocks noChangeArrowheads="1"/>
            </p:cNvSpPr>
            <p:nvPr/>
          </p:nvSpPr>
          <p:spPr bwMode="auto">
            <a:xfrm>
              <a:off x="4671"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65" name="Rectangle 357"/>
            <p:cNvSpPr>
              <a:spLocks noChangeArrowheads="1"/>
            </p:cNvSpPr>
            <p:nvPr/>
          </p:nvSpPr>
          <p:spPr bwMode="auto">
            <a:xfrm>
              <a:off x="4746"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966" name="Rectangle 358"/>
            <p:cNvSpPr>
              <a:spLocks noChangeArrowheads="1"/>
            </p:cNvSpPr>
            <p:nvPr/>
          </p:nvSpPr>
          <p:spPr bwMode="auto">
            <a:xfrm>
              <a:off x="3152"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967" name="Rectangle 359"/>
            <p:cNvSpPr>
              <a:spLocks noChangeArrowheads="1"/>
            </p:cNvSpPr>
            <p:nvPr/>
          </p:nvSpPr>
          <p:spPr bwMode="auto">
            <a:xfrm>
              <a:off x="3227"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968" name="Rectangle 360"/>
            <p:cNvSpPr>
              <a:spLocks noChangeArrowheads="1"/>
            </p:cNvSpPr>
            <p:nvPr/>
          </p:nvSpPr>
          <p:spPr bwMode="auto">
            <a:xfrm>
              <a:off x="3369"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969" name="Rectangle 361"/>
            <p:cNvSpPr>
              <a:spLocks noChangeArrowheads="1"/>
            </p:cNvSpPr>
            <p:nvPr/>
          </p:nvSpPr>
          <p:spPr bwMode="auto">
            <a:xfrm>
              <a:off x="3444"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70" name="Rectangle 362"/>
            <p:cNvSpPr>
              <a:spLocks noChangeArrowheads="1"/>
            </p:cNvSpPr>
            <p:nvPr/>
          </p:nvSpPr>
          <p:spPr bwMode="auto">
            <a:xfrm>
              <a:off x="3586"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971" name="Rectangle 363"/>
            <p:cNvSpPr>
              <a:spLocks noChangeArrowheads="1"/>
            </p:cNvSpPr>
            <p:nvPr/>
          </p:nvSpPr>
          <p:spPr bwMode="auto">
            <a:xfrm>
              <a:off x="3661"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972" name="Rectangle 364"/>
            <p:cNvSpPr>
              <a:spLocks noChangeArrowheads="1"/>
            </p:cNvSpPr>
            <p:nvPr/>
          </p:nvSpPr>
          <p:spPr bwMode="auto">
            <a:xfrm>
              <a:off x="3803"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973" name="Rectangle 365"/>
            <p:cNvSpPr>
              <a:spLocks noChangeArrowheads="1"/>
            </p:cNvSpPr>
            <p:nvPr/>
          </p:nvSpPr>
          <p:spPr bwMode="auto">
            <a:xfrm>
              <a:off x="3878"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974" name="Rectangle 366"/>
            <p:cNvSpPr>
              <a:spLocks noChangeArrowheads="1"/>
            </p:cNvSpPr>
            <p:nvPr/>
          </p:nvSpPr>
          <p:spPr bwMode="auto">
            <a:xfrm>
              <a:off x="4020"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975" name="Rectangle 367"/>
            <p:cNvSpPr>
              <a:spLocks noChangeArrowheads="1"/>
            </p:cNvSpPr>
            <p:nvPr/>
          </p:nvSpPr>
          <p:spPr bwMode="auto">
            <a:xfrm>
              <a:off x="4095"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76" name="Rectangle 368"/>
            <p:cNvSpPr>
              <a:spLocks noChangeArrowheads="1"/>
            </p:cNvSpPr>
            <p:nvPr/>
          </p:nvSpPr>
          <p:spPr bwMode="auto">
            <a:xfrm>
              <a:off x="4237"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977" name="Rectangle 369"/>
            <p:cNvSpPr>
              <a:spLocks noChangeArrowheads="1"/>
            </p:cNvSpPr>
            <p:nvPr/>
          </p:nvSpPr>
          <p:spPr bwMode="auto">
            <a:xfrm>
              <a:off x="4312"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78" name="Rectangle 370"/>
            <p:cNvSpPr>
              <a:spLocks noChangeArrowheads="1"/>
            </p:cNvSpPr>
            <p:nvPr/>
          </p:nvSpPr>
          <p:spPr bwMode="auto">
            <a:xfrm>
              <a:off x="4454"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979" name="Rectangle 371"/>
            <p:cNvSpPr>
              <a:spLocks noChangeArrowheads="1"/>
            </p:cNvSpPr>
            <p:nvPr/>
          </p:nvSpPr>
          <p:spPr bwMode="auto">
            <a:xfrm>
              <a:off x="4529"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80" name="Rectangle 372"/>
            <p:cNvSpPr>
              <a:spLocks noChangeArrowheads="1"/>
            </p:cNvSpPr>
            <p:nvPr/>
          </p:nvSpPr>
          <p:spPr bwMode="auto">
            <a:xfrm>
              <a:off x="4671"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981" name="Rectangle 373"/>
            <p:cNvSpPr>
              <a:spLocks noChangeArrowheads="1"/>
            </p:cNvSpPr>
            <p:nvPr/>
          </p:nvSpPr>
          <p:spPr bwMode="auto">
            <a:xfrm>
              <a:off x="4746"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82" name="Line 374"/>
            <p:cNvSpPr>
              <a:spLocks noChangeShapeType="1"/>
            </p:cNvSpPr>
            <p:nvPr/>
          </p:nvSpPr>
          <p:spPr bwMode="auto">
            <a:xfrm>
              <a:off x="3098" y="2123"/>
              <a:ext cx="2177"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983" name="Rectangle 375"/>
            <p:cNvSpPr>
              <a:spLocks noChangeArrowheads="1"/>
            </p:cNvSpPr>
            <p:nvPr/>
          </p:nvSpPr>
          <p:spPr bwMode="auto">
            <a:xfrm>
              <a:off x="3014" y="1733"/>
              <a:ext cx="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solidFill>
                    <a:srgbClr val="000000"/>
                  </a:solidFill>
                  <a:latin typeface="Helvetica" panose="020B0604020202020204" pitchFamily="34" charset="0"/>
                </a:rPr>
                <a:t>+</a:t>
              </a:r>
              <a:endParaRPr lang="en-US"/>
            </a:p>
          </p:txBody>
        </p:sp>
        <p:sp>
          <p:nvSpPr>
            <p:cNvPr id="196984" name="Rectangle 376"/>
            <p:cNvSpPr>
              <a:spLocks noChangeArrowheads="1"/>
            </p:cNvSpPr>
            <p:nvPr/>
          </p:nvSpPr>
          <p:spPr bwMode="auto">
            <a:xfrm>
              <a:off x="3152"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85" name="Rectangle 377"/>
            <p:cNvSpPr>
              <a:spLocks noChangeArrowheads="1"/>
            </p:cNvSpPr>
            <p:nvPr/>
          </p:nvSpPr>
          <p:spPr bwMode="auto">
            <a:xfrm>
              <a:off x="3227"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86" name="Rectangle 378"/>
            <p:cNvSpPr>
              <a:spLocks noChangeArrowheads="1"/>
            </p:cNvSpPr>
            <p:nvPr/>
          </p:nvSpPr>
          <p:spPr bwMode="auto">
            <a:xfrm>
              <a:off x="3369"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87" name="Rectangle 379"/>
            <p:cNvSpPr>
              <a:spLocks noChangeArrowheads="1"/>
            </p:cNvSpPr>
            <p:nvPr/>
          </p:nvSpPr>
          <p:spPr bwMode="auto">
            <a:xfrm>
              <a:off x="3444"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988" name="Rectangle 380"/>
            <p:cNvSpPr>
              <a:spLocks noChangeArrowheads="1"/>
            </p:cNvSpPr>
            <p:nvPr/>
          </p:nvSpPr>
          <p:spPr bwMode="auto">
            <a:xfrm>
              <a:off x="3586"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89" name="Rectangle 381"/>
            <p:cNvSpPr>
              <a:spLocks noChangeArrowheads="1"/>
            </p:cNvSpPr>
            <p:nvPr/>
          </p:nvSpPr>
          <p:spPr bwMode="auto">
            <a:xfrm>
              <a:off x="3661"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990" name="Rectangle 382"/>
            <p:cNvSpPr>
              <a:spLocks noChangeArrowheads="1"/>
            </p:cNvSpPr>
            <p:nvPr/>
          </p:nvSpPr>
          <p:spPr bwMode="auto">
            <a:xfrm>
              <a:off x="3803"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91" name="Rectangle 383"/>
            <p:cNvSpPr>
              <a:spLocks noChangeArrowheads="1"/>
            </p:cNvSpPr>
            <p:nvPr/>
          </p:nvSpPr>
          <p:spPr bwMode="auto">
            <a:xfrm>
              <a:off x="3878"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992" name="Rectangle 384"/>
            <p:cNvSpPr>
              <a:spLocks noChangeArrowheads="1"/>
            </p:cNvSpPr>
            <p:nvPr/>
          </p:nvSpPr>
          <p:spPr bwMode="auto">
            <a:xfrm>
              <a:off x="4020"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93" name="Rectangle 385"/>
            <p:cNvSpPr>
              <a:spLocks noChangeArrowheads="1"/>
            </p:cNvSpPr>
            <p:nvPr/>
          </p:nvSpPr>
          <p:spPr bwMode="auto">
            <a:xfrm>
              <a:off x="4095"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94" name="Rectangle 386"/>
            <p:cNvSpPr>
              <a:spLocks noChangeArrowheads="1"/>
            </p:cNvSpPr>
            <p:nvPr/>
          </p:nvSpPr>
          <p:spPr bwMode="auto">
            <a:xfrm>
              <a:off x="4237"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95" name="Rectangle 387"/>
            <p:cNvSpPr>
              <a:spLocks noChangeArrowheads="1"/>
            </p:cNvSpPr>
            <p:nvPr/>
          </p:nvSpPr>
          <p:spPr bwMode="auto">
            <a:xfrm>
              <a:off x="4312"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96" name="Rectangle 388"/>
            <p:cNvSpPr>
              <a:spLocks noChangeArrowheads="1"/>
            </p:cNvSpPr>
            <p:nvPr/>
          </p:nvSpPr>
          <p:spPr bwMode="auto">
            <a:xfrm>
              <a:off x="4454"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97" name="Rectangle 389"/>
            <p:cNvSpPr>
              <a:spLocks noChangeArrowheads="1"/>
            </p:cNvSpPr>
            <p:nvPr/>
          </p:nvSpPr>
          <p:spPr bwMode="auto">
            <a:xfrm>
              <a:off x="4529"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98" name="Rectangle 390"/>
            <p:cNvSpPr>
              <a:spLocks noChangeArrowheads="1"/>
            </p:cNvSpPr>
            <p:nvPr/>
          </p:nvSpPr>
          <p:spPr bwMode="auto">
            <a:xfrm>
              <a:off x="4671"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99" name="Rectangle 391"/>
            <p:cNvSpPr>
              <a:spLocks noChangeArrowheads="1"/>
            </p:cNvSpPr>
            <p:nvPr/>
          </p:nvSpPr>
          <p:spPr bwMode="auto">
            <a:xfrm>
              <a:off x="4746"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7000" name="Rectangle 392"/>
            <p:cNvSpPr>
              <a:spLocks noChangeArrowheads="1"/>
            </p:cNvSpPr>
            <p:nvPr/>
          </p:nvSpPr>
          <p:spPr bwMode="auto">
            <a:xfrm>
              <a:off x="4095" y="1434"/>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b="1"/>
            </a:p>
          </p:txBody>
        </p:sp>
        <p:sp>
          <p:nvSpPr>
            <p:cNvPr id="197001" name="Rectangle 393"/>
            <p:cNvSpPr>
              <a:spLocks noChangeArrowheads="1"/>
            </p:cNvSpPr>
            <p:nvPr/>
          </p:nvSpPr>
          <p:spPr bwMode="auto">
            <a:xfrm>
              <a:off x="4913" y="1616"/>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500">
                  <a:solidFill>
                    <a:srgbClr val="000000"/>
                  </a:solidFill>
                  <a:latin typeface="Helvetica" panose="020B0604020202020204" pitchFamily="34" charset="0"/>
                </a:rPr>
                <a:t>79</a:t>
              </a:r>
              <a:endParaRPr lang="en-US"/>
            </a:p>
          </p:txBody>
        </p:sp>
        <p:sp>
          <p:nvSpPr>
            <p:cNvPr id="197002" name="Rectangle 394"/>
            <p:cNvSpPr>
              <a:spLocks noChangeArrowheads="1"/>
            </p:cNvSpPr>
            <p:nvPr/>
          </p:nvSpPr>
          <p:spPr bwMode="auto">
            <a:xfrm>
              <a:off x="4913" y="1894"/>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500">
                  <a:solidFill>
                    <a:srgbClr val="000000"/>
                  </a:solidFill>
                  <a:latin typeface="Helvetica" panose="020B0604020202020204" pitchFamily="34" charset="0"/>
                </a:rPr>
                <a:t>64</a:t>
              </a:r>
              <a:endParaRPr lang="en-US"/>
            </a:p>
          </p:txBody>
        </p:sp>
        <p:sp>
          <p:nvSpPr>
            <p:cNvPr id="197003" name="Rectangle 395"/>
            <p:cNvSpPr>
              <a:spLocks noChangeArrowheads="1"/>
            </p:cNvSpPr>
            <p:nvPr/>
          </p:nvSpPr>
          <p:spPr bwMode="auto">
            <a:xfrm>
              <a:off x="4913" y="2198"/>
              <a:ext cx="50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500">
                  <a:solidFill>
                    <a:srgbClr val="000000"/>
                  </a:solidFill>
                  <a:latin typeface="Helvetica" panose="020B0604020202020204" pitchFamily="34" charset="0"/>
                </a:rPr>
                <a:t>143</a:t>
              </a:r>
            </a:p>
            <a:p>
              <a:pPr algn="ctr"/>
              <a:r>
                <a:rPr lang="en-US" sz="1500">
                  <a:solidFill>
                    <a:srgbClr val="000000"/>
                  </a:solidFill>
                  <a:latin typeface="Helvetica" panose="020B0604020202020204" pitchFamily="34" charset="0"/>
                </a:rPr>
                <a:t>(-113)</a:t>
              </a:r>
              <a:endParaRPr lang="en-US"/>
            </a:p>
          </p:txBody>
        </p:sp>
        <p:sp>
          <p:nvSpPr>
            <p:cNvPr id="197004" name="Rectangle 396"/>
            <p:cNvSpPr>
              <a:spLocks noChangeArrowheads="1"/>
            </p:cNvSpPr>
            <p:nvPr/>
          </p:nvSpPr>
          <p:spPr bwMode="auto">
            <a:xfrm>
              <a:off x="3062" y="2464"/>
              <a:ext cx="185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600">
                  <a:solidFill>
                    <a:srgbClr val="000000"/>
                  </a:solidFill>
                  <a:latin typeface="Helvetica" panose="020B0604020202020204" pitchFamily="34" charset="0"/>
                </a:rPr>
                <a:t>Carry = 0    Overflow = 1</a:t>
              </a:r>
              <a:endParaRPr lang="en-US" sz="1600"/>
            </a:p>
          </p:txBody>
        </p:sp>
        <p:sp>
          <p:nvSpPr>
            <p:cNvPr id="197005" name="Rectangle 397"/>
            <p:cNvSpPr>
              <a:spLocks noChangeArrowheads="1"/>
            </p:cNvSpPr>
            <p:nvPr/>
          </p:nvSpPr>
          <p:spPr bwMode="auto">
            <a:xfrm>
              <a:off x="4315" y="1434"/>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b="1"/>
            </a:p>
          </p:txBody>
        </p:sp>
        <p:sp>
          <p:nvSpPr>
            <p:cNvPr id="197006" name="Rectangle 398"/>
            <p:cNvSpPr>
              <a:spLocks noChangeArrowheads="1"/>
            </p:cNvSpPr>
            <p:nvPr/>
          </p:nvSpPr>
          <p:spPr bwMode="auto">
            <a:xfrm>
              <a:off x="4535" y="1434"/>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b="1"/>
            </a:p>
          </p:txBody>
        </p:sp>
        <p:sp>
          <p:nvSpPr>
            <p:cNvPr id="197007" name="Rectangle 399"/>
            <p:cNvSpPr>
              <a:spLocks noChangeArrowheads="1"/>
            </p:cNvSpPr>
            <p:nvPr/>
          </p:nvSpPr>
          <p:spPr bwMode="auto">
            <a:xfrm>
              <a:off x="3880" y="1434"/>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b="1"/>
            </a:p>
          </p:txBody>
        </p:sp>
        <p:sp>
          <p:nvSpPr>
            <p:cNvPr id="197008" name="Rectangle 400"/>
            <p:cNvSpPr>
              <a:spLocks noChangeArrowheads="1"/>
            </p:cNvSpPr>
            <p:nvPr/>
          </p:nvSpPr>
          <p:spPr bwMode="auto">
            <a:xfrm>
              <a:off x="3662" y="1434"/>
              <a:ext cx="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sz="1200" b="1"/>
            </a:p>
          </p:txBody>
        </p:sp>
        <p:sp>
          <p:nvSpPr>
            <p:cNvPr id="197009" name="Rectangle 401"/>
            <p:cNvSpPr>
              <a:spLocks noChangeArrowheads="1"/>
            </p:cNvSpPr>
            <p:nvPr/>
          </p:nvSpPr>
          <p:spPr bwMode="auto">
            <a:xfrm>
              <a:off x="3444" y="1434"/>
              <a:ext cx="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sz="1200" b="1"/>
            </a:p>
          </p:txBody>
        </p:sp>
        <p:sp>
          <p:nvSpPr>
            <p:cNvPr id="197010" name="Rectangle 402"/>
            <p:cNvSpPr>
              <a:spLocks noChangeArrowheads="1"/>
            </p:cNvSpPr>
            <p:nvPr/>
          </p:nvSpPr>
          <p:spPr bwMode="auto">
            <a:xfrm>
              <a:off x="3226" y="1434"/>
              <a:ext cx="4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t>1</a:t>
              </a:r>
            </a:p>
          </p:txBody>
        </p:sp>
        <p:sp>
          <p:nvSpPr>
            <p:cNvPr id="197011" name="Rectangle 403"/>
            <p:cNvSpPr>
              <a:spLocks noChangeArrowheads="1"/>
            </p:cNvSpPr>
            <p:nvPr/>
          </p:nvSpPr>
          <p:spPr bwMode="auto">
            <a:xfrm>
              <a:off x="3026" y="1434"/>
              <a:ext cx="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sz="1200" b="1"/>
            </a:p>
          </p:txBody>
        </p:sp>
      </p:grpSp>
      <p:grpSp>
        <p:nvGrpSpPr>
          <p:cNvPr id="196884" name="Group 276"/>
          <p:cNvGrpSpPr>
            <a:grpSpLocks/>
          </p:cNvGrpSpPr>
          <p:nvPr/>
        </p:nvGrpSpPr>
        <p:grpSpPr bwMode="auto">
          <a:xfrm>
            <a:off x="6153150" y="4235451"/>
            <a:ext cx="4032250" cy="2016125"/>
            <a:chOff x="2953" y="1398"/>
            <a:chExt cx="2540" cy="1270"/>
          </a:xfrm>
        </p:grpSpPr>
        <p:sp>
          <p:nvSpPr>
            <p:cNvPr id="196885" name="AutoShape 277"/>
            <p:cNvSpPr>
              <a:spLocks noChangeAspect="1" noChangeArrowheads="1" noTextEdit="1"/>
            </p:cNvSpPr>
            <p:nvPr/>
          </p:nvSpPr>
          <p:spPr bwMode="auto">
            <a:xfrm>
              <a:off x="2953" y="1398"/>
              <a:ext cx="2540" cy="127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886" name="Rectangle 278"/>
            <p:cNvSpPr>
              <a:spLocks noChangeArrowheads="1"/>
            </p:cNvSpPr>
            <p:nvPr/>
          </p:nvSpPr>
          <p:spPr bwMode="auto">
            <a:xfrm>
              <a:off x="3152"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887" name="Rectangle 279"/>
            <p:cNvSpPr>
              <a:spLocks noChangeArrowheads="1"/>
            </p:cNvSpPr>
            <p:nvPr/>
          </p:nvSpPr>
          <p:spPr bwMode="auto">
            <a:xfrm>
              <a:off x="3227"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888" name="Rectangle 280"/>
            <p:cNvSpPr>
              <a:spLocks noChangeArrowheads="1"/>
            </p:cNvSpPr>
            <p:nvPr/>
          </p:nvSpPr>
          <p:spPr bwMode="auto">
            <a:xfrm>
              <a:off x="3369"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889" name="Rectangle 281"/>
            <p:cNvSpPr>
              <a:spLocks noChangeArrowheads="1"/>
            </p:cNvSpPr>
            <p:nvPr/>
          </p:nvSpPr>
          <p:spPr bwMode="auto">
            <a:xfrm>
              <a:off x="3444"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890" name="Rectangle 282"/>
            <p:cNvSpPr>
              <a:spLocks noChangeArrowheads="1"/>
            </p:cNvSpPr>
            <p:nvPr/>
          </p:nvSpPr>
          <p:spPr bwMode="auto">
            <a:xfrm>
              <a:off x="3586"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891" name="Rectangle 283"/>
            <p:cNvSpPr>
              <a:spLocks noChangeArrowheads="1"/>
            </p:cNvSpPr>
            <p:nvPr/>
          </p:nvSpPr>
          <p:spPr bwMode="auto">
            <a:xfrm>
              <a:off x="3661"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892" name="Rectangle 284"/>
            <p:cNvSpPr>
              <a:spLocks noChangeArrowheads="1"/>
            </p:cNvSpPr>
            <p:nvPr/>
          </p:nvSpPr>
          <p:spPr bwMode="auto">
            <a:xfrm>
              <a:off x="3803"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893" name="Rectangle 285"/>
            <p:cNvSpPr>
              <a:spLocks noChangeArrowheads="1"/>
            </p:cNvSpPr>
            <p:nvPr/>
          </p:nvSpPr>
          <p:spPr bwMode="auto">
            <a:xfrm>
              <a:off x="3878"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894" name="Rectangle 286"/>
            <p:cNvSpPr>
              <a:spLocks noChangeArrowheads="1"/>
            </p:cNvSpPr>
            <p:nvPr/>
          </p:nvSpPr>
          <p:spPr bwMode="auto">
            <a:xfrm>
              <a:off x="4020"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895" name="Rectangle 287"/>
            <p:cNvSpPr>
              <a:spLocks noChangeArrowheads="1"/>
            </p:cNvSpPr>
            <p:nvPr/>
          </p:nvSpPr>
          <p:spPr bwMode="auto">
            <a:xfrm>
              <a:off x="4095"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896" name="Rectangle 288"/>
            <p:cNvSpPr>
              <a:spLocks noChangeArrowheads="1"/>
            </p:cNvSpPr>
            <p:nvPr/>
          </p:nvSpPr>
          <p:spPr bwMode="auto">
            <a:xfrm>
              <a:off x="4237"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897" name="Rectangle 289"/>
            <p:cNvSpPr>
              <a:spLocks noChangeArrowheads="1"/>
            </p:cNvSpPr>
            <p:nvPr/>
          </p:nvSpPr>
          <p:spPr bwMode="auto">
            <a:xfrm>
              <a:off x="4312"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898" name="Rectangle 290"/>
            <p:cNvSpPr>
              <a:spLocks noChangeArrowheads="1"/>
            </p:cNvSpPr>
            <p:nvPr/>
          </p:nvSpPr>
          <p:spPr bwMode="auto">
            <a:xfrm>
              <a:off x="4454"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899" name="Rectangle 291"/>
            <p:cNvSpPr>
              <a:spLocks noChangeArrowheads="1"/>
            </p:cNvSpPr>
            <p:nvPr/>
          </p:nvSpPr>
          <p:spPr bwMode="auto">
            <a:xfrm>
              <a:off x="4529"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900" name="Rectangle 292"/>
            <p:cNvSpPr>
              <a:spLocks noChangeArrowheads="1"/>
            </p:cNvSpPr>
            <p:nvPr/>
          </p:nvSpPr>
          <p:spPr bwMode="auto">
            <a:xfrm>
              <a:off x="4671"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01" name="Rectangle 293"/>
            <p:cNvSpPr>
              <a:spLocks noChangeArrowheads="1"/>
            </p:cNvSpPr>
            <p:nvPr/>
          </p:nvSpPr>
          <p:spPr bwMode="auto">
            <a:xfrm>
              <a:off x="4746"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02" name="Rectangle 294"/>
            <p:cNvSpPr>
              <a:spLocks noChangeArrowheads="1"/>
            </p:cNvSpPr>
            <p:nvPr/>
          </p:nvSpPr>
          <p:spPr bwMode="auto">
            <a:xfrm>
              <a:off x="3152"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903" name="Rectangle 295"/>
            <p:cNvSpPr>
              <a:spLocks noChangeArrowheads="1"/>
            </p:cNvSpPr>
            <p:nvPr/>
          </p:nvSpPr>
          <p:spPr bwMode="auto">
            <a:xfrm>
              <a:off x="3227"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04" name="Rectangle 296"/>
            <p:cNvSpPr>
              <a:spLocks noChangeArrowheads="1"/>
            </p:cNvSpPr>
            <p:nvPr/>
          </p:nvSpPr>
          <p:spPr bwMode="auto">
            <a:xfrm>
              <a:off x="3369"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905" name="Rectangle 297"/>
            <p:cNvSpPr>
              <a:spLocks noChangeArrowheads="1"/>
            </p:cNvSpPr>
            <p:nvPr/>
          </p:nvSpPr>
          <p:spPr bwMode="auto">
            <a:xfrm>
              <a:off x="3444"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06" name="Rectangle 298"/>
            <p:cNvSpPr>
              <a:spLocks noChangeArrowheads="1"/>
            </p:cNvSpPr>
            <p:nvPr/>
          </p:nvSpPr>
          <p:spPr bwMode="auto">
            <a:xfrm>
              <a:off x="3586"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907" name="Rectangle 299"/>
            <p:cNvSpPr>
              <a:spLocks noChangeArrowheads="1"/>
            </p:cNvSpPr>
            <p:nvPr/>
          </p:nvSpPr>
          <p:spPr bwMode="auto">
            <a:xfrm>
              <a:off x="3661"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908" name="Rectangle 300"/>
            <p:cNvSpPr>
              <a:spLocks noChangeArrowheads="1"/>
            </p:cNvSpPr>
            <p:nvPr/>
          </p:nvSpPr>
          <p:spPr bwMode="auto">
            <a:xfrm>
              <a:off x="3803"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909" name="Rectangle 301"/>
            <p:cNvSpPr>
              <a:spLocks noChangeArrowheads="1"/>
            </p:cNvSpPr>
            <p:nvPr/>
          </p:nvSpPr>
          <p:spPr bwMode="auto">
            <a:xfrm>
              <a:off x="3878"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10" name="Rectangle 302"/>
            <p:cNvSpPr>
              <a:spLocks noChangeArrowheads="1"/>
            </p:cNvSpPr>
            <p:nvPr/>
          </p:nvSpPr>
          <p:spPr bwMode="auto">
            <a:xfrm>
              <a:off x="4020"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911" name="Rectangle 303"/>
            <p:cNvSpPr>
              <a:spLocks noChangeArrowheads="1"/>
            </p:cNvSpPr>
            <p:nvPr/>
          </p:nvSpPr>
          <p:spPr bwMode="auto">
            <a:xfrm>
              <a:off x="4095"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12" name="Rectangle 304"/>
            <p:cNvSpPr>
              <a:spLocks noChangeArrowheads="1"/>
            </p:cNvSpPr>
            <p:nvPr/>
          </p:nvSpPr>
          <p:spPr bwMode="auto">
            <a:xfrm>
              <a:off x="4237"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913" name="Rectangle 305"/>
            <p:cNvSpPr>
              <a:spLocks noChangeArrowheads="1"/>
            </p:cNvSpPr>
            <p:nvPr/>
          </p:nvSpPr>
          <p:spPr bwMode="auto">
            <a:xfrm>
              <a:off x="4312"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914" name="Rectangle 306"/>
            <p:cNvSpPr>
              <a:spLocks noChangeArrowheads="1"/>
            </p:cNvSpPr>
            <p:nvPr/>
          </p:nvSpPr>
          <p:spPr bwMode="auto">
            <a:xfrm>
              <a:off x="4454"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915" name="Rectangle 307"/>
            <p:cNvSpPr>
              <a:spLocks noChangeArrowheads="1"/>
            </p:cNvSpPr>
            <p:nvPr/>
          </p:nvSpPr>
          <p:spPr bwMode="auto">
            <a:xfrm>
              <a:off x="4529"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16" name="Rectangle 308"/>
            <p:cNvSpPr>
              <a:spLocks noChangeArrowheads="1"/>
            </p:cNvSpPr>
            <p:nvPr/>
          </p:nvSpPr>
          <p:spPr bwMode="auto">
            <a:xfrm>
              <a:off x="4671"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917" name="Rectangle 309"/>
            <p:cNvSpPr>
              <a:spLocks noChangeArrowheads="1"/>
            </p:cNvSpPr>
            <p:nvPr/>
          </p:nvSpPr>
          <p:spPr bwMode="auto">
            <a:xfrm>
              <a:off x="4746"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918" name="Line 310"/>
            <p:cNvSpPr>
              <a:spLocks noChangeShapeType="1"/>
            </p:cNvSpPr>
            <p:nvPr/>
          </p:nvSpPr>
          <p:spPr bwMode="auto">
            <a:xfrm>
              <a:off x="3098" y="2123"/>
              <a:ext cx="2177"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919" name="Rectangle 311"/>
            <p:cNvSpPr>
              <a:spLocks noChangeArrowheads="1"/>
            </p:cNvSpPr>
            <p:nvPr/>
          </p:nvSpPr>
          <p:spPr bwMode="auto">
            <a:xfrm>
              <a:off x="3014" y="1733"/>
              <a:ext cx="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solidFill>
                    <a:srgbClr val="000000"/>
                  </a:solidFill>
                  <a:latin typeface="Helvetica" panose="020B0604020202020204" pitchFamily="34" charset="0"/>
                </a:rPr>
                <a:t>+</a:t>
              </a:r>
              <a:endParaRPr lang="en-US"/>
            </a:p>
          </p:txBody>
        </p:sp>
        <p:sp>
          <p:nvSpPr>
            <p:cNvPr id="196920" name="Rectangle 312"/>
            <p:cNvSpPr>
              <a:spLocks noChangeArrowheads="1"/>
            </p:cNvSpPr>
            <p:nvPr/>
          </p:nvSpPr>
          <p:spPr bwMode="auto">
            <a:xfrm>
              <a:off x="3152"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21" name="Rectangle 313"/>
            <p:cNvSpPr>
              <a:spLocks noChangeArrowheads="1"/>
            </p:cNvSpPr>
            <p:nvPr/>
          </p:nvSpPr>
          <p:spPr bwMode="auto">
            <a:xfrm>
              <a:off x="3227"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922" name="Rectangle 314"/>
            <p:cNvSpPr>
              <a:spLocks noChangeArrowheads="1"/>
            </p:cNvSpPr>
            <p:nvPr/>
          </p:nvSpPr>
          <p:spPr bwMode="auto">
            <a:xfrm>
              <a:off x="3369"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23" name="Rectangle 315"/>
            <p:cNvSpPr>
              <a:spLocks noChangeArrowheads="1"/>
            </p:cNvSpPr>
            <p:nvPr/>
          </p:nvSpPr>
          <p:spPr bwMode="auto">
            <a:xfrm>
              <a:off x="3444"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24" name="Rectangle 316"/>
            <p:cNvSpPr>
              <a:spLocks noChangeArrowheads="1"/>
            </p:cNvSpPr>
            <p:nvPr/>
          </p:nvSpPr>
          <p:spPr bwMode="auto">
            <a:xfrm>
              <a:off x="3586"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25" name="Rectangle 317"/>
            <p:cNvSpPr>
              <a:spLocks noChangeArrowheads="1"/>
            </p:cNvSpPr>
            <p:nvPr/>
          </p:nvSpPr>
          <p:spPr bwMode="auto">
            <a:xfrm>
              <a:off x="3661"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26" name="Rectangle 318"/>
            <p:cNvSpPr>
              <a:spLocks noChangeArrowheads="1"/>
            </p:cNvSpPr>
            <p:nvPr/>
          </p:nvSpPr>
          <p:spPr bwMode="auto">
            <a:xfrm>
              <a:off x="3803"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27" name="Rectangle 319"/>
            <p:cNvSpPr>
              <a:spLocks noChangeArrowheads="1"/>
            </p:cNvSpPr>
            <p:nvPr/>
          </p:nvSpPr>
          <p:spPr bwMode="auto">
            <a:xfrm>
              <a:off x="3878"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28" name="Rectangle 320"/>
            <p:cNvSpPr>
              <a:spLocks noChangeArrowheads="1"/>
            </p:cNvSpPr>
            <p:nvPr/>
          </p:nvSpPr>
          <p:spPr bwMode="auto">
            <a:xfrm>
              <a:off x="4020"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29" name="Rectangle 321"/>
            <p:cNvSpPr>
              <a:spLocks noChangeArrowheads="1"/>
            </p:cNvSpPr>
            <p:nvPr/>
          </p:nvSpPr>
          <p:spPr bwMode="auto">
            <a:xfrm>
              <a:off x="4095"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930" name="Rectangle 322"/>
            <p:cNvSpPr>
              <a:spLocks noChangeArrowheads="1"/>
            </p:cNvSpPr>
            <p:nvPr/>
          </p:nvSpPr>
          <p:spPr bwMode="auto">
            <a:xfrm>
              <a:off x="4237"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31" name="Rectangle 323"/>
            <p:cNvSpPr>
              <a:spLocks noChangeArrowheads="1"/>
            </p:cNvSpPr>
            <p:nvPr/>
          </p:nvSpPr>
          <p:spPr bwMode="auto">
            <a:xfrm>
              <a:off x="4312"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32" name="Rectangle 324"/>
            <p:cNvSpPr>
              <a:spLocks noChangeArrowheads="1"/>
            </p:cNvSpPr>
            <p:nvPr/>
          </p:nvSpPr>
          <p:spPr bwMode="auto">
            <a:xfrm>
              <a:off x="4454"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33" name="Rectangle 325"/>
            <p:cNvSpPr>
              <a:spLocks noChangeArrowheads="1"/>
            </p:cNvSpPr>
            <p:nvPr/>
          </p:nvSpPr>
          <p:spPr bwMode="auto">
            <a:xfrm>
              <a:off x="4529"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34" name="Rectangle 326"/>
            <p:cNvSpPr>
              <a:spLocks noChangeArrowheads="1"/>
            </p:cNvSpPr>
            <p:nvPr/>
          </p:nvSpPr>
          <p:spPr bwMode="auto">
            <a:xfrm>
              <a:off x="4671"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935" name="Rectangle 327"/>
            <p:cNvSpPr>
              <a:spLocks noChangeArrowheads="1"/>
            </p:cNvSpPr>
            <p:nvPr/>
          </p:nvSpPr>
          <p:spPr bwMode="auto">
            <a:xfrm>
              <a:off x="4746"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936" name="Rectangle 328"/>
            <p:cNvSpPr>
              <a:spLocks noChangeArrowheads="1"/>
            </p:cNvSpPr>
            <p:nvPr/>
          </p:nvSpPr>
          <p:spPr bwMode="auto">
            <a:xfrm>
              <a:off x="4095" y="1434"/>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b="1"/>
            </a:p>
          </p:txBody>
        </p:sp>
        <p:sp>
          <p:nvSpPr>
            <p:cNvPr id="196937" name="Rectangle 329"/>
            <p:cNvSpPr>
              <a:spLocks noChangeArrowheads="1"/>
            </p:cNvSpPr>
            <p:nvPr/>
          </p:nvSpPr>
          <p:spPr bwMode="auto">
            <a:xfrm>
              <a:off x="4913" y="1616"/>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500">
                  <a:solidFill>
                    <a:srgbClr val="000000"/>
                  </a:solidFill>
                  <a:latin typeface="Helvetica" panose="020B0604020202020204" pitchFamily="34" charset="0"/>
                </a:rPr>
                <a:t>218 (-38)</a:t>
              </a:r>
              <a:endParaRPr lang="en-US"/>
            </a:p>
          </p:txBody>
        </p:sp>
        <p:sp>
          <p:nvSpPr>
            <p:cNvPr id="196938" name="Rectangle 330"/>
            <p:cNvSpPr>
              <a:spLocks noChangeArrowheads="1"/>
            </p:cNvSpPr>
            <p:nvPr/>
          </p:nvSpPr>
          <p:spPr bwMode="auto">
            <a:xfrm>
              <a:off x="4913" y="1894"/>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500">
                  <a:solidFill>
                    <a:srgbClr val="000000"/>
                  </a:solidFill>
                  <a:latin typeface="Helvetica" panose="020B0604020202020204" pitchFamily="34" charset="0"/>
                </a:rPr>
                <a:t>157 (-99)</a:t>
              </a:r>
              <a:endParaRPr lang="en-US"/>
            </a:p>
          </p:txBody>
        </p:sp>
        <p:sp>
          <p:nvSpPr>
            <p:cNvPr id="196939" name="Rectangle 331"/>
            <p:cNvSpPr>
              <a:spLocks noChangeArrowheads="1"/>
            </p:cNvSpPr>
            <p:nvPr/>
          </p:nvSpPr>
          <p:spPr bwMode="auto">
            <a:xfrm>
              <a:off x="4913" y="2198"/>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500">
                  <a:solidFill>
                    <a:srgbClr val="000000"/>
                  </a:solidFill>
                  <a:latin typeface="Helvetica" panose="020B0604020202020204" pitchFamily="34" charset="0"/>
                </a:rPr>
                <a:t>119</a:t>
              </a:r>
              <a:endParaRPr lang="en-US"/>
            </a:p>
          </p:txBody>
        </p:sp>
        <p:sp>
          <p:nvSpPr>
            <p:cNvPr id="196940" name="Rectangle 332"/>
            <p:cNvSpPr>
              <a:spLocks noChangeArrowheads="1"/>
            </p:cNvSpPr>
            <p:nvPr/>
          </p:nvSpPr>
          <p:spPr bwMode="auto">
            <a:xfrm>
              <a:off x="3062" y="2464"/>
              <a:ext cx="185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600">
                  <a:solidFill>
                    <a:srgbClr val="000000"/>
                  </a:solidFill>
                  <a:latin typeface="Helvetica" panose="020B0604020202020204" pitchFamily="34" charset="0"/>
                </a:rPr>
                <a:t>Carry = 1    Overflow = 1</a:t>
              </a:r>
              <a:endParaRPr lang="en-US" sz="1600"/>
            </a:p>
          </p:txBody>
        </p:sp>
        <p:sp>
          <p:nvSpPr>
            <p:cNvPr id="196941" name="Rectangle 333"/>
            <p:cNvSpPr>
              <a:spLocks noChangeArrowheads="1"/>
            </p:cNvSpPr>
            <p:nvPr/>
          </p:nvSpPr>
          <p:spPr bwMode="auto">
            <a:xfrm>
              <a:off x="4315" y="1434"/>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b="1"/>
            </a:p>
          </p:txBody>
        </p:sp>
        <p:sp>
          <p:nvSpPr>
            <p:cNvPr id="196942" name="Rectangle 334"/>
            <p:cNvSpPr>
              <a:spLocks noChangeArrowheads="1"/>
            </p:cNvSpPr>
            <p:nvPr/>
          </p:nvSpPr>
          <p:spPr bwMode="auto">
            <a:xfrm>
              <a:off x="4535" y="1434"/>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b="1"/>
            </a:p>
          </p:txBody>
        </p:sp>
        <p:sp>
          <p:nvSpPr>
            <p:cNvPr id="196943" name="Rectangle 335"/>
            <p:cNvSpPr>
              <a:spLocks noChangeArrowheads="1"/>
            </p:cNvSpPr>
            <p:nvPr/>
          </p:nvSpPr>
          <p:spPr bwMode="auto">
            <a:xfrm>
              <a:off x="3880" y="1434"/>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solidFill>
                    <a:srgbClr val="000000"/>
                  </a:solidFill>
                  <a:latin typeface="Helvetica" panose="020B0604020202020204" pitchFamily="34" charset="0"/>
                </a:rPr>
                <a:t>1</a:t>
              </a:r>
              <a:endParaRPr lang="en-US" b="1"/>
            </a:p>
          </p:txBody>
        </p:sp>
        <p:sp>
          <p:nvSpPr>
            <p:cNvPr id="196944" name="Rectangle 336"/>
            <p:cNvSpPr>
              <a:spLocks noChangeArrowheads="1"/>
            </p:cNvSpPr>
            <p:nvPr/>
          </p:nvSpPr>
          <p:spPr bwMode="auto">
            <a:xfrm>
              <a:off x="3662" y="1434"/>
              <a:ext cx="4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t>1</a:t>
              </a:r>
            </a:p>
          </p:txBody>
        </p:sp>
        <p:sp>
          <p:nvSpPr>
            <p:cNvPr id="196945" name="Rectangle 337"/>
            <p:cNvSpPr>
              <a:spLocks noChangeArrowheads="1"/>
            </p:cNvSpPr>
            <p:nvPr/>
          </p:nvSpPr>
          <p:spPr bwMode="auto">
            <a:xfrm>
              <a:off x="3444" y="1434"/>
              <a:ext cx="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sz="1200" b="1"/>
            </a:p>
          </p:txBody>
        </p:sp>
        <p:sp>
          <p:nvSpPr>
            <p:cNvPr id="196946" name="Rectangle 338"/>
            <p:cNvSpPr>
              <a:spLocks noChangeArrowheads="1"/>
            </p:cNvSpPr>
            <p:nvPr/>
          </p:nvSpPr>
          <p:spPr bwMode="auto">
            <a:xfrm>
              <a:off x="3226" y="1434"/>
              <a:ext cx="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sz="1200" b="1"/>
            </a:p>
          </p:txBody>
        </p:sp>
        <p:sp>
          <p:nvSpPr>
            <p:cNvPr id="196947" name="Rectangle 339"/>
            <p:cNvSpPr>
              <a:spLocks noChangeArrowheads="1"/>
            </p:cNvSpPr>
            <p:nvPr/>
          </p:nvSpPr>
          <p:spPr bwMode="auto">
            <a:xfrm>
              <a:off x="3026" y="1434"/>
              <a:ext cx="4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t>1</a:t>
              </a:r>
            </a:p>
          </p:txBody>
        </p:sp>
      </p:grpSp>
      <p:sp>
        <p:nvSpPr>
          <p:cNvPr id="196610" name="Rectangle 2"/>
          <p:cNvSpPr>
            <a:spLocks noGrp="1" noChangeArrowheads="1"/>
          </p:cNvSpPr>
          <p:nvPr>
            <p:ph type="title"/>
          </p:nvPr>
        </p:nvSpPr>
        <p:spPr>
          <a:xfrm>
            <a:off x="665163" y="-38892"/>
            <a:ext cx="10515600" cy="891380"/>
          </a:xfrm>
        </p:spPr>
        <p:txBody>
          <a:bodyPr/>
          <a:lstStyle/>
          <a:p>
            <a:r>
              <a:rPr lang="en-US" dirty="0">
                <a:solidFill>
                  <a:srgbClr val="FF0000"/>
                </a:solidFill>
                <a:latin typeface="Comic Sans MS" panose="030F0702030302020204" pitchFamily="66" charset="0"/>
              </a:rPr>
              <a:t>Carry and Overflow Examples</a:t>
            </a:r>
          </a:p>
        </p:txBody>
      </p:sp>
      <p:sp>
        <p:nvSpPr>
          <p:cNvPr id="196611" name="Rectangle 3"/>
          <p:cNvSpPr>
            <a:spLocks noGrp="1" noChangeArrowheads="1"/>
          </p:cNvSpPr>
          <p:nvPr>
            <p:ph type="body" idx="1"/>
          </p:nvPr>
        </p:nvSpPr>
        <p:spPr>
          <a:xfrm>
            <a:off x="1981200" y="1143000"/>
            <a:ext cx="8229600" cy="903288"/>
          </a:xfrm>
          <a:noFill/>
          <a:ln/>
        </p:spPr>
        <p:txBody>
          <a:bodyPr vert="horz" lIns="0" tIns="45720" rIns="0" bIns="45720" rtlCol="0">
            <a:normAutofit fontScale="92500" lnSpcReduction="10000"/>
          </a:bodyPr>
          <a:lstStyle/>
          <a:p>
            <a:pPr>
              <a:lnSpc>
                <a:spcPct val="90000"/>
              </a:lnSpc>
            </a:pPr>
            <a:r>
              <a:rPr lang="en-US" dirty="0">
                <a:latin typeface="Comic Sans MS" panose="030F0702030302020204" pitchFamily="66" charset="0"/>
              </a:rPr>
              <a:t>We can have carry without overflow and vice-versa</a:t>
            </a:r>
          </a:p>
          <a:p>
            <a:pPr>
              <a:lnSpc>
                <a:spcPct val="90000"/>
              </a:lnSpc>
            </a:pPr>
            <a:r>
              <a:rPr lang="en-US" dirty="0">
                <a:latin typeface="Comic Sans MS" panose="030F0702030302020204" pitchFamily="66" charset="0"/>
              </a:rPr>
              <a:t>Four cases are possible</a:t>
            </a:r>
          </a:p>
        </p:txBody>
      </p:sp>
      <p:grpSp>
        <p:nvGrpSpPr>
          <p:cNvPr id="196819" name="Group 211"/>
          <p:cNvGrpSpPr>
            <a:grpSpLocks/>
          </p:cNvGrpSpPr>
          <p:nvPr/>
        </p:nvGrpSpPr>
        <p:grpSpPr bwMode="auto">
          <a:xfrm>
            <a:off x="6153150" y="2103439"/>
            <a:ext cx="4032250" cy="2016125"/>
            <a:chOff x="2953" y="1398"/>
            <a:chExt cx="2540" cy="1270"/>
          </a:xfrm>
        </p:grpSpPr>
        <p:sp>
          <p:nvSpPr>
            <p:cNvPr id="196755" name="AutoShape 147"/>
            <p:cNvSpPr>
              <a:spLocks noChangeAspect="1" noChangeArrowheads="1" noTextEdit="1"/>
            </p:cNvSpPr>
            <p:nvPr/>
          </p:nvSpPr>
          <p:spPr bwMode="auto">
            <a:xfrm>
              <a:off x="2953" y="1398"/>
              <a:ext cx="2540" cy="127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6756" name="Rectangle 148"/>
            <p:cNvSpPr>
              <a:spLocks noChangeArrowheads="1"/>
            </p:cNvSpPr>
            <p:nvPr/>
          </p:nvSpPr>
          <p:spPr bwMode="auto">
            <a:xfrm>
              <a:off x="3152"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757" name="Rectangle 149"/>
            <p:cNvSpPr>
              <a:spLocks noChangeArrowheads="1"/>
            </p:cNvSpPr>
            <p:nvPr/>
          </p:nvSpPr>
          <p:spPr bwMode="auto">
            <a:xfrm>
              <a:off x="3227"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758" name="Rectangle 150"/>
            <p:cNvSpPr>
              <a:spLocks noChangeArrowheads="1"/>
            </p:cNvSpPr>
            <p:nvPr/>
          </p:nvSpPr>
          <p:spPr bwMode="auto">
            <a:xfrm>
              <a:off x="3369"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759" name="Rectangle 151"/>
            <p:cNvSpPr>
              <a:spLocks noChangeArrowheads="1"/>
            </p:cNvSpPr>
            <p:nvPr/>
          </p:nvSpPr>
          <p:spPr bwMode="auto">
            <a:xfrm>
              <a:off x="3444"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760" name="Rectangle 152"/>
            <p:cNvSpPr>
              <a:spLocks noChangeArrowheads="1"/>
            </p:cNvSpPr>
            <p:nvPr/>
          </p:nvSpPr>
          <p:spPr bwMode="auto">
            <a:xfrm>
              <a:off x="3586"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761" name="Rectangle 153"/>
            <p:cNvSpPr>
              <a:spLocks noChangeArrowheads="1"/>
            </p:cNvSpPr>
            <p:nvPr/>
          </p:nvSpPr>
          <p:spPr bwMode="auto">
            <a:xfrm>
              <a:off x="3661"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762" name="Rectangle 154"/>
            <p:cNvSpPr>
              <a:spLocks noChangeArrowheads="1"/>
            </p:cNvSpPr>
            <p:nvPr/>
          </p:nvSpPr>
          <p:spPr bwMode="auto">
            <a:xfrm>
              <a:off x="3803"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763" name="Rectangle 155"/>
            <p:cNvSpPr>
              <a:spLocks noChangeArrowheads="1"/>
            </p:cNvSpPr>
            <p:nvPr/>
          </p:nvSpPr>
          <p:spPr bwMode="auto">
            <a:xfrm>
              <a:off x="3878"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764" name="Rectangle 156"/>
            <p:cNvSpPr>
              <a:spLocks noChangeArrowheads="1"/>
            </p:cNvSpPr>
            <p:nvPr/>
          </p:nvSpPr>
          <p:spPr bwMode="auto">
            <a:xfrm>
              <a:off x="4020"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765" name="Rectangle 157"/>
            <p:cNvSpPr>
              <a:spLocks noChangeArrowheads="1"/>
            </p:cNvSpPr>
            <p:nvPr/>
          </p:nvSpPr>
          <p:spPr bwMode="auto">
            <a:xfrm>
              <a:off x="4095"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766" name="Rectangle 158"/>
            <p:cNvSpPr>
              <a:spLocks noChangeArrowheads="1"/>
            </p:cNvSpPr>
            <p:nvPr/>
          </p:nvSpPr>
          <p:spPr bwMode="auto">
            <a:xfrm>
              <a:off x="4237"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767" name="Rectangle 159"/>
            <p:cNvSpPr>
              <a:spLocks noChangeArrowheads="1"/>
            </p:cNvSpPr>
            <p:nvPr/>
          </p:nvSpPr>
          <p:spPr bwMode="auto">
            <a:xfrm>
              <a:off x="4312"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768" name="Rectangle 160"/>
            <p:cNvSpPr>
              <a:spLocks noChangeArrowheads="1"/>
            </p:cNvSpPr>
            <p:nvPr/>
          </p:nvSpPr>
          <p:spPr bwMode="auto">
            <a:xfrm>
              <a:off x="4454"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769" name="Rectangle 161"/>
            <p:cNvSpPr>
              <a:spLocks noChangeArrowheads="1"/>
            </p:cNvSpPr>
            <p:nvPr/>
          </p:nvSpPr>
          <p:spPr bwMode="auto">
            <a:xfrm>
              <a:off x="4529"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770" name="Rectangle 162"/>
            <p:cNvSpPr>
              <a:spLocks noChangeArrowheads="1"/>
            </p:cNvSpPr>
            <p:nvPr/>
          </p:nvSpPr>
          <p:spPr bwMode="auto">
            <a:xfrm>
              <a:off x="4671"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771" name="Rectangle 163"/>
            <p:cNvSpPr>
              <a:spLocks noChangeArrowheads="1"/>
            </p:cNvSpPr>
            <p:nvPr/>
          </p:nvSpPr>
          <p:spPr bwMode="auto">
            <a:xfrm>
              <a:off x="4746"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772" name="Rectangle 164"/>
            <p:cNvSpPr>
              <a:spLocks noChangeArrowheads="1"/>
            </p:cNvSpPr>
            <p:nvPr/>
          </p:nvSpPr>
          <p:spPr bwMode="auto">
            <a:xfrm>
              <a:off x="3152"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773" name="Rectangle 165"/>
            <p:cNvSpPr>
              <a:spLocks noChangeArrowheads="1"/>
            </p:cNvSpPr>
            <p:nvPr/>
          </p:nvSpPr>
          <p:spPr bwMode="auto">
            <a:xfrm>
              <a:off x="3227"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774" name="Rectangle 166"/>
            <p:cNvSpPr>
              <a:spLocks noChangeArrowheads="1"/>
            </p:cNvSpPr>
            <p:nvPr/>
          </p:nvSpPr>
          <p:spPr bwMode="auto">
            <a:xfrm>
              <a:off x="3369"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775" name="Rectangle 167"/>
            <p:cNvSpPr>
              <a:spLocks noChangeArrowheads="1"/>
            </p:cNvSpPr>
            <p:nvPr/>
          </p:nvSpPr>
          <p:spPr bwMode="auto">
            <a:xfrm>
              <a:off x="3444"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776" name="Rectangle 168"/>
            <p:cNvSpPr>
              <a:spLocks noChangeArrowheads="1"/>
            </p:cNvSpPr>
            <p:nvPr/>
          </p:nvSpPr>
          <p:spPr bwMode="auto">
            <a:xfrm>
              <a:off x="3586"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777" name="Rectangle 169"/>
            <p:cNvSpPr>
              <a:spLocks noChangeArrowheads="1"/>
            </p:cNvSpPr>
            <p:nvPr/>
          </p:nvSpPr>
          <p:spPr bwMode="auto">
            <a:xfrm>
              <a:off x="3661"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778" name="Rectangle 170"/>
            <p:cNvSpPr>
              <a:spLocks noChangeArrowheads="1"/>
            </p:cNvSpPr>
            <p:nvPr/>
          </p:nvSpPr>
          <p:spPr bwMode="auto">
            <a:xfrm>
              <a:off x="3803"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779" name="Rectangle 171"/>
            <p:cNvSpPr>
              <a:spLocks noChangeArrowheads="1"/>
            </p:cNvSpPr>
            <p:nvPr/>
          </p:nvSpPr>
          <p:spPr bwMode="auto">
            <a:xfrm>
              <a:off x="3878"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780" name="Rectangle 172"/>
            <p:cNvSpPr>
              <a:spLocks noChangeArrowheads="1"/>
            </p:cNvSpPr>
            <p:nvPr/>
          </p:nvSpPr>
          <p:spPr bwMode="auto">
            <a:xfrm>
              <a:off x="4020"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781" name="Rectangle 173"/>
            <p:cNvSpPr>
              <a:spLocks noChangeArrowheads="1"/>
            </p:cNvSpPr>
            <p:nvPr/>
          </p:nvSpPr>
          <p:spPr bwMode="auto">
            <a:xfrm>
              <a:off x="4095"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782" name="Rectangle 174"/>
            <p:cNvSpPr>
              <a:spLocks noChangeArrowheads="1"/>
            </p:cNvSpPr>
            <p:nvPr/>
          </p:nvSpPr>
          <p:spPr bwMode="auto">
            <a:xfrm>
              <a:off x="4237"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783" name="Rectangle 175"/>
            <p:cNvSpPr>
              <a:spLocks noChangeArrowheads="1"/>
            </p:cNvSpPr>
            <p:nvPr/>
          </p:nvSpPr>
          <p:spPr bwMode="auto">
            <a:xfrm>
              <a:off x="4312"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784" name="Rectangle 176"/>
            <p:cNvSpPr>
              <a:spLocks noChangeArrowheads="1"/>
            </p:cNvSpPr>
            <p:nvPr/>
          </p:nvSpPr>
          <p:spPr bwMode="auto">
            <a:xfrm>
              <a:off x="4454"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785" name="Rectangle 177"/>
            <p:cNvSpPr>
              <a:spLocks noChangeArrowheads="1"/>
            </p:cNvSpPr>
            <p:nvPr/>
          </p:nvSpPr>
          <p:spPr bwMode="auto">
            <a:xfrm>
              <a:off x="4529"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786" name="Rectangle 178"/>
            <p:cNvSpPr>
              <a:spLocks noChangeArrowheads="1"/>
            </p:cNvSpPr>
            <p:nvPr/>
          </p:nvSpPr>
          <p:spPr bwMode="auto">
            <a:xfrm>
              <a:off x="4671"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6787" name="Rectangle 179"/>
            <p:cNvSpPr>
              <a:spLocks noChangeArrowheads="1"/>
            </p:cNvSpPr>
            <p:nvPr/>
          </p:nvSpPr>
          <p:spPr bwMode="auto">
            <a:xfrm>
              <a:off x="4746"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788" name="Line 180"/>
            <p:cNvSpPr>
              <a:spLocks noChangeShapeType="1"/>
            </p:cNvSpPr>
            <p:nvPr/>
          </p:nvSpPr>
          <p:spPr bwMode="auto">
            <a:xfrm>
              <a:off x="3098" y="2123"/>
              <a:ext cx="2177"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789" name="Rectangle 181"/>
            <p:cNvSpPr>
              <a:spLocks noChangeArrowheads="1"/>
            </p:cNvSpPr>
            <p:nvPr/>
          </p:nvSpPr>
          <p:spPr bwMode="auto">
            <a:xfrm>
              <a:off x="3014" y="1733"/>
              <a:ext cx="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solidFill>
                    <a:srgbClr val="000000"/>
                  </a:solidFill>
                  <a:latin typeface="Helvetica" panose="020B0604020202020204" pitchFamily="34" charset="0"/>
                </a:rPr>
                <a:t>+</a:t>
              </a:r>
              <a:endParaRPr lang="en-US"/>
            </a:p>
          </p:txBody>
        </p:sp>
        <p:sp>
          <p:nvSpPr>
            <p:cNvPr id="196790" name="Rectangle 182"/>
            <p:cNvSpPr>
              <a:spLocks noChangeArrowheads="1"/>
            </p:cNvSpPr>
            <p:nvPr/>
          </p:nvSpPr>
          <p:spPr bwMode="auto">
            <a:xfrm>
              <a:off x="3152"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791" name="Rectangle 183"/>
            <p:cNvSpPr>
              <a:spLocks noChangeArrowheads="1"/>
            </p:cNvSpPr>
            <p:nvPr/>
          </p:nvSpPr>
          <p:spPr bwMode="auto">
            <a:xfrm>
              <a:off x="3227"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792" name="Rectangle 184"/>
            <p:cNvSpPr>
              <a:spLocks noChangeArrowheads="1"/>
            </p:cNvSpPr>
            <p:nvPr/>
          </p:nvSpPr>
          <p:spPr bwMode="auto">
            <a:xfrm>
              <a:off x="3369"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793" name="Rectangle 185"/>
            <p:cNvSpPr>
              <a:spLocks noChangeArrowheads="1"/>
            </p:cNvSpPr>
            <p:nvPr/>
          </p:nvSpPr>
          <p:spPr bwMode="auto">
            <a:xfrm>
              <a:off x="3444"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794" name="Rectangle 186"/>
            <p:cNvSpPr>
              <a:spLocks noChangeArrowheads="1"/>
            </p:cNvSpPr>
            <p:nvPr/>
          </p:nvSpPr>
          <p:spPr bwMode="auto">
            <a:xfrm>
              <a:off x="3586"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795" name="Rectangle 187"/>
            <p:cNvSpPr>
              <a:spLocks noChangeArrowheads="1"/>
            </p:cNvSpPr>
            <p:nvPr/>
          </p:nvSpPr>
          <p:spPr bwMode="auto">
            <a:xfrm>
              <a:off x="3661"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796" name="Rectangle 188"/>
            <p:cNvSpPr>
              <a:spLocks noChangeArrowheads="1"/>
            </p:cNvSpPr>
            <p:nvPr/>
          </p:nvSpPr>
          <p:spPr bwMode="auto">
            <a:xfrm>
              <a:off x="3803"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797" name="Rectangle 189"/>
            <p:cNvSpPr>
              <a:spLocks noChangeArrowheads="1"/>
            </p:cNvSpPr>
            <p:nvPr/>
          </p:nvSpPr>
          <p:spPr bwMode="auto">
            <a:xfrm>
              <a:off x="3878"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798" name="Rectangle 190"/>
            <p:cNvSpPr>
              <a:spLocks noChangeArrowheads="1"/>
            </p:cNvSpPr>
            <p:nvPr/>
          </p:nvSpPr>
          <p:spPr bwMode="auto">
            <a:xfrm>
              <a:off x="4020"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799" name="Rectangle 191"/>
            <p:cNvSpPr>
              <a:spLocks noChangeArrowheads="1"/>
            </p:cNvSpPr>
            <p:nvPr/>
          </p:nvSpPr>
          <p:spPr bwMode="auto">
            <a:xfrm>
              <a:off x="4095"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6800" name="Rectangle 192"/>
            <p:cNvSpPr>
              <a:spLocks noChangeArrowheads="1"/>
            </p:cNvSpPr>
            <p:nvPr/>
          </p:nvSpPr>
          <p:spPr bwMode="auto">
            <a:xfrm>
              <a:off x="4237"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801" name="Rectangle 193"/>
            <p:cNvSpPr>
              <a:spLocks noChangeArrowheads="1"/>
            </p:cNvSpPr>
            <p:nvPr/>
          </p:nvSpPr>
          <p:spPr bwMode="auto">
            <a:xfrm>
              <a:off x="4312"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802" name="Rectangle 194"/>
            <p:cNvSpPr>
              <a:spLocks noChangeArrowheads="1"/>
            </p:cNvSpPr>
            <p:nvPr/>
          </p:nvSpPr>
          <p:spPr bwMode="auto">
            <a:xfrm>
              <a:off x="4454"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803" name="Rectangle 195"/>
            <p:cNvSpPr>
              <a:spLocks noChangeArrowheads="1"/>
            </p:cNvSpPr>
            <p:nvPr/>
          </p:nvSpPr>
          <p:spPr bwMode="auto">
            <a:xfrm>
              <a:off x="4529"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804" name="Rectangle 196"/>
            <p:cNvSpPr>
              <a:spLocks noChangeArrowheads="1"/>
            </p:cNvSpPr>
            <p:nvPr/>
          </p:nvSpPr>
          <p:spPr bwMode="auto">
            <a:xfrm>
              <a:off x="4671"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6805" name="Rectangle 197"/>
            <p:cNvSpPr>
              <a:spLocks noChangeArrowheads="1"/>
            </p:cNvSpPr>
            <p:nvPr/>
          </p:nvSpPr>
          <p:spPr bwMode="auto">
            <a:xfrm>
              <a:off x="4746"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6806" name="Rectangle 198"/>
            <p:cNvSpPr>
              <a:spLocks noChangeArrowheads="1"/>
            </p:cNvSpPr>
            <p:nvPr/>
          </p:nvSpPr>
          <p:spPr bwMode="auto">
            <a:xfrm>
              <a:off x="4095" y="1434"/>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b="1"/>
            </a:p>
          </p:txBody>
        </p:sp>
        <p:sp>
          <p:nvSpPr>
            <p:cNvPr id="196807" name="Rectangle 199"/>
            <p:cNvSpPr>
              <a:spLocks noChangeArrowheads="1"/>
            </p:cNvSpPr>
            <p:nvPr/>
          </p:nvSpPr>
          <p:spPr bwMode="auto">
            <a:xfrm>
              <a:off x="4913" y="1616"/>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500">
                  <a:solidFill>
                    <a:srgbClr val="000000"/>
                  </a:solidFill>
                  <a:latin typeface="Helvetica" panose="020B0604020202020204" pitchFamily="34" charset="0"/>
                </a:rPr>
                <a:t>15</a:t>
              </a:r>
              <a:endParaRPr lang="en-US"/>
            </a:p>
          </p:txBody>
        </p:sp>
        <p:sp>
          <p:nvSpPr>
            <p:cNvPr id="196808" name="Rectangle 200"/>
            <p:cNvSpPr>
              <a:spLocks noChangeArrowheads="1"/>
            </p:cNvSpPr>
            <p:nvPr/>
          </p:nvSpPr>
          <p:spPr bwMode="auto">
            <a:xfrm>
              <a:off x="4913" y="1894"/>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500">
                  <a:solidFill>
                    <a:srgbClr val="000000"/>
                  </a:solidFill>
                  <a:latin typeface="Helvetica" panose="020B0604020202020204" pitchFamily="34" charset="0"/>
                </a:rPr>
                <a:t>245 (-8)</a:t>
              </a:r>
              <a:endParaRPr lang="en-US"/>
            </a:p>
          </p:txBody>
        </p:sp>
        <p:sp>
          <p:nvSpPr>
            <p:cNvPr id="196809" name="Rectangle 201"/>
            <p:cNvSpPr>
              <a:spLocks noChangeArrowheads="1"/>
            </p:cNvSpPr>
            <p:nvPr/>
          </p:nvSpPr>
          <p:spPr bwMode="auto">
            <a:xfrm>
              <a:off x="4913" y="2198"/>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500">
                  <a:solidFill>
                    <a:srgbClr val="000000"/>
                  </a:solidFill>
                  <a:latin typeface="Helvetica" panose="020B0604020202020204" pitchFamily="34" charset="0"/>
                </a:rPr>
                <a:t>7</a:t>
              </a:r>
              <a:endParaRPr lang="en-US"/>
            </a:p>
          </p:txBody>
        </p:sp>
        <p:sp>
          <p:nvSpPr>
            <p:cNvPr id="196810" name="Rectangle 202"/>
            <p:cNvSpPr>
              <a:spLocks noChangeArrowheads="1"/>
            </p:cNvSpPr>
            <p:nvPr/>
          </p:nvSpPr>
          <p:spPr bwMode="auto">
            <a:xfrm>
              <a:off x="3062" y="2464"/>
              <a:ext cx="185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600">
                  <a:solidFill>
                    <a:srgbClr val="000000"/>
                  </a:solidFill>
                  <a:latin typeface="Helvetica" panose="020B0604020202020204" pitchFamily="34" charset="0"/>
                </a:rPr>
                <a:t>Carry = 1    Overflow = 0</a:t>
              </a:r>
              <a:endParaRPr lang="en-US" sz="1600"/>
            </a:p>
          </p:txBody>
        </p:sp>
        <p:sp>
          <p:nvSpPr>
            <p:cNvPr id="196811" name="Rectangle 203"/>
            <p:cNvSpPr>
              <a:spLocks noChangeArrowheads="1"/>
            </p:cNvSpPr>
            <p:nvPr/>
          </p:nvSpPr>
          <p:spPr bwMode="auto">
            <a:xfrm>
              <a:off x="4315" y="1434"/>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b="1"/>
            </a:p>
          </p:txBody>
        </p:sp>
        <p:sp>
          <p:nvSpPr>
            <p:cNvPr id="196812" name="Rectangle 204"/>
            <p:cNvSpPr>
              <a:spLocks noChangeArrowheads="1"/>
            </p:cNvSpPr>
            <p:nvPr/>
          </p:nvSpPr>
          <p:spPr bwMode="auto">
            <a:xfrm>
              <a:off x="4535" y="1434"/>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b="1"/>
            </a:p>
          </p:txBody>
        </p:sp>
        <p:sp>
          <p:nvSpPr>
            <p:cNvPr id="196813" name="Rectangle 205"/>
            <p:cNvSpPr>
              <a:spLocks noChangeArrowheads="1"/>
            </p:cNvSpPr>
            <p:nvPr/>
          </p:nvSpPr>
          <p:spPr bwMode="auto">
            <a:xfrm>
              <a:off x="3880" y="1434"/>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solidFill>
                    <a:srgbClr val="000000"/>
                  </a:solidFill>
                  <a:latin typeface="Helvetica" panose="020B0604020202020204" pitchFamily="34" charset="0"/>
                </a:rPr>
                <a:t>1</a:t>
              </a:r>
              <a:endParaRPr lang="en-US" b="1"/>
            </a:p>
          </p:txBody>
        </p:sp>
        <p:sp>
          <p:nvSpPr>
            <p:cNvPr id="196814" name="Rectangle 206"/>
            <p:cNvSpPr>
              <a:spLocks noChangeArrowheads="1"/>
            </p:cNvSpPr>
            <p:nvPr/>
          </p:nvSpPr>
          <p:spPr bwMode="auto">
            <a:xfrm>
              <a:off x="3662" y="1434"/>
              <a:ext cx="4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t>1</a:t>
              </a:r>
            </a:p>
          </p:txBody>
        </p:sp>
        <p:sp>
          <p:nvSpPr>
            <p:cNvPr id="196815" name="Rectangle 207"/>
            <p:cNvSpPr>
              <a:spLocks noChangeArrowheads="1"/>
            </p:cNvSpPr>
            <p:nvPr/>
          </p:nvSpPr>
          <p:spPr bwMode="auto">
            <a:xfrm>
              <a:off x="3444" y="1434"/>
              <a:ext cx="4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t>1</a:t>
              </a:r>
            </a:p>
          </p:txBody>
        </p:sp>
        <p:sp>
          <p:nvSpPr>
            <p:cNvPr id="196816" name="Rectangle 208"/>
            <p:cNvSpPr>
              <a:spLocks noChangeArrowheads="1"/>
            </p:cNvSpPr>
            <p:nvPr/>
          </p:nvSpPr>
          <p:spPr bwMode="auto">
            <a:xfrm>
              <a:off x="3226" y="1434"/>
              <a:ext cx="4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t>1</a:t>
              </a:r>
            </a:p>
          </p:txBody>
        </p:sp>
        <p:sp>
          <p:nvSpPr>
            <p:cNvPr id="196817" name="Rectangle 209"/>
            <p:cNvSpPr>
              <a:spLocks noChangeArrowheads="1"/>
            </p:cNvSpPr>
            <p:nvPr/>
          </p:nvSpPr>
          <p:spPr bwMode="auto">
            <a:xfrm>
              <a:off x="3026" y="1434"/>
              <a:ext cx="4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t>1</a:t>
              </a:r>
            </a:p>
          </p:txBody>
        </p:sp>
      </p:grpSp>
      <p:grpSp>
        <p:nvGrpSpPr>
          <p:cNvPr id="197012" name="Group 404"/>
          <p:cNvGrpSpPr>
            <a:grpSpLocks/>
          </p:cNvGrpSpPr>
          <p:nvPr/>
        </p:nvGrpSpPr>
        <p:grpSpPr bwMode="auto">
          <a:xfrm>
            <a:off x="2006600" y="2103439"/>
            <a:ext cx="4032250" cy="2016125"/>
            <a:chOff x="2953" y="1398"/>
            <a:chExt cx="2540" cy="1270"/>
          </a:xfrm>
        </p:grpSpPr>
        <p:sp>
          <p:nvSpPr>
            <p:cNvPr id="197013" name="AutoShape 405"/>
            <p:cNvSpPr>
              <a:spLocks noChangeAspect="1" noChangeArrowheads="1" noTextEdit="1"/>
            </p:cNvSpPr>
            <p:nvPr/>
          </p:nvSpPr>
          <p:spPr bwMode="auto">
            <a:xfrm>
              <a:off x="2953" y="1398"/>
              <a:ext cx="2540" cy="127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7014" name="Rectangle 406"/>
            <p:cNvSpPr>
              <a:spLocks noChangeArrowheads="1"/>
            </p:cNvSpPr>
            <p:nvPr/>
          </p:nvSpPr>
          <p:spPr bwMode="auto">
            <a:xfrm>
              <a:off x="3152"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7015" name="Rectangle 407"/>
            <p:cNvSpPr>
              <a:spLocks noChangeArrowheads="1"/>
            </p:cNvSpPr>
            <p:nvPr/>
          </p:nvSpPr>
          <p:spPr bwMode="auto">
            <a:xfrm>
              <a:off x="3227"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7016" name="Rectangle 408"/>
            <p:cNvSpPr>
              <a:spLocks noChangeArrowheads="1"/>
            </p:cNvSpPr>
            <p:nvPr/>
          </p:nvSpPr>
          <p:spPr bwMode="auto">
            <a:xfrm>
              <a:off x="3369"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7017" name="Rectangle 409"/>
            <p:cNvSpPr>
              <a:spLocks noChangeArrowheads="1"/>
            </p:cNvSpPr>
            <p:nvPr/>
          </p:nvSpPr>
          <p:spPr bwMode="auto">
            <a:xfrm>
              <a:off x="3444"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7018" name="Rectangle 410"/>
            <p:cNvSpPr>
              <a:spLocks noChangeArrowheads="1"/>
            </p:cNvSpPr>
            <p:nvPr/>
          </p:nvSpPr>
          <p:spPr bwMode="auto">
            <a:xfrm>
              <a:off x="3586"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7019" name="Rectangle 411"/>
            <p:cNvSpPr>
              <a:spLocks noChangeArrowheads="1"/>
            </p:cNvSpPr>
            <p:nvPr/>
          </p:nvSpPr>
          <p:spPr bwMode="auto">
            <a:xfrm>
              <a:off x="3661"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7020" name="Rectangle 412"/>
            <p:cNvSpPr>
              <a:spLocks noChangeArrowheads="1"/>
            </p:cNvSpPr>
            <p:nvPr/>
          </p:nvSpPr>
          <p:spPr bwMode="auto">
            <a:xfrm>
              <a:off x="3803"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7021" name="Rectangle 413"/>
            <p:cNvSpPr>
              <a:spLocks noChangeArrowheads="1"/>
            </p:cNvSpPr>
            <p:nvPr/>
          </p:nvSpPr>
          <p:spPr bwMode="auto">
            <a:xfrm>
              <a:off x="3878"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7022" name="Rectangle 414"/>
            <p:cNvSpPr>
              <a:spLocks noChangeArrowheads="1"/>
            </p:cNvSpPr>
            <p:nvPr/>
          </p:nvSpPr>
          <p:spPr bwMode="auto">
            <a:xfrm>
              <a:off x="4020"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7023" name="Rectangle 415"/>
            <p:cNvSpPr>
              <a:spLocks noChangeArrowheads="1"/>
            </p:cNvSpPr>
            <p:nvPr/>
          </p:nvSpPr>
          <p:spPr bwMode="auto">
            <a:xfrm>
              <a:off x="4095"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7024" name="Rectangle 416"/>
            <p:cNvSpPr>
              <a:spLocks noChangeArrowheads="1"/>
            </p:cNvSpPr>
            <p:nvPr/>
          </p:nvSpPr>
          <p:spPr bwMode="auto">
            <a:xfrm>
              <a:off x="4237"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7025" name="Rectangle 417"/>
            <p:cNvSpPr>
              <a:spLocks noChangeArrowheads="1"/>
            </p:cNvSpPr>
            <p:nvPr/>
          </p:nvSpPr>
          <p:spPr bwMode="auto">
            <a:xfrm>
              <a:off x="4312"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7026" name="Rectangle 418"/>
            <p:cNvSpPr>
              <a:spLocks noChangeArrowheads="1"/>
            </p:cNvSpPr>
            <p:nvPr/>
          </p:nvSpPr>
          <p:spPr bwMode="auto">
            <a:xfrm>
              <a:off x="4454"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7027" name="Rectangle 419"/>
            <p:cNvSpPr>
              <a:spLocks noChangeArrowheads="1"/>
            </p:cNvSpPr>
            <p:nvPr/>
          </p:nvSpPr>
          <p:spPr bwMode="auto">
            <a:xfrm>
              <a:off x="4529"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7028" name="Rectangle 420"/>
            <p:cNvSpPr>
              <a:spLocks noChangeArrowheads="1"/>
            </p:cNvSpPr>
            <p:nvPr/>
          </p:nvSpPr>
          <p:spPr bwMode="auto">
            <a:xfrm>
              <a:off x="4671" y="1856"/>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7029" name="Rectangle 421"/>
            <p:cNvSpPr>
              <a:spLocks noChangeArrowheads="1"/>
            </p:cNvSpPr>
            <p:nvPr/>
          </p:nvSpPr>
          <p:spPr bwMode="auto">
            <a:xfrm>
              <a:off x="4746" y="18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7030" name="Rectangle 422"/>
            <p:cNvSpPr>
              <a:spLocks noChangeArrowheads="1"/>
            </p:cNvSpPr>
            <p:nvPr/>
          </p:nvSpPr>
          <p:spPr bwMode="auto">
            <a:xfrm>
              <a:off x="3152"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7031" name="Rectangle 423"/>
            <p:cNvSpPr>
              <a:spLocks noChangeArrowheads="1"/>
            </p:cNvSpPr>
            <p:nvPr/>
          </p:nvSpPr>
          <p:spPr bwMode="auto">
            <a:xfrm>
              <a:off x="3227"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7032" name="Rectangle 424"/>
            <p:cNvSpPr>
              <a:spLocks noChangeArrowheads="1"/>
            </p:cNvSpPr>
            <p:nvPr/>
          </p:nvSpPr>
          <p:spPr bwMode="auto">
            <a:xfrm>
              <a:off x="3369"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7033" name="Rectangle 425"/>
            <p:cNvSpPr>
              <a:spLocks noChangeArrowheads="1"/>
            </p:cNvSpPr>
            <p:nvPr/>
          </p:nvSpPr>
          <p:spPr bwMode="auto">
            <a:xfrm>
              <a:off x="3444"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7034" name="Rectangle 426"/>
            <p:cNvSpPr>
              <a:spLocks noChangeArrowheads="1"/>
            </p:cNvSpPr>
            <p:nvPr/>
          </p:nvSpPr>
          <p:spPr bwMode="auto">
            <a:xfrm>
              <a:off x="3586"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7035" name="Rectangle 427"/>
            <p:cNvSpPr>
              <a:spLocks noChangeArrowheads="1"/>
            </p:cNvSpPr>
            <p:nvPr/>
          </p:nvSpPr>
          <p:spPr bwMode="auto">
            <a:xfrm>
              <a:off x="3661"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7036" name="Rectangle 428"/>
            <p:cNvSpPr>
              <a:spLocks noChangeArrowheads="1"/>
            </p:cNvSpPr>
            <p:nvPr/>
          </p:nvSpPr>
          <p:spPr bwMode="auto">
            <a:xfrm>
              <a:off x="3803"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7037" name="Rectangle 429"/>
            <p:cNvSpPr>
              <a:spLocks noChangeArrowheads="1"/>
            </p:cNvSpPr>
            <p:nvPr/>
          </p:nvSpPr>
          <p:spPr bwMode="auto">
            <a:xfrm>
              <a:off x="3878"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7038" name="Rectangle 430"/>
            <p:cNvSpPr>
              <a:spLocks noChangeArrowheads="1"/>
            </p:cNvSpPr>
            <p:nvPr/>
          </p:nvSpPr>
          <p:spPr bwMode="auto">
            <a:xfrm>
              <a:off x="4020"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7039" name="Rectangle 431"/>
            <p:cNvSpPr>
              <a:spLocks noChangeArrowheads="1"/>
            </p:cNvSpPr>
            <p:nvPr/>
          </p:nvSpPr>
          <p:spPr bwMode="auto">
            <a:xfrm>
              <a:off x="4095"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7040" name="Rectangle 432"/>
            <p:cNvSpPr>
              <a:spLocks noChangeArrowheads="1"/>
            </p:cNvSpPr>
            <p:nvPr/>
          </p:nvSpPr>
          <p:spPr bwMode="auto">
            <a:xfrm>
              <a:off x="4237"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7041" name="Rectangle 433"/>
            <p:cNvSpPr>
              <a:spLocks noChangeArrowheads="1"/>
            </p:cNvSpPr>
            <p:nvPr/>
          </p:nvSpPr>
          <p:spPr bwMode="auto">
            <a:xfrm>
              <a:off x="4312"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7042" name="Rectangle 434"/>
            <p:cNvSpPr>
              <a:spLocks noChangeArrowheads="1"/>
            </p:cNvSpPr>
            <p:nvPr/>
          </p:nvSpPr>
          <p:spPr bwMode="auto">
            <a:xfrm>
              <a:off x="4454"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7043" name="Rectangle 435"/>
            <p:cNvSpPr>
              <a:spLocks noChangeArrowheads="1"/>
            </p:cNvSpPr>
            <p:nvPr/>
          </p:nvSpPr>
          <p:spPr bwMode="auto">
            <a:xfrm>
              <a:off x="4529"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7044" name="Rectangle 436"/>
            <p:cNvSpPr>
              <a:spLocks noChangeArrowheads="1"/>
            </p:cNvSpPr>
            <p:nvPr/>
          </p:nvSpPr>
          <p:spPr bwMode="auto">
            <a:xfrm>
              <a:off x="4671" y="1580"/>
              <a:ext cx="217" cy="217"/>
            </a:xfrm>
            <a:prstGeom prst="rect">
              <a:avLst/>
            </a:prstGeom>
            <a:solidFill>
              <a:srgbClr val="FFFFFF"/>
            </a:solidFill>
            <a:ln w="4763">
              <a:solidFill>
                <a:srgbClr val="000000"/>
              </a:solidFill>
              <a:miter lim="800000"/>
              <a:headEnd/>
              <a:tailEnd/>
            </a:ln>
          </p:spPr>
          <p:txBody>
            <a:bodyPr/>
            <a:lstStyle/>
            <a:p>
              <a:endParaRPr lang="en-US"/>
            </a:p>
          </p:txBody>
        </p:sp>
        <p:sp>
          <p:nvSpPr>
            <p:cNvPr id="197045" name="Rectangle 437"/>
            <p:cNvSpPr>
              <a:spLocks noChangeArrowheads="1"/>
            </p:cNvSpPr>
            <p:nvPr/>
          </p:nvSpPr>
          <p:spPr bwMode="auto">
            <a:xfrm>
              <a:off x="4746" y="161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7046" name="Line 438"/>
            <p:cNvSpPr>
              <a:spLocks noChangeShapeType="1"/>
            </p:cNvSpPr>
            <p:nvPr/>
          </p:nvSpPr>
          <p:spPr bwMode="auto">
            <a:xfrm>
              <a:off x="3098" y="2123"/>
              <a:ext cx="2177"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7047" name="Rectangle 439"/>
            <p:cNvSpPr>
              <a:spLocks noChangeArrowheads="1"/>
            </p:cNvSpPr>
            <p:nvPr/>
          </p:nvSpPr>
          <p:spPr bwMode="auto">
            <a:xfrm>
              <a:off x="3014" y="1733"/>
              <a:ext cx="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solidFill>
                    <a:srgbClr val="000000"/>
                  </a:solidFill>
                  <a:latin typeface="Helvetica" panose="020B0604020202020204" pitchFamily="34" charset="0"/>
                </a:rPr>
                <a:t>+</a:t>
              </a:r>
              <a:endParaRPr lang="en-US"/>
            </a:p>
          </p:txBody>
        </p:sp>
        <p:sp>
          <p:nvSpPr>
            <p:cNvPr id="197048" name="Rectangle 440"/>
            <p:cNvSpPr>
              <a:spLocks noChangeArrowheads="1"/>
            </p:cNvSpPr>
            <p:nvPr/>
          </p:nvSpPr>
          <p:spPr bwMode="auto">
            <a:xfrm>
              <a:off x="3152"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7049" name="Rectangle 441"/>
            <p:cNvSpPr>
              <a:spLocks noChangeArrowheads="1"/>
            </p:cNvSpPr>
            <p:nvPr/>
          </p:nvSpPr>
          <p:spPr bwMode="auto">
            <a:xfrm>
              <a:off x="3227"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7050" name="Rectangle 442"/>
            <p:cNvSpPr>
              <a:spLocks noChangeArrowheads="1"/>
            </p:cNvSpPr>
            <p:nvPr/>
          </p:nvSpPr>
          <p:spPr bwMode="auto">
            <a:xfrm>
              <a:off x="3369"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7051" name="Rectangle 443"/>
            <p:cNvSpPr>
              <a:spLocks noChangeArrowheads="1"/>
            </p:cNvSpPr>
            <p:nvPr/>
          </p:nvSpPr>
          <p:spPr bwMode="auto">
            <a:xfrm>
              <a:off x="3444"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7052" name="Rectangle 444"/>
            <p:cNvSpPr>
              <a:spLocks noChangeArrowheads="1"/>
            </p:cNvSpPr>
            <p:nvPr/>
          </p:nvSpPr>
          <p:spPr bwMode="auto">
            <a:xfrm>
              <a:off x="3586"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7053" name="Rectangle 445"/>
            <p:cNvSpPr>
              <a:spLocks noChangeArrowheads="1"/>
            </p:cNvSpPr>
            <p:nvPr/>
          </p:nvSpPr>
          <p:spPr bwMode="auto">
            <a:xfrm>
              <a:off x="3661"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7054" name="Rectangle 446"/>
            <p:cNvSpPr>
              <a:spLocks noChangeArrowheads="1"/>
            </p:cNvSpPr>
            <p:nvPr/>
          </p:nvSpPr>
          <p:spPr bwMode="auto">
            <a:xfrm>
              <a:off x="3803"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7055" name="Rectangle 447"/>
            <p:cNvSpPr>
              <a:spLocks noChangeArrowheads="1"/>
            </p:cNvSpPr>
            <p:nvPr/>
          </p:nvSpPr>
          <p:spPr bwMode="auto">
            <a:xfrm>
              <a:off x="3878"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7056" name="Rectangle 448"/>
            <p:cNvSpPr>
              <a:spLocks noChangeArrowheads="1"/>
            </p:cNvSpPr>
            <p:nvPr/>
          </p:nvSpPr>
          <p:spPr bwMode="auto">
            <a:xfrm>
              <a:off x="4020"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7057" name="Rectangle 449"/>
            <p:cNvSpPr>
              <a:spLocks noChangeArrowheads="1"/>
            </p:cNvSpPr>
            <p:nvPr/>
          </p:nvSpPr>
          <p:spPr bwMode="auto">
            <a:xfrm>
              <a:off x="4095"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0</a:t>
              </a:r>
              <a:endParaRPr lang="en-US"/>
            </a:p>
          </p:txBody>
        </p:sp>
        <p:sp>
          <p:nvSpPr>
            <p:cNvPr id="197058" name="Rectangle 450"/>
            <p:cNvSpPr>
              <a:spLocks noChangeArrowheads="1"/>
            </p:cNvSpPr>
            <p:nvPr/>
          </p:nvSpPr>
          <p:spPr bwMode="auto">
            <a:xfrm>
              <a:off x="4237"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7059" name="Rectangle 451"/>
            <p:cNvSpPr>
              <a:spLocks noChangeArrowheads="1"/>
            </p:cNvSpPr>
            <p:nvPr/>
          </p:nvSpPr>
          <p:spPr bwMode="auto">
            <a:xfrm>
              <a:off x="4312"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7060" name="Rectangle 452"/>
            <p:cNvSpPr>
              <a:spLocks noChangeArrowheads="1"/>
            </p:cNvSpPr>
            <p:nvPr/>
          </p:nvSpPr>
          <p:spPr bwMode="auto">
            <a:xfrm>
              <a:off x="4454"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7061" name="Rectangle 453"/>
            <p:cNvSpPr>
              <a:spLocks noChangeArrowheads="1"/>
            </p:cNvSpPr>
            <p:nvPr/>
          </p:nvSpPr>
          <p:spPr bwMode="auto">
            <a:xfrm>
              <a:off x="4529"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7062" name="Rectangle 454"/>
            <p:cNvSpPr>
              <a:spLocks noChangeArrowheads="1"/>
            </p:cNvSpPr>
            <p:nvPr/>
          </p:nvSpPr>
          <p:spPr bwMode="auto">
            <a:xfrm>
              <a:off x="4671" y="2160"/>
              <a:ext cx="217" cy="218"/>
            </a:xfrm>
            <a:prstGeom prst="rect">
              <a:avLst/>
            </a:prstGeom>
            <a:solidFill>
              <a:srgbClr val="FFFFFF"/>
            </a:solidFill>
            <a:ln w="4763">
              <a:solidFill>
                <a:srgbClr val="000000"/>
              </a:solidFill>
              <a:miter lim="800000"/>
              <a:headEnd/>
              <a:tailEnd/>
            </a:ln>
          </p:spPr>
          <p:txBody>
            <a:bodyPr/>
            <a:lstStyle/>
            <a:p>
              <a:endParaRPr lang="en-US"/>
            </a:p>
          </p:txBody>
        </p:sp>
        <p:sp>
          <p:nvSpPr>
            <p:cNvPr id="197063" name="Rectangle 455"/>
            <p:cNvSpPr>
              <a:spLocks noChangeArrowheads="1"/>
            </p:cNvSpPr>
            <p:nvPr/>
          </p:nvSpPr>
          <p:spPr bwMode="auto">
            <a:xfrm>
              <a:off x="4746" y="2198"/>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500">
                  <a:solidFill>
                    <a:srgbClr val="000000"/>
                  </a:solidFill>
                  <a:latin typeface="Helvetica" panose="020B0604020202020204" pitchFamily="34" charset="0"/>
                </a:rPr>
                <a:t>1</a:t>
              </a:r>
              <a:endParaRPr lang="en-US"/>
            </a:p>
          </p:txBody>
        </p:sp>
        <p:sp>
          <p:nvSpPr>
            <p:cNvPr id="197064" name="Rectangle 456"/>
            <p:cNvSpPr>
              <a:spLocks noChangeArrowheads="1"/>
            </p:cNvSpPr>
            <p:nvPr/>
          </p:nvSpPr>
          <p:spPr bwMode="auto">
            <a:xfrm>
              <a:off x="4095" y="1434"/>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b="1"/>
            </a:p>
          </p:txBody>
        </p:sp>
        <p:sp>
          <p:nvSpPr>
            <p:cNvPr id="197065" name="Rectangle 457"/>
            <p:cNvSpPr>
              <a:spLocks noChangeArrowheads="1"/>
            </p:cNvSpPr>
            <p:nvPr/>
          </p:nvSpPr>
          <p:spPr bwMode="auto">
            <a:xfrm>
              <a:off x="4913" y="1616"/>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500">
                  <a:solidFill>
                    <a:srgbClr val="000000"/>
                  </a:solidFill>
                  <a:latin typeface="Helvetica" panose="020B0604020202020204" pitchFamily="34" charset="0"/>
                </a:rPr>
                <a:t>15</a:t>
              </a:r>
              <a:endParaRPr lang="en-US"/>
            </a:p>
          </p:txBody>
        </p:sp>
        <p:sp>
          <p:nvSpPr>
            <p:cNvPr id="197066" name="Rectangle 458"/>
            <p:cNvSpPr>
              <a:spLocks noChangeArrowheads="1"/>
            </p:cNvSpPr>
            <p:nvPr/>
          </p:nvSpPr>
          <p:spPr bwMode="auto">
            <a:xfrm>
              <a:off x="4913" y="1894"/>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500">
                  <a:solidFill>
                    <a:srgbClr val="000000"/>
                  </a:solidFill>
                  <a:latin typeface="Helvetica" panose="020B0604020202020204" pitchFamily="34" charset="0"/>
                </a:rPr>
                <a:t>8</a:t>
              </a:r>
              <a:endParaRPr lang="en-US"/>
            </a:p>
          </p:txBody>
        </p:sp>
        <p:sp>
          <p:nvSpPr>
            <p:cNvPr id="197067" name="Rectangle 459"/>
            <p:cNvSpPr>
              <a:spLocks noChangeArrowheads="1"/>
            </p:cNvSpPr>
            <p:nvPr/>
          </p:nvSpPr>
          <p:spPr bwMode="auto">
            <a:xfrm>
              <a:off x="4913" y="2198"/>
              <a:ext cx="5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500">
                  <a:solidFill>
                    <a:srgbClr val="000000"/>
                  </a:solidFill>
                  <a:latin typeface="Helvetica" panose="020B0604020202020204" pitchFamily="34" charset="0"/>
                </a:rPr>
                <a:t>23</a:t>
              </a:r>
              <a:endParaRPr lang="en-US"/>
            </a:p>
          </p:txBody>
        </p:sp>
        <p:sp>
          <p:nvSpPr>
            <p:cNvPr id="197068" name="Rectangle 460"/>
            <p:cNvSpPr>
              <a:spLocks noChangeArrowheads="1"/>
            </p:cNvSpPr>
            <p:nvPr/>
          </p:nvSpPr>
          <p:spPr bwMode="auto">
            <a:xfrm>
              <a:off x="3062" y="2464"/>
              <a:ext cx="185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sz="1600">
                  <a:solidFill>
                    <a:srgbClr val="000000"/>
                  </a:solidFill>
                  <a:latin typeface="Helvetica" panose="020B0604020202020204" pitchFamily="34" charset="0"/>
                </a:rPr>
                <a:t>Carry = 0    Overflow = 0</a:t>
              </a:r>
              <a:endParaRPr lang="en-US" sz="1600"/>
            </a:p>
          </p:txBody>
        </p:sp>
        <p:sp>
          <p:nvSpPr>
            <p:cNvPr id="197069" name="Rectangle 461"/>
            <p:cNvSpPr>
              <a:spLocks noChangeArrowheads="1"/>
            </p:cNvSpPr>
            <p:nvPr/>
          </p:nvSpPr>
          <p:spPr bwMode="auto">
            <a:xfrm>
              <a:off x="4315" y="1434"/>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b="1"/>
            </a:p>
          </p:txBody>
        </p:sp>
        <p:sp>
          <p:nvSpPr>
            <p:cNvPr id="197070" name="Rectangle 462"/>
            <p:cNvSpPr>
              <a:spLocks noChangeArrowheads="1"/>
            </p:cNvSpPr>
            <p:nvPr/>
          </p:nvSpPr>
          <p:spPr bwMode="auto">
            <a:xfrm>
              <a:off x="4535" y="1434"/>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b="1"/>
            </a:p>
          </p:txBody>
        </p:sp>
        <p:sp>
          <p:nvSpPr>
            <p:cNvPr id="197071" name="Rectangle 463"/>
            <p:cNvSpPr>
              <a:spLocks noChangeArrowheads="1"/>
            </p:cNvSpPr>
            <p:nvPr/>
          </p:nvSpPr>
          <p:spPr bwMode="auto">
            <a:xfrm>
              <a:off x="3880" y="1434"/>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solidFill>
                    <a:srgbClr val="000000"/>
                  </a:solidFill>
                  <a:latin typeface="Helvetica" panose="020B0604020202020204" pitchFamily="34" charset="0"/>
                </a:rPr>
                <a:t>1</a:t>
              </a:r>
              <a:endParaRPr lang="en-US" b="1"/>
            </a:p>
          </p:txBody>
        </p:sp>
        <p:sp>
          <p:nvSpPr>
            <p:cNvPr id="197072" name="Rectangle 464"/>
            <p:cNvSpPr>
              <a:spLocks noChangeArrowheads="1"/>
            </p:cNvSpPr>
            <p:nvPr/>
          </p:nvSpPr>
          <p:spPr bwMode="auto">
            <a:xfrm>
              <a:off x="3662" y="1434"/>
              <a:ext cx="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sz="1200" b="1"/>
            </a:p>
          </p:txBody>
        </p:sp>
        <p:sp>
          <p:nvSpPr>
            <p:cNvPr id="197073" name="Rectangle 465"/>
            <p:cNvSpPr>
              <a:spLocks noChangeArrowheads="1"/>
            </p:cNvSpPr>
            <p:nvPr/>
          </p:nvSpPr>
          <p:spPr bwMode="auto">
            <a:xfrm>
              <a:off x="3444" y="1434"/>
              <a:ext cx="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sz="1200" b="1"/>
            </a:p>
          </p:txBody>
        </p:sp>
        <p:sp>
          <p:nvSpPr>
            <p:cNvPr id="197074" name="Rectangle 466"/>
            <p:cNvSpPr>
              <a:spLocks noChangeArrowheads="1"/>
            </p:cNvSpPr>
            <p:nvPr/>
          </p:nvSpPr>
          <p:spPr bwMode="auto">
            <a:xfrm>
              <a:off x="3226" y="1434"/>
              <a:ext cx="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sz="1200" b="1"/>
            </a:p>
          </p:txBody>
        </p:sp>
        <p:sp>
          <p:nvSpPr>
            <p:cNvPr id="197075" name="Rectangle 467"/>
            <p:cNvSpPr>
              <a:spLocks noChangeArrowheads="1"/>
            </p:cNvSpPr>
            <p:nvPr/>
          </p:nvSpPr>
          <p:spPr bwMode="auto">
            <a:xfrm>
              <a:off x="3026" y="1434"/>
              <a:ext cx="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sz="1200" b="1"/>
            </a:p>
          </p:txBody>
        </p:sp>
      </p:grpSp>
    </p:spTree>
    <p:extLst>
      <p:ext uri="{BB962C8B-B14F-4D97-AF65-F5344CB8AC3E}">
        <p14:creationId xmlns:p14="http://schemas.microsoft.com/office/powerpoint/2010/main" val="38249998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a:xfrm>
            <a:off x="808832" y="0"/>
            <a:ext cx="10515600" cy="1325563"/>
          </a:xfrm>
        </p:spPr>
        <p:txBody>
          <a:bodyPr/>
          <a:lstStyle/>
          <a:p>
            <a:r>
              <a:rPr lang="en-US" dirty="0">
                <a:solidFill>
                  <a:srgbClr val="FF0000"/>
                </a:solidFill>
                <a:latin typeface="Comic Sans MS" panose="030F0702030302020204" pitchFamily="66" charset="0"/>
              </a:rPr>
              <a:t>Character Storage</a:t>
            </a:r>
          </a:p>
        </p:txBody>
      </p:sp>
      <p:sp>
        <p:nvSpPr>
          <p:cNvPr id="140291" name="Rectangle 3"/>
          <p:cNvSpPr>
            <a:spLocks noGrp="1" noChangeArrowheads="1"/>
          </p:cNvSpPr>
          <p:nvPr>
            <p:ph type="body" idx="1"/>
          </p:nvPr>
        </p:nvSpPr>
        <p:spPr>
          <a:xfrm>
            <a:off x="808832" y="1143000"/>
            <a:ext cx="10515600" cy="5054600"/>
          </a:xfrm>
        </p:spPr>
        <p:txBody>
          <a:bodyPr>
            <a:normAutofit/>
          </a:bodyPr>
          <a:lstStyle/>
          <a:p>
            <a:r>
              <a:rPr lang="en-US" dirty="0">
                <a:latin typeface="Comic Sans MS" panose="030F0702030302020204" pitchFamily="66" charset="0"/>
              </a:rPr>
              <a:t>Character sets</a:t>
            </a:r>
          </a:p>
          <a:p>
            <a:pPr lvl="1"/>
            <a:r>
              <a:rPr lang="en-US" dirty="0">
                <a:latin typeface="Comic Sans MS" panose="030F0702030302020204" pitchFamily="66" charset="0"/>
              </a:rPr>
              <a:t>Standard ASCII: 7-bit character codes (0 – 127)</a:t>
            </a:r>
          </a:p>
          <a:p>
            <a:pPr lvl="1"/>
            <a:r>
              <a:rPr lang="en-US" dirty="0">
                <a:latin typeface="Comic Sans MS" panose="030F0702030302020204" pitchFamily="66" charset="0"/>
              </a:rPr>
              <a:t>Extended ASCII: 8-bit character codes (0 – 255)</a:t>
            </a:r>
          </a:p>
          <a:p>
            <a:pPr lvl="1"/>
            <a:r>
              <a:rPr lang="en-US" dirty="0">
                <a:latin typeface="Comic Sans MS" panose="030F0702030302020204" pitchFamily="66" charset="0"/>
              </a:rPr>
              <a:t>Unicode: 16-bit character codes (0 – 65,535)</a:t>
            </a:r>
          </a:p>
          <a:p>
            <a:pPr lvl="1"/>
            <a:r>
              <a:rPr lang="en-US" dirty="0">
                <a:latin typeface="Comic Sans MS" panose="030F0702030302020204" pitchFamily="66" charset="0"/>
              </a:rPr>
              <a:t>Unicode standard represents a universal character set</a:t>
            </a:r>
          </a:p>
          <a:p>
            <a:pPr lvl="2"/>
            <a:r>
              <a:rPr lang="en-US" dirty="0">
                <a:latin typeface="Comic Sans MS" panose="030F0702030302020204" pitchFamily="66" charset="0"/>
              </a:rPr>
              <a:t>Defines codes for characters used in all major languages</a:t>
            </a:r>
          </a:p>
          <a:p>
            <a:pPr lvl="2"/>
            <a:r>
              <a:rPr lang="en-US" dirty="0">
                <a:latin typeface="Comic Sans MS" panose="030F0702030302020204" pitchFamily="66" charset="0"/>
              </a:rPr>
              <a:t>Used in Windows-XP: each character is encoded as 16 bits</a:t>
            </a:r>
          </a:p>
          <a:p>
            <a:pPr lvl="1"/>
            <a:r>
              <a:rPr lang="en-US" dirty="0">
                <a:latin typeface="Comic Sans MS" panose="030F0702030302020204" pitchFamily="66" charset="0"/>
              </a:rPr>
              <a:t>UTF-8: variable-length encoding used in HTML</a:t>
            </a:r>
          </a:p>
          <a:p>
            <a:pPr lvl="2"/>
            <a:r>
              <a:rPr lang="en-US" dirty="0">
                <a:latin typeface="Comic Sans MS" panose="030F0702030302020204" pitchFamily="66" charset="0"/>
              </a:rPr>
              <a:t>Encodes all Unicode characters</a:t>
            </a:r>
          </a:p>
          <a:p>
            <a:pPr lvl="2"/>
            <a:r>
              <a:rPr lang="en-US" dirty="0">
                <a:latin typeface="Comic Sans MS" panose="030F0702030302020204" pitchFamily="66" charset="0"/>
              </a:rPr>
              <a:t>Uses 1 byte for ASCII, but multiple bytes for other characters</a:t>
            </a:r>
          </a:p>
          <a:p>
            <a:r>
              <a:rPr lang="en-US" dirty="0">
                <a:latin typeface="Comic Sans MS" panose="030F0702030302020204" pitchFamily="66" charset="0"/>
              </a:rPr>
              <a:t>Null-terminated String</a:t>
            </a:r>
          </a:p>
          <a:p>
            <a:pPr lvl="1"/>
            <a:r>
              <a:rPr lang="en-US" dirty="0">
                <a:latin typeface="Comic Sans MS" panose="030F0702030302020204" pitchFamily="66" charset="0"/>
              </a:rPr>
              <a:t>Array of characters followed by a NULL character</a:t>
            </a:r>
            <a:endParaRPr lang="en-US" i="1" dirty="0">
              <a:latin typeface="Comic Sans MS" panose="030F0702030302020204" pitchFamily="66" charset="0"/>
            </a:endParaRPr>
          </a:p>
        </p:txBody>
      </p:sp>
    </p:spTree>
    <p:extLst>
      <p:ext uri="{BB962C8B-B14F-4D97-AF65-F5344CB8AC3E}">
        <p14:creationId xmlns:p14="http://schemas.microsoft.com/office/powerpoint/2010/main" val="9513847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435" name="Rectangle 187"/>
          <p:cNvSpPr>
            <a:spLocks noGrp="1" noChangeArrowheads="1"/>
          </p:cNvSpPr>
          <p:nvPr>
            <p:ph type="title"/>
          </p:nvPr>
        </p:nvSpPr>
        <p:spPr/>
        <p:txBody>
          <a:bodyPr/>
          <a:lstStyle/>
          <a:p>
            <a:r>
              <a:rPr lang="en-US" dirty="0">
                <a:solidFill>
                  <a:srgbClr val="FF0000"/>
                </a:solidFill>
                <a:latin typeface="Comic Sans MS" panose="030F0702030302020204" pitchFamily="66" charset="0"/>
              </a:rPr>
              <a:t>Printable ASCII Codes</a:t>
            </a:r>
          </a:p>
        </p:txBody>
      </p:sp>
      <p:graphicFrame>
        <p:nvGraphicFramePr>
          <p:cNvPr id="181534" name="Group 286"/>
          <p:cNvGraphicFramePr>
            <a:graphicFrameLocks noGrp="1"/>
          </p:cNvGraphicFramePr>
          <p:nvPr>
            <p:ph idx="1"/>
          </p:nvPr>
        </p:nvGraphicFramePr>
        <p:xfrm>
          <a:off x="1981200" y="1143000"/>
          <a:ext cx="8229600" cy="3321051"/>
        </p:xfrm>
        <a:graphic>
          <a:graphicData uri="http://schemas.openxmlformats.org/drawingml/2006/table">
            <a:tbl>
              <a:tblPr/>
              <a:tblGrid>
                <a:gridCol w="484188">
                  <a:extLst>
                    <a:ext uri="{9D8B030D-6E8A-4147-A177-3AD203B41FA5}">
                      <a16:colId xmlns:a16="http://schemas.microsoft.com/office/drawing/2014/main" val="20000"/>
                    </a:ext>
                  </a:extLst>
                </a:gridCol>
                <a:gridCol w="484187">
                  <a:extLst>
                    <a:ext uri="{9D8B030D-6E8A-4147-A177-3AD203B41FA5}">
                      <a16:colId xmlns:a16="http://schemas.microsoft.com/office/drawing/2014/main" val="20001"/>
                    </a:ext>
                  </a:extLst>
                </a:gridCol>
                <a:gridCol w="484188">
                  <a:extLst>
                    <a:ext uri="{9D8B030D-6E8A-4147-A177-3AD203B41FA5}">
                      <a16:colId xmlns:a16="http://schemas.microsoft.com/office/drawing/2014/main" val="20002"/>
                    </a:ext>
                  </a:extLst>
                </a:gridCol>
                <a:gridCol w="473075">
                  <a:extLst>
                    <a:ext uri="{9D8B030D-6E8A-4147-A177-3AD203B41FA5}">
                      <a16:colId xmlns:a16="http://schemas.microsoft.com/office/drawing/2014/main" val="20003"/>
                    </a:ext>
                  </a:extLst>
                </a:gridCol>
                <a:gridCol w="493712">
                  <a:extLst>
                    <a:ext uri="{9D8B030D-6E8A-4147-A177-3AD203B41FA5}">
                      <a16:colId xmlns:a16="http://schemas.microsoft.com/office/drawing/2014/main" val="20004"/>
                    </a:ext>
                  </a:extLst>
                </a:gridCol>
                <a:gridCol w="484188">
                  <a:extLst>
                    <a:ext uri="{9D8B030D-6E8A-4147-A177-3AD203B41FA5}">
                      <a16:colId xmlns:a16="http://schemas.microsoft.com/office/drawing/2014/main" val="20005"/>
                    </a:ext>
                  </a:extLst>
                </a:gridCol>
                <a:gridCol w="484187">
                  <a:extLst>
                    <a:ext uri="{9D8B030D-6E8A-4147-A177-3AD203B41FA5}">
                      <a16:colId xmlns:a16="http://schemas.microsoft.com/office/drawing/2014/main" val="20006"/>
                    </a:ext>
                  </a:extLst>
                </a:gridCol>
                <a:gridCol w="484188">
                  <a:extLst>
                    <a:ext uri="{9D8B030D-6E8A-4147-A177-3AD203B41FA5}">
                      <a16:colId xmlns:a16="http://schemas.microsoft.com/office/drawing/2014/main" val="20007"/>
                    </a:ext>
                  </a:extLst>
                </a:gridCol>
                <a:gridCol w="485775">
                  <a:extLst>
                    <a:ext uri="{9D8B030D-6E8A-4147-A177-3AD203B41FA5}">
                      <a16:colId xmlns:a16="http://schemas.microsoft.com/office/drawing/2014/main" val="20008"/>
                    </a:ext>
                  </a:extLst>
                </a:gridCol>
                <a:gridCol w="484187">
                  <a:extLst>
                    <a:ext uri="{9D8B030D-6E8A-4147-A177-3AD203B41FA5}">
                      <a16:colId xmlns:a16="http://schemas.microsoft.com/office/drawing/2014/main" val="20009"/>
                    </a:ext>
                  </a:extLst>
                </a:gridCol>
                <a:gridCol w="484188">
                  <a:extLst>
                    <a:ext uri="{9D8B030D-6E8A-4147-A177-3AD203B41FA5}">
                      <a16:colId xmlns:a16="http://schemas.microsoft.com/office/drawing/2014/main" val="20010"/>
                    </a:ext>
                  </a:extLst>
                </a:gridCol>
                <a:gridCol w="484187">
                  <a:extLst>
                    <a:ext uri="{9D8B030D-6E8A-4147-A177-3AD203B41FA5}">
                      <a16:colId xmlns:a16="http://schemas.microsoft.com/office/drawing/2014/main" val="20011"/>
                    </a:ext>
                  </a:extLst>
                </a:gridCol>
                <a:gridCol w="482600">
                  <a:extLst>
                    <a:ext uri="{9D8B030D-6E8A-4147-A177-3AD203B41FA5}">
                      <a16:colId xmlns:a16="http://schemas.microsoft.com/office/drawing/2014/main" val="20012"/>
                    </a:ext>
                  </a:extLst>
                </a:gridCol>
                <a:gridCol w="484188">
                  <a:extLst>
                    <a:ext uri="{9D8B030D-6E8A-4147-A177-3AD203B41FA5}">
                      <a16:colId xmlns:a16="http://schemas.microsoft.com/office/drawing/2014/main" val="20013"/>
                    </a:ext>
                  </a:extLst>
                </a:gridCol>
                <a:gridCol w="484187">
                  <a:extLst>
                    <a:ext uri="{9D8B030D-6E8A-4147-A177-3AD203B41FA5}">
                      <a16:colId xmlns:a16="http://schemas.microsoft.com/office/drawing/2014/main" val="20014"/>
                    </a:ext>
                  </a:extLst>
                </a:gridCol>
                <a:gridCol w="484188">
                  <a:extLst>
                    <a:ext uri="{9D8B030D-6E8A-4147-A177-3AD203B41FA5}">
                      <a16:colId xmlns:a16="http://schemas.microsoft.com/office/drawing/2014/main" val="20015"/>
                    </a:ext>
                  </a:extLst>
                </a:gridCol>
                <a:gridCol w="484187">
                  <a:extLst>
                    <a:ext uri="{9D8B030D-6E8A-4147-A177-3AD203B41FA5}">
                      <a16:colId xmlns:a16="http://schemas.microsoft.com/office/drawing/2014/main" val="20016"/>
                    </a:ext>
                  </a:extLst>
                </a:gridCol>
              </a:tblGrid>
              <a:tr h="463550">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endPar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0</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4</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6</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7</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8</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9</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B</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E</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F</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5138">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2</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200" b="0" i="0" u="none" strike="noStrike" cap="none" normalizeH="0" baseline="0">
                          <a:ln>
                            <a:noFill/>
                          </a:ln>
                          <a:solidFill>
                            <a:schemeClr val="tx1"/>
                          </a:solidFill>
                          <a:effectLst/>
                          <a:latin typeface="Arial" panose="020B0604020202020204" pitchFamily="34" charset="0"/>
                          <a:cs typeface="Arial" panose="020B0604020202020204" pitchFamily="34" charset="0"/>
                        </a:rPr>
                        <a:t>space</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&amp;</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672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3</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0</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4</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6</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7</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8</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9</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&lt;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&gt;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5138">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4</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B</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E</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F</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G</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H</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I</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J</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K</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L</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M</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N</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O</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022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5</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P</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Q</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R</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U</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V</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W</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X</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Y</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Z</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_</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6725">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6</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b</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e</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f</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g</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h</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i</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j</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k</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l</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m</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n</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o</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3550">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0" i="0" u="none" strike="noStrike" cap="none" normalizeH="0" baseline="0">
                          <a:ln>
                            <a:noFill/>
                          </a:ln>
                          <a:solidFill>
                            <a:srgbClr val="FF0000"/>
                          </a:solidFill>
                          <a:effectLst/>
                          <a:latin typeface="Arial" panose="020B0604020202020204" pitchFamily="34" charset="0"/>
                          <a:cs typeface="Arial" panose="020B0604020202020204" pitchFamily="34" charset="0"/>
                        </a:rPr>
                        <a:t>7</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p</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q</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r</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u</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v</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w</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x</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y</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z</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2400" b="1"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40000"/>
                        </a:spcBef>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1pPr>
                      <a:lvl2pPr marL="461963">
                        <a:spcBef>
                          <a:spcPct val="40000"/>
                        </a:spcBef>
                        <a:buFont typeface="Wingdings" panose="05000000000000000000" pitchFamily="2" charset="2"/>
                        <a:defRPr>
                          <a:solidFill>
                            <a:schemeClr val="tx1"/>
                          </a:solidFill>
                          <a:latin typeface="Arial" panose="020B0604020202020204" pitchFamily="34" charset="0"/>
                          <a:cs typeface="Arial" panose="020B0604020202020204" pitchFamily="34" charset="0"/>
                        </a:defRPr>
                      </a:lvl2pPr>
                      <a:lvl3pPr marL="912813">
                        <a:spcBef>
                          <a:spcPct val="40000"/>
                        </a:spcBef>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3pPr>
                      <a:lvl4pPr marL="1258888">
                        <a:spcBef>
                          <a:spcPct val="40000"/>
                        </a:spcBef>
                        <a:defRPr sz="1400">
                          <a:solidFill>
                            <a:schemeClr val="tx1"/>
                          </a:solidFill>
                          <a:latin typeface="Arial" panose="020B0604020202020204" pitchFamily="34" charset="0"/>
                          <a:cs typeface="Arial" panose="020B0604020202020204" pitchFamily="34" charset="0"/>
                        </a:defRPr>
                      </a:lvl4pPr>
                      <a:lvl5pPr marL="1595438">
                        <a:spcBef>
                          <a:spcPct val="40000"/>
                        </a:spcBef>
                        <a:defRPr sz="1400">
                          <a:solidFill>
                            <a:schemeClr val="tx1"/>
                          </a:solidFill>
                          <a:latin typeface="Arial" panose="020B0604020202020204" pitchFamily="34" charset="0"/>
                          <a:cs typeface="Arial" panose="020B0604020202020204" pitchFamily="34" charset="0"/>
                        </a:defRPr>
                      </a:lvl5pPr>
                      <a:lvl6pPr marL="20526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6pPr>
                      <a:lvl7pPr marL="25098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7pPr>
                      <a:lvl8pPr marL="29670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8pPr>
                      <a:lvl9pPr marL="3424238" fontAlgn="base">
                        <a:spcBef>
                          <a:spcPct val="4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40000"/>
                        </a:spcBef>
                        <a:spcAft>
                          <a:spcPct val="0"/>
                        </a:spcAft>
                        <a:buClrTx/>
                        <a:buSzTx/>
                        <a:buFont typeface="Wingdings" panose="05000000000000000000" pitchFamily="2" charset="2"/>
                        <a:buNone/>
                        <a:tabLst/>
                      </a:pPr>
                      <a:r>
                        <a:rPr kumimoji="0" lang="en-US" sz="1600" b="0" i="0" u="none" strike="noStrike" cap="none" normalizeH="0" baseline="0">
                          <a:ln>
                            <a:noFill/>
                          </a:ln>
                          <a:solidFill>
                            <a:schemeClr val="tx1"/>
                          </a:solidFill>
                          <a:effectLst/>
                          <a:latin typeface="Arial" panose="020B0604020202020204" pitchFamily="34" charset="0"/>
                          <a:cs typeface="Arial" panose="020B0604020202020204" pitchFamily="34" charset="0"/>
                        </a:rPr>
                        <a:t>DEL</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81537" name="Rectangle 289"/>
          <p:cNvSpPr>
            <a:spLocks noChangeArrowheads="1"/>
          </p:cNvSpPr>
          <p:nvPr/>
        </p:nvSpPr>
        <p:spPr bwMode="auto">
          <a:xfrm>
            <a:off x="1981200" y="4522788"/>
            <a:ext cx="8229600" cy="176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7663" indent="-347663">
              <a:spcBef>
                <a:spcPct val="40000"/>
              </a:spcBef>
              <a:buFont typeface="Wingdings" panose="05000000000000000000" pitchFamily="2" charset="2"/>
              <a:buChar char="v"/>
              <a:defRPr sz="2400">
                <a:solidFill>
                  <a:schemeClr val="tx1"/>
                </a:solidFill>
                <a:latin typeface="Arial" panose="020B0604020202020204" pitchFamily="34" charset="0"/>
                <a:cs typeface="Arial" panose="020B0604020202020204" pitchFamily="34" charset="0"/>
              </a:defRPr>
            </a:lvl1pPr>
            <a:lvl2pPr marL="798513" indent="-336550">
              <a:spcBef>
                <a:spcPct val="40000"/>
              </a:spcBef>
              <a:buFont typeface="Wingdings" panose="05000000000000000000" pitchFamily="2" charset="2"/>
              <a:buChar char="²"/>
              <a:defRPr sz="2000">
                <a:solidFill>
                  <a:schemeClr val="tx1"/>
                </a:solidFill>
                <a:latin typeface="Arial" panose="020B0604020202020204" pitchFamily="34" charset="0"/>
                <a:cs typeface="Arial" panose="020B0604020202020204" pitchFamily="34" charset="0"/>
              </a:defRPr>
            </a:lvl2pPr>
            <a:lvl3pPr marL="1144588" indent="-231775">
              <a:spcBef>
                <a:spcPct val="4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481138" indent="-222250">
              <a:spcBef>
                <a:spcPct val="40000"/>
              </a:spcBef>
              <a:buChar char="–"/>
              <a:defRPr sz="1600">
                <a:solidFill>
                  <a:schemeClr val="tx1"/>
                </a:solidFill>
                <a:latin typeface="Arial" panose="020B0604020202020204" pitchFamily="34" charset="0"/>
                <a:cs typeface="Arial" panose="020B0604020202020204" pitchFamily="34" charset="0"/>
              </a:defRPr>
            </a:lvl4pPr>
            <a:lvl5pPr indent="-233363">
              <a:spcBef>
                <a:spcPct val="40000"/>
              </a:spcBef>
              <a:buChar char="»"/>
              <a:defRPr sz="1600">
                <a:solidFill>
                  <a:schemeClr val="tx1"/>
                </a:solidFill>
                <a:latin typeface="Arial" panose="020B0604020202020204" pitchFamily="34" charset="0"/>
                <a:cs typeface="Arial" panose="020B0604020202020204" pitchFamily="34" charset="0"/>
              </a:defRPr>
            </a:lvl5pPr>
            <a:lvl6pPr indent="-233363" fontAlgn="base">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6pPr>
            <a:lvl7pPr indent="-233363" fontAlgn="base">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7pPr>
            <a:lvl8pPr indent="-233363" fontAlgn="base">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8pPr>
            <a:lvl9pPr indent="-233363" fontAlgn="base">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r>
              <a:rPr lang="en-US" dirty="0">
                <a:latin typeface="Comic Sans MS" panose="030F0702030302020204" pitchFamily="66" charset="0"/>
              </a:rPr>
              <a:t>Examples:</a:t>
            </a:r>
          </a:p>
          <a:p>
            <a:pPr lvl="1"/>
            <a:r>
              <a:rPr lang="en-US" dirty="0">
                <a:latin typeface="Comic Sans MS" panose="030F0702030302020204" pitchFamily="66" charset="0"/>
              </a:rPr>
              <a:t>ASCII code for space character = 20 (hex) = 32 (decimal)</a:t>
            </a:r>
          </a:p>
          <a:p>
            <a:pPr lvl="1"/>
            <a:r>
              <a:rPr lang="en-US" dirty="0">
                <a:latin typeface="Comic Sans MS" panose="030F0702030302020204" pitchFamily="66" charset="0"/>
              </a:rPr>
              <a:t>ASCII code for 'L' = 4C (hex) = 76 (decimal)</a:t>
            </a:r>
          </a:p>
          <a:p>
            <a:pPr lvl="1"/>
            <a:r>
              <a:rPr lang="en-US" dirty="0">
                <a:latin typeface="Comic Sans MS" panose="030F0702030302020204" pitchFamily="66" charset="0"/>
              </a:rPr>
              <a:t>ASCII code for 'a' = 61 (hex) = 97 (decimal)</a:t>
            </a:r>
          </a:p>
        </p:txBody>
      </p:sp>
    </p:spTree>
    <p:extLst>
      <p:ext uri="{BB962C8B-B14F-4D97-AF65-F5344CB8AC3E}">
        <p14:creationId xmlns:p14="http://schemas.microsoft.com/office/powerpoint/2010/main" val="39187522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a:xfrm>
            <a:off x="838200" y="103867"/>
            <a:ext cx="10515600" cy="999219"/>
          </a:xfrm>
        </p:spPr>
        <p:txBody>
          <a:bodyPr/>
          <a:lstStyle/>
          <a:p>
            <a:r>
              <a:rPr lang="en-US" dirty="0">
                <a:solidFill>
                  <a:srgbClr val="FF0000"/>
                </a:solidFill>
                <a:latin typeface="Comic Sans MS" panose="030F0702030302020204" pitchFamily="66" charset="0"/>
              </a:rPr>
              <a:t>Control Characters</a:t>
            </a:r>
          </a:p>
        </p:txBody>
      </p:sp>
      <p:sp>
        <p:nvSpPr>
          <p:cNvPr id="185347" name="Rectangle 3"/>
          <p:cNvSpPr>
            <a:spLocks noGrp="1" noChangeArrowheads="1"/>
          </p:cNvSpPr>
          <p:nvPr>
            <p:ph type="body" idx="1"/>
          </p:nvPr>
        </p:nvSpPr>
        <p:spPr>
          <a:xfrm>
            <a:off x="838200" y="1103086"/>
            <a:ext cx="10515600" cy="5073877"/>
          </a:xfrm>
          <a:noFill/>
        </p:spPr>
        <p:txBody>
          <a:bodyPr vert="horz" lIns="0" tIns="45720" rIns="0" bIns="45720" rtlCol="0">
            <a:normAutofit lnSpcReduction="10000"/>
          </a:bodyPr>
          <a:lstStyle/>
          <a:p>
            <a:pPr>
              <a:spcBef>
                <a:spcPct val="30000"/>
              </a:spcBef>
            </a:pPr>
            <a:r>
              <a:rPr lang="en-US" dirty="0">
                <a:latin typeface="Comic Sans MS" panose="030F0702030302020204" pitchFamily="66" charset="0"/>
              </a:rPr>
              <a:t>The first 32 characters of ASCII table are used for control</a:t>
            </a:r>
          </a:p>
          <a:p>
            <a:pPr>
              <a:spcBef>
                <a:spcPct val="30000"/>
              </a:spcBef>
            </a:pPr>
            <a:r>
              <a:rPr lang="en-US" dirty="0">
                <a:latin typeface="Comic Sans MS" panose="030F0702030302020204" pitchFamily="66" charset="0"/>
              </a:rPr>
              <a:t>Control character codes = 00 to 1F (hex)</a:t>
            </a:r>
          </a:p>
          <a:p>
            <a:pPr lvl="1">
              <a:spcBef>
                <a:spcPct val="30000"/>
              </a:spcBef>
            </a:pPr>
            <a:r>
              <a:rPr lang="en-US" dirty="0">
                <a:latin typeface="Comic Sans MS" panose="030F0702030302020204" pitchFamily="66" charset="0"/>
              </a:rPr>
              <a:t>Not shown in previous slide</a:t>
            </a:r>
          </a:p>
          <a:p>
            <a:pPr>
              <a:spcBef>
                <a:spcPct val="30000"/>
              </a:spcBef>
            </a:pPr>
            <a:r>
              <a:rPr lang="en-US" dirty="0">
                <a:latin typeface="Comic Sans MS" panose="030F0702030302020204" pitchFamily="66" charset="0"/>
              </a:rPr>
              <a:t>Examples of Control Characters</a:t>
            </a:r>
          </a:p>
          <a:p>
            <a:pPr lvl="1">
              <a:spcBef>
                <a:spcPct val="30000"/>
              </a:spcBef>
            </a:pPr>
            <a:r>
              <a:rPr lang="en-US" dirty="0">
                <a:latin typeface="Comic Sans MS" panose="030F0702030302020204" pitchFamily="66" charset="0"/>
              </a:rPr>
              <a:t>Character 0 is the </a:t>
            </a:r>
            <a:r>
              <a:rPr lang="en-US" dirty="0">
                <a:solidFill>
                  <a:srgbClr val="FF0000"/>
                </a:solidFill>
                <a:latin typeface="Comic Sans MS" panose="030F0702030302020204" pitchFamily="66" charset="0"/>
              </a:rPr>
              <a:t>NULL</a:t>
            </a:r>
            <a:r>
              <a:rPr lang="en-US" dirty="0">
                <a:latin typeface="Comic Sans MS" panose="030F0702030302020204" pitchFamily="66" charset="0"/>
              </a:rPr>
              <a:t> character </a:t>
            </a:r>
            <a:r>
              <a:rPr lang="en-US" dirty="0">
                <a:latin typeface="Comic Sans MS" panose="030F0702030302020204" pitchFamily="66" charset="0"/>
                <a:sym typeface="Symbol" panose="05050102010706020507" pitchFamily="18" charset="2"/>
              </a:rPr>
              <a:t></a:t>
            </a:r>
            <a:r>
              <a:rPr lang="en-US" dirty="0">
                <a:latin typeface="Comic Sans MS" panose="030F0702030302020204" pitchFamily="66" charset="0"/>
              </a:rPr>
              <a:t> used to terminate a string</a:t>
            </a:r>
          </a:p>
          <a:p>
            <a:pPr lvl="1">
              <a:spcBef>
                <a:spcPct val="30000"/>
              </a:spcBef>
            </a:pPr>
            <a:r>
              <a:rPr lang="en-US" dirty="0">
                <a:latin typeface="Comic Sans MS" panose="030F0702030302020204" pitchFamily="66" charset="0"/>
              </a:rPr>
              <a:t>Character 9 is the </a:t>
            </a:r>
            <a:r>
              <a:rPr lang="en-US" dirty="0">
                <a:solidFill>
                  <a:srgbClr val="FF0000"/>
                </a:solidFill>
                <a:latin typeface="Comic Sans MS" panose="030F0702030302020204" pitchFamily="66" charset="0"/>
              </a:rPr>
              <a:t>Horizontal Tab (HT)</a:t>
            </a:r>
            <a:r>
              <a:rPr lang="en-US" dirty="0">
                <a:latin typeface="Comic Sans MS" panose="030F0702030302020204" pitchFamily="66" charset="0"/>
              </a:rPr>
              <a:t> character</a:t>
            </a:r>
          </a:p>
          <a:p>
            <a:pPr lvl="1">
              <a:spcBef>
                <a:spcPct val="30000"/>
              </a:spcBef>
            </a:pPr>
            <a:r>
              <a:rPr lang="en-US" dirty="0">
                <a:latin typeface="Comic Sans MS" panose="030F0702030302020204" pitchFamily="66" charset="0"/>
              </a:rPr>
              <a:t>Character 0A (hex) = 10 (decimal) is the </a:t>
            </a:r>
            <a:r>
              <a:rPr lang="en-US" dirty="0">
                <a:solidFill>
                  <a:srgbClr val="FF0000"/>
                </a:solidFill>
                <a:latin typeface="Comic Sans MS" panose="030F0702030302020204" pitchFamily="66" charset="0"/>
              </a:rPr>
              <a:t>Line Feed (LF)</a:t>
            </a:r>
          </a:p>
          <a:p>
            <a:pPr lvl="1">
              <a:spcBef>
                <a:spcPct val="30000"/>
              </a:spcBef>
            </a:pPr>
            <a:r>
              <a:rPr lang="en-US" dirty="0">
                <a:latin typeface="Comic Sans MS" panose="030F0702030302020204" pitchFamily="66" charset="0"/>
              </a:rPr>
              <a:t>Character 0D (hex) = 13 (decimal) is the </a:t>
            </a:r>
            <a:r>
              <a:rPr lang="en-US" dirty="0">
                <a:solidFill>
                  <a:srgbClr val="FF0000"/>
                </a:solidFill>
                <a:latin typeface="Comic Sans MS" panose="030F0702030302020204" pitchFamily="66" charset="0"/>
              </a:rPr>
              <a:t>Carriage Return (CR)</a:t>
            </a:r>
          </a:p>
          <a:p>
            <a:pPr lvl="1">
              <a:spcBef>
                <a:spcPct val="30000"/>
              </a:spcBef>
            </a:pPr>
            <a:r>
              <a:rPr lang="en-US" dirty="0">
                <a:latin typeface="Comic Sans MS" panose="030F0702030302020204" pitchFamily="66" charset="0"/>
              </a:rPr>
              <a:t>The LF and CR characters are used together</a:t>
            </a:r>
          </a:p>
          <a:p>
            <a:pPr lvl="2">
              <a:spcBef>
                <a:spcPct val="30000"/>
              </a:spcBef>
            </a:pPr>
            <a:r>
              <a:rPr lang="en-US" dirty="0">
                <a:latin typeface="Comic Sans MS" panose="030F0702030302020204" pitchFamily="66" charset="0"/>
              </a:rPr>
              <a:t>They advance the cursor to the beginning of next line</a:t>
            </a:r>
          </a:p>
          <a:p>
            <a:pPr>
              <a:spcBef>
                <a:spcPct val="30000"/>
              </a:spcBef>
            </a:pPr>
            <a:r>
              <a:rPr lang="en-US" dirty="0">
                <a:latin typeface="Comic Sans MS" panose="030F0702030302020204" pitchFamily="66" charset="0"/>
              </a:rPr>
              <a:t>One control character appears at end of ASCII table</a:t>
            </a:r>
          </a:p>
          <a:p>
            <a:pPr lvl="1">
              <a:spcBef>
                <a:spcPct val="30000"/>
              </a:spcBef>
            </a:pPr>
            <a:r>
              <a:rPr lang="en-US" dirty="0">
                <a:latin typeface="Comic Sans MS" panose="030F0702030302020204" pitchFamily="66" charset="0"/>
              </a:rPr>
              <a:t>Character 7F (hex) is the </a:t>
            </a:r>
            <a:r>
              <a:rPr lang="en-US" dirty="0">
                <a:solidFill>
                  <a:srgbClr val="FF0000"/>
                </a:solidFill>
                <a:latin typeface="Comic Sans MS" panose="030F0702030302020204" pitchFamily="66" charset="0"/>
              </a:rPr>
              <a:t>Delete (DEL)</a:t>
            </a:r>
            <a:r>
              <a:rPr lang="en-US" dirty="0">
                <a:latin typeface="Comic Sans MS" panose="030F0702030302020204" pitchFamily="66" charset="0"/>
              </a:rPr>
              <a:t> character</a:t>
            </a:r>
          </a:p>
        </p:txBody>
      </p:sp>
    </p:spTree>
    <p:extLst>
      <p:ext uri="{BB962C8B-B14F-4D97-AF65-F5344CB8AC3E}">
        <p14:creationId xmlns:p14="http://schemas.microsoft.com/office/powerpoint/2010/main" val="13760126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751114" y="0"/>
            <a:ext cx="10515600" cy="957943"/>
          </a:xfrm>
        </p:spPr>
        <p:txBody>
          <a:bodyPr/>
          <a:lstStyle/>
          <a:p>
            <a:r>
              <a:rPr lang="en-US" dirty="0">
                <a:solidFill>
                  <a:srgbClr val="FF0000"/>
                </a:solidFill>
                <a:latin typeface="Comic Sans MS" panose="030F0702030302020204" pitchFamily="66" charset="0"/>
              </a:rPr>
              <a:t>Terminology for Data Representation</a:t>
            </a:r>
          </a:p>
        </p:txBody>
      </p:sp>
      <p:sp>
        <p:nvSpPr>
          <p:cNvPr id="141315" name="Rectangle 3"/>
          <p:cNvSpPr>
            <a:spLocks noGrp="1" noChangeArrowheads="1"/>
          </p:cNvSpPr>
          <p:nvPr>
            <p:ph type="body" idx="1"/>
          </p:nvPr>
        </p:nvSpPr>
        <p:spPr>
          <a:xfrm>
            <a:off x="1567543" y="841829"/>
            <a:ext cx="8617857" cy="5409747"/>
          </a:xfrm>
        </p:spPr>
        <p:txBody>
          <a:bodyPr/>
          <a:lstStyle/>
          <a:p>
            <a:r>
              <a:rPr lang="en-US" dirty="0">
                <a:latin typeface="Comic Sans MS" panose="030F0702030302020204" pitchFamily="66" charset="0"/>
              </a:rPr>
              <a:t>Binary Integer</a:t>
            </a:r>
          </a:p>
          <a:p>
            <a:pPr lvl="1"/>
            <a:r>
              <a:rPr lang="en-US" dirty="0">
                <a:latin typeface="Comic Sans MS" panose="030F0702030302020204" pitchFamily="66" charset="0"/>
              </a:rPr>
              <a:t>Integer stored in memory in its binary format</a:t>
            </a:r>
          </a:p>
          <a:p>
            <a:pPr lvl="1"/>
            <a:r>
              <a:rPr lang="en-US" dirty="0">
                <a:latin typeface="Comic Sans MS" panose="030F0702030302020204" pitchFamily="66" charset="0"/>
              </a:rPr>
              <a:t>Ready to be used in binary calculations</a:t>
            </a:r>
          </a:p>
          <a:p>
            <a:r>
              <a:rPr lang="en-US" dirty="0">
                <a:latin typeface="Comic Sans MS" panose="030F0702030302020204" pitchFamily="66" charset="0"/>
              </a:rPr>
              <a:t>ASCII Digit String</a:t>
            </a:r>
          </a:p>
          <a:p>
            <a:pPr lvl="1"/>
            <a:r>
              <a:rPr lang="en-US" dirty="0">
                <a:latin typeface="Comic Sans MS" panose="030F0702030302020204" pitchFamily="66" charset="0"/>
              </a:rPr>
              <a:t>A string of ASCII digits, such as "123"</a:t>
            </a:r>
          </a:p>
          <a:p>
            <a:r>
              <a:rPr lang="en-US" dirty="0">
                <a:latin typeface="Comic Sans MS" panose="030F0702030302020204" pitchFamily="66" charset="0"/>
              </a:rPr>
              <a:t>ASCII binary</a:t>
            </a:r>
          </a:p>
          <a:p>
            <a:pPr lvl="1"/>
            <a:r>
              <a:rPr lang="en-US" dirty="0">
                <a:latin typeface="Comic Sans MS" panose="030F0702030302020204" pitchFamily="66" charset="0"/>
              </a:rPr>
              <a:t>String of binary digits: "01010101"</a:t>
            </a:r>
          </a:p>
          <a:p>
            <a:r>
              <a:rPr lang="en-US" dirty="0">
                <a:latin typeface="Comic Sans MS" panose="030F0702030302020204" pitchFamily="66" charset="0"/>
              </a:rPr>
              <a:t>ASCII decimal</a:t>
            </a:r>
          </a:p>
          <a:p>
            <a:pPr lvl="1"/>
            <a:r>
              <a:rPr lang="en-US" dirty="0">
                <a:latin typeface="Comic Sans MS" panose="030F0702030302020204" pitchFamily="66" charset="0"/>
              </a:rPr>
              <a:t>String of decimal digits: "6517"</a:t>
            </a:r>
          </a:p>
          <a:p>
            <a:r>
              <a:rPr lang="en-US" dirty="0">
                <a:latin typeface="Comic Sans MS" panose="030F0702030302020204" pitchFamily="66" charset="0"/>
              </a:rPr>
              <a:t>ASCII hexadecimal</a:t>
            </a:r>
          </a:p>
          <a:p>
            <a:pPr lvl="1"/>
            <a:r>
              <a:rPr lang="en-US" dirty="0">
                <a:latin typeface="Comic Sans MS" panose="030F0702030302020204" pitchFamily="66" charset="0"/>
              </a:rPr>
              <a:t>String of hexadecimal digits: "9C7B"</a:t>
            </a:r>
          </a:p>
        </p:txBody>
      </p:sp>
    </p:spTree>
    <p:extLst>
      <p:ext uri="{BB962C8B-B14F-4D97-AF65-F5344CB8AC3E}">
        <p14:creationId xmlns:p14="http://schemas.microsoft.com/office/powerpoint/2010/main" val="36390970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78BFF1-C4DD-4E62-8DD0-60E4A70728FF}"/>
              </a:ext>
            </a:extLst>
          </p:cNvPr>
          <p:cNvSpPr>
            <a:spLocks noGrp="1"/>
          </p:cNvSpPr>
          <p:nvPr>
            <p:ph idx="1"/>
          </p:nvPr>
        </p:nvSpPr>
        <p:spPr>
          <a:xfrm>
            <a:off x="98611" y="71718"/>
            <a:ext cx="12003741" cy="6696635"/>
          </a:xfrm>
        </p:spPr>
        <p:txBody>
          <a:bodyPr>
            <a:normAutofit/>
          </a:bodyPr>
          <a:lstStyle/>
          <a:p>
            <a:r>
              <a:rPr lang="en-GB" sz="3200" b="1" i="0" u="none" strike="noStrike" baseline="0" dirty="0">
                <a:solidFill>
                  <a:srgbClr val="FF0000"/>
                </a:solidFill>
                <a:latin typeface="Comic Sans MS" panose="030F0702030302020204" pitchFamily="66" charset="0"/>
              </a:rPr>
              <a:t>Gray Codes</a:t>
            </a:r>
          </a:p>
          <a:p>
            <a:pPr algn="just"/>
            <a:r>
              <a:rPr lang="en-GB" b="0" i="0" u="none" strike="noStrike" baseline="0" dirty="0">
                <a:latin typeface="Comic Sans MS" panose="030F0702030302020204" pitchFamily="66" charset="0"/>
              </a:rPr>
              <a:t>The use of binary counting sequences is common in digital applications. For example, an n-bit binary value can be used to identify the position of a rotating shaft as being within one of 2</a:t>
            </a:r>
            <a:r>
              <a:rPr lang="en-GB" b="0" i="0" u="none" strike="noStrike" baseline="30000" dirty="0">
                <a:latin typeface="Comic Sans MS" panose="030F0702030302020204" pitchFamily="66" charset="0"/>
              </a:rPr>
              <a:t>n</a:t>
            </a:r>
            <a:r>
              <a:rPr lang="en-GB" b="0" i="0" u="none" strike="noStrike" baseline="0" dirty="0">
                <a:latin typeface="Comic Sans MS" panose="030F0702030302020204" pitchFamily="66" charset="0"/>
              </a:rPr>
              <a:t> different arcs</a:t>
            </a:r>
            <a:r>
              <a:rPr lang="en-GB" sz="1800" b="0" i="0" u="none" strike="noStrike" baseline="0" dirty="0">
                <a:latin typeface="TimesNewRomanPSMT"/>
              </a:rPr>
              <a:t>.</a:t>
            </a:r>
          </a:p>
          <a:p>
            <a:pPr algn="just"/>
            <a:endParaRPr lang="en-GB" sz="1800" dirty="0">
              <a:solidFill>
                <a:srgbClr val="FF0000"/>
              </a:solidFill>
              <a:latin typeface="TimesNewRomanPSMT"/>
            </a:endParaRPr>
          </a:p>
          <a:p>
            <a:pPr algn="just"/>
            <a:r>
              <a:rPr lang="en-GB" b="0" i="0" u="none" strike="noStrike" baseline="0" dirty="0">
                <a:latin typeface="Comic Sans MS" panose="030F0702030302020204" pitchFamily="66" charset="0"/>
              </a:rPr>
              <a:t>As the shaft turns, a sensor can detect which of the shaft's arcs it is aligned with by reading a digital value and associating it with a specific arc. By remembering the previous position and timing the changes between positions, a processor can also compute speed and direction.</a:t>
            </a:r>
          </a:p>
          <a:p>
            <a:pPr algn="just"/>
            <a:endParaRPr lang="en-GB" b="0" i="0" u="none" strike="noStrike" baseline="0" dirty="0">
              <a:latin typeface="Comic Sans MS" panose="030F0702030302020204" pitchFamily="66" charset="0"/>
            </a:endParaRPr>
          </a:p>
          <a:p>
            <a:pPr algn="l"/>
            <a:r>
              <a:rPr lang="en-GB" dirty="0">
                <a:latin typeface="Comic Sans MS" panose="030F0702030302020204" pitchFamily="66" charset="0"/>
              </a:rPr>
              <a:t>The figure below </a:t>
            </a:r>
            <a:r>
              <a:rPr lang="en-GB" b="0" i="0" u="none" strike="noStrike" baseline="0" dirty="0">
                <a:latin typeface="Comic Sans MS" panose="030F0702030302020204" pitchFamily="66" charset="0"/>
              </a:rPr>
              <a:t>shows how a shaft's position might be divided into eight arcs using three bits. This would allow a processor to determine </a:t>
            </a:r>
            <a:r>
              <a:rPr lang="en-GB" b="0" i="0" u="none" strike="noStrike" baseline="0" dirty="0" err="1">
                <a:latin typeface="Comic Sans MS" panose="030F0702030302020204" pitchFamily="66" charset="0"/>
              </a:rPr>
              <a:t>theshaft's</a:t>
            </a:r>
            <a:r>
              <a:rPr lang="en-GB" b="0" i="0" u="none" strike="noStrike" baseline="0" dirty="0">
                <a:latin typeface="Comic Sans MS" panose="030F0702030302020204" pitchFamily="66" charset="0"/>
              </a:rPr>
              <a:t> position to within 360</a:t>
            </a:r>
            <a:r>
              <a:rPr lang="en-GB" b="0" i="0" u="none" strike="noStrike" baseline="30000" dirty="0">
                <a:latin typeface="Comic Sans MS" panose="030F0702030302020204" pitchFamily="66" charset="0"/>
              </a:rPr>
              <a:t>o</a:t>
            </a:r>
            <a:r>
              <a:rPr lang="en-GB" b="0" i="0" u="none" strike="noStrike" baseline="0" dirty="0">
                <a:latin typeface="Comic Sans MS" panose="030F0702030302020204" pitchFamily="66" charset="0"/>
              </a:rPr>
              <a:t>/8 = 45</a:t>
            </a:r>
            <a:r>
              <a:rPr lang="en-GB" b="0" i="0" u="none" strike="noStrike" baseline="30000" dirty="0">
                <a:latin typeface="Comic Sans MS" panose="030F0702030302020204" pitchFamily="66" charset="0"/>
              </a:rPr>
              <a:t>o</a:t>
            </a:r>
            <a:r>
              <a:rPr lang="en-GB" b="0" i="0" u="none" strike="noStrike" baseline="0" dirty="0">
                <a:latin typeface="Comic Sans MS" panose="030F0702030302020204" pitchFamily="66" charset="0"/>
              </a:rPr>
              <a:t>.</a:t>
            </a:r>
            <a:endParaRPr lang="en-GB" dirty="0">
              <a:latin typeface="Comic Sans MS" panose="030F0702030302020204" pitchFamily="66" charset="0"/>
            </a:endParaRPr>
          </a:p>
        </p:txBody>
      </p:sp>
    </p:spTree>
    <p:extLst>
      <p:ext uri="{BB962C8B-B14F-4D97-AF65-F5344CB8AC3E}">
        <p14:creationId xmlns:p14="http://schemas.microsoft.com/office/powerpoint/2010/main" val="14324443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89CF45A-3B78-4BF1-A302-1A39FDB46EA1}"/>
              </a:ext>
            </a:extLst>
          </p:cNvPr>
          <p:cNvPicPr>
            <a:picLocks noGrp="1" noChangeAspect="1"/>
          </p:cNvPicPr>
          <p:nvPr>
            <p:ph idx="1"/>
          </p:nvPr>
        </p:nvPicPr>
        <p:blipFill>
          <a:blip r:embed="rId2"/>
          <a:stretch>
            <a:fillRect/>
          </a:stretch>
        </p:blipFill>
        <p:spPr>
          <a:xfrm>
            <a:off x="631936" y="385482"/>
            <a:ext cx="10799782" cy="5207895"/>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7" name="TextBox 6">
            <a:extLst>
              <a:ext uri="{FF2B5EF4-FFF2-40B4-BE49-F238E27FC236}">
                <a16:creationId xmlns:a16="http://schemas.microsoft.com/office/drawing/2014/main" id="{78320E7F-AE57-43CC-9CC2-29D7BC95FA4C}"/>
              </a:ext>
            </a:extLst>
          </p:cNvPr>
          <p:cNvSpPr txBox="1"/>
          <p:nvPr/>
        </p:nvSpPr>
        <p:spPr>
          <a:xfrm>
            <a:off x="2868707" y="5931513"/>
            <a:ext cx="6096000" cy="830997"/>
          </a:xfrm>
          <a:prstGeom prst="rect">
            <a:avLst/>
          </a:prstGeom>
          <a:noFill/>
        </p:spPr>
        <p:txBody>
          <a:bodyPr wrap="square">
            <a:spAutoFit/>
          </a:bodyPr>
          <a:lstStyle/>
          <a:p>
            <a:r>
              <a:rPr lang="en-GB" sz="2400" b="0" i="0" u="none" strike="noStrike" baseline="0" dirty="0">
                <a:solidFill>
                  <a:srgbClr val="FF0000"/>
                </a:solidFill>
                <a:latin typeface="Comic Sans MS" panose="030F0702030302020204" pitchFamily="66" charset="0"/>
              </a:rPr>
              <a:t>Eight Binary Values Identifying Rotating Shaft Position</a:t>
            </a:r>
            <a:endParaRPr lang="en-GB" sz="2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9936124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6E04E2-492B-49F9-8BAE-82977C4C0826}"/>
              </a:ext>
            </a:extLst>
          </p:cNvPr>
          <p:cNvSpPr>
            <a:spLocks noGrp="1"/>
          </p:cNvSpPr>
          <p:nvPr>
            <p:ph idx="1"/>
          </p:nvPr>
        </p:nvSpPr>
        <p:spPr>
          <a:xfrm>
            <a:off x="98611" y="0"/>
            <a:ext cx="12003741" cy="6795247"/>
          </a:xfrm>
        </p:spPr>
        <p:txBody>
          <a:bodyPr>
            <a:normAutofit/>
          </a:bodyPr>
          <a:lstStyle/>
          <a:p>
            <a:pPr algn="l"/>
            <a:r>
              <a:rPr lang="en-GB" sz="2400" b="0" i="0" u="none" strike="noStrike" baseline="0" dirty="0">
                <a:latin typeface="Comic Sans MS" panose="030F0702030302020204" pitchFamily="66" charset="0"/>
              </a:rPr>
              <a:t>One type of shaft position sensor uses a disk mounted to the shaft with slots cut into the disk at different radii representing different bits.</a:t>
            </a:r>
          </a:p>
          <a:p>
            <a:pPr algn="l"/>
            <a:endParaRPr lang="en-GB" sz="2400" b="0" i="0" u="none" strike="noStrike" baseline="0" dirty="0">
              <a:latin typeface="Comic Sans MS" panose="030F0702030302020204" pitchFamily="66" charset="0"/>
            </a:endParaRPr>
          </a:p>
          <a:p>
            <a:pPr algn="l"/>
            <a:r>
              <a:rPr lang="en-GB" sz="2400" b="0" i="0" u="none" strike="noStrike" baseline="0" dirty="0">
                <a:latin typeface="Comic Sans MS" panose="030F0702030302020204" pitchFamily="66" charset="0"/>
              </a:rPr>
              <a:t>Light sources are placed on one side of the disk while sensors on the other side of the disk detect when a hole is present, i.e., the sensor is receiving light.</a:t>
            </a:r>
          </a:p>
          <a:p>
            <a:pPr algn="l"/>
            <a:endParaRPr lang="en-GB"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It is possible to read the sensor at the instant when more than one gap is opening or closing between its light source and sensor. When this happens, some of the bit changes may be detected while others are not. If this happens, an erroneous measurement may occur.</a:t>
            </a:r>
          </a:p>
          <a:p>
            <a:pPr algn="just"/>
            <a:endParaRPr lang="en-GB" sz="2400" dirty="0">
              <a:latin typeface="Comic Sans MS" panose="030F0702030302020204" pitchFamily="66" charset="0"/>
            </a:endParaRPr>
          </a:p>
          <a:p>
            <a:pPr algn="just"/>
            <a:r>
              <a:rPr lang="en-GB" sz="2400" b="0" i="0" u="none" strike="noStrike" baseline="0" dirty="0">
                <a:latin typeface="Comic Sans MS" panose="030F0702030302020204" pitchFamily="66" charset="0"/>
              </a:rPr>
              <a:t>For example, if the shaft shown above turns clockwise toward position 101</a:t>
            </a:r>
            <a:r>
              <a:rPr lang="en-GB" sz="2400" b="0" i="0" u="none" strike="noStrike" baseline="-25000" dirty="0">
                <a:latin typeface="Comic Sans MS" panose="030F0702030302020204" pitchFamily="66" charset="0"/>
              </a:rPr>
              <a:t>2</a:t>
            </a:r>
            <a:r>
              <a:rPr lang="en-GB" sz="2400" b="0" i="0" u="none" strike="noStrike" baseline="0" dirty="0">
                <a:latin typeface="Comic Sans MS" panose="030F0702030302020204" pitchFamily="66" charset="0"/>
              </a:rPr>
              <a:t> = 5, but at the instant when the sensor is read, only the first bit change is detected, then the value read will be 111</a:t>
            </a:r>
            <a:r>
              <a:rPr lang="en-GB" sz="2400" b="0" i="0" u="none" strike="noStrike" baseline="-25000" dirty="0">
                <a:latin typeface="Comic Sans MS" panose="030F0702030302020204" pitchFamily="66" charset="0"/>
              </a:rPr>
              <a:t>2</a:t>
            </a:r>
            <a:r>
              <a:rPr lang="en-GB" sz="2400" b="0" i="0" u="none" strike="noStrike" baseline="0" dirty="0">
                <a:latin typeface="Comic Sans MS" panose="030F0702030302020204" pitchFamily="66" charset="0"/>
              </a:rPr>
              <a:t> = 7 indicating counter-clockwise rotation.</a:t>
            </a:r>
          </a:p>
          <a:p>
            <a:pPr algn="just"/>
            <a:endParaRPr lang="en-GB" sz="2400" b="0" i="0" u="none" strike="noStrike" baseline="0" dirty="0">
              <a:latin typeface="Comic Sans MS" panose="030F0702030302020204" pitchFamily="66" charset="0"/>
            </a:endParaRPr>
          </a:p>
          <a:p>
            <a:pPr algn="l"/>
            <a:r>
              <a:rPr lang="en-GB" sz="2400" b="0" i="0" u="none" strike="noStrike" baseline="0" dirty="0">
                <a:latin typeface="Comic Sans MS" panose="030F0702030302020204" pitchFamily="66" charset="0"/>
              </a:rPr>
              <a:t>To solve this problem, alternate counting sequences referred to as the </a:t>
            </a:r>
            <a:r>
              <a:rPr lang="en-GB" sz="2400" b="1" i="1" u="none" strike="noStrike" baseline="0" dirty="0">
                <a:solidFill>
                  <a:srgbClr val="FF0000"/>
                </a:solidFill>
                <a:latin typeface="Comic Sans MS" panose="030F0702030302020204" pitchFamily="66" charset="0"/>
              </a:rPr>
              <a:t>Gray code</a:t>
            </a:r>
            <a:r>
              <a:rPr lang="en-GB" sz="2400" b="1" i="1" u="none" strike="noStrike" baseline="0" dirty="0">
                <a:latin typeface="Comic Sans MS" panose="030F0702030302020204" pitchFamily="66" charset="0"/>
              </a:rPr>
              <a:t> </a:t>
            </a:r>
            <a:r>
              <a:rPr lang="en-GB" sz="2400" b="0" i="0" u="none" strike="noStrike" baseline="0" dirty="0">
                <a:latin typeface="Comic Sans MS" panose="030F0702030302020204" pitchFamily="66" charset="0"/>
              </a:rPr>
              <a:t>are used; </a:t>
            </a:r>
            <a:r>
              <a:rPr lang="en-GB" sz="2400" b="0" i="0" u="none" strike="noStrike" baseline="0" dirty="0">
                <a:solidFill>
                  <a:srgbClr val="FF0000"/>
                </a:solidFill>
                <a:latin typeface="Comic Sans MS" panose="030F0702030302020204" pitchFamily="66" charset="0"/>
              </a:rPr>
              <a:t>These sequences have only one bit change between values</a:t>
            </a:r>
            <a:r>
              <a:rPr lang="en-GB" sz="2400" b="0" i="0" u="none" strike="noStrike" baseline="0" dirty="0">
                <a:latin typeface="Comic Sans MS" panose="030F0702030302020204" pitchFamily="66" charset="0"/>
              </a:rPr>
              <a:t>.</a:t>
            </a:r>
            <a:endParaRPr lang="en-GB" sz="2400" dirty="0">
              <a:latin typeface="Comic Sans MS" panose="030F0702030302020204" pitchFamily="66" charset="0"/>
            </a:endParaRPr>
          </a:p>
        </p:txBody>
      </p:sp>
    </p:spTree>
    <p:extLst>
      <p:ext uri="{BB962C8B-B14F-4D97-AF65-F5344CB8AC3E}">
        <p14:creationId xmlns:p14="http://schemas.microsoft.com/office/powerpoint/2010/main" val="4925777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F9280E-638A-4ADB-A2E4-F54816BBD900}"/>
              </a:ext>
            </a:extLst>
          </p:cNvPr>
          <p:cNvSpPr>
            <a:spLocks noGrp="1"/>
          </p:cNvSpPr>
          <p:nvPr>
            <p:ph idx="1"/>
          </p:nvPr>
        </p:nvSpPr>
        <p:spPr>
          <a:xfrm>
            <a:off x="71717" y="71718"/>
            <a:ext cx="12030635" cy="6786282"/>
          </a:xfrm>
        </p:spPr>
        <p:txBody>
          <a:bodyPr>
            <a:normAutofit lnSpcReduction="10000"/>
          </a:bodyPr>
          <a:lstStyle/>
          <a:p>
            <a:pPr algn="just"/>
            <a:r>
              <a:rPr lang="en-GB" b="0" i="0" u="none" strike="noStrike" baseline="0" dirty="0">
                <a:latin typeface="Comic Sans MS" panose="030F0702030302020204" pitchFamily="66" charset="0"/>
              </a:rPr>
              <a:t>For example, the values assigned to the arcs of the above shaft could follow the sequence 000, 001, 011, 010, 110, 111, 101, 100. </a:t>
            </a:r>
            <a:r>
              <a:rPr lang="en-GB" b="0" i="0" u="none" strike="noStrike" baseline="0" dirty="0">
                <a:solidFill>
                  <a:srgbClr val="FF0000"/>
                </a:solidFill>
                <a:latin typeface="Comic Sans MS" panose="030F0702030302020204" pitchFamily="66" charset="0"/>
              </a:rPr>
              <a:t>This sequence is not correct numerically</a:t>
            </a:r>
            <a:r>
              <a:rPr lang="en-GB" b="0" i="0" u="none" strike="noStrike" baseline="0" dirty="0">
                <a:latin typeface="Comic Sans MS" panose="030F0702030302020204" pitchFamily="66" charset="0"/>
              </a:rPr>
              <a:t>, but as the shaft turns, only one bit will change as the shaft turns from one position to the next.</a:t>
            </a:r>
          </a:p>
          <a:p>
            <a:pPr algn="just"/>
            <a:endParaRPr lang="en-GB" b="0" i="0" u="none" strike="noStrike" baseline="0" dirty="0">
              <a:latin typeface="Comic Sans MS" panose="030F0702030302020204" pitchFamily="66" charset="0"/>
            </a:endParaRPr>
          </a:p>
          <a:p>
            <a:pPr algn="just"/>
            <a:r>
              <a:rPr lang="en-GB" b="0" i="0" u="none" strike="noStrike" baseline="0" dirty="0">
                <a:solidFill>
                  <a:srgbClr val="FF0000"/>
                </a:solidFill>
                <a:latin typeface="Comic Sans MS" panose="030F0702030302020204" pitchFamily="66" charset="0"/>
              </a:rPr>
              <a:t>There is an algorithm to convert an n-bit unsigned binary value to its corresponding n-bit Gray code</a:t>
            </a:r>
            <a:r>
              <a:rPr lang="en-GB" b="0" i="0" u="none" strike="noStrike" baseline="0" dirty="0">
                <a:latin typeface="Comic Sans MS" panose="030F0702030302020204" pitchFamily="66" charset="0"/>
              </a:rPr>
              <a:t>. </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Begin by </a:t>
            </a:r>
            <a:r>
              <a:rPr lang="en-GB" b="0" i="0" u="none" strike="noStrike" baseline="0" dirty="0">
                <a:solidFill>
                  <a:srgbClr val="FF0000"/>
                </a:solidFill>
                <a:latin typeface="Comic Sans MS" panose="030F0702030302020204" pitchFamily="66" charset="0"/>
              </a:rPr>
              <a:t>adding a 0 to the most significant end </a:t>
            </a:r>
            <a:r>
              <a:rPr lang="en-GB" b="0" i="0" u="none" strike="noStrike" baseline="0" dirty="0">
                <a:latin typeface="Comic Sans MS" panose="030F0702030302020204" pitchFamily="66" charset="0"/>
              </a:rPr>
              <a:t>of the unsigned binary value. There should now be n boundaries between the n+1 bits. </a:t>
            </a:r>
          </a:p>
          <a:p>
            <a:pPr algn="just"/>
            <a:endParaRPr lang="en-GB" dirty="0">
              <a:latin typeface="Comic Sans MS" panose="030F0702030302020204" pitchFamily="66" charset="0"/>
            </a:endParaRPr>
          </a:p>
          <a:p>
            <a:pPr algn="just"/>
            <a:r>
              <a:rPr lang="en-GB" b="0" i="0" u="none" strike="noStrike" baseline="0" dirty="0">
                <a:latin typeface="Comic Sans MS" panose="030F0702030302020204" pitchFamily="66" charset="0"/>
              </a:rPr>
              <a:t>For each boundary, </a:t>
            </a:r>
            <a:r>
              <a:rPr lang="en-GB" b="0" i="0" u="none" strike="noStrike" baseline="0" dirty="0">
                <a:solidFill>
                  <a:srgbClr val="FF0000"/>
                </a:solidFill>
                <a:latin typeface="Comic Sans MS" panose="030F0702030302020204" pitchFamily="66" charset="0"/>
              </a:rPr>
              <a:t>write a 0 if the adjacent bits are the same </a:t>
            </a:r>
            <a:r>
              <a:rPr lang="en-GB" b="0" i="0" u="none" strike="noStrike" baseline="0" dirty="0">
                <a:latin typeface="Comic Sans MS" panose="030F0702030302020204" pitchFamily="66" charset="0"/>
              </a:rPr>
              <a:t>and a </a:t>
            </a:r>
            <a:r>
              <a:rPr lang="en-GB" b="0" i="0" u="none" strike="noStrike" baseline="0" dirty="0">
                <a:solidFill>
                  <a:srgbClr val="FF0000"/>
                </a:solidFill>
                <a:latin typeface="Comic Sans MS" panose="030F0702030302020204" pitchFamily="66" charset="0"/>
              </a:rPr>
              <a:t>1 if the adjacent bits are different</a:t>
            </a:r>
            <a:r>
              <a:rPr lang="en-GB" b="0" i="0" u="none" strike="noStrike" baseline="0" dirty="0">
                <a:latin typeface="Comic Sans MS" panose="030F0702030302020204" pitchFamily="66" charset="0"/>
              </a:rPr>
              <a:t>. </a:t>
            </a:r>
          </a:p>
          <a:p>
            <a:pPr algn="just"/>
            <a:endParaRPr lang="en-GB" b="0" i="0" u="none" strike="noStrike" baseline="0" dirty="0">
              <a:latin typeface="Comic Sans MS" panose="030F0702030302020204" pitchFamily="66" charset="0"/>
            </a:endParaRPr>
          </a:p>
          <a:p>
            <a:pPr algn="just"/>
            <a:r>
              <a:rPr lang="en-GB" b="0" i="0" u="none" strike="noStrike" baseline="0" dirty="0">
                <a:latin typeface="Comic Sans MS" panose="030F0702030302020204" pitchFamily="66" charset="0"/>
              </a:rPr>
              <a:t>The resulting value is the corresponding n-bit Gray code value.</a:t>
            </a:r>
            <a:endParaRPr lang="en-GB" sz="4000" dirty="0">
              <a:latin typeface="Comic Sans MS" panose="030F0702030302020204" pitchFamily="66" charset="0"/>
            </a:endParaRPr>
          </a:p>
        </p:txBody>
      </p:sp>
    </p:spTree>
    <p:extLst>
      <p:ext uri="{BB962C8B-B14F-4D97-AF65-F5344CB8AC3E}">
        <p14:creationId xmlns:p14="http://schemas.microsoft.com/office/powerpoint/2010/main" val="11177647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B2ABB8-075B-430E-8479-6382E7A0E918}"/>
              </a:ext>
            </a:extLst>
          </p:cNvPr>
          <p:cNvSpPr>
            <a:spLocks noGrp="1"/>
          </p:cNvSpPr>
          <p:nvPr>
            <p:ph idx="1"/>
          </p:nvPr>
        </p:nvSpPr>
        <p:spPr>
          <a:xfrm>
            <a:off x="62753" y="80682"/>
            <a:ext cx="12039600" cy="6687671"/>
          </a:xfrm>
        </p:spPr>
        <p:txBody>
          <a:bodyPr>
            <a:normAutofit/>
          </a:bodyPr>
          <a:lstStyle/>
          <a:p>
            <a:r>
              <a:rPr lang="en-GB" sz="2400" dirty="0">
                <a:latin typeface="Comic Sans MS" panose="030F0702030302020204" pitchFamily="66" charset="0"/>
              </a:rPr>
              <a:t>E</a:t>
            </a:r>
            <a:r>
              <a:rPr lang="en-GB" sz="2400" b="0" i="0" u="none" strike="noStrike" baseline="0" dirty="0">
                <a:latin typeface="Comic Sans MS" panose="030F0702030302020204" pitchFamily="66" charset="0"/>
              </a:rPr>
              <a:t>xample convert the 6 bit value 100011</a:t>
            </a:r>
            <a:r>
              <a:rPr lang="en-GB" sz="2400" b="0" i="0" u="none" strike="noStrike" baseline="-25000" dirty="0">
                <a:latin typeface="Comic Sans MS" panose="030F0702030302020204" pitchFamily="66" charset="0"/>
              </a:rPr>
              <a:t>2 </a:t>
            </a:r>
            <a:r>
              <a:rPr lang="en-GB" sz="2400" b="0" i="0" u="none" strike="noStrike" baseline="0" dirty="0">
                <a:latin typeface="Comic Sans MS" panose="030F0702030302020204" pitchFamily="66" charset="0"/>
              </a:rPr>
              <a:t>to Gray code</a:t>
            </a:r>
            <a:endParaRPr lang="en-GB" sz="3600" dirty="0">
              <a:latin typeface="Comic Sans MS" panose="030F0702030302020204" pitchFamily="66" charset="0"/>
            </a:endParaRPr>
          </a:p>
        </p:txBody>
      </p:sp>
      <p:pic>
        <p:nvPicPr>
          <p:cNvPr id="5" name="Picture 4">
            <a:extLst>
              <a:ext uri="{FF2B5EF4-FFF2-40B4-BE49-F238E27FC236}">
                <a16:creationId xmlns:a16="http://schemas.microsoft.com/office/drawing/2014/main" id="{B45E4046-5E01-44E9-BAF7-77349D17A86A}"/>
              </a:ext>
            </a:extLst>
          </p:cNvPr>
          <p:cNvPicPr>
            <a:picLocks noChangeAspect="1"/>
          </p:cNvPicPr>
          <p:nvPr/>
        </p:nvPicPr>
        <p:blipFill>
          <a:blip r:embed="rId2"/>
          <a:stretch>
            <a:fillRect/>
          </a:stretch>
        </p:blipFill>
        <p:spPr>
          <a:xfrm>
            <a:off x="680281" y="1090890"/>
            <a:ext cx="10831437" cy="404869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p14="http://schemas.microsoft.com/office/powerpoint/2010/main" val="251811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3D20950-10BD-4B5D-887F-58F386CEB801}"/>
              </a:ext>
            </a:extLst>
          </p:cNvPr>
          <p:cNvPicPr>
            <a:picLocks noGrp="1" noChangeAspect="1"/>
          </p:cNvPicPr>
          <p:nvPr>
            <p:ph idx="1"/>
          </p:nvPr>
        </p:nvPicPr>
        <p:blipFill>
          <a:blip r:embed="rId2"/>
          <a:stretch>
            <a:fillRect/>
          </a:stretch>
        </p:blipFill>
        <p:spPr>
          <a:xfrm>
            <a:off x="3182471" y="61811"/>
            <a:ext cx="4926816" cy="6661718"/>
          </a:xfrm>
        </p:spPr>
      </p:pic>
      <p:sp>
        <p:nvSpPr>
          <p:cNvPr id="7" name="TextBox 6">
            <a:extLst>
              <a:ext uri="{FF2B5EF4-FFF2-40B4-BE49-F238E27FC236}">
                <a16:creationId xmlns:a16="http://schemas.microsoft.com/office/drawing/2014/main" id="{DDD4CD39-0EDA-4E55-8505-5EF1ADB968D7}"/>
              </a:ext>
            </a:extLst>
          </p:cNvPr>
          <p:cNvSpPr txBox="1"/>
          <p:nvPr/>
        </p:nvSpPr>
        <p:spPr>
          <a:xfrm>
            <a:off x="8220636" y="5754452"/>
            <a:ext cx="3254188" cy="830997"/>
          </a:xfrm>
          <a:prstGeom prst="rect">
            <a:avLst/>
          </a:prstGeom>
          <a:noFill/>
        </p:spPr>
        <p:txBody>
          <a:bodyPr wrap="square">
            <a:spAutoFit/>
          </a:bodyPr>
          <a:lstStyle/>
          <a:p>
            <a:r>
              <a:rPr lang="en-GB" sz="2400" b="0" i="0" u="none" strike="noStrike" baseline="0" dirty="0">
                <a:solidFill>
                  <a:srgbClr val="FF0000"/>
                </a:solidFill>
                <a:latin typeface="Comic Sans MS" panose="030F0702030302020204" pitchFamily="66" charset="0"/>
              </a:rPr>
              <a:t>Derivation of the Four-Bit Gray Code</a:t>
            </a:r>
            <a:endParaRPr lang="en-GB" sz="2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6727588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E2E8A1-017E-4A44-8E34-DF72F59CAD3B}"/>
              </a:ext>
            </a:extLst>
          </p:cNvPr>
          <p:cNvSpPr>
            <a:spLocks noGrp="1"/>
          </p:cNvSpPr>
          <p:nvPr>
            <p:ph idx="1"/>
          </p:nvPr>
        </p:nvSpPr>
        <p:spPr>
          <a:xfrm>
            <a:off x="116541" y="116541"/>
            <a:ext cx="11985812" cy="6678706"/>
          </a:xfrm>
        </p:spPr>
        <p:txBody>
          <a:bodyPr/>
          <a:lstStyle/>
          <a:p>
            <a:r>
              <a:rPr lang="en-GB" sz="4400" dirty="0">
                <a:solidFill>
                  <a:srgbClr val="FF0000"/>
                </a:solidFill>
                <a:latin typeface="Comic Sans MS" panose="030F0702030302020204" pitchFamily="66" charset="0"/>
              </a:rPr>
              <a:t>Assignment</a:t>
            </a:r>
            <a:r>
              <a:rPr lang="en-GB" sz="4400" dirty="0">
                <a:latin typeface="Comic Sans MS" panose="030F0702030302020204" pitchFamily="66" charset="0"/>
              </a:rPr>
              <a:t> </a:t>
            </a:r>
          </a:p>
          <a:p>
            <a:pPr marL="0" indent="0">
              <a:buNone/>
            </a:pPr>
            <a:r>
              <a:rPr lang="en-GB" sz="3200" b="0" i="0" u="none" strike="noStrike" baseline="0" dirty="0">
                <a:latin typeface="Comic Sans MS" panose="030F0702030302020204" pitchFamily="66" charset="0"/>
              </a:rPr>
              <a:t>1. Create the 5-bit Gray code sequence</a:t>
            </a:r>
          </a:p>
          <a:p>
            <a:pPr marL="0" indent="0" algn="l">
              <a:buNone/>
            </a:pPr>
            <a:r>
              <a:rPr lang="en-GB" sz="3200" b="0" i="0" u="none" strike="noStrike" baseline="0" dirty="0">
                <a:latin typeface="Comic Sans MS" panose="030F0702030302020204" pitchFamily="66" charset="0"/>
              </a:rPr>
              <a:t>2. Convert the following numbers to hexadecimal.</a:t>
            </a:r>
          </a:p>
          <a:p>
            <a:pPr marL="914400" lvl="2" indent="0">
              <a:buNone/>
            </a:pPr>
            <a:r>
              <a:rPr lang="en-GB" sz="3200" b="0" i="0" u="none" strike="noStrike" baseline="0" dirty="0">
                <a:latin typeface="Comic Sans MS" panose="030F0702030302020204" pitchFamily="66" charset="0"/>
              </a:rPr>
              <a:t>a) 1010111100101100011</a:t>
            </a:r>
            <a:r>
              <a:rPr lang="en-GB" sz="3200" b="0" i="0" u="none" strike="noStrike" baseline="-25000" dirty="0">
                <a:latin typeface="Comic Sans MS" panose="030F0702030302020204" pitchFamily="66" charset="0"/>
              </a:rPr>
              <a:t>2</a:t>
            </a:r>
          </a:p>
          <a:p>
            <a:pPr marL="914400" lvl="2" indent="0">
              <a:buNone/>
            </a:pPr>
            <a:r>
              <a:rPr lang="en-GB" sz="3200" b="0" i="0" u="none" strike="noStrike" baseline="0" dirty="0">
                <a:latin typeface="Comic Sans MS" panose="030F0702030302020204" pitchFamily="66" charset="0"/>
              </a:rPr>
              <a:t>b) 10010101001001101001</a:t>
            </a:r>
            <a:r>
              <a:rPr lang="en-GB" sz="3200" b="0" i="0" u="none" strike="noStrike" baseline="-25000" dirty="0">
                <a:latin typeface="Comic Sans MS" panose="030F0702030302020204" pitchFamily="66" charset="0"/>
              </a:rPr>
              <a:t>2</a:t>
            </a:r>
          </a:p>
          <a:p>
            <a:pPr marL="914400" lvl="2" indent="0">
              <a:buNone/>
            </a:pPr>
            <a:r>
              <a:rPr lang="en-GB" sz="3200" b="0" i="0" u="none" strike="noStrike" baseline="0" dirty="0">
                <a:latin typeface="Comic Sans MS" panose="030F0702030302020204" pitchFamily="66" charset="0"/>
              </a:rPr>
              <a:t>c) 01101101001010011001</a:t>
            </a:r>
            <a:r>
              <a:rPr lang="en-GB" sz="3200" b="0" i="0" u="none" strike="noStrike" baseline="-25000" dirty="0">
                <a:latin typeface="Comic Sans MS" panose="030F0702030302020204" pitchFamily="66" charset="0"/>
              </a:rPr>
              <a:t>2</a:t>
            </a:r>
          </a:p>
          <a:p>
            <a:pPr marL="914400" lvl="2" indent="0">
              <a:buNone/>
            </a:pPr>
            <a:r>
              <a:rPr lang="en-GB" sz="3200" b="0" i="0" u="none" strike="noStrike" baseline="0" dirty="0">
                <a:latin typeface="Comic Sans MS" panose="030F0702030302020204" pitchFamily="66" charset="0"/>
              </a:rPr>
              <a:t>d) 10101100100010</a:t>
            </a:r>
            <a:r>
              <a:rPr lang="en-GB" sz="3200" b="0" i="0" u="none" strike="noStrike" baseline="-25000" dirty="0">
                <a:latin typeface="Comic Sans MS" panose="030F0702030302020204" pitchFamily="66" charset="0"/>
              </a:rPr>
              <a:t>2</a:t>
            </a:r>
            <a:endParaRPr lang="en-GB" sz="4400" baseline="-25000" dirty="0">
              <a:latin typeface="Comic Sans MS" panose="030F0702030302020204" pitchFamily="66" charset="0"/>
            </a:endParaRPr>
          </a:p>
        </p:txBody>
      </p:sp>
    </p:spTree>
    <p:extLst>
      <p:ext uri="{BB962C8B-B14F-4D97-AF65-F5344CB8AC3E}">
        <p14:creationId xmlns:p14="http://schemas.microsoft.com/office/powerpoint/2010/main" val="42552100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55EDD7-9063-4382-B7EC-B848BC9E9D6C}"/>
              </a:ext>
            </a:extLst>
          </p:cNvPr>
          <p:cNvSpPr>
            <a:spLocks noGrp="1"/>
          </p:cNvSpPr>
          <p:nvPr>
            <p:ph idx="1"/>
          </p:nvPr>
        </p:nvSpPr>
        <p:spPr>
          <a:xfrm>
            <a:off x="80682" y="71718"/>
            <a:ext cx="12111318" cy="6723529"/>
          </a:xfrm>
        </p:spPr>
        <p:txBody>
          <a:bodyPr>
            <a:normAutofit/>
          </a:bodyPr>
          <a:lstStyle/>
          <a:p>
            <a:pPr algn="ctr"/>
            <a:endParaRPr lang="en-GB" sz="4000" dirty="0">
              <a:solidFill>
                <a:srgbClr val="FF0000"/>
              </a:solidFill>
              <a:latin typeface="Comic Sans MS" panose="030F0702030302020204" pitchFamily="66" charset="0"/>
            </a:endParaRPr>
          </a:p>
          <a:p>
            <a:pPr algn="ctr"/>
            <a:endParaRPr lang="en-GB" sz="4000" dirty="0">
              <a:solidFill>
                <a:srgbClr val="FF0000"/>
              </a:solidFill>
              <a:latin typeface="Comic Sans MS" panose="030F0702030302020204" pitchFamily="66" charset="0"/>
            </a:endParaRPr>
          </a:p>
          <a:p>
            <a:pPr algn="ctr"/>
            <a:endParaRPr lang="en-GB" sz="4000" dirty="0">
              <a:solidFill>
                <a:srgbClr val="FF0000"/>
              </a:solidFill>
              <a:latin typeface="Comic Sans MS" panose="030F0702030302020204" pitchFamily="66" charset="0"/>
            </a:endParaRPr>
          </a:p>
          <a:p>
            <a:pPr algn="ctr"/>
            <a:endParaRPr lang="en-GB" sz="4000" dirty="0">
              <a:solidFill>
                <a:srgbClr val="FF0000"/>
              </a:solidFill>
              <a:latin typeface="Comic Sans MS" panose="030F0702030302020204" pitchFamily="66" charset="0"/>
            </a:endParaRPr>
          </a:p>
          <a:p>
            <a:pPr algn="ctr"/>
            <a:r>
              <a:rPr lang="en-GB" sz="4000" dirty="0">
                <a:solidFill>
                  <a:srgbClr val="FF0000"/>
                </a:solidFill>
                <a:latin typeface="Comic Sans MS" panose="030F0702030302020204" pitchFamily="66" charset="0"/>
              </a:rPr>
              <a:t>Thank you for listening </a:t>
            </a:r>
          </a:p>
        </p:txBody>
      </p:sp>
    </p:spTree>
    <p:extLst>
      <p:ext uri="{BB962C8B-B14F-4D97-AF65-F5344CB8AC3E}">
        <p14:creationId xmlns:p14="http://schemas.microsoft.com/office/powerpoint/2010/main" val="3402229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315</TotalTime>
  <Words>4010</Words>
  <Application>Microsoft Office PowerPoint</Application>
  <PresentationFormat>Widescreen</PresentationFormat>
  <Paragraphs>733</Paragraphs>
  <Slides>52</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52</vt:i4>
      </vt:variant>
    </vt:vector>
  </HeadingPairs>
  <TitlesOfParts>
    <vt:vector size="63" baseType="lpstr">
      <vt:lpstr>Arial</vt:lpstr>
      <vt:lpstr>Calibri</vt:lpstr>
      <vt:lpstr>Calibri Light</vt:lpstr>
      <vt:lpstr>Comic Sans MS</vt:lpstr>
      <vt:lpstr>Courier New</vt:lpstr>
      <vt:lpstr>Helvetica</vt:lpstr>
      <vt:lpstr>TimesNewRomanPSMT</vt:lpstr>
      <vt:lpstr>Wingdings</vt:lpstr>
      <vt:lpstr>Office Theme</vt:lpstr>
      <vt:lpstr>Microsoft Visio 2000/2002 Drawing</vt:lpstr>
      <vt:lpstr>VISIO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Binary Numbers</vt:lpstr>
      <vt:lpstr>Binary Numbers</vt:lpstr>
      <vt:lpstr>Converting Binary to Decimal</vt:lpstr>
      <vt:lpstr>Convert Unsigned Decimal to Binary</vt:lpstr>
      <vt:lpstr>Hexadecimal Integers</vt:lpstr>
      <vt:lpstr>Converting Binary to Hexadecimal</vt:lpstr>
      <vt:lpstr>Converting Hexadecimal to Decimal</vt:lpstr>
      <vt:lpstr>Converting Decimal to Hexadecimal</vt:lpstr>
      <vt:lpstr>Integer Storage Sizes</vt:lpstr>
      <vt:lpstr>PowerPoint Presentation</vt:lpstr>
      <vt:lpstr>Binary Addition</vt:lpstr>
      <vt:lpstr>Hexadecimal Addition</vt:lpstr>
      <vt:lpstr>Signed Integers</vt:lpstr>
      <vt:lpstr>Two's Complement Representation</vt:lpstr>
      <vt:lpstr>Forming the Two's Complement</vt:lpstr>
      <vt:lpstr>Sign Bit</vt:lpstr>
      <vt:lpstr>Sign Extension</vt:lpstr>
      <vt:lpstr>Two's Complement of a Hexadecimal</vt:lpstr>
      <vt:lpstr>Binary Subtraction</vt:lpstr>
      <vt:lpstr>Hexadecimal Subtraction</vt:lpstr>
      <vt:lpstr>Ranges of Signed Integers</vt:lpstr>
      <vt:lpstr>Carry and Overflow</vt:lpstr>
      <vt:lpstr>Carry and Overflow Examples</vt:lpstr>
      <vt:lpstr>Character Storage</vt:lpstr>
      <vt:lpstr>Printable ASCII Codes</vt:lpstr>
      <vt:lpstr>Control Characters</vt:lpstr>
      <vt:lpstr>Terminology for Data Representation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Femi Alamu</dc:creator>
  <cp:lastModifiedBy>Femi Alamu</cp:lastModifiedBy>
  <cp:revision>33</cp:revision>
  <dcterms:created xsi:type="dcterms:W3CDTF">2025-11-27T17:53:43Z</dcterms:created>
  <dcterms:modified xsi:type="dcterms:W3CDTF">2025-12-09T12:56:30Z</dcterms:modified>
</cp:coreProperties>
</file>