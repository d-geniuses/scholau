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4" r:id="rId3"/>
    <p:sldId id="295" r:id="rId4"/>
    <p:sldId id="298" r:id="rId5"/>
    <p:sldId id="257" r:id="rId6"/>
    <p:sldId id="258" r:id="rId7"/>
    <p:sldId id="260" r:id="rId8"/>
    <p:sldId id="259"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B2C7E-720A-4F58-8899-D9BD2F190D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09F9BE4-BFA7-4146-9811-BD82F2D885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8B5390-0A21-4A9B-8D07-4B25B0169EB7}"/>
              </a:ext>
            </a:extLst>
          </p:cNvPr>
          <p:cNvSpPr>
            <a:spLocks noGrp="1"/>
          </p:cNvSpPr>
          <p:nvPr>
            <p:ph type="dt" sz="half" idx="10"/>
          </p:nvPr>
        </p:nvSpPr>
        <p:spPr/>
        <p:txBody>
          <a:bodyPr/>
          <a:lstStyle/>
          <a:p>
            <a:fld id="{D04A0871-DA55-4207-AD00-2FCD8E6CD3A2}" type="datetimeFigureOut">
              <a:rPr lang="en-GB" smtClean="0"/>
              <a:t>26/11/2025</a:t>
            </a:fld>
            <a:endParaRPr lang="en-GB"/>
          </a:p>
        </p:txBody>
      </p:sp>
      <p:sp>
        <p:nvSpPr>
          <p:cNvPr id="5" name="Footer Placeholder 4">
            <a:extLst>
              <a:ext uri="{FF2B5EF4-FFF2-40B4-BE49-F238E27FC236}">
                <a16:creationId xmlns:a16="http://schemas.microsoft.com/office/drawing/2014/main" id="{FA460A10-552C-4F8C-AE45-8160D514F9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2C90C82-2910-4746-8FCB-9B630BDD16F8}"/>
              </a:ext>
            </a:extLst>
          </p:cNvPr>
          <p:cNvSpPr>
            <a:spLocks noGrp="1"/>
          </p:cNvSpPr>
          <p:nvPr>
            <p:ph type="sldNum" sz="quarter" idx="12"/>
          </p:nvPr>
        </p:nvSpPr>
        <p:spPr/>
        <p:txBody>
          <a:bodyPr/>
          <a:lstStyle/>
          <a:p>
            <a:fld id="{9F02DDD4-8E08-4D26-B4C7-C285EFE01CC8}" type="slidenum">
              <a:rPr lang="en-GB" smtClean="0"/>
              <a:t>‹#›</a:t>
            </a:fld>
            <a:endParaRPr lang="en-GB"/>
          </a:p>
        </p:txBody>
      </p:sp>
    </p:spTree>
    <p:extLst>
      <p:ext uri="{BB962C8B-B14F-4D97-AF65-F5344CB8AC3E}">
        <p14:creationId xmlns:p14="http://schemas.microsoft.com/office/powerpoint/2010/main" val="4143708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0F3B7-DFA5-46F3-9F26-05C4D708A87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5DECE6B-447D-4A54-B3D9-A57925254B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144C296-BF85-4092-BC7B-3289D1DB0B97}"/>
              </a:ext>
            </a:extLst>
          </p:cNvPr>
          <p:cNvSpPr>
            <a:spLocks noGrp="1"/>
          </p:cNvSpPr>
          <p:nvPr>
            <p:ph type="dt" sz="half" idx="10"/>
          </p:nvPr>
        </p:nvSpPr>
        <p:spPr/>
        <p:txBody>
          <a:bodyPr/>
          <a:lstStyle/>
          <a:p>
            <a:fld id="{D04A0871-DA55-4207-AD00-2FCD8E6CD3A2}" type="datetimeFigureOut">
              <a:rPr lang="en-GB" smtClean="0"/>
              <a:t>26/11/2025</a:t>
            </a:fld>
            <a:endParaRPr lang="en-GB"/>
          </a:p>
        </p:txBody>
      </p:sp>
      <p:sp>
        <p:nvSpPr>
          <p:cNvPr id="5" name="Footer Placeholder 4">
            <a:extLst>
              <a:ext uri="{FF2B5EF4-FFF2-40B4-BE49-F238E27FC236}">
                <a16:creationId xmlns:a16="http://schemas.microsoft.com/office/drawing/2014/main" id="{0DFEA5DC-DA4D-41A7-976C-888F339358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DD22EC-2E97-4CBC-BDF6-01CC98753AD1}"/>
              </a:ext>
            </a:extLst>
          </p:cNvPr>
          <p:cNvSpPr>
            <a:spLocks noGrp="1"/>
          </p:cNvSpPr>
          <p:nvPr>
            <p:ph type="sldNum" sz="quarter" idx="12"/>
          </p:nvPr>
        </p:nvSpPr>
        <p:spPr/>
        <p:txBody>
          <a:bodyPr/>
          <a:lstStyle/>
          <a:p>
            <a:fld id="{9F02DDD4-8E08-4D26-B4C7-C285EFE01CC8}" type="slidenum">
              <a:rPr lang="en-GB" smtClean="0"/>
              <a:t>‹#›</a:t>
            </a:fld>
            <a:endParaRPr lang="en-GB"/>
          </a:p>
        </p:txBody>
      </p:sp>
    </p:spTree>
    <p:extLst>
      <p:ext uri="{BB962C8B-B14F-4D97-AF65-F5344CB8AC3E}">
        <p14:creationId xmlns:p14="http://schemas.microsoft.com/office/powerpoint/2010/main" val="3522628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5D858-8D6B-4578-8D97-B8E03A15C1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698A7B2-52AF-435C-A23C-74FC5DB85E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776DD2-BF26-4161-9261-44F1A7D4D97D}"/>
              </a:ext>
            </a:extLst>
          </p:cNvPr>
          <p:cNvSpPr>
            <a:spLocks noGrp="1"/>
          </p:cNvSpPr>
          <p:nvPr>
            <p:ph type="dt" sz="half" idx="10"/>
          </p:nvPr>
        </p:nvSpPr>
        <p:spPr/>
        <p:txBody>
          <a:bodyPr/>
          <a:lstStyle/>
          <a:p>
            <a:fld id="{D04A0871-DA55-4207-AD00-2FCD8E6CD3A2}" type="datetimeFigureOut">
              <a:rPr lang="en-GB" smtClean="0"/>
              <a:t>26/11/2025</a:t>
            </a:fld>
            <a:endParaRPr lang="en-GB"/>
          </a:p>
        </p:txBody>
      </p:sp>
      <p:sp>
        <p:nvSpPr>
          <p:cNvPr id="5" name="Footer Placeholder 4">
            <a:extLst>
              <a:ext uri="{FF2B5EF4-FFF2-40B4-BE49-F238E27FC236}">
                <a16:creationId xmlns:a16="http://schemas.microsoft.com/office/drawing/2014/main" id="{F8801A7F-108C-499F-ACCE-5B1A165133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5EEDA63-9F9F-419C-9CF2-E5BE1AAE013C}"/>
              </a:ext>
            </a:extLst>
          </p:cNvPr>
          <p:cNvSpPr>
            <a:spLocks noGrp="1"/>
          </p:cNvSpPr>
          <p:nvPr>
            <p:ph type="sldNum" sz="quarter" idx="12"/>
          </p:nvPr>
        </p:nvSpPr>
        <p:spPr/>
        <p:txBody>
          <a:bodyPr/>
          <a:lstStyle/>
          <a:p>
            <a:fld id="{9F02DDD4-8E08-4D26-B4C7-C285EFE01CC8}" type="slidenum">
              <a:rPr lang="en-GB" smtClean="0"/>
              <a:t>‹#›</a:t>
            </a:fld>
            <a:endParaRPr lang="en-GB"/>
          </a:p>
        </p:txBody>
      </p:sp>
    </p:spTree>
    <p:extLst>
      <p:ext uri="{BB962C8B-B14F-4D97-AF65-F5344CB8AC3E}">
        <p14:creationId xmlns:p14="http://schemas.microsoft.com/office/powerpoint/2010/main" val="343673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74C28-1C5C-4990-9B78-CCEB2AA755B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F996ECB-3ACF-4913-8C3B-132A7644D3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D9BA636-881F-4157-B3D5-8310480B8D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60B67AE-36D6-49BD-B6D6-EEDEBB418596}"/>
              </a:ext>
            </a:extLst>
          </p:cNvPr>
          <p:cNvSpPr>
            <a:spLocks noGrp="1"/>
          </p:cNvSpPr>
          <p:nvPr>
            <p:ph type="dt" sz="half" idx="10"/>
          </p:nvPr>
        </p:nvSpPr>
        <p:spPr/>
        <p:txBody>
          <a:bodyPr/>
          <a:lstStyle/>
          <a:p>
            <a:fld id="{D04A0871-DA55-4207-AD00-2FCD8E6CD3A2}" type="datetimeFigureOut">
              <a:rPr lang="en-GB" smtClean="0"/>
              <a:t>26/11/2025</a:t>
            </a:fld>
            <a:endParaRPr lang="en-GB"/>
          </a:p>
        </p:txBody>
      </p:sp>
      <p:sp>
        <p:nvSpPr>
          <p:cNvPr id="6" name="Footer Placeholder 5">
            <a:extLst>
              <a:ext uri="{FF2B5EF4-FFF2-40B4-BE49-F238E27FC236}">
                <a16:creationId xmlns:a16="http://schemas.microsoft.com/office/drawing/2014/main" id="{F9478C16-96FB-4E6A-B2AC-C73EC37F0D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D5D4193-4E9F-4560-976C-91D10FC8072D}"/>
              </a:ext>
            </a:extLst>
          </p:cNvPr>
          <p:cNvSpPr>
            <a:spLocks noGrp="1"/>
          </p:cNvSpPr>
          <p:nvPr>
            <p:ph type="sldNum" sz="quarter" idx="12"/>
          </p:nvPr>
        </p:nvSpPr>
        <p:spPr/>
        <p:txBody>
          <a:bodyPr/>
          <a:lstStyle/>
          <a:p>
            <a:fld id="{9F02DDD4-8E08-4D26-B4C7-C285EFE01CC8}" type="slidenum">
              <a:rPr lang="en-GB" smtClean="0"/>
              <a:t>‹#›</a:t>
            </a:fld>
            <a:endParaRPr lang="en-GB"/>
          </a:p>
        </p:txBody>
      </p:sp>
    </p:spTree>
    <p:extLst>
      <p:ext uri="{BB962C8B-B14F-4D97-AF65-F5344CB8AC3E}">
        <p14:creationId xmlns:p14="http://schemas.microsoft.com/office/powerpoint/2010/main" val="576406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5AE2F-2A81-4B8D-AA39-4DF908F059F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45795C3-2AEF-4504-A88F-11A815DAB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697C34-DA77-4765-B429-C9CD25112D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F2408BF-DC58-4CBB-B9F8-C394634714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4EA59C-F55F-4AFA-B88E-EAA752A9CB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BC84C81-3477-46C7-9EA4-3D7DB03B0E50}"/>
              </a:ext>
            </a:extLst>
          </p:cNvPr>
          <p:cNvSpPr>
            <a:spLocks noGrp="1"/>
          </p:cNvSpPr>
          <p:nvPr>
            <p:ph type="dt" sz="half" idx="10"/>
          </p:nvPr>
        </p:nvSpPr>
        <p:spPr/>
        <p:txBody>
          <a:bodyPr/>
          <a:lstStyle/>
          <a:p>
            <a:fld id="{D04A0871-DA55-4207-AD00-2FCD8E6CD3A2}" type="datetimeFigureOut">
              <a:rPr lang="en-GB" smtClean="0"/>
              <a:t>26/11/2025</a:t>
            </a:fld>
            <a:endParaRPr lang="en-GB"/>
          </a:p>
        </p:txBody>
      </p:sp>
      <p:sp>
        <p:nvSpPr>
          <p:cNvPr id="8" name="Footer Placeholder 7">
            <a:extLst>
              <a:ext uri="{FF2B5EF4-FFF2-40B4-BE49-F238E27FC236}">
                <a16:creationId xmlns:a16="http://schemas.microsoft.com/office/drawing/2014/main" id="{38ACEAE9-380E-4D34-A7BD-AACDEA04513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70B4FD1-373D-43B1-B9EE-AA632AEC21F3}"/>
              </a:ext>
            </a:extLst>
          </p:cNvPr>
          <p:cNvSpPr>
            <a:spLocks noGrp="1"/>
          </p:cNvSpPr>
          <p:nvPr>
            <p:ph type="sldNum" sz="quarter" idx="12"/>
          </p:nvPr>
        </p:nvSpPr>
        <p:spPr/>
        <p:txBody>
          <a:bodyPr/>
          <a:lstStyle/>
          <a:p>
            <a:fld id="{9F02DDD4-8E08-4D26-B4C7-C285EFE01CC8}" type="slidenum">
              <a:rPr lang="en-GB" smtClean="0"/>
              <a:t>‹#›</a:t>
            </a:fld>
            <a:endParaRPr lang="en-GB"/>
          </a:p>
        </p:txBody>
      </p:sp>
    </p:spTree>
    <p:extLst>
      <p:ext uri="{BB962C8B-B14F-4D97-AF65-F5344CB8AC3E}">
        <p14:creationId xmlns:p14="http://schemas.microsoft.com/office/powerpoint/2010/main" val="1688747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F71F1-AA2C-403D-A893-79EE05D2E9B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649AC10-3051-4300-9745-7FDDF315B19D}"/>
              </a:ext>
            </a:extLst>
          </p:cNvPr>
          <p:cNvSpPr>
            <a:spLocks noGrp="1"/>
          </p:cNvSpPr>
          <p:nvPr>
            <p:ph type="dt" sz="half" idx="10"/>
          </p:nvPr>
        </p:nvSpPr>
        <p:spPr/>
        <p:txBody>
          <a:bodyPr/>
          <a:lstStyle/>
          <a:p>
            <a:fld id="{D04A0871-DA55-4207-AD00-2FCD8E6CD3A2}" type="datetimeFigureOut">
              <a:rPr lang="en-GB" smtClean="0"/>
              <a:t>26/11/2025</a:t>
            </a:fld>
            <a:endParaRPr lang="en-GB"/>
          </a:p>
        </p:txBody>
      </p:sp>
      <p:sp>
        <p:nvSpPr>
          <p:cNvPr id="4" name="Footer Placeholder 3">
            <a:extLst>
              <a:ext uri="{FF2B5EF4-FFF2-40B4-BE49-F238E27FC236}">
                <a16:creationId xmlns:a16="http://schemas.microsoft.com/office/drawing/2014/main" id="{F2A74091-0577-4733-8094-7EC23F1989E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F14634-F6C2-40B6-9498-474BB4ADCE33}"/>
              </a:ext>
            </a:extLst>
          </p:cNvPr>
          <p:cNvSpPr>
            <a:spLocks noGrp="1"/>
          </p:cNvSpPr>
          <p:nvPr>
            <p:ph type="sldNum" sz="quarter" idx="12"/>
          </p:nvPr>
        </p:nvSpPr>
        <p:spPr/>
        <p:txBody>
          <a:bodyPr/>
          <a:lstStyle/>
          <a:p>
            <a:fld id="{9F02DDD4-8E08-4D26-B4C7-C285EFE01CC8}" type="slidenum">
              <a:rPr lang="en-GB" smtClean="0"/>
              <a:t>‹#›</a:t>
            </a:fld>
            <a:endParaRPr lang="en-GB"/>
          </a:p>
        </p:txBody>
      </p:sp>
    </p:spTree>
    <p:extLst>
      <p:ext uri="{BB962C8B-B14F-4D97-AF65-F5344CB8AC3E}">
        <p14:creationId xmlns:p14="http://schemas.microsoft.com/office/powerpoint/2010/main" val="2123072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C3DB7A-9514-4A90-8F03-20A4E666DF91}"/>
              </a:ext>
            </a:extLst>
          </p:cNvPr>
          <p:cNvSpPr>
            <a:spLocks noGrp="1"/>
          </p:cNvSpPr>
          <p:nvPr>
            <p:ph type="dt" sz="half" idx="10"/>
          </p:nvPr>
        </p:nvSpPr>
        <p:spPr/>
        <p:txBody>
          <a:bodyPr/>
          <a:lstStyle/>
          <a:p>
            <a:fld id="{D04A0871-DA55-4207-AD00-2FCD8E6CD3A2}" type="datetimeFigureOut">
              <a:rPr lang="en-GB" smtClean="0"/>
              <a:t>26/11/2025</a:t>
            </a:fld>
            <a:endParaRPr lang="en-GB"/>
          </a:p>
        </p:txBody>
      </p:sp>
      <p:sp>
        <p:nvSpPr>
          <p:cNvPr id="3" name="Footer Placeholder 2">
            <a:extLst>
              <a:ext uri="{FF2B5EF4-FFF2-40B4-BE49-F238E27FC236}">
                <a16:creationId xmlns:a16="http://schemas.microsoft.com/office/drawing/2014/main" id="{0016AF1B-08F5-4B99-A15E-8A6DDEDADB1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4BF0E13-ABFB-41A5-9E77-42808BAB3C1D}"/>
              </a:ext>
            </a:extLst>
          </p:cNvPr>
          <p:cNvSpPr>
            <a:spLocks noGrp="1"/>
          </p:cNvSpPr>
          <p:nvPr>
            <p:ph type="sldNum" sz="quarter" idx="12"/>
          </p:nvPr>
        </p:nvSpPr>
        <p:spPr/>
        <p:txBody>
          <a:bodyPr/>
          <a:lstStyle/>
          <a:p>
            <a:fld id="{9F02DDD4-8E08-4D26-B4C7-C285EFE01CC8}" type="slidenum">
              <a:rPr lang="en-GB" smtClean="0"/>
              <a:t>‹#›</a:t>
            </a:fld>
            <a:endParaRPr lang="en-GB"/>
          </a:p>
        </p:txBody>
      </p:sp>
    </p:spTree>
    <p:extLst>
      <p:ext uri="{BB962C8B-B14F-4D97-AF65-F5344CB8AC3E}">
        <p14:creationId xmlns:p14="http://schemas.microsoft.com/office/powerpoint/2010/main" val="1654067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13CB1-33B1-4055-9319-9286672B3E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75ECB84-BAB5-4395-AAD3-0061441C93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56309D7-6044-47CB-B81A-78E4AAAE51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F04502-B7A5-4E69-A78E-2D14C88F31FE}"/>
              </a:ext>
            </a:extLst>
          </p:cNvPr>
          <p:cNvSpPr>
            <a:spLocks noGrp="1"/>
          </p:cNvSpPr>
          <p:nvPr>
            <p:ph type="dt" sz="half" idx="10"/>
          </p:nvPr>
        </p:nvSpPr>
        <p:spPr/>
        <p:txBody>
          <a:bodyPr/>
          <a:lstStyle/>
          <a:p>
            <a:fld id="{D04A0871-DA55-4207-AD00-2FCD8E6CD3A2}" type="datetimeFigureOut">
              <a:rPr lang="en-GB" smtClean="0"/>
              <a:t>26/11/2025</a:t>
            </a:fld>
            <a:endParaRPr lang="en-GB"/>
          </a:p>
        </p:txBody>
      </p:sp>
      <p:sp>
        <p:nvSpPr>
          <p:cNvPr id="6" name="Footer Placeholder 5">
            <a:extLst>
              <a:ext uri="{FF2B5EF4-FFF2-40B4-BE49-F238E27FC236}">
                <a16:creationId xmlns:a16="http://schemas.microsoft.com/office/drawing/2014/main" id="{C4B38798-8DEB-4A9D-BE68-439928F4BB4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AA7DB45-4CDE-4B35-819B-E9D3D097C4C3}"/>
              </a:ext>
            </a:extLst>
          </p:cNvPr>
          <p:cNvSpPr>
            <a:spLocks noGrp="1"/>
          </p:cNvSpPr>
          <p:nvPr>
            <p:ph type="sldNum" sz="quarter" idx="12"/>
          </p:nvPr>
        </p:nvSpPr>
        <p:spPr/>
        <p:txBody>
          <a:bodyPr/>
          <a:lstStyle/>
          <a:p>
            <a:fld id="{9F02DDD4-8E08-4D26-B4C7-C285EFE01CC8}" type="slidenum">
              <a:rPr lang="en-GB" smtClean="0"/>
              <a:t>‹#›</a:t>
            </a:fld>
            <a:endParaRPr lang="en-GB"/>
          </a:p>
        </p:txBody>
      </p:sp>
    </p:spTree>
    <p:extLst>
      <p:ext uri="{BB962C8B-B14F-4D97-AF65-F5344CB8AC3E}">
        <p14:creationId xmlns:p14="http://schemas.microsoft.com/office/powerpoint/2010/main" val="4097461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C6F26-AD8A-4756-B289-8683850BAA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ECE0148-B580-4931-8D5A-03D8B584B0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D870B73-6381-4992-A9FB-972FB3BAC8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B8E15-6005-428E-A327-C1953951FD86}"/>
              </a:ext>
            </a:extLst>
          </p:cNvPr>
          <p:cNvSpPr>
            <a:spLocks noGrp="1"/>
          </p:cNvSpPr>
          <p:nvPr>
            <p:ph type="dt" sz="half" idx="10"/>
          </p:nvPr>
        </p:nvSpPr>
        <p:spPr/>
        <p:txBody>
          <a:bodyPr/>
          <a:lstStyle/>
          <a:p>
            <a:fld id="{D04A0871-DA55-4207-AD00-2FCD8E6CD3A2}" type="datetimeFigureOut">
              <a:rPr lang="en-GB" smtClean="0"/>
              <a:t>26/11/2025</a:t>
            </a:fld>
            <a:endParaRPr lang="en-GB"/>
          </a:p>
        </p:txBody>
      </p:sp>
      <p:sp>
        <p:nvSpPr>
          <p:cNvPr id="6" name="Footer Placeholder 5">
            <a:extLst>
              <a:ext uri="{FF2B5EF4-FFF2-40B4-BE49-F238E27FC236}">
                <a16:creationId xmlns:a16="http://schemas.microsoft.com/office/drawing/2014/main" id="{FA38AF59-E113-46C0-9EFE-C6E5382B9C8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8AE8385-E9ED-4F27-9D31-FE78522B7716}"/>
              </a:ext>
            </a:extLst>
          </p:cNvPr>
          <p:cNvSpPr>
            <a:spLocks noGrp="1"/>
          </p:cNvSpPr>
          <p:nvPr>
            <p:ph type="sldNum" sz="quarter" idx="12"/>
          </p:nvPr>
        </p:nvSpPr>
        <p:spPr/>
        <p:txBody>
          <a:bodyPr/>
          <a:lstStyle/>
          <a:p>
            <a:fld id="{9F02DDD4-8E08-4D26-B4C7-C285EFE01CC8}" type="slidenum">
              <a:rPr lang="en-GB" smtClean="0"/>
              <a:t>‹#›</a:t>
            </a:fld>
            <a:endParaRPr lang="en-GB"/>
          </a:p>
        </p:txBody>
      </p:sp>
    </p:spTree>
    <p:extLst>
      <p:ext uri="{BB962C8B-B14F-4D97-AF65-F5344CB8AC3E}">
        <p14:creationId xmlns:p14="http://schemas.microsoft.com/office/powerpoint/2010/main" val="3414530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105D6-AFAD-4527-84EE-4C298A276AA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2A26DF-DEE4-4FAA-80F7-F33CEED955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E8A4A5D-BAEA-4775-B956-31834DA2E3FB}"/>
              </a:ext>
            </a:extLst>
          </p:cNvPr>
          <p:cNvSpPr>
            <a:spLocks noGrp="1"/>
          </p:cNvSpPr>
          <p:nvPr>
            <p:ph type="dt" sz="half" idx="10"/>
          </p:nvPr>
        </p:nvSpPr>
        <p:spPr/>
        <p:txBody>
          <a:bodyPr/>
          <a:lstStyle/>
          <a:p>
            <a:fld id="{D04A0871-DA55-4207-AD00-2FCD8E6CD3A2}" type="datetimeFigureOut">
              <a:rPr lang="en-GB" smtClean="0"/>
              <a:t>26/11/2025</a:t>
            </a:fld>
            <a:endParaRPr lang="en-GB"/>
          </a:p>
        </p:txBody>
      </p:sp>
      <p:sp>
        <p:nvSpPr>
          <p:cNvPr id="5" name="Footer Placeholder 4">
            <a:extLst>
              <a:ext uri="{FF2B5EF4-FFF2-40B4-BE49-F238E27FC236}">
                <a16:creationId xmlns:a16="http://schemas.microsoft.com/office/drawing/2014/main" id="{9D95C3A5-B97E-4A74-B0F4-2A9A2C8F9C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BCDEFA1-D914-4A67-8726-B4049847DC15}"/>
              </a:ext>
            </a:extLst>
          </p:cNvPr>
          <p:cNvSpPr>
            <a:spLocks noGrp="1"/>
          </p:cNvSpPr>
          <p:nvPr>
            <p:ph type="sldNum" sz="quarter" idx="12"/>
          </p:nvPr>
        </p:nvSpPr>
        <p:spPr/>
        <p:txBody>
          <a:bodyPr/>
          <a:lstStyle/>
          <a:p>
            <a:fld id="{9F02DDD4-8E08-4D26-B4C7-C285EFE01CC8}" type="slidenum">
              <a:rPr lang="en-GB" smtClean="0"/>
              <a:t>‹#›</a:t>
            </a:fld>
            <a:endParaRPr lang="en-GB"/>
          </a:p>
        </p:txBody>
      </p:sp>
    </p:spTree>
    <p:extLst>
      <p:ext uri="{BB962C8B-B14F-4D97-AF65-F5344CB8AC3E}">
        <p14:creationId xmlns:p14="http://schemas.microsoft.com/office/powerpoint/2010/main" val="3774117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5C711D-8E3E-4743-959D-11B9FBA0AF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CA2E7D7-CE7A-4175-AD4F-B6A37B254C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A353A3-CF54-4C4C-A61B-CDB8EC460DD3}"/>
              </a:ext>
            </a:extLst>
          </p:cNvPr>
          <p:cNvSpPr>
            <a:spLocks noGrp="1"/>
          </p:cNvSpPr>
          <p:nvPr>
            <p:ph type="dt" sz="half" idx="10"/>
          </p:nvPr>
        </p:nvSpPr>
        <p:spPr/>
        <p:txBody>
          <a:bodyPr/>
          <a:lstStyle/>
          <a:p>
            <a:fld id="{D04A0871-DA55-4207-AD00-2FCD8E6CD3A2}" type="datetimeFigureOut">
              <a:rPr lang="en-GB" smtClean="0"/>
              <a:t>26/11/2025</a:t>
            </a:fld>
            <a:endParaRPr lang="en-GB"/>
          </a:p>
        </p:txBody>
      </p:sp>
      <p:sp>
        <p:nvSpPr>
          <p:cNvPr id="5" name="Footer Placeholder 4">
            <a:extLst>
              <a:ext uri="{FF2B5EF4-FFF2-40B4-BE49-F238E27FC236}">
                <a16:creationId xmlns:a16="http://schemas.microsoft.com/office/drawing/2014/main" id="{18EC8696-8719-411C-8A26-EC439CB1E3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78645F-E4D9-4956-A4E9-1805F596011B}"/>
              </a:ext>
            </a:extLst>
          </p:cNvPr>
          <p:cNvSpPr>
            <a:spLocks noGrp="1"/>
          </p:cNvSpPr>
          <p:nvPr>
            <p:ph type="sldNum" sz="quarter" idx="12"/>
          </p:nvPr>
        </p:nvSpPr>
        <p:spPr/>
        <p:txBody>
          <a:bodyPr/>
          <a:lstStyle/>
          <a:p>
            <a:fld id="{9F02DDD4-8E08-4D26-B4C7-C285EFE01CC8}" type="slidenum">
              <a:rPr lang="en-GB" smtClean="0"/>
              <a:t>‹#›</a:t>
            </a:fld>
            <a:endParaRPr lang="en-GB"/>
          </a:p>
        </p:txBody>
      </p:sp>
    </p:spTree>
    <p:extLst>
      <p:ext uri="{BB962C8B-B14F-4D97-AF65-F5344CB8AC3E}">
        <p14:creationId xmlns:p14="http://schemas.microsoft.com/office/powerpoint/2010/main" val="1079606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765DB5-1246-4458-9FC1-36D5A3A539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00B552A-2752-42B3-901B-C990E2FBF6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B132FFA-9329-458C-A119-96035B7D39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4A0871-DA55-4207-AD00-2FCD8E6CD3A2}" type="datetimeFigureOut">
              <a:rPr lang="en-GB" smtClean="0"/>
              <a:t>26/11/2025</a:t>
            </a:fld>
            <a:endParaRPr lang="en-GB"/>
          </a:p>
        </p:txBody>
      </p:sp>
      <p:sp>
        <p:nvSpPr>
          <p:cNvPr id="5" name="Footer Placeholder 4">
            <a:extLst>
              <a:ext uri="{FF2B5EF4-FFF2-40B4-BE49-F238E27FC236}">
                <a16:creationId xmlns:a16="http://schemas.microsoft.com/office/drawing/2014/main" id="{84A4EA4F-A3A0-49DE-8C82-69B1D7FF6D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357B8A8-E35C-4EAE-A09E-2E8C7CD88F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02DDD4-8E08-4D26-B4C7-C285EFE01CC8}" type="slidenum">
              <a:rPr lang="en-GB" smtClean="0"/>
              <a:t>‹#›</a:t>
            </a:fld>
            <a:endParaRPr lang="en-GB"/>
          </a:p>
        </p:txBody>
      </p:sp>
    </p:spTree>
    <p:extLst>
      <p:ext uri="{BB962C8B-B14F-4D97-AF65-F5344CB8AC3E}">
        <p14:creationId xmlns:p14="http://schemas.microsoft.com/office/powerpoint/2010/main" val="268007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C654D-BE70-454B-94CE-C19808FFF7DF}"/>
              </a:ext>
            </a:extLst>
          </p:cNvPr>
          <p:cNvSpPr>
            <a:spLocks noGrp="1"/>
          </p:cNvSpPr>
          <p:nvPr>
            <p:ph type="title"/>
          </p:nvPr>
        </p:nvSpPr>
        <p:spPr/>
        <p:txBody>
          <a:bodyPr/>
          <a:lstStyle/>
          <a:p>
            <a:br>
              <a:rPr lang="en-GB" sz="1800" b="0" i="0" u="none" strike="noStrike" baseline="0" dirty="0">
                <a:solidFill>
                  <a:srgbClr val="000000"/>
                </a:solidFill>
              </a:rPr>
            </a:br>
            <a:endParaRPr lang="en-GB" dirty="0"/>
          </a:p>
        </p:txBody>
      </p:sp>
      <p:sp>
        <p:nvSpPr>
          <p:cNvPr id="4" name="Content Placeholder 3">
            <a:extLst>
              <a:ext uri="{FF2B5EF4-FFF2-40B4-BE49-F238E27FC236}">
                <a16:creationId xmlns:a16="http://schemas.microsoft.com/office/drawing/2014/main" id="{35F98037-59D7-474D-8323-7DB27A90A420}"/>
              </a:ext>
            </a:extLst>
          </p:cNvPr>
          <p:cNvSpPr>
            <a:spLocks noGrp="1"/>
          </p:cNvSpPr>
          <p:nvPr>
            <p:ph idx="1"/>
          </p:nvPr>
        </p:nvSpPr>
        <p:spPr>
          <a:xfrm>
            <a:off x="1" y="62753"/>
            <a:ext cx="12192000" cy="6732494"/>
          </a:xfrm>
        </p:spPr>
        <p:txBody>
          <a:bodyPr>
            <a:normAutofit/>
          </a:bodyPr>
          <a:lstStyle/>
          <a:p>
            <a:pPr algn="ctr"/>
            <a:endParaRPr lang="en-FI" sz="4800" dirty="0">
              <a:solidFill>
                <a:srgbClr val="FF0000"/>
              </a:solidFill>
              <a:latin typeface="Comic Sans MS" panose="030F0702030302020204" pitchFamily="66" charset="0"/>
            </a:endParaRPr>
          </a:p>
          <a:p>
            <a:pPr algn="ctr"/>
            <a:r>
              <a:rPr lang="en-GB" sz="4800" b="1" dirty="0">
                <a:solidFill>
                  <a:srgbClr val="FF0000"/>
                </a:solidFill>
                <a:latin typeface="Comic Sans MS" panose="030F0702030302020204" pitchFamily="66" charset="0"/>
              </a:rPr>
              <a:t>Digital Logic Design </a:t>
            </a:r>
            <a:br>
              <a:rPr lang="en-GB" sz="4800" b="1" dirty="0">
                <a:solidFill>
                  <a:srgbClr val="FF0000"/>
                </a:solidFill>
                <a:latin typeface="Comic Sans MS" panose="030F0702030302020204" pitchFamily="66" charset="0"/>
              </a:rPr>
            </a:br>
            <a:endParaRPr lang="en-FI" sz="4800" b="1" dirty="0">
              <a:solidFill>
                <a:srgbClr val="FF0000"/>
              </a:solidFill>
              <a:latin typeface="Comic Sans MS" panose="030F0702030302020204" pitchFamily="66" charset="0"/>
            </a:endParaRPr>
          </a:p>
          <a:p>
            <a:pPr algn="ctr"/>
            <a:r>
              <a:rPr lang="en-GB" sz="4800" b="1" dirty="0">
                <a:solidFill>
                  <a:srgbClr val="FF0000"/>
                </a:solidFill>
                <a:latin typeface="Comic Sans MS" panose="030F0702030302020204" pitchFamily="66" charset="0"/>
              </a:rPr>
              <a:t>IFT 211 </a:t>
            </a:r>
            <a:endParaRPr lang="en-FI" sz="4800" b="1" dirty="0">
              <a:solidFill>
                <a:srgbClr val="FF0000"/>
              </a:solidFill>
              <a:latin typeface="Comic Sans MS" panose="030F0702030302020204" pitchFamily="66" charset="0"/>
            </a:endParaRPr>
          </a:p>
          <a:p>
            <a:pPr marL="0" indent="0" algn="ctr">
              <a:buNone/>
            </a:pPr>
            <a:endParaRPr lang="en-FI" sz="4800" dirty="0">
              <a:solidFill>
                <a:srgbClr val="FF0000"/>
              </a:solidFill>
              <a:latin typeface="Comic Sans MS" panose="030F0702030302020204" pitchFamily="66" charset="0"/>
            </a:endParaRPr>
          </a:p>
          <a:p>
            <a:pPr marL="0" indent="0" algn="ctr">
              <a:buNone/>
            </a:pPr>
            <a:r>
              <a:rPr lang="en-FI" sz="4800" dirty="0">
                <a:latin typeface="Comic Sans MS" panose="030F0702030302020204" pitchFamily="66" charset="0"/>
              </a:rPr>
              <a:t>Alamu F.O. Ph.D.</a:t>
            </a:r>
            <a:endParaRPr lang="en-GB" sz="4800" dirty="0">
              <a:latin typeface="Comic Sans MS" panose="030F0702030302020204" pitchFamily="66" charset="0"/>
            </a:endParaRPr>
          </a:p>
        </p:txBody>
      </p:sp>
    </p:spTree>
    <p:extLst>
      <p:ext uri="{BB962C8B-B14F-4D97-AF65-F5344CB8AC3E}">
        <p14:creationId xmlns:p14="http://schemas.microsoft.com/office/powerpoint/2010/main" val="484676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9CC8CA-E9E8-4996-91D0-D3AEC018C844}"/>
              </a:ext>
            </a:extLst>
          </p:cNvPr>
          <p:cNvSpPr>
            <a:spLocks noGrp="1"/>
          </p:cNvSpPr>
          <p:nvPr>
            <p:ph idx="1"/>
          </p:nvPr>
        </p:nvSpPr>
        <p:spPr>
          <a:xfrm>
            <a:off x="410817" y="225288"/>
            <a:ext cx="11502887" cy="6268278"/>
          </a:xfrm>
        </p:spPr>
        <p:txBody>
          <a:bodyPr>
            <a:normAutofit fontScale="92500" lnSpcReduction="10000"/>
          </a:bodyPr>
          <a:lstStyle/>
          <a:p>
            <a:pPr algn="just"/>
            <a:r>
              <a:rPr lang="en-GB" sz="3000" b="1" dirty="0">
                <a:solidFill>
                  <a:srgbClr val="FF0000"/>
                </a:solidFill>
                <a:latin typeface="Comic Sans MS" panose="030F0702030302020204" pitchFamily="66" charset="0"/>
              </a:rPr>
              <a:t>Administration of the course:</a:t>
            </a:r>
            <a:endParaRPr lang="en-NG" sz="3000" dirty="0">
              <a:solidFill>
                <a:srgbClr val="FF0000"/>
              </a:solidFill>
              <a:latin typeface="Comic Sans MS" panose="030F0702030302020204" pitchFamily="66" charset="0"/>
            </a:endParaRPr>
          </a:p>
          <a:p>
            <a:pPr algn="just"/>
            <a:r>
              <a:rPr lang="en-GB" dirty="0">
                <a:latin typeface="Comic Sans MS" panose="030F0702030302020204" pitchFamily="66" charset="0"/>
              </a:rPr>
              <a:t>The students are expected to attend all classes. An official written document </a:t>
            </a:r>
            <a:r>
              <a:rPr lang="en-GB" b="1" dirty="0">
                <a:latin typeface="Comic Sans MS" panose="030F0702030302020204" pitchFamily="66" charset="0"/>
              </a:rPr>
              <a:t>stating</a:t>
            </a:r>
            <a:r>
              <a:rPr lang="en-GB" dirty="0">
                <a:latin typeface="Comic Sans MS" panose="030F0702030302020204" pitchFamily="66" charset="0"/>
              </a:rPr>
              <a:t> why you are absent from any class or test if per chance you are absent</a:t>
            </a:r>
            <a:r>
              <a:rPr lang="en-GB" b="1" dirty="0">
                <a:latin typeface="Comic Sans MS" panose="030F0702030302020204" pitchFamily="66" charset="0"/>
              </a:rPr>
              <a:t> </a:t>
            </a:r>
            <a:r>
              <a:rPr lang="en-GB" dirty="0">
                <a:latin typeface="Comic Sans MS" panose="030F0702030302020204" pitchFamily="66" charset="0"/>
              </a:rPr>
              <a:t>from the class. Hence a notice of such absences should be submitted in writing in advance. An excused absence requires a written testament of illness or other catastrophe from a physician or other official duly certified by UNILAG health </a:t>
            </a:r>
            <a:r>
              <a:rPr lang="en-GB" dirty="0" err="1">
                <a:latin typeface="Comic Sans MS" panose="030F0702030302020204" pitchFamily="66" charset="0"/>
              </a:rPr>
              <a:t>center</a:t>
            </a:r>
            <a:r>
              <a:rPr lang="en-GB" dirty="0">
                <a:latin typeface="Comic Sans MS" panose="030F0702030302020204" pitchFamily="66" charset="0"/>
              </a:rPr>
              <a:t>.</a:t>
            </a:r>
            <a:endParaRPr lang="en-NG" dirty="0">
              <a:latin typeface="Comic Sans MS" panose="030F0702030302020204" pitchFamily="66" charset="0"/>
            </a:endParaRPr>
          </a:p>
          <a:p>
            <a:pPr marL="0" indent="0" algn="just">
              <a:buNone/>
            </a:pPr>
            <a:r>
              <a:rPr lang="en-GB" dirty="0">
                <a:latin typeface="Comic Sans MS" panose="030F0702030302020204" pitchFamily="66" charset="0"/>
              </a:rPr>
              <a:t> </a:t>
            </a:r>
            <a:endParaRPr lang="en-NG" dirty="0">
              <a:latin typeface="Comic Sans MS" panose="030F0702030302020204" pitchFamily="66" charset="0"/>
            </a:endParaRPr>
          </a:p>
          <a:p>
            <a:pPr algn="just"/>
            <a:r>
              <a:rPr lang="en-GB" b="1" dirty="0">
                <a:solidFill>
                  <a:srgbClr val="FF0000"/>
                </a:solidFill>
                <a:latin typeface="Comic Sans MS" panose="030F0702030302020204" pitchFamily="66" charset="0"/>
              </a:rPr>
              <a:t>Grading</a:t>
            </a:r>
            <a:r>
              <a:rPr lang="en-GB" b="1" dirty="0">
                <a:latin typeface="Comic Sans MS" panose="030F0702030302020204" pitchFamily="66" charset="0"/>
              </a:rPr>
              <a:t>:</a:t>
            </a:r>
            <a:r>
              <a:rPr lang="en-GB" dirty="0">
                <a:latin typeface="Comic Sans MS" panose="030F0702030302020204" pitchFamily="66" charset="0"/>
              </a:rPr>
              <a:t>  </a:t>
            </a:r>
          </a:p>
          <a:p>
            <a:pPr algn="just"/>
            <a:r>
              <a:rPr lang="en-GB" dirty="0">
                <a:latin typeface="Comic Sans MS" panose="030F0702030302020204" pitchFamily="66" charset="0"/>
              </a:rPr>
              <a:t>Grading will be based on class work, quizzes, Exams, Special Assignments/Design Projects and the Final Examination according to the following scheme:</a:t>
            </a:r>
          </a:p>
          <a:p>
            <a:pPr marL="0" indent="0" algn="just">
              <a:buNone/>
            </a:pPr>
            <a:endParaRPr lang="en-NG" dirty="0">
              <a:latin typeface="Comic Sans MS" panose="030F0702030302020204" pitchFamily="66" charset="0"/>
            </a:endParaRPr>
          </a:p>
          <a:p>
            <a:pPr algn="just"/>
            <a:r>
              <a:rPr lang="en-GB" b="1" dirty="0">
                <a:solidFill>
                  <a:srgbClr val="FF0000"/>
                </a:solidFill>
                <a:latin typeface="Comic Sans MS" panose="030F0702030302020204" pitchFamily="66" charset="0"/>
              </a:rPr>
              <a:t>Continuous assessment</a:t>
            </a:r>
            <a:r>
              <a:rPr lang="en-GB" dirty="0">
                <a:latin typeface="Comic Sans MS" panose="030F0702030302020204" pitchFamily="66" charset="0"/>
              </a:rPr>
              <a:t>			30%</a:t>
            </a:r>
            <a:endParaRPr lang="en-NG" dirty="0">
              <a:latin typeface="Comic Sans MS" panose="030F0702030302020204" pitchFamily="66" charset="0"/>
            </a:endParaRPr>
          </a:p>
          <a:p>
            <a:pPr algn="just"/>
            <a:r>
              <a:rPr lang="en-GB" b="1" dirty="0">
                <a:solidFill>
                  <a:srgbClr val="FF0000"/>
                </a:solidFill>
                <a:latin typeface="Comic Sans MS" panose="030F0702030302020204" pitchFamily="66" charset="0"/>
              </a:rPr>
              <a:t>Examinations</a:t>
            </a:r>
            <a:r>
              <a:rPr lang="en-GB" dirty="0">
                <a:latin typeface="Comic Sans MS" panose="030F0702030302020204" pitchFamily="66" charset="0"/>
              </a:rPr>
              <a:t>					70%</a:t>
            </a:r>
            <a:endParaRPr lang="en-NG" dirty="0">
              <a:latin typeface="Comic Sans MS" panose="030F0702030302020204" pitchFamily="66" charset="0"/>
            </a:endParaRPr>
          </a:p>
          <a:p>
            <a:pPr algn="just"/>
            <a:r>
              <a:rPr lang="en-GB" b="1" dirty="0">
                <a:solidFill>
                  <a:srgbClr val="FF0000"/>
                </a:solidFill>
                <a:latin typeface="Comic Sans MS" panose="030F0702030302020204" pitchFamily="66" charset="0"/>
              </a:rPr>
              <a:t>Total</a:t>
            </a:r>
            <a:r>
              <a:rPr lang="en-GB" dirty="0">
                <a:solidFill>
                  <a:srgbClr val="FF0000"/>
                </a:solidFill>
                <a:latin typeface="Comic Sans MS" panose="030F0702030302020204" pitchFamily="66" charset="0"/>
              </a:rPr>
              <a:t> </a:t>
            </a:r>
            <a:r>
              <a:rPr lang="en-GB" dirty="0">
                <a:latin typeface="Comic Sans MS" panose="030F0702030302020204" pitchFamily="66" charset="0"/>
              </a:rPr>
              <a:t>                                                      100%</a:t>
            </a:r>
            <a:endParaRPr lang="en-NG" dirty="0">
              <a:latin typeface="Comic Sans MS" panose="030F0702030302020204" pitchFamily="66" charset="0"/>
            </a:endParaRPr>
          </a:p>
          <a:p>
            <a:endParaRPr lang="en-NG" dirty="0"/>
          </a:p>
        </p:txBody>
      </p:sp>
    </p:spTree>
    <p:extLst>
      <p:ext uri="{BB962C8B-B14F-4D97-AF65-F5344CB8AC3E}">
        <p14:creationId xmlns:p14="http://schemas.microsoft.com/office/powerpoint/2010/main" val="1144649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3">
            <a:extLst>
              <a:ext uri="{FF2B5EF4-FFF2-40B4-BE49-F238E27FC236}">
                <a16:creationId xmlns:a16="http://schemas.microsoft.com/office/drawing/2014/main" id="{98828AB4-CABB-42B7-BC13-C8C612FB64D0}"/>
              </a:ext>
            </a:extLst>
          </p:cNvPr>
          <p:cNvGraphicFramePr>
            <a:graphicFrameLocks noGrp="1"/>
          </p:cNvGraphicFramePr>
          <p:nvPr>
            <p:ph idx="1"/>
            <p:extLst>
              <p:ext uri="{D42A27DB-BD31-4B8C-83A1-F6EECF244321}">
                <p14:modId xmlns:p14="http://schemas.microsoft.com/office/powerpoint/2010/main" val="567001559"/>
              </p:ext>
            </p:extLst>
          </p:nvPr>
        </p:nvGraphicFramePr>
        <p:xfrm>
          <a:off x="266700" y="136524"/>
          <a:ext cx="11734801" cy="6258872"/>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3210833884"/>
                    </a:ext>
                  </a:extLst>
                </a:gridCol>
                <a:gridCol w="1435100">
                  <a:extLst>
                    <a:ext uri="{9D8B030D-6E8A-4147-A177-3AD203B41FA5}">
                      <a16:colId xmlns:a16="http://schemas.microsoft.com/office/drawing/2014/main" val="3215557345"/>
                    </a:ext>
                  </a:extLst>
                </a:gridCol>
                <a:gridCol w="4191000">
                  <a:extLst>
                    <a:ext uri="{9D8B030D-6E8A-4147-A177-3AD203B41FA5}">
                      <a16:colId xmlns:a16="http://schemas.microsoft.com/office/drawing/2014/main" val="575020596"/>
                    </a:ext>
                  </a:extLst>
                </a:gridCol>
                <a:gridCol w="2006600">
                  <a:extLst>
                    <a:ext uri="{9D8B030D-6E8A-4147-A177-3AD203B41FA5}">
                      <a16:colId xmlns:a16="http://schemas.microsoft.com/office/drawing/2014/main" val="2525759697"/>
                    </a:ext>
                  </a:extLst>
                </a:gridCol>
                <a:gridCol w="2654301">
                  <a:extLst>
                    <a:ext uri="{9D8B030D-6E8A-4147-A177-3AD203B41FA5}">
                      <a16:colId xmlns:a16="http://schemas.microsoft.com/office/drawing/2014/main" val="2323439875"/>
                    </a:ext>
                  </a:extLst>
                </a:gridCol>
              </a:tblGrid>
              <a:tr h="658762">
                <a:tc>
                  <a:txBody>
                    <a:bodyPr/>
                    <a:lstStyle/>
                    <a:p>
                      <a:pPr>
                        <a:lnSpc>
                          <a:spcPct val="115000"/>
                        </a:lnSpc>
                        <a:spcAft>
                          <a:spcPts val="0"/>
                        </a:spcAft>
                      </a:pPr>
                      <a:r>
                        <a:rPr lang="en-GB" sz="2800" b="1" dirty="0">
                          <a:solidFill>
                            <a:srgbClr val="FF0000"/>
                          </a:solidFill>
                          <a:effectLst/>
                          <a:latin typeface="Comic Sans MS" panose="030F0702030302020204" pitchFamily="66" charset="0"/>
                        </a:rPr>
                        <a:t>Lecture</a:t>
                      </a:r>
                      <a:endParaRPr lang="en-NG" sz="2800" b="1" dirty="0">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800" b="1">
                          <a:solidFill>
                            <a:srgbClr val="FF0000"/>
                          </a:solidFill>
                          <a:effectLst/>
                          <a:latin typeface="Comic Sans MS" panose="030F0702030302020204" pitchFamily="66" charset="0"/>
                        </a:rPr>
                        <a:t>Day</a:t>
                      </a:r>
                      <a:endParaRPr lang="en-NG" sz="2800" b="1">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800" b="1" dirty="0">
                          <a:solidFill>
                            <a:srgbClr val="FF0000"/>
                          </a:solidFill>
                          <a:effectLst/>
                          <a:latin typeface="Comic Sans MS" panose="030F0702030302020204" pitchFamily="66" charset="0"/>
                        </a:rPr>
                        <a:t>Topics</a:t>
                      </a:r>
                      <a:endParaRPr lang="en-NG" sz="2800" b="1" dirty="0">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800" b="1" dirty="0">
                          <a:solidFill>
                            <a:srgbClr val="FF0000"/>
                          </a:solidFill>
                          <a:effectLst/>
                          <a:latin typeface="Comic Sans MS" panose="030F0702030302020204" pitchFamily="66" charset="0"/>
                        </a:rPr>
                        <a:t>Lecturer</a:t>
                      </a:r>
                      <a:endParaRPr lang="en-NG" sz="2800" b="1" dirty="0">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800" b="1" dirty="0">
                          <a:solidFill>
                            <a:srgbClr val="FF0000"/>
                          </a:solidFill>
                          <a:effectLst/>
                          <a:latin typeface="Comic Sans MS" panose="030F0702030302020204" pitchFamily="66" charset="0"/>
                        </a:rPr>
                        <a:t>Assignments</a:t>
                      </a:r>
                      <a:endParaRPr lang="en-NG" sz="2800" b="1" dirty="0">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478272177"/>
                  </a:ext>
                </a:extLst>
              </a:tr>
              <a:tr h="658762">
                <a:tc>
                  <a:txBody>
                    <a:bodyPr/>
                    <a:lstStyle/>
                    <a:p>
                      <a:pPr>
                        <a:lnSpc>
                          <a:spcPct val="115000"/>
                        </a:lnSpc>
                        <a:spcAft>
                          <a:spcPts val="0"/>
                        </a:spcAft>
                      </a:pPr>
                      <a:r>
                        <a:rPr lang="en-GB" sz="2400" b="1">
                          <a:effectLst/>
                          <a:latin typeface="Comic Sans MS" panose="030F0702030302020204" pitchFamily="66" charset="0"/>
                        </a:rPr>
                        <a:t>1</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Thursday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07000"/>
                        </a:lnSpc>
                        <a:spcAft>
                          <a:spcPts val="800"/>
                        </a:spcAft>
                      </a:pPr>
                      <a:r>
                        <a:rPr lang="en-GB" sz="2800" b="1">
                          <a:effectLst/>
                          <a:latin typeface="Comic Sans MS" panose="030F0702030302020204" pitchFamily="66" charset="0"/>
                          <a:ea typeface="Calibri" panose="020F0502020204030204" pitchFamily="34" charset="0"/>
                          <a:cs typeface="Times New Roman" panose="02020603050405020304" pitchFamily="18" charset="0"/>
                        </a:rPr>
                        <a:t>General </a:t>
                      </a:r>
                      <a:r>
                        <a:rPr lang="en-FI" sz="2800" b="1">
                          <a:effectLst/>
                          <a:latin typeface="Comic Sans MS" panose="030F0702030302020204" pitchFamily="66" charset="0"/>
                          <a:ea typeface="Calibri" panose="020F0502020204030204" pitchFamily="34" charset="0"/>
                          <a:cs typeface="Times New Roman" panose="02020603050405020304" pitchFamily="18" charset="0"/>
                        </a:rPr>
                        <a:t>Introduction </a:t>
                      </a:r>
                      <a:endParaRPr lang="en-GB" sz="2800" b="1">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GB" sz="2400" b="1">
                          <a:effectLst/>
                          <a:latin typeface="Comic Sans MS" panose="030F0702030302020204" pitchFamily="66" charset="0"/>
                        </a:rPr>
                        <a:t>Dr. Alamu</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Assignment1</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1047881933"/>
                  </a:ext>
                </a:extLst>
              </a:tr>
              <a:tr h="708243">
                <a:tc>
                  <a:txBody>
                    <a:bodyPr/>
                    <a:lstStyle/>
                    <a:p>
                      <a:pPr>
                        <a:lnSpc>
                          <a:spcPct val="115000"/>
                        </a:lnSpc>
                        <a:spcAft>
                          <a:spcPts val="0"/>
                        </a:spcAft>
                      </a:pPr>
                      <a:r>
                        <a:rPr lang="en-GB" sz="2400" b="1">
                          <a:effectLst/>
                          <a:latin typeface="Comic Sans MS" panose="030F0702030302020204" pitchFamily="66" charset="0"/>
                        </a:rPr>
                        <a:t>2</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Thursday</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07000"/>
                        </a:lnSpc>
                        <a:spcAft>
                          <a:spcPts val="800"/>
                        </a:spcAft>
                      </a:pPr>
                      <a:r>
                        <a:rPr lang="en-GB" sz="2800" b="1">
                          <a:effectLst/>
                          <a:latin typeface="Comic Sans MS" panose="030F0702030302020204" pitchFamily="66" charset="0"/>
                          <a:ea typeface="Calibri" panose="020F0502020204030204" pitchFamily="34" charset="0"/>
                          <a:cs typeface="TimesNewRomanPS-BoldMT"/>
                        </a:rPr>
                        <a:t>Numbering Systems</a:t>
                      </a:r>
                      <a:endParaRPr lang="en-GB" sz="2800" b="1">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GB" sz="2400" b="1">
                          <a:effectLst/>
                          <a:latin typeface="Comic Sans MS" panose="030F0702030302020204" pitchFamily="66" charset="0"/>
                        </a:rPr>
                        <a:t>Dr. Alamu</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a:effectLst/>
                          <a:latin typeface="Comic Sans MS" panose="030F0702030302020204" pitchFamily="66" charset="0"/>
                        </a:rPr>
                        <a:t>Assignment 2</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1416575028"/>
                  </a:ext>
                </a:extLst>
              </a:tr>
              <a:tr h="933156">
                <a:tc>
                  <a:txBody>
                    <a:bodyPr/>
                    <a:lstStyle/>
                    <a:p>
                      <a:pPr>
                        <a:lnSpc>
                          <a:spcPct val="115000"/>
                        </a:lnSpc>
                        <a:spcAft>
                          <a:spcPts val="0"/>
                        </a:spcAft>
                      </a:pPr>
                      <a:r>
                        <a:rPr lang="en-GB" sz="2400" b="1">
                          <a:effectLst/>
                          <a:latin typeface="Comic Sans MS" panose="030F0702030302020204" pitchFamily="66" charset="0"/>
                        </a:rPr>
                        <a:t>3</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Thursday</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07000"/>
                        </a:lnSpc>
                        <a:spcAft>
                          <a:spcPts val="800"/>
                        </a:spcAft>
                      </a:pPr>
                      <a:r>
                        <a:rPr lang="en-GB" sz="2800" b="1">
                          <a:effectLst/>
                          <a:latin typeface="Comic Sans MS" panose="030F0702030302020204" pitchFamily="66" charset="0"/>
                          <a:ea typeface="Calibri" panose="020F0502020204030204" pitchFamily="34" charset="0"/>
                          <a:cs typeface="TimesNewRomanPS-BoldMT"/>
                        </a:rPr>
                        <a:t>Binary Math and Signed Representations</a:t>
                      </a:r>
                      <a:endParaRPr lang="en-GB" sz="2800" b="1">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GB" sz="2400" b="1" dirty="0">
                          <a:effectLst/>
                          <a:latin typeface="Comic Sans MS" panose="030F0702030302020204" pitchFamily="66" charset="0"/>
                        </a:rPr>
                        <a:t>Dr. Alamu</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Assignment 3</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2021298161"/>
                  </a:ext>
                </a:extLst>
              </a:tr>
              <a:tr h="708243">
                <a:tc>
                  <a:txBody>
                    <a:bodyPr/>
                    <a:lstStyle/>
                    <a:p>
                      <a:pPr>
                        <a:lnSpc>
                          <a:spcPct val="115000"/>
                        </a:lnSpc>
                        <a:spcAft>
                          <a:spcPts val="0"/>
                        </a:spcAft>
                      </a:pPr>
                      <a:r>
                        <a:rPr lang="en-GB" sz="2400" b="1">
                          <a:effectLst/>
                          <a:latin typeface="Comic Sans MS" panose="030F0702030302020204" pitchFamily="66" charset="0"/>
                        </a:rPr>
                        <a:t>4</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Thursday</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07000"/>
                        </a:lnSpc>
                        <a:spcAft>
                          <a:spcPts val="800"/>
                        </a:spcAft>
                      </a:pPr>
                      <a:r>
                        <a:rPr lang="en-GB" sz="2800" b="1">
                          <a:effectLst/>
                          <a:latin typeface="Comic Sans MS" panose="030F0702030302020204" pitchFamily="66" charset="0"/>
                          <a:ea typeface="Calibri" panose="020F0502020204030204" pitchFamily="34" charset="0"/>
                          <a:cs typeface="TimesNewRomanPS-BoldMT"/>
                        </a:rPr>
                        <a:t>Logic Functions and Gates</a:t>
                      </a:r>
                      <a:endParaRPr lang="en-GB" sz="2800" b="1">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GB" sz="2400" b="1">
                          <a:effectLst/>
                          <a:latin typeface="Comic Sans MS" panose="030F0702030302020204" pitchFamily="66" charset="0"/>
                        </a:rPr>
                        <a:t>Dr. Alamu</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a:effectLst/>
                          <a:latin typeface="Comic Sans MS" panose="030F0702030302020204" pitchFamily="66" charset="0"/>
                        </a:rPr>
                        <a:t>Assignment 4</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4060401044"/>
                  </a:ext>
                </a:extLst>
              </a:tr>
              <a:tr h="710863">
                <a:tc>
                  <a:txBody>
                    <a:bodyPr/>
                    <a:lstStyle/>
                    <a:p>
                      <a:pPr>
                        <a:lnSpc>
                          <a:spcPct val="115000"/>
                        </a:lnSpc>
                        <a:spcAft>
                          <a:spcPts val="0"/>
                        </a:spcAft>
                      </a:pPr>
                      <a:r>
                        <a:rPr lang="en-GB" sz="2400" b="1">
                          <a:effectLst/>
                          <a:latin typeface="Comic Sans MS" panose="030F0702030302020204" pitchFamily="66" charset="0"/>
                        </a:rPr>
                        <a:t>5</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Thursday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07000"/>
                        </a:lnSpc>
                        <a:spcAft>
                          <a:spcPts val="800"/>
                        </a:spcAft>
                      </a:pPr>
                      <a:r>
                        <a:rPr lang="en-GB" sz="2800" b="1" dirty="0">
                          <a:effectLst/>
                          <a:latin typeface="Comic Sans MS" panose="030F0702030302020204" pitchFamily="66" charset="0"/>
                          <a:ea typeface="Calibri" panose="020F0502020204030204" pitchFamily="34" charset="0"/>
                          <a:cs typeface="TimesNewRomanPS-BoldMT"/>
                        </a:rPr>
                        <a:t>Boolean Algebra</a:t>
                      </a:r>
                      <a:endParaRPr lang="en-GB" sz="28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GB" sz="2400" b="1">
                          <a:effectLst/>
                          <a:latin typeface="Comic Sans MS" panose="030F0702030302020204" pitchFamily="66" charset="0"/>
                        </a:rPr>
                        <a:t>Dr. Alamu</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a:effectLst/>
                          <a:latin typeface="Comic Sans MS" panose="030F0702030302020204" pitchFamily="66" charset="0"/>
                        </a:rPr>
                        <a:t>Assignment 5</a:t>
                      </a:r>
                      <a:endParaRPr lang="en-NG" sz="2400" b="1">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2711851798"/>
                  </a:ext>
                </a:extLst>
              </a:tr>
              <a:tr h="708243">
                <a:tc>
                  <a:txBody>
                    <a:bodyPr/>
                    <a:lstStyle/>
                    <a:p>
                      <a:pPr>
                        <a:lnSpc>
                          <a:spcPct val="115000"/>
                        </a:lnSpc>
                        <a:spcAft>
                          <a:spcPts val="0"/>
                        </a:spcAft>
                      </a:pPr>
                      <a:r>
                        <a:rPr lang="en-GB" sz="2400" b="1" dirty="0">
                          <a:effectLst/>
                          <a:latin typeface="Comic Sans MS" panose="030F0702030302020204" pitchFamily="66" charset="0"/>
                        </a:rPr>
                        <a:t>6</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Thursday</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07000"/>
                        </a:lnSpc>
                        <a:spcAft>
                          <a:spcPts val="800"/>
                        </a:spcAft>
                      </a:pPr>
                      <a:r>
                        <a:rPr lang="en-GB" sz="2800" b="1" dirty="0">
                          <a:effectLst/>
                          <a:latin typeface="Comic Sans MS" panose="030F0702030302020204" pitchFamily="66" charset="0"/>
                          <a:ea typeface="Calibri" panose="020F0502020204030204" pitchFamily="34" charset="0"/>
                          <a:cs typeface="TimesNewRomanPS-BoldMT"/>
                        </a:rPr>
                        <a:t>Standard Boolean Expression Formats</a:t>
                      </a:r>
                      <a:endParaRPr lang="en-GB" sz="28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GB" sz="2400" b="1" dirty="0">
                          <a:effectLst/>
                          <a:latin typeface="Comic Sans MS" panose="030F0702030302020204" pitchFamily="66" charset="0"/>
                        </a:rPr>
                        <a:t>Dr. Alamu</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Assignment 6</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2181850383"/>
                  </a:ext>
                </a:extLst>
              </a:tr>
              <a:tr h="398536">
                <a:tc>
                  <a:txBody>
                    <a:bodyPr/>
                    <a:lstStyle/>
                    <a:p>
                      <a:pPr>
                        <a:lnSpc>
                          <a:spcPct val="115000"/>
                        </a:lnSpc>
                        <a:spcAft>
                          <a:spcPts val="0"/>
                        </a:spcAft>
                      </a:pPr>
                      <a:r>
                        <a:rPr lang="en-GB" sz="2400" b="1" dirty="0">
                          <a:effectLst/>
                          <a:latin typeface="Comic Sans MS" panose="030F0702030302020204" pitchFamily="66" charset="0"/>
                        </a:rPr>
                        <a:t>7</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Thursday</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07000"/>
                        </a:lnSpc>
                        <a:spcAft>
                          <a:spcPts val="0"/>
                        </a:spcAft>
                      </a:pPr>
                      <a:r>
                        <a:rPr lang="en-GB" sz="2800" b="1" kern="1200" dirty="0">
                          <a:solidFill>
                            <a:schemeClr val="dk1"/>
                          </a:solidFill>
                          <a:effectLst/>
                          <a:latin typeface="Comic Sans MS" panose="030F0702030302020204" pitchFamily="66" charset="0"/>
                          <a:ea typeface="+mn-ea"/>
                          <a:cs typeface="+mn-cs"/>
                        </a:rPr>
                        <a:t>Karnaugh Maps</a:t>
                      </a:r>
                      <a:endParaRPr lang="en-NG" sz="28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GB" sz="2400" dirty="0">
                          <a:effectLst/>
                          <a:latin typeface="Comic Sans MS" panose="030F0702030302020204" pitchFamily="66" charset="0"/>
                        </a:rPr>
                        <a:t> </a:t>
                      </a:r>
                      <a:r>
                        <a:rPr lang="en-GB" sz="2400" b="1" dirty="0">
                          <a:effectLst/>
                          <a:latin typeface="Comic Sans MS" panose="030F0702030302020204" pitchFamily="66" charset="0"/>
                        </a:rPr>
                        <a:t>Dr. Alamu</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p>
                      <a:pPr>
                        <a:lnSpc>
                          <a:spcPct val="115000"/>
                        </a:lnSpc>
                        <a:spcAft>
                          <a:spcPts val="0"/>
                        </a:spcAft>
                      </a:pPr>
                      <a:endParaRPr lang="en-NG" sz="24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dirty="0">
                          <a:effectLst/>
                          <a:latin typeface="Comic Sans MS" panose="030F0702030302020204" pitchFamily="66" charset="0"/>
                        </a:rPr>
                        <a:t> </a:t>
                      </a:r>
                      <a:r>
                        <a:rPr lang="en-GB" sz="2400" b="1" dirty="0">
                          <a:effectLst/>
                          <a:latin typeface="Comic Sans MS" panose="030F0702030302020204" pitchFamily="66" charset="0"/>
                        </a:rPr>
                        <a:t>Assignment 7</a:t>
                      </a:r>
                      <a:endParaRPr lang="en-NG" sz="24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2141430545"/>
                  </a:ext>
                </a:extLst>
              </a:tr>
            </a:tbl>
          </a:graphicData>
        </a:graphic>
      </p:graphicFrame>
    </p:spTree>
    <p:extLst>
      <p:ext uri="{BB962C8B-B14F-4D97-AF65-F5344CB8AC3E}">
        <p14:creationId xmlns:p14="http://schemas.microsoft.com/office/powerpoint/2010/main" val="4009349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3">
            <a:extLst>
              <a:ext uri="{FF2B5EF4-FFF2-40B4-BE49-F238E27FC236}">
                <a16:creationId xmlns:a16="http://schemas.microsoft.com/office/drawing/2014/main" id="{98828AB4-CABB-42B7-BC13-C8C612FB64D0}"/>
              </a:ext>
            </a:extLst>
          </p:cNvPr>
          <p:cNvGraphicFramePr>
            <a:graphicFrameLocks noGrp="1"/>
          </p:cNvGraphicFramePr>
          <p:nvPr>
            <p:ph idx="1"/>
            <p:extLst>
              <p:ext uri="{D42A27DB-BD31-4B8C-83A1-F6EECF244321}">
                <p14:modId xmlns:p14="http://schemas.microsoft.com/office/powerpoint/2010/main" val="2292834869"/>
              </p:ext>
            </p:extLst>
          </p:nvPr>
        </p:nvGraphicFramePr>
        <p:xfrm>
          <a:off x="266700" y="136524"/>
          <a:ext cx="11734801" cy="5822387"/>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3210833884"/>
                    </a:ext>
                  </a:extLst>
                </a:gridCol>
                <a:gridCol w="1481187">
                  <a:extLst>
                    <a:ext uri="{9D8B030D-6E8A-4147-A177-3AD203B41FA5}">
                      <a16:colId xmlns:a16="http://schemas.microsoft.com/office/drawing/2014/main" val="3215557345"/>
                    </a:ext>
                  </a:extLst>
                </a:gridCol>
                <a:gridCol w="4144913">
                  <a:extLst>
                    <a:ext uri="{9D8B030D-6E8A-4147-A177-3AD203B41FA5}">
                      <a16:colId xmlns:a16="http://schemas.microsoft.com/office/drawing/2014/main" val="575020596"/>
                    </a:ext>
                  </a:extLst>
                </a:gridCol>
                <a:gridCol w="2006600">
                  <a:extLst>
                    <a:ext uri="{9D8B030D-6E8A-4147-A177-3AD203B41FA5}">
                      <a16:colId xmlns:a16="http://schemas.microsoft.com/office/drawing/2014/main" val="2525759697"/>
                    </a:ext>
                  </a:extLst>
                </a:gridCol>
                <a:gridCol w="2654301">
                  <a:extLst>
                    <a:ext uri="{9D8B030D-6E8A-4147-A177-3AD203B41FA5}">
                      <a16:colId xmlns:a16="http://schemas.microsoft.com/office/drawing/2014/main" val="2323439875"/>
                    </a:ext>
                  </a:extLst>
                </a:gridCol>
              </a:tblGrid>
              <a:tr h="658762">
                <a:tc>
                  <a:txBody>
                    <a:bodyPr/>
                    <a:lstStyle/>
                    <a:p>
                      <a:pPr>
                        <a:lnSpc>
                          <a:spcPct val="115000"/>
                        </a:lnSpc>
                        <a:spcAft>
                          <a:spcPts val="0"/>
                        </a:spcAft>
                      </a:pPr>
                      <a:r>
                        <a:rPr lang="en-GB" sz="2800" b="1" dirty="0">
                          <a:solidFill>
                            <a:srgbClr val="FF0000"/>
                          </a:solidFill>
                          <a:effectLst/>
                          <a:latin typeface="Comic Sans MS" panose="030F0702030302020204" pitchFamily="66" charset="0"/>
                        </a:rPr>
                        <a:t>Lecture</a:t>
                      </a:r>
                      <a:endParaRPr lang="en-NG" sz="2800" b="1" dirty="0">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800" b="1">
                          <a:solidFill>
                            <a:srgbClr val="FF0000"/>
                          </a:solidFill>
                          <a:effectLst/>
                          <a:latin typeface="Comic Sans MS" panose="030F0702030302020204" pitchFamily="66" charset="0"/>
                        </a:rPr>
                        <a:t>Day</a:t>
                      </a:r>
                      <a:endParaRPr lang="en-NG" sz="2800" b="1">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800" b="1" dirty="0">
                          <a:solidFill>
                            <a:srgbClr val="FF0000"/>
                          </a:solidFill>
                          <a:effectLst/>
                          <a:latin typeface="Comic Sans MS" panose="030F0702030302020204" pitchFamily="66" charset="0"/>
                        </a:rPr>
                        <a:t>Topics</a:t>
                      </a:r>
                      <a:endParaRPr lang="en-NG" sz="2800" b="1" dirty="0">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800" b="1" dirty="0">
                          <a:solidFill>
                            <a:srgbClr val="FF0000"/>
                          </a:solidFill>
                          <a:effectLst/>
                          <a:latin typeface="Comic Sans MS" panose="030F0702030302020204" pitchFamily="66" charset="0"/>
                        </a:rPr>
                        <a:t>Lecturer</a:t>
                      </a:r>
                      <a:endParaRPr lang="en-NG" sz="2800" b="1" dirty="0">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800" b="1" dirty="0">
                          <a:solidFill>
                            <a:srgbClr val="FF0000"/>
                          </a:solidFill>
                          <a:effectLst/>
                          <a:latin typeface="Comic Sans MS" panose="030F0702030302020204" pitchFamily="66" charset="0"/>
                        </a:rPr>
                        <a:t>Assignments</a:t>
                      </a:r>
                      <a:endParaRPr lang="en-NG" sz="2800" b="1" dirty="0">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478272177"/>
                  </a:ext>
                </a:extLst>
              </a:tr>
              <a:tr h="658762">
                <a:tc>
                  <a:txBody>
                    <a:bodyPr/>
                    <a:lstStyle/>
                    <a:p>
                      <a:pPr>
                        <a:lnSpc>
                          <a:spcPct val="115000"/>
                        </a:lnSpc>
                        <a:spcAft>
                          <a:spcPts val="0"/>
                        </a:spcAft>
                      </a:pPr>
                      <a:r>
                        <a:rPr lang="en-GB" sz="2400" b="1" dirty="0">
                          <a:effectLst/>
                          <a:latin typeface="Comic Sans MS" panose="030F0702030302020204" pitchFamily="66" charset="0"/>
                          <a:ea typeface="Calibri" panose="020F0502020204030204" pitchFamily="34" charset="0"/>
                          <a:cs typeface="Times New Roman" panose="02020603050405020304" pitchFamily="18" charset="0"/>
                        </a:rPr>
                        <a:t>8</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Tuesday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effectLst/>
                          <a:latin typeface="Comic Sans MS" panose="030F0702030302020204" pitchFamily="66" charset="0"/>
                          <a:ea typeface="Calibri" panose="020F0502020204030204" pitchFamily="34" charset="0"/>
                          <a:cs typeface="TimesNewRomanPS-BoldMT"/>
                        </a:rPr>
                        <a:t>Combinational Logic Applications</a:t>
                      </a:r>
                      <a:endParaRPr lang="en-GB" sz="2400" dirty="0">
                        <a:effectLst/>
                        <a:latin typeface="Comic Sans MS" panose="030F0702030302020204" pitchFamily="66" charset="0"/>
                        <a:ea typeface="Calibri" panose="020F0502020204030204" pitchFamily="34" charset="0"/>
                        <a:cs typeface="Times New Roman" panose="02020603050405020304" pitchFamily="18" charset="0"/>
                      </a:endParaRPr>
                    </a:p>
                  </a:txBody>
                  <a:tcPr/>
                </a:tc>
                <a:tc>
                  <a:txBody>
                    <a:bodyPr/>
                    <a:lstStyle/>
                    <a:p>
                      <a:pPr>
                        <a:lnSpc>
                          <a:spcPct val="115000"/>
                        </a:lnSpc>
                        <a:spcAft>
                          <a:spcPts val="0"/>
                        </a:spcAft>
                      </a:pPr>
                      <a:r>
                        <a:rPr lang="en-GB" sz="2400" b="1" dirty="0">
                          <a:effectLst/>
                          <a:latin typeface="Comic Sans MS" panose="030F0702030302020204" pitchFamily="66" charset="0"/>
                        </a:rPr>
                        <a:t>Dr. Akinboro</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Assignment</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1047881933"/>
                  </a:ext>
                </a:extLst>
              </a:tr>
              <a:tr h="708243">
                <a:tc>
                  <a:txBody>
                    <a:bodyPr/>
                    <a:lstStyle/>
                    <a:p>
                      <a:pPr>
                        <a:lnSpc>
                          <a:spcPct val="115000"/>
                        </a:lnSpc>
                        <a:spcAft>
                          <a:spcPts val="0"/>
                        </a:spcAft>
                      </a:pPr>
                      <a:r>
                        <a:rPr lang="en-GB" sz="2400" b="1" dirty="0">
                          <a:effectLst/>
                          <a:latin typeface="Comic Sans MS" panose="030F0702030302020204" pitchFamily="66" charset="0"/>
                          <a:ea typeface="Calibri" panose="020F0502020204030204" pitchFamily="34" charset="0"/>
                          <a:cs typeface="Times New Roman" panose="02020603050405020304" pitchFamily="18" charset="0"/>
                        </a:rPr>
                        <a:t>9</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Tuesday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r>
                        <a:rPr lang="en-GB" sz="2400" b="1" dirty="0">
                          <a:effectLst/>
                          <a:latin typeface="Comic Sans MS" panose="030F0702030302020204" pitchFamily="66" charset="0"/>
                          <a:ea typeface="Calibri" panose="020F0502020204030204" pitchFamily="34" charset="0"/>
                          <a:cs typeface="TimesNewRomanPS-BoldMT"/>
                        </a:rPr>
                        <a:t>Binary Operation Applications</a:t>
                      </a:r>
                      <a:endParaRPr lang="en-GB" sz="2400" dirty="0">
                        <a:latin typeface="Comic Sans MS" panose="030F0702030302020204" pitchFamily="66" charset="0"/>
                      </a:endParaRPr>
                    </a:p>
                  </a:txBody>
                  <a:tcPr/>
                </a:tc>
                <a:tc>
                  <a:txBody>
                    <a:bodyPr/>
                    <a:lstStyle/>
                    <a:p>
                      <a:pPr>
                        <a:lnSpc>
                          <a:spcPct val="115000"/>
                        </a:lnSpc>
                        <a:spcAft>
                          <a:spcPts val="0"/>
                        </a:spcAft>
                      </a:pPr>
                      <a:r>
                        <a:rPr lang="en-GB" sz="2400" b="1" dirty="0">
                          <a:effectLst/>
                          <a:latin typeface="Comic Sans MS" panose="030F0702030302020204" pitchFamily="66" charset="0"/>
                        </a:rPr>
                        <a:t>Dr. Akinboro</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Assignment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1416575028"/>
                  </a:ext>
                </a:extLst>
              </a:tr>
              <a:tr h="933156">
                <a:tc>
                  <a:txBody>
                    <a:bodyPr/>
                    <a:lstStyle/>
                    <a:p>
                      <a:pPr>
                        <a:lnSpc>
                          <a:spcPct val="115000"/>
                        </a:lnSpc>
                        <a:spcAft>
                          <a:spcPts val="0"/>
                        </a:spcAft>
                      </a:pPr>
                      <a:r>
                        <a:rPr lang="en-GB" sz="2400" b="1" dirty="0">
                          <a:effectLst/>
                          <a:latin typeface="Comic Sans MS" panose="030F0702030302020204" pitchFamily="66" charset="0"/>
                          <a:ea typeface="Calibri" panose="020F0502020204030204" pitchFamily="34" charset="0"/>
                          <a:cs typeface="Times New Roman" panose="02020603050405020304" pitchFamily="18" charset="0"/>
                        </a:rPr>
                        <a:t>10</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Tuesday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r>
                        <a:rPr lang="en-GB" sz="2400" b="1" dirty="0">
                          <a:effectLst/>
                          <a:latin typeface="Comic Sans MS" panose="030F0702030302020204" pitchFamily="66" charset="0"/>
                          <a:ea typeface="Calibri" panose="020F0502020204030204" pitchFamily="34" charset="0"/>
                          <a:cs typeface="TimesNewRomanPS-BoldMT"/>
                        </a:rPr>
                        <a:t>Memory Cells</a:t>
                      </a:r>
                      <a:endParaRPr lang="en-GB" sz="2400" dirty="0">
                        <a:latin typeface="Comic Sans MS" panose="030F0702030302020204" pitchFamily="66" charset="0"/>
                      </a:endParaRPr>
                    </a:p>
                  </a:txBody>
                  <a:tcPr/>
                </a:tc>
                <a:tc>
                  <a:txBody>
                    <a:bodyPr/>
                    <a:lstStyle/>
                    <a:p>
                      <a:pPr>
                        <a:lnSpc>
                          <a:spcPct val="115000"/>
                        </a:lnSpc>
                        <a:spcAft>
                          <a:spcPts val="0"/>
                        </a:spcAft>
                      </a:pPr>
                      <a:r>
                        <a:rPr lang="en-GB" sz="2400" b="1" dirty="0">
                          <a:effectLst/>
                          <a:latin typeface="Comic Sans MS" panose="030F0702030302020204" pitchFamily="66" charset="0"/>
                        </a:rPr>
                        <a:t>Dr. Akinboro</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Assignment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2021298161"/>
                  </a:ext>
                </a:extLst>
              </a:tr>
              <a:tr h="708243">
                <a:tc>
                  <a:txBody>
                    <a:bodyPr/>
                    <a:lstStyle/>
                    <a:p>
                      <a:pPr>
                        <a:lnSpc>
                          <a:spcPct val="115000"/>
                        </a:lnSpc>
                        <a:spcAft>
                          <a:spcPts val="0"/>
                        </a:spcAft>
                      </a:pPr>
                      <a:r>
                        <a:rPr lang="en-GB" sz="2400" b="1" dirty="0">
                          <a:effectLst/>
                          <a:latin typeface="Comic Sans MS" panose="030F0702030302020204" pitchFamily="66" charset="0"/>
                          <a:ea typeface="Calibri" panose="020F0502020204030204" pitchFamily="34" charset="0"/>
                          <a:cs typeface="Times New Roman" panose="02020603050405020304" pitchFamily="18" charset="0"/>
                        </a:rPr>
                        <a:t>11</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Tuesday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effectLst/>
                          <a:latin typeface="Comic Sans MS" panose="030F0702030302020204" pitchFamily="66" charset="0"/>
                          <a:ea typeface="Calibri" panose="020F0502020204030204" pitchFamily="34" charset="0"/>
                          <a:cs typeface="TimesNewRomanPS-BoldMT"/>
                        </a:rPr>
                        <a:t>State Machines</a:t>
                      </a:r>
                      <a:endParaRPr lang="en-GB" sz="2400" dirty="0">
                        <a:effectLst/>
                        <a:latin typeface="Comic Sans MS" panose="030F0702030302020204" pitchFamily="66" charset="0"/>
                        <a:ea typeface="Calibri" panose="020F0502020204030204" pitchFamily="34" charset="0"/>
                        <a:cs typeface="Times New Roman" panose="02020603050405020304" pitchFamily="18" charset="0"/>
                      </a:endParaRPr>
                    </a:p>
                  </a:txBody>
                  <a:tcPr/>
                </a:tc>
                <a:tc>
                  <a:txBody>
                    <a:bodyPr/>
                    <a:lstStyle/>
                    <a:p>
                      <a:pPr>
                        <a:lnSpc>
                          <a:spcPct val="115000"/>
                        </a:lnSpc>
                        <a:spcAft>
                          <a:spcPts val="0"/>
                        </a:spcAft>
                      </a:pPr>
                      <a:r>
                        <a:rPr lang="en-GB" sz="2400" b="1" dirty="0">
                          <a:effectLst/>
                          <a:latin typeface="Comic Sans MS" panose="030F0702030302020204" pitchFamily="66" charset="0"/>
                        </a:rPr>
                        <a:t>Dr. Akinboro</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Assignment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4060401044"/>
                  </a:ext>
                </a:extLst>
              </a:tr>
              <a:tr h="710863">
                <a:tc>
                  <a:txBody>
                    <a:bodyPr/>
                    <a:lstStyle/>
                    <a:p>
                      <a:pPr>
                        <a:lnSpc>
                          <a:spcPct val="115000"/>
                        </a:lnSpc>
                        <a:spcAft>
                          <a:spcPts val="0"/>
                        </a:spcAft>
                      </a:pPr>
                      <a:r>
                        <a:rPr lang="en-GB" sz="2400" b="1" dirty="0">
                          <a:effectLst/>
                          <a:latin typeface="Comic Sans MS" panose="030F0702030302020204" pitchFamily="66" charset="0"/>
                          <a:ea typeface="Calibri" panose="020F0502020204030204" pitchFamily="34" charset="0"/>
                          <a:cs typeface="Times New Roman" panose="02020603050405020304" pitchFamily="18" charset="0"/>
                        </a:rPr>
                        <a:t>12</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Tuesday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effectLst/>
                          <a:latin typeface="Comic Sans MS" panose="030F0702030302020204" pitchFamily="66" charset="0"/>
                          <a:ea typeface="Calibri" panose="020F0502020204030204" pitchFamily="34" charset="0"/>
                          <a:cs typeface="TimesNewRomanPS-BoldMT"/>
                        </a:rPr>
                        <a:t>Memory Organization</a:t>
                      </a:r>
                      <a:endParaRPr lang="en-GB" sz="2400" dirty="0">
                        <a:effectLst/>
                        <a:latin typeface="Comic Sans MS" panose="030F0702030302020204" pitchFamily="66" charset="0"/>
                        <a:ea typeface="Calibri" panose="020F0502020204030204" pitchFamily="34" charset="0"/>
                        <a:cs typeface="Times New Roman" panose="02020603050405020304" pitchFamily="18" charset="0"/>
                      </a:endParaRPr>
                    </a:p>
                  </a:txBody>
                  <a:tcPr/>
                </a:tc>
                <a:tc>
                  <a:txBody>
                    <a:bodyPr/>
                    <a:lstStyle/>
                    <a:p>
                      <a:pPr>
                        <a:lnSpc>
                          <a:spcPct val="115000"/>
                        </a:lnSpc>
                        <a:spcAft>
                          <a:spcPts val="0"/>
                        </a:spcAft>
                      </a:pPr>
                      <a:r>
                        <a:rPr lang="en-GB" sz="2400" b="1" dirty="0">
                          <a:effectLst/>
                          <a:latin typeface="Comic Sans MS" panose="030F0702030302020204" pitchFamily="66" charset="0"/>
                        </a:rPr>
                        <a:t>Dr. Akinboro</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Assignment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2711851798"/>
                  </a:ext>
                </a:extLst>
              </a:tr>
              <a:tr h="708243">
                <a:tc>
                  <a:txBody>
                    <a:bodyPr/>
                    <a:lstStyle/>
                    <a:p>
                      <a:pPr>
                        <a:lnSpc>
                          <a:spcPct val="115000"/>
                        </a:lnSpc>
                        <a:spcAft>
                          <a:spcPts val="0"/>
                        </a:spcAft>
                      </a:pPr>
                      <a:r>
                        <a:rPr lang="en-GB" sz="2400" b="1" dirty="0">
                          <a:effectLst/>
                          <a:latin typeface="Comic Sans MS" panose="030F0702030302020204" pitchFamily="66" charset="0"/>
                          <a:ea typeface="Calibri" panose="020F0502020204030204" pitchFamily="34" charset="0"/>
                          <a:cs typeface="Times New Roman" panose="02020603050405020304" pitchFamily="18" charset="0"/>
                        </a:rPr>
                        <a:t>13</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Tuesday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effectLst/>
                          <a:latin typeface="Comic Sans MS" panose="030F0702030302020204" pitchFamily="66" charset="0"/>
                          <a:ea typeface="Calibri" panose="020F0502020204030204" pitchFamily="34" charset="0"/>
                          <a:cs typeface="TimesNewRomanPS-BoldMT"/>
                        </a:rPr>
                        <a:t>Memory Hierarchy</a:t>
                      </a:r>
                      <a:endParaRPr lang="en-GB" sz="2400" dirty="0">
                        <a:effectLst/>
                        <a:latin typeface="Comic Sans MS" panose="030F0702030302020204" pitchFamily="66" charset="0"/>
                        <a:ea typeface="Calibri" panose="020F0502020204030204" pitchFamily="34" charset="0"/>
                        <a:cs typeface="Times New Roman" panose="02020603050405020304" pitchFamily="18" charset="0"/>
                      </a:endParaRPr>
                    </a:p>
                  </a:txBody>
                  <a:tcPr/>
                </a:tc>
                <a:tc>
                  <a:txBody>
                    <a:bodyPr/>
                    <a:lstStyle/>
                    <a:p>
                      <a:pPr>
                        <a:lnSpc>
                          <a:spcPct val="115000"/>
                        </a:lnSpc>
                        <a:spcAft>
                          <a:spcPts val="0"/>
                        </a:spcAft>
                      </a:pPr>
                      <a:r>
                        <a:rPr lang="en-GB" sz="2400" b="1" dirty="0">
                          <a:effectLst/>
                          <a:latin typeface="Comic Sans MS" panose="030F0702030302020204" pitchFamily="66" charset="0"/>
                        </a:rPr>
                        <a:t>Dr. Akinboro</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Assignment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2181850383"/>
                  </a:ext>
                </a:extLst>
              </a:tr>
              <a:tr h="398536">
                <a:tc>
                  <a:txBody>
                    <a:bodyPr/>
                    <a:lstStyle/>
                    <a:p>
                      <a:pPr>
                        <a:lnSpc>
                          <a:spcPct val="115000"/>
                        </a:lnSpc>
                        <a:spcAft>
                          <a:spcPts val="0"/>
                        </a:spcAft>
                      </a:pPr>
                      <a:r>
                        <a:rPr lang="en-GB" sz="2400" b="1" dirty="0">
                          <a:effectLst/>
                          <a:latin typeface="Comic Sans MS" panose="030F0702030302020204" pitchFamily="66" charset="0"/>
                          <a:ea typeface="Calibri" panose="020F0502020204030204" pitchFamily="34" charset="0"/>
                          <a:cs typeface="Times New Roman" panose="02020603050405020304" pitchFamily="18" charset="0"/>
                        </a:rPr>
                        <a:t>14</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b="1" dirty="0">
                          <a:effectLst/>
                          <a:latin typeface="Comic Sans MS" panose="030F0702030302020204" pitchFamily="66" charset="0"/>
                        </a:rPr>
                        <a:t>Tuesday </a:t>
                      </a:r>
                      <a:endParaRPr lang="en-NG" sz="2400" b="1"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effectLst/>
                          <a:latin typeface="Comic Sans MS" panose="030F0702030302020204" pitchFamily="66" charset="0"/>
                          <a:ea typeface="Calibri" panose="020F0502020204030204" pitchFamily="34" charset="0"/>
                          <a:cs typeface="TimesNewRomanPS-BoldMT"/>
                        </a:rPr>
                        <a:t>Serial Protocol Basics</a:t>
                      </a:r>
                      <a:endParaRPr lang="en-GB" sz="2400" dirty="0">
                        <a:effectLst/>
                        <a:latin typeface="Comic Sans MS" panose="030F0702030302020204" pitchFamily="66" charset="0"/>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GB" sz="2400" b="1" dirty="0">
                          <a:effectLst/>
                          <a:latin typeface="Comic Sans MS" panose="030F0702030302020204" pitchFamily="66" charset="0"/>
                        </a:rPr>
                        <a:t>Dr. Akinboro</a:t>
                      </a:r>
                      <a:endParaRPr lang="en-NG" sz="24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tc>
                  <a:txBody>
                    <a:bodyPr/>
                    <a:lstStyle/>
                    <a:p>
                      <a:pPr>
                        <a:lnSpc>
                          <a:spcPct val="115000"/>
                        </a:lnSpc>
                        <a:spcAft>
                          <a:spcPts val="0"/>
                        </a:spcAft>
                      </a:pPr>
                      <a:r>
                        <a:rPr lang="en-GB" sz="2400" dirty="0">
                          <a:effectLst/>
                          <a:latin typeface="Comic Sans MS" panose="030F0702030302020204" pitchFamily="66" charset="0"/>
                        </a:rPr>
                        <a:t> </a:t>
                      </a:r>
                      <a:r>
                        <a:rPr lang="en-GB" sz="2400" b="1" dirty="0">
                          <a:effectLst/>
                          <a:latin typeface="Comic Sans MS" panose="030F0702030302020204" pitchFamily="66" charset="0"/>
                        </a:rPr>
                        <a:t>Assignment </a:t>
                      </a:r>
                      <a:endParaRPr lang="en-NG" sz="24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14811" marR="14811" marT="0" marB="0"/>
                </a:tc>
                <a:extLst>
                  <a:ext uri="{0D108BD9-81ED-4DB2-BD59-A6C34878D82A}">
                    <a16:rowId xmlns:a16="http://schemas.microsoft.com/office/drawing/2014/main" val="2141430545"/>
                  </a:ext>
                </a:extLst>
              </a:tr>
            </a:tbl>
          </a:graphicData>
        </a:graphic>
      </p:graphicFrame>
    </p:spTree>
    <p:extLst>
      <p:ext uri="{BB962C8B-B14F-4D97-AF65-F5344CB8AC3E}">
        <p14:creationId xmlns:p14="http://schemas.microsoft.com/office/powerpoint/2010/main" val="2508573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023F4-212C-453D-AFD7-248FE06BD48D}"/>
              </a:ext>
            </a:extLst>
          </p:cNvPr>
          <p:cNvSpPr>
            <a:spLocks noGrp="1"/>
          </p:cNvSpPr>
          <p:nvPr>
            <p:ph idx="1"/>
          </p:nvPr>
        </p:nvSpPr>
        <p:spPr>
          <a:xfrm>
            <a:off x="89647" y="98612"/>
            <a:ext cx="12003741" cy="6678706"/>
          </a:xfrm>
        </p:spPr>
        <p:txBody>
          <a:bodyPr>
            <a:normAutofit fontScale="92500" lnSpcReduction="20000"/>
          </a:bodyPr>
          <a:lstStyle/>
          <a:p>
            <a:pPr marL="0" indent="0" algn="ctr">
              <a:buNone/>
            </a:pPr>
            <a:r>
              <a:rPr lang="en-FI" sz="3600" b="1" i="0" u="none" strike="noStrike" baseline="0" dirty="0">
                <a:solidFill>
                  <a:srgbClr val="FF0000"/>
                </a:solidFill>
                <a:latin typeface="Comic Sans MS" panose="030F0702030302020204" pitchFamily="66" charset="0"/>
              </a:rPr>
              <a:t>Introduction</a:t>
            </a:r>
            <a:r>
              <a:rPr lang="en-FI" b="1" i="0" u="none" strike="noStrike" baseline="0" dirty="0">
                <a:latin typeface="Comic Sans MS" panose="030F0702030302020204" pitchFamily="66" charset="0"/>
              </a:rPr>
              <a:t> </a:t>
            </a:r>
          </a:p>
          <a:p>
            <a:pPr marL="0" indent="0" algn="ctr">
              <a:buNone/>
            </a:pPr>
            <a:endParaRPr lang="en-FI" b="1" i="0" u="none" strike="noStrike" baseline="0" dirty="0">
              <a:solidFill>
                <a:srgbClr val="FF0000"/>
              </a:solidFill>
              <a:latin typeface="Comic Sans MS" panose="030F0702030302020204" pitchFamily="66" charset="0"/>
            </a:endParaRPr>
          </a:p>
          <a:p>
            <a:pPr marL="0" indent="0" algn="just">
              <a:buNone/>
            </a:pPr>
            <a:r>
              <a:rPr lang="en-GB" b="1" i="0" u="none" strike="noStrike" baseline="0" dirty="0">
                <a:solidFill>
                  <a:srgbClr val="FF0000"/>
                </a:solidFill>
                <a:latin typeface="Comic Sans MS" panose="030F0702030302020204" pitchFamily="66" charset="0"/>
              </a:rPr>
              <a:t>Should </a:t>
            </a:r>
            <a:r>
              <a:rPr lang="en-FI" b="1" i="0" u="none" strike="noStrike" baseline="0" dirty="0">
                <a:solidFill>
                  <a:srgbClr val="FF0000"/>
                </a:solidFill>
                <a:latin typeface="Comic Sans MS" panose="030F0702030302020204" pitchFamily="66" charset="0"/>
              </a:rPr>
              <a:t>computer science students </a:t>
            </a:r>
            <a:r>
              <a:rPr lang="en-GB" b="1" i="0" u="none" strike="noStrike" baseline="0" dirty="0">
                <a:solidFill>
                  <a:srgbClr val="FF0000"/>
                </a:solidFill>
                <a:latin typeface="Comic Sans MS" panose="030F0702030302020204" pitchFamily="66" charset="0"/>
              </a:rPr>
              <a:t>Worry About Hardware?</a:t>
            </a:r>
          </a:p>
          <a:p>
            <a:pPr algn="just"/>
            <a:r>
              <a:rPr lang="en-GB" b="0" i="0" u="none" strike="noStrike" baseline="0" dirty="0">
                <a:latin typeface="Comic Sans MS" panose="030F0702030302020204" pitchFamily="66" charset="0"/>
              </a:rPr>
              <a:t>Some students of computer and information sciences look at</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computer hardware the same way many drivers look at their cars: the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use of a car doesn't require the knowledge of how to build one.</a:t>
            </a:r>
            <a:endParaRPr lang="en-FI" b="0" i="0" u="none" strike="noStrike" baseline="0" dirty="0">
              <a:latin typeface="Comic Sans MS" panose="030F0702030302020204" pitchFamily="66" charset="0"/>
            </a:endParaRP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Knowing how to design and build a computer may not be vital to the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computer professional</a:t>
            </a:r>
            <a:r>
              <a:rPr lang="en-FI" b="0" i="0" u="none" strike="noStrike" baseline="0" dirty="0">
                <a:latin typeface="Comic Sans MS" panose="030F0702030302020204" pitchFamily="66" charset="0"/>
              </a:rPr>
              <a:t>.</a:t>
            </a:r>
          </a:p>
          <a:p>
            <a:pPr algn="just"/>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 </a:t>
            </a:r>
            <a:r>
              <a:rPr lang="en-FI" dirty="0">
                <a:latin typeface="Comic Sans MS" panose="030F0702030302020204" pitchFamily="66" charset="0"/>
              </a:rPr>
              <a:t>B</a:t>
            </a:r>
            <a:r>
              <a:rPr lang="en-GB" b="0" i="0" u="none" strike="noStrike" baseline="0" dirty="0" err="1">
                <a:latin typeface="Comic Sans MS" panose="030F0702030302020204" pitchFamily="66" charset="0"/>
              </a:rPr>
              <a:t>ut</a:t>
            </a:r>
            <a:r>
              <a:rPr lang="en-GB" b="0" i="0" u="none" strike="noStrike" baseline="0" dirty="0">
                <a:latin typeface="Comic Sans MS" panose="030F0702030302020204" pitchFamily="66" charset="0"/>
              </a:rPr>
              <a:t> it goes a long way toward improving their</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skills, i.e., making them better drivers. </a:t>
            </a:r>
            <a:endParaRPr lang="en-FI" b="0" i="0" u="none" strike="noStrike" baseline="0" dirty="0">
              <a:latin typeface="Comic Sans MS" panose="030F0702030302020204" pitchFamily="66" charset="0"/>
            </a:endParaRPr>
          </a:p>
          <a:p>
            <a:pPr algn="just"/>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For anyone going into a career</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involving computer programming, computer system design, or the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installation and maintenance of computer systems, the principles of</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computer organization provide tools to create better designs. </a:t>
            </a:r>
            <a:endParaRPr lang="en-FI" b="0" i="0" u="none" strike="noStrike" baseline="0" dirty="0">
              <a:latin typeface="Comic Sans MS" panose="030F0702030302020204" pitchFamily="66" charset="0"/>
            </a:endParaRPr>
          </a:p>
        </p:txBody>
      </p:sp>
    </p:spTree>
    <p:extLst>
      <p:ext uri="{BB962C8B-B14F-4D97-AF65-F5344CB8AC3E}">
        <p14:creationId xmlns:p14="http://schemas.microsoft.com/office/powerpoint/2010/main" val="3838048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A03181-3898-4A7A-BBBA-7DD4EB801DFD}"/>
              </a:ext>
            </a:extLst>
          </p:cNvPr>
          <p:cNvSpPr>
            <a:spLocks noGrp="1"/>
          </p:cNvSpPr>
          <p:nvPr>
            <p:ph idx="1"/>
          </p:nvPr>
        </p:nvSpPr>
        <p:spPr>
          <a:xfrm>
            <a:off x="62753" y="0"/>
            <a:ext cx="12039600" cy="6858000"/>
          </a:xfrm>
        </p:spPr>
        <p:txBody>
          <a:bodyPr>
            <a:normAutofit/>
          </a:bodyPr>
          <a:lstStyle/>
          <a:p>
            <a:pPr algn="just"/>
            <a:r>
              <a:rPr lang="en-GB" sz="2600" b="0" i="0" u="none" strike="noStrike" baseline="0" dirty="0">
                <a:latin typeface="Comic Sans MS" panose="030F0702030302020204" pitchFamily="66" charset="0"/>
              </a:rPr>
              <a:t>These</a:t>
            </a:r>
            <a:r>
              <a:rPr lang="en-FI" sz="2600" dirty="0">
                <a:latin typeface="Comic Sans MS" panose="030F0702030302020204" pitchFamily="66" charset="0"/>
              </a:rPr>
              <a:t> </a:t>
            </a:r>
            <a:r>
              <a:rPr lang="en-GB" sz="2600" b="0" i="0" u="none" strike="noStrike" baseline="0" dirty="0">
                <a:latin typeface="Comic Sans MS" panose="030F0702030302020204" pitchFamily="66" charset="0"/>
              </a:rPr>
              <a:t>include:</a:t>
            </a:r>
            <a:endParaRPr lang="en-FI" sz="2600" b="0" i="0" u="none" strike="noStrike" baseline="0" dirty="0">
              <a:latin typeface="Comic Sans MS" panose="030F0702030302020204" pitchFamily="66" charset="0"/>
            </a:endParaRPr>
          </a:p>
          <a:p>
            <a:pPr algn="just"/>
            <a:r>
              <a:rPr lang="en-GB" sz="2600" b="1" i="1" u="none" strike="noStrike" baseline="0" dirty="0">
                <a:solidFill>
                  <a:srgbClr val="FF0000"/>
                </a:solidFill>
                <a:latin typeface="Comic Sans MS" panose="030F0702030302020204" pitchFamily="66" charset="0"/>
              </a:rPr>
              <a:t>System design tools </a:t>
            </a:r>
            <a:r>
              <a:rPr lang="en-GB" sz="2600" b="0" i="0" u="none" strike="noStrike" baseline="0" dirty="0">
                <a:latin typeface="Comic Sans MS" panose="030F0702030302020204" pitchFamily="66" charset="0"/>
              </a:rPr>
              <a:t>– The same design theories used at the lowest</a:t>
            </a:r>
            <a:r>
              <a:rPr lang="en-FI" sz="2600" b="0" i="0"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level of system design are also applied at higher levels. For</a:t>
            </a:r>
            <a:r>
              <a:rPr lang="en-FI" sz="2600" b="0" i="0"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example, the same methods a circuit board designer uses to create</a:t>
            </a:r>
            <a:r>
              <a:rPr lang="en-FI" sz="2600" b="0" i="0"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the interface between a processor and its memory chips are used to</a:t>
            </a:r>
            <a:r>
              <a:rPr lang="en-FI" sz="2600" b="0" i="0"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design the addressing scheme of an IP network.</a:t>
            </a:r>
            <a:endParaRPr lang="en-FI" sz="2600" b="0" i="0" u="none" strike="noStrike" baseline="0" dirty="0">
              <a:latin typeface="Comic Sans MS" panose="030F0702030302020204" pitchFamily="66" charset="0"/>
            </a:endParaRPr>
          </a:p>
          <a:p>
            <a:pPr algn="just"/>
            <a:endParaRPr lang="en-GB" sz="2600" b="0" i="0" u="none" strike="noStrike" baseline="0" dirty="0">
              <a:latin typeface="Comic Sans MS" panose="030F0702030302020204" pitchFamily="66" charset="0"/>
            </a:endParaRPr>
          </a:p>
          <a:p>
            <a:pPr marL="0" indent="0" algn="just">
              <a:buNone/>
            </a:pPr>
            <a:r>
              <a:rPr lang="en-GB" sz="2600" b="0" i="0" u="none" strike="noStrike" baseline="0" dirty="0">
                <a:solidFill>
                  <a:srgbClr val="FF0000"/>
                </a:solidFill>
                <a:latin typeface="Comic Sans MS" panose="030F0702030302020204" pitchFamily="66" charset="0"/>
              </a:rPr>
              <a:t>• </a:t>
            </a:r>
            <a:r>
              <a:rPr lang="en-GB" sz="2600" b="1" i="1" u="none" strike="noStrike" baseline="0" dirty="0">
                <a:solidFill>
                  <a:srgbClr val="FF0000"/>
                </a:solidFill>
                <a:latin typeface="Comic Sans MS" panose="030F0702030302020204" pitchFamily="66" charset="0"/>
              </a:rPr>
              <a:t>Software design tools </a:t>
            </a:r>
            <a:r>
              <a:rPr lang="en-GB" sz="2600" b="0" i="0" u="none" strike="noStrike" baseline="0" dirty="0">
                <a:latin typeface="Comic Sans MS" panose="030F0702030302020204" pitchFamily="66" charset="0"/>
              </a:rPr>
              <a:t>– The same procedures used to optimize</a:t>
            </a:r>
            <a:r>
              <a:rPr lang="en-FI" sz="2600" b="0" i="0"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digital circuits can be used for the logic portions of software.</a:t>
            </a:r>
            <a:r>
              <a:rPr lang="en-FI" sz="2600" b="0" i="0"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Complex blocks of if-statements, for example, can be simplified or</a:t>
            </a:r>
            <a:r>
              <a:rPr lang="en-FI" sz="2600" b="0" i="0"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made to run faster using these tools.</a:t>
            </a:r>
            <a:endParaRPr lang="en-FI" sz="2600" b="0" i="0" u="none" strike="noStrike" baseline="0" dirty="0">
              <a:latin typeface="Comic Sans MS" panose="030F0702030302020204" pitchFamily="66" charset="0"/>
            </a:endParaRPr>
          </a:p>
          <a:p>
            <a:pPr marL="0" indent="0" algn="just">
              <a:buNone/>
            </a:pPr>
            <a:endParaRPr lang="en-FI" sz="2600" b="0" i="0" u="none" strike="noStrike" baseline="0" dirty="0">
              <a:latin typeface="Comic Sans MS" panose="030F0702030302020204" pitchFamily="66" charset="0"/>
            </a:endParaRPr>
          </a:p>
          <a:p>
            <a:pPr marL="0" indent="0" algn="just">
              <a:buNone/>
            </a:pPr>
            <a:r>
              <a:rPr lang="en-GB" sz="2600" b="0" i="0" u="none" strike="noStrike" baseline="0" dirty="0">
                <a:solidFill>
                  <a:srgbClr val="FF0000"/>
                </a:solidFill>
                <a:latin typeface="Comic Sans MS" panose="030F0702030302020204" pitchFamily="66" charset="0"/>
              </a:rPr>
              <a:t>• </a:t>
            </a:r>
            <a:r>
              <a:rPr lang="en-GB" sz="2600" b="1" i="1" u="none" strike="noStrike" baseline="0" dirty="0">
                <a:solidFill>
                  <a:srgbClr val="FF0000"/>
                </a:solidFill>
                <a:latin typeface="Comic Sans MS" panose="030F0702030302020204" pitchFamily="66" charset="0"/>
              </a:rPr>
              <a:t>Improved troubleshooting skills </a:t>
            </a:r>
            <a:r>
              <a:rPr lang="en-GB" sz="2600" b="0" i="0" u="none" strike="noStrike" baseline="0" dirty="0">
                <a:latin typeface="Comic Sans MS" panose="030F0702030302020204" pitchFamily="66" charset="0"/>
              </a:rPr>
              <a:t>– A clear understanding of the</a:t>
            </a:r>
            <a:r>
              <a:rPr lang="en-FI" sz="2600" b="0" i="0"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inner workings of a computer gives the technician servicing it the</a:t>
            </a:r>
            <a:r>
              <a:rPr lang="en-FI" sz="2600" b="0" i="0"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tools to isolate a problem quicker and with greater accuracy.</a:t>
            </a:r>
          </a:p>
          <a:p>
            <a:endParaRPr lang="en-GB" dirty="0"/>
          </a:p>
        </p:txBody>
      </p:sp>
    </p:spTree>
    <p:extLst>
      <p:ext uri="{BB962C8B-B14F-4D97-AF65-F5344CB8AC3E}">
        <p14:creationId xmlns:p14="http://schemas.microsoft.com/office/powerpoint/2010/main" val="1433780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68F7BE-CC11-416E-BBEC-ADB9640004AB}"/>
              </a:ext>
            </a:extLst>
          </p:cNvPr>
          <p:cNvSpPr>
            <a:spLocks noGrp="1"/>
          </p:cNvSpPr>
          <p:nvPr>
            <p:ph idx="1"/>
          </p:nvPr>
        </p:nvSpPr>
        <p:spPr>
          <a:xfrm>
            <a:off x="98612" y="62752"/>
            <a:ext cx="11985812" cy="6714565"/>
          </a:xfrm>
        </p:spPr>
        <p:txBody>
          <a:bodyPr>
            <a:normAutofit/>
          </a:bodyPr>
          <a:lstStyle/>
          <a:p>
            <a:pPr marL="0" indent="0" algn="just">
              <a:buNone/>
            </a:pPr>
            <a:r>
              <a:rPr lang="en-GB" sz="2800" b="0" i="0" u="none" strike="noStrike" baseline="0" dirty="0">
                <a:solidFill>
                  <a:srgbClr val="FF0000"/>
                </a:solidFill>
                <a:latin typeface="Comic Sans MS" panose="030F0702030302020204" pitchFamily="66" charset="0"/>
              </a:rPr>
              <a:t>• </a:t>
            </a:r>
            <a:r>
              <a:rPr lang="en-GB" sz="2800" b="1" i="1" u="none" strike="noStrike" baseline="0" dirty="0">
                <a:solidFill>
                  <a:srgbClr val="FF0000"/>
                </a:solidFill>
                <a:latin typeface="Comic Sans MS" panose="030F0702030302020204" pitchFamily="66" charset="0"/>
              </a:rPr>
              <a:t>Interconnectivity </a:t>
            </a:r>
            <a:r>
              <a:rPr lang="en-GB" sz="2800" b="0" i="0" u="none" strike="noStrike" baseline="0" dirty="0">
                <a:latin typeface="Comic Sans MS" panose="030F0702030302020204" pitchFamily="66" charset="0"/>
              </a:rPr>
              <a:t>– Hardware is needed to connect the real world to</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a computer's inputs and outputs. Writing software to control a</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system such as an automotive air bag could produce catastrophic</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results without a clear understanding of the</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architecture and</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hardware of a microprocessor.</a:t>
            </a:r>
            <a:endParaRPr lang="en-FI" sz="2800" b="0" i="0" u="none" strike="noStrike" baseline="0" dirty="0">
              <a:latin typeface="Comic Sans MS" panose="030F0702030302020204" pitchFamily="66" charset="0"/>
            </a:endParaRPr>
          </a:p>
          <a:p>
            <a:pPr marL="0" indent="0" algn="just">
              <a:buNone/>
            </a:pPr>
            <a:endParaRPr lang="en-GB" sz="2800" b="0" i="0" u="none" strike="noStrike" baseline="0" dirty="0">
              <a:latin typeface="Comic Sans MS" panose="030F0702030302020204" pitchFamily="66" charset="0"/>
            </a:endParaRPr>
          </a:p>
          <a:p>
            <a:pPr marL="0" indent="0" algn="just">
              <a:buNone/>
            </a:pPr>
            <a:r>
              <a:rPr lang="en-GB" sz="2800" b="0" i="0" u="none" strike="noStrike" baseline="0" dirty="0">
                <a:solidFill>
                  <a:srgbClr val="FF0000"/>
                </a:solidFill>
                <a:latin typeface="Comic Sans MS" panose="030F0702030302020204" pitchFamily="66" charset="0"/>
              </a:rPr>
              <a:t>• </a:t>
            </a:r>
            <a:r>
              <a:rPr lang="en-GB" sz="2800" b="1" i="1" u="none" strike="noStrike" baseline="0" dirty="0">
                <a:solidFill>
                  <a:srgbClr val="FF0000"/>
                </a:solidFill>
                <a:latin typeface="Comic Sans MS" panose="030F0702030302020204" pitchFamily="66" charset="0"/>
              </a:rPr>
              <a:t>Marketability </a:t>
            </a:r>
            <a:r>
              <a:rPr lang="en-GB" sz="2800" b="0" i="0" u="none" strike="noStrike" baseline="0" dirty="0">
                <a:latin typeface="Comic Sans MS" panose="030F0702030302020204" pitchFamily="66" charset="0"/>
              </a:rPr>
              <a:t>– </a:t>
            </a:r>
            <a:r>
              <a:rPr lang="en-GB" sz="2800" b="0" i="1" u="none" strike="noStrike" baseline="0" dirty="0">
                <a:latin typeface="Comic Sans MS" panose="030F0702030302020204" pitchFamily="66" charset="0"/>
              </a:rPr>
              <a:t>Embedded system design </a:t>
            </a:r>
            <a:r>
              <a:rPr lang="en-GB" sz="2800" b="0" i="0" u="none" strike="noStrike" baseline="0" dirty="0">
                <a:latin typeface="Comic Sans MS" panose="030F0702030302020204" pitchFamily="66" charset="0"/>
              </a:rPr>
              <a:t>puts microprocessors into</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task-specific applications such as manufacturing, communications,</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and automotive control. As processors become cheaper and more</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powerful, the same tools used for desktop software design are being</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applied to embedded system design. </a:t>
            </a:r>
            <a:endParaRPr lang="en-FI" sz="2800" b="0" i="0" u="none" strike="noStrike" baseline="0" dirty="0">
              <a:latin typeface="Comic Sans MS" panose="030F0702030302020204" pitchFamily="66" charset="0"/>
            </a:endParaRPr>
          </a:p>
          <a:p>
            <a:pPr marL="0" indent="0" algn="just">
              <a:buNone/>
            </a:pPr>
            <a:endParaRPr lang="en-FI" sz="2800" b="0" i="0" u="none" strike="noStrike" baseline="0" dirty="0">
              <a:latin typeface="Comic Sans MS" panose="030F0702030302020204" pitchFamily="66" charset="0"/>
            </a:endParaRPr>
          </a:p>
          <a:p>
            <a:pPr algn="l"/>
            <a:r>
              <a:rPr lang="en-FI" sz="2800" dirty="0">
                <a:latin typeface="Comic Sans MS" panose="030F0702030302020204" pitchFamily="66" charset="0"/>
              </a:rPr>
              <a:t> </a:t>
            </a:r>
            <a:r>
              <a:rPr lang="en-GB" sz="2800" b="0" i="0" u="none" strike="noStrike" baseline="0" dirty="0">
                <a:latin typeface="Comic Sans MS" panose="030F0702030302020204" pitchFamily="66" charset="0"/>
              </a:rPr>
              <a:t>This means that the software</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engineer with experience in hardware design has a significant</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advantage over hardware engineers in this market.</a:t>
            </a:r>
            <a:endParaRPr lang="en-GB" sz="2800" dirty="0">
              <a:latin typeface="Comic Sans MS" panose="030F0702030302020204" pitchFamily="66" charset="0"/>
            </a:endParaRPr>
          </a:p>
          <a:p>
            <a:endParaRPr lang="en-GB" dirty="0"/>
          </a:p>
        </p:txBody>
      </p:sp>
    </p:spTree>
    <p:extLst>
      <p:ext uri="{BB962C8B-B14F-4D97-AF65-F5344CB8AC3E}">
        <p14:creationId xmlns:p14="http://schemas.microsoft.com/office/powerpoint/2010/main" val="124521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F146F7-F081-4FDF-AE5F-A60F2F503EC6}"/>
              </a:ext>
            </a:extLst>
          </p:cNvPr>
          <p:cNvSpPr>
            <a:spLocks noGrp="1"/>
          </p:cNvSpPr>
          <p:nvPr>
            <p:ph idx="1"/>
          </p:nvPr>
        </p:nvSpPr>
        <p:spPr>
          <a:xfrm>
            <a:off x="98612" y="71718"/>
            <a:ext cx="12093388" cy="6696635"/>
          </a:xfrm>
        </p:spPr>
        <p:txBody>
          <a:bodyPr>
            <a:normAutofit fontScale="85000" lnSpcReduction="20000"/>
          </a:bodyPr>
          <a:lstStyle/>
          <a:p>
            <a:pPr algn="just"/>
            <a:r>
              <a:rPr lang="en-GB" sz="3300" b="1" i="0" u="none" strike="noStrike" baseline="0" dirty="0">
                <a:solidFill>
                  <a:srgbClr val="FF0000"/>
                </a:solidFill>
                <a:latin typeface="Comic Sans MS" panose="030F0702030302020204" pitchFamily="66" charset="0"/>
              </a:rPr>
              <a:t>Non-Digital Signals</a:t>
            </a:r>
            <a:endParaRPr lang="en-FI" sz="3300" b="1" i="0" u="none" strike="noStrike" baseline="0" dirty="0">
              <a:solidFill>
                <a:srgbClr val="FF0000"/>
              </a:solidFill>
              <a:latin typeface="Comic Sans MS" panose="030F0702030302020204" pitchFamily="66" charset="0"/>
            </a:endParaRPr>
          </a:p>
          <a:p>
            <a:pPr algn="just"/>
            <a:endParaRPr lang="en-FI" b="1" dirty="0">
              <a:latin typeface="Comic Sans MS" panose="030F0702030302020204" pitchFamily="66" charset="0"/>
            </a:endParaRPr>
          </a:p>
          <a:p>
            <a:pPr algn="just"/>
            <a:r>
              <a:rPr lang="en-GB" b="0" i="0" u="none" strike="noStrike" baseline="0" dirty="0">
                <a:latin typeface="Comic Sans MS" panose="030F0702030302020204" pitchFamily="66" charset="0"/>
              </a:rPr>
              <a:t>The real world is </a:t>
            </a:r>
            <a:r>
              <a:rPr lang="en-GB" b="0" i="0" u="none" strike="noStrike" baseline="0" dirty="0" err="1">
                <a:latin typeface="Comic Sans MS" panose="030F0702030302020204" pitchFamily="66" charset="0"/>
              </a:rPr>
              <a:t>analog</a:t>
            </a:r>
            <a:r>
              <a:rPr lang="en-GB" b="0" i="0" u="none" strike="noStrike" baseline="0" dirty="0">
                <a:latin typeface="Comic Sans MS" panose="030F0702030302020204" pitchFamily="66" charset="0"/>
              </a:rPr>
              <a:t>. What does that mean? </a:t>
            </a:r>
            <a:r>
              <a:rPr lang="en-FI" dirty="0">
                <a:latin typeface="Comic Sans MS" panose="030F0702030302020204" pitchFamily="66" charset="0"/>
              </a:rPr>
              <a:t>A</a:t>
            </a:r>
            <a:r>
              <a:rPr lang="en-GB" b="0" i="0" u="none" strike="noStrike" baseline="0" dirty="0">
                <a:latin typeface="Comic Sans MS" panose="030F0702030302020204" pitchFamily="66" charset="0"/>
              </a:rPr>
              <a:t>n </a:t>
            </a:r>
            <a:r>
              <a:rPr lang="en-GB" b="0" i="0" u="none" strike="noStrike" baseline="0" dirty="0" err="1">
                <a:latin typeface="Comic Sans MS" panose="030F0702030302020204" pitchFamily="66" charset="0"/>
              </a:rPr>
              <a:t>analog</a:t>
            </a:r>
            <a:r>
              <a:rPr lang="en-FI" dirty="0">
                <a:latin typeface="Comic Sans MS" panose="030F0702030302020204" pitchFamily="66" charset="0"/>
              </a:rPr>
              <a:t> </a:t>
            </a:r>
            <a:r>
              <a:rPr lang="en-GB" b="0" i="0" u="none" strike="noStrike" baseline="0" dirty="0">
                <a:latin typeface="Comic Sans MS" panose="030F0702030302020204" pitchFamily="66" charset="0"/>
              </a:rPr>
              <a:t>value is equivalent to a floating-point number with an infinite number</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of places to the right of the decimal point. </a:t>
            </a:r>
            <a:endParaRPr lang="en-FI" b="0" i="0" u="none" strike="noStrike" baseline="0" dirty="0">
              <a:latin typeface="Comic Sans MS" panose="030F0702030302020204" pitchFamily="66" charset="0"/>
            </a:endParaRPr>
          </a:p>
          <a:p>
            <a:pPr algn="just"/>
            <a:endParaRPr lang="en-FI" dirty="0">
              <a:latin typeface="Comic Sans MS" panose="030F0702030302020204" pitchFamily="66" charset="0"/>
            </a:endParaRPr>
          </a:p>
          <a:p>
            <a:pPr algn="just"/>
            <a:r>
              <a:rPr lang="en-GB" b="0" i="0" u="none" strike="noStrike" baseline="0" dirty="0">
                <a:latin typeface="Comic Sans MS" panose="030F0702030302020204" pitchFamily="66" charset="0"/>
              </a:rPr>
              <a:t>For example, temperatures</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do not take on distinct values such as 75°, 76°, 77°, 78°, etc. They take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values like 75.434535... </a:t>
            </a:r>
            <a:endParaRPr lang="en-FI" b="0" i="0" u="none" strike="noStrike" baseline="0" dirty="0">
              <a:latin typeface="Comic Sans MS" panose="030F0702030302020204" pitchFamily="66" charset="0"/>
            </a:endParaRPr>
          </a:p>
          <a:p>
            <a:pPr algn="just"/>
            <a:endParaRPr lang="en-FI" dirty="0">
              <a:latin typeface="Comic Sans MS" panose="030F0702030302020204" pitchFamily="66" charset="0"/>
            </a:endParaRPr>
          </a:p>
          <a:p>
            <a:pPr algn="just"/>
            <a:r>
              <a:rPr lang="en-GB" b="0" i="0" u="none" strike="noStrike" baseline="0" dirty="0">
                <a:latin typeface="Comic Sans MS" panose="030F0702030302020204" pitchFamily="66" charset="0"/>
              </a:rPr>
              <a:t>In fact, between the temperatures 75.435° and75.436°, there are an infinite number of possible values. </a:t>
            </a:r>
            <a:endParaRPr lang="en-FI" b="0" i="0" u="none" strike="noStrike" baseline="0" dirty="0">
              <a:latin typeface="Comic Sans MS" panose="030F0702030302020204" pitchFamily="66" charset="0"/>
            </a:endParaRPr>
          </a:p>
          <a:p>
            <a:pPr algn="just"/>
            <a:endParaRPr lang="en-FI" dirty="0">
              <a:latin typeface="Comic Sans MS" panose="030F0702030302020204" pitchFamily="66" charset="0"/>
            </a:endParaRPr>
          </a:p>
          <a:p>
            <a:pPr algn="just"/>
            <a:r>
              <a:rPr lang="en-GB" b="0" i="0" u="none" strike="noStrike" baseline="0" dirty="0">
                <a:latin typeface="Comic Sans MS" panose="030F0702030302020204" pitchFamily="66" charset="0"/>
              </a:rPr>
              <a:t>A man doesn’t</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weigh exactly </a:t>
            </a:r>
            <a:r>
              <a:rPr lang="en-FI" b="0" i="0" u="none" strike="noStrike" baseline="0" dirty="0">
                <a:latin typeface="Comic Sans MS" panose="030F0702030302020204" pitchFamily="66" charset="0"/>
              </a:rPr>
              <a:t>99kg</a:t>
            </a:r>
            <a:r>
              <a:rPr lang="en-GB" b="0" i="0" u="none" strike="noStrike" baseline="0" dirty="0">
                <a:latin typeface="Comic Sans MS" panose="030F0702030302020204" pitchFamily="66" charset="0"/>
              </a:rPr>
              <a:t>. Add an atom, and his weight changes.</a:t>
            </a:r>
            <a:endParaRPr lang="en-FI" b="0" i="0" u="none" strike="noStrike" baseline="0" dirty="0">
              <a:latin typeface="Comic Sans MS" panose="030F0702030302020204" pitchFamily="66" charset="0"/>
            </a:endParaRP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When values such as temperature or weight change over time, they</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follow what is called a continuous curve. </a:t>
            </a:r>
            <a:endParaRPr lang="en-FI" b="0" i="0" u="none" strike="noStrike" baseline="0" dirty="0">
              <a:latin typeface="Comic Sans MS" panose="030F0702030302020204" pitchFamily="66" charset="0"/>
            </a:endParaRPr>
          </a:p>
          <a:p>
            <a:pPr algn="just"/>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Between any two values on</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the curve, an infinite number of values take place over an infinite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number of points in time.</a:t>
            </a:r>
            <a:endParaRPr lang="en-GB" sz="4000" dirty="0">
              <a:latin typeface="Comic Sans MS" panose="030F0702030302020204" pitchFamily="66" charset="0"/>
            </a:endParaRPr>
          </a:p>
        </p:txBody>
      </p:sp>
    </p:spTree>
    <p:extLst>
      <p:ext uri="{BB962C8B-B14F-4D97-AF65-F5344CB8AC3E}">
        <p14:creationId xmlns:p14="http://schemas.microsoft.com/office/powerpoint/2010/main" val="499567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336767-62A0-4116-9D38-A41C098E216A}"/>
              </a:ext>
            </a:extLst>
          </p:cNvPr>
          <p:cNvSpPr>
            <a:spLocks noGrp="1"/>
          </p:cNvSpPr>
          <p:nvPr>
            <p:ph idx="1"/>
          </p:nvPr>
        </p:nvSpPr>
        <p:spPr>
          <a:xfrm>
            <a:off x="71717" y="62752"/>
            <a:ext cx="12003741" cy="6714565"/>
          </a:xfrm>
        </p:spPr>
        <p:txBody>
          <a:bodyPr>
            <a:normAutofit/>
          </a:bodyPr>
          <a:lstStyle/>
          <a:p>
            <a:pPr algn="l"/>
            <a:r>
              <a:rPr lang="en-GB" b="0" i="0" u="none" strike="noStrike" baseline="0" dirty="0">
                <a:latin typeface="Comic Sans MS" panose="030F0702030302020204" pitchFamily="66" charset="0"/>
              </a:rPr>
              <a:t>It is sufficient to say that </a:t>
            </a:r>
            <a:r>
              <a:rPr lang="en-GB" b="0" i="0" u="none" strike="noStrike" baseline="0" dirty="0" err="1">
                <a:latin typeface="Comic Sans MS" panose="030F0702030302020204" pitchFamily="66" charset="0"/>
              </a:rPr>
              <a:t>analog</a:t>
            </a:r>
            <a:r>
              <a:rPr lang="en-FI" dirty="0">
                <a:latin typeface="Comic Sans MS" panose="030F0702030302020204" pitchFamily="66" charset="0"/>
              </a:rPr>
              <a:t> </a:t>
            </a:r>
            <a:r>
              <a:rPr lang="en-GB" b="0" i="0" u="none" strike="noStrike" baseline="0" dirty="0">
                <a:latin typeface="Comic Sans MS" panose="030F0702030302020204" pitchFamily="66" charset="0"/>
              </a:rPr>
              <a:t>values represent a continuous signal with infinitesimal resolution.</a:t>
            </a:r>
            <a:endParaRPr lang="en-GB" sz="4000" dirty="0">
              <a:latin typeface="Comic Sans MS" panose="030F0702030302020204" pitchFamily="66" charset="0"/>
            </a:endParaRPr>
          </a:p>
        </p:txBody>
      </p:sp>
      <p:pic>
        <p:nvPicPr>
          <p:cNvPr id="5" name="Picture 4">
            <a:extLst>
              <a:ext uri="{FF2B5EF4-FFF2-40B4-BE49-F238E27FC236}">
                <a16:creationId xmlns:a16="http://schemas.microsoft.com/office/drawing/2014/main" id="{F201D388-F59F-4443-8297-23FB03FA0A40}"/>
              </a:ext>
            </a:extLst>
          </p:cNvPr>
          <p:cNvPicPr>
            <a:picLocks noChangeAspect="1"/>
          </p:cNvPicPr>
          <p:nvPr/>
        </p:nvPicPr>
        <p:blipFill>
          <a:blip r:embed="rId2"/>
          <a:stretch>
            <a:fillRect/>
          </a:stretch>
        </p:blipFill>
        <p:spPr>
          <a:xfrm>
            <a:off x="849031" y="1567743"/>
            <a:ext cx="9594240" cy="370458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22B10A02-F7F9-4249-8868-9F3B07D310E5}"/>
              </a:ext>
            </a:extLst>
          </p:cNvPr>
          <p:cNvSpPr txBox="1"/>
          <p:nvPr/>
        </p:nvSpPr>
        <p:spPr>
          <a:xfrm>
            <a:off x="2190257" y="6076917"/>
            <a:ext cx="7395882" cy="461665"/>
          </a:xfrm>
          <a:prstGeom prst="rect">
            <a:avLst/>
          </a:prstGeom>
          <a:noFill/>
        </p:spPr>
        <p:txBody>
          <a:bodyPr wrap="square">
            <a:spAutoFit/>
          </a:bodyPr>
          <a:lstStyle/>
          <a:p>
            <a:r>
              <a:rPr lang="en-GB" sz="2400" b="0" i="0" u="none" strike="noStrike" baseline="0" dirty="0">
                <a:solidFill>
                  <a:srgbClr val="FF0000"/>
                </a:solidFill>
                <a:latin typeface="Comic Sans MS" panose="030F0702030302020204" pitchFamily="66" charset="0"/>
              </a:rPr>
              <a:t>Continuous Analog Signal with Infinite Resolution</a:t>
            </a:r>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594136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171BAC-823B-45FC-8251-11F670604162}"/>
              </a:ext>
            </a:extLst>
          </p:cNvPr>
          <p:cNvSpPr>
            <a:spLocks noGrp="1"/>
          </p:cNvSpPr>
          <p:nvPr>
            <p:ph idx="1"/>
          </p:nvPr>
        </p:nvSpPr>
        <p:spPr>
          <a:xfrm>
            <a:off x="0" y="62752"/>
            <a:ext cx="12111318" cy="6795247"/>
          </a:xfrm>
        </p:spPr>
        <p:txBody>
          <a:bodyPr>
            <a:normAutofit fontScale="92500" lnSpcReduction="10000"/>
          </a:bodyPr>
          <a:lstStyle/>
          <a:p>
            <a:pPr algn="just"/>
            <a:r>
              <a:rPr lang="en-GB" b="1" i="0" u="none" strike="noStrike" baseline="0" dirty="0">
                <a:solidFill>
                  <a:srgbClr val="FF0000"/>
                </a:solidFill>
                <a:latin typeface="Comic Sans MS" panose="030F0702030302020204" pitchFamily="66" charset="0"/>
              </a:rPr>
              <a:t>Digital Signals</a:t>
            </a:r>
            <a:endParaRPr lang="en-FI" b="1" i="0" u="none" strike="noStrike" baseline="0" dirty="0">
              <a:solidFill>
                <a:srgbClr val="FF0000"/>
              </a:solidFill>
              <a:latin typeface="Comic Sans MS" panose="030F0702030302020204" pitchFamily="66" charset="0"/>
            </a:endParaRPr>
          </a:p>
          <a:p>
            <a:pPr algn="just"/>
            <a:endParaRPr lang="en-FI" b="1" i="0" u="none" strike="noStrike" baseline="0" dirty="0">
              <a:solidFill>
                <a:srgbClr val="FF0000"/>
              </a:solidFill>
              <a:latin typeface="Comic Sans MS" panose="030F0702030302020204" pitchFamily="66" charset="0"/>
            </a:endParaRPr>
          </a:p>
          <a:p>
            <a:pPr algn="just"/>
            <a:r>
              <a:rPr lang="en-GB" b="0" i="0" u="none" strike="noStrike" baseline="0" dirty="0">
                <a:latin typeface="Comic Sans MS" panose="030F0702030302020204" pitchFamily="66" charset="0"/>
              </a:rPr>
              <a:t>There is such a thing as an </a:t>
            </a:r>
            <a:r>
              <a:rPr lang="en-GB" b="0" i="0" u="none" strike="noStrike" baseline="0" dirty="0" err="1">
                <a:latin typeface="Comic Sans MS" panose="030F0702030302020204" pitchFamily="66" charset="0"/>
              </a:rPr>
              <a:t>analog</a:t>
            </a:r>
            <a:r>
              <a:rPr lang="en-GB" b="0" i="0" u="none" strike="noStrike" baseline="0" dirty="0">
                <a:latin typeface="Comic Sans MS" panose="030F0702030302020204" pitchFamily="66" charset="0"/>
              </a:rPr>
              <a:t> computer, a computer that</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processes information using </a:t>
            </a:r>
            <a:r>
              <a:rPr lang="en-GB" b="0" i="0" u="none" strike="noStrike" baseline="0" dirty="0" err="1">
                <a:latin typeface="Comic Sans MS" panose="030F0702030302020204" pitchFamily="66" charset="0"/>
              </a:rPr>
              <a:t>analog</a:t>
            </a:r>
            <a:r>
              <a:rPr lang="en-GB" b="0" i="0" u="none" strike="noStrike" baseline="0" dirty="0">
                <a:latin typeface="Comic Sans MS" panose="030F0702030302020204" pitchFamily="66" charset="0"/>
              </a:rPr>
              <a:t> levels of electricity or the positions</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of mechanical devices. </a:t>
            </a:r>
            <a:endParaRPr lang="en-FI" b="0" i="0" u="none" strike="noStrike" baseline="0" dirty="0">
              <a:latin typeface="Comic Sans MS" panose="030F0702030302020204" pitchFamily="66" charset="0"/>
            </a:endParaRPr>
          </a:p>
          <a:p>
            <a:pPr algn="just"/>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 overwhelming majority of today’s</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computers do not do this, however. </a:t>
            </a:r>
            <a:endParaRPr lang="en-FI" b="0" i="0" u="none" strike="noStrike" baseline="0" dirty="0">
              <a:latin typeface="Comic Sans MS" panose="030F0702030302020204" pitchFamily="66" charset="0"/>
            </a:endParaRPr>
          </a:p>
          <a:p>
            <a:pPr algn="just"/>
            <a:endParaRPr lang="en-FI" dirty="0">
              <a:latin typeface="Comic Sans MS" panose="030F0702030302020204" pitchFamily="66" charset="0"/>
            </a:endParaRPr>
          </a:p>
          <a:p>
            <a:pPr algn="just"/>
            <a:r>
              <a:rPr lang="en-GB" b="0" i="0" u="none" strike="noStrike" baseline="0" dirty="0">
                <a:latin typeface="Comic Sans MS" panose="030F0702030302020204" pitchFamily="66" charset="0"/>
              </a:rPr>
              <a:t>Instead, they represent an </a:t>
            </a:r>
            <a:r>
              <a:rPr lang="en-GB" b="0" i="0" u="none" strike="noStrike" baseline="0" dirty="0" err="1">
                <a:latin typeface="Comic Sans MS" panose="030F0702030302020204" pitchFamily="66" charset="0"/>
              </a:rPr>
              <a:t>analog</a:t>
            </a:r>
            <a:r>
              <a:rPr lang="en-FI" dirty="0">
                <a:latin typeface="Comic Sans MS" panose="030F0702030302020204" pitchFamily="66" charset="0"/>
              </a:rPr>
              <a:t> </a:t>
            </a:r>
            <a:r>
              <a:rPr lang="en-GB" b="0" i="0" u="none" strike="noStrike" baseline="0" dirty="0">
                <a:latin typeface="Comic Sans MS" panose="030F0702030302020204" pitchFamily="66" charset="0"/>
              </a:rPr>
              <a:t>value by converting it to a number with a fixed resolution, i.e., a fixed</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number of digits to the right of the decimal point. </a:t>
            </a:r>
            <a:endParaRPr lang="en-FI" b="0" i="0" u="none" strike="noStrike" baseline="0" dirty="0">
              <a:latin typeface="Comic Sans MS" panose="030F0702030302020204" pitchFamily="66" charset="0"/>
            </a:endParaRPr>
          </a:p>
          <a:p>
            <a:pPr algn="just"/>
            <a:endParaRPr lang="en-FI" dirty="0">
              <a:latin typeface="Comic Sans MS" panose="030F0702030302020204" pitchFamily="66" charset="0"/>
            </a:endParaRPr>
          </a:p>
          <a:p>
            <a:pPr algn="just"/>
            <a:r>
              <a:rPr lang="en-GB" b="0" i="0" u="none" strike="noStrike" baseline="0" dirty="0">
                <a:latin typeface="Comic Sans MS" panose="030F0702030302020204" pitchFamily="66" charset="0"/>
              </a:rPr>
              <a:t>This measurement is</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referred to as a </a:t>
            </a:r>
            <a:r>
              <a:rPr lang="en-GB" b="1" i="1" u="none" strike="noStrike" baseline="0" dirty="0">
                <a:latin typeface="Comic Sans MS" panose="030F0702030302020204" pitchFamily="66" charset="0"/>
              </a:rPr>
              <a:t>digital value</a:t>
            </a:r>
            <a:r>
              <a:rPr lang="en-GB" b="0" i="0" u="none" strike="noStrike" baseline="0" dirty="0">
                <a:latin typeface="Comic Sans MS" panose="030F0702030302020204" pitchFamily="66" charset="0"/>
              </a:rPr>
              <a:t>. </a:t>
            </a:r>
            <a:endParaRPr lang="en-FI" b="0" i="0" u="none" strike="noStrike" baseline="0" dirty="0">
              <a:latin typeface="Comic Sans MS" panose="030F0702030302020204" pitchFamily="66" charset="0"/>
            </a:endParaRPr>
          </a:p>
          <a:p>
            <a:pPr algn="just"/>
            <a:endParaRPr lang="en-FI" dirty="0">
              <a:latin typeface="Comic Sans MS" panose="030F0702030302020204" pitchFamily="66" charset="0"/>
            </a:endParaRPr>
          </a:p>
          <a:p>
            <a:pPr algn="just"/>
            <a:r>
              <a:rPr lang="en-GB" b="0" i="0" u="none" strike="noStrike" baseline="0" dirty="0">
                <a:latin typeface="Comic Sans MS" panose="030F0702030302020204" pitchFamily="66" charset="0"/>
              </a:rPr>
              <a:t>If the value is changing with respect to</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time, then a sequence of measurements can be taken, the period</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between the measurements typically remaining fixed.</a:t>
            </a:r>
            <a:endParaRPr lang="en-GB" sz="4000" dirty="0">
              <a:latin typeface="Comic Sans MS" panose="030F0702030302020204" pitchFamily="66" charset="0"/>
            </a:endParaRPr>
          </a:p>
        </p:txBody>
      </p:sp>
    </p:spTree>
    <p:extLst>
      <p:ext uri="{BB962C8B-B14F-4D97-AF65-F5344CB8AC3E}">
        <p14:creationId xmlns:p14="http://schemas.microsoft.com/office/powerpoint/2010/main" val="1383856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CACDD5B-9EF2-4959-920B-0D8E587A77A7}"/>
              </a:ext>
            </a:extLst>
          </p:cNvPr>
          <p:cNvPicPr>
            <a:picLocks noGrp="1" noChangeAspect="1"/>
          </p:cNvPicPr>
          <p:nvPr>
            <p:ph idx="1"/>
          </p:nvPr>
        </p:nvPicPr>
        <p:blipFill>
          <a:blip r:embed="rId2"/>
          <a:stretch>
            <a:fillRect/>
          </a:stretch>
        </p:blipFill>
        <p:spPr>
          <a:xfrm>
            <a:off x="3644968" y="1165405"/>
            <a:ext cx="4382112" cy="3448531"/>
          </a:xfrm>
        </p:spPr>
      </p:pic>
      <p:sp>
        <p:nvSpPr>
          <p:cNvPr id="7" name="TextBox 6">
            <a:extLst>
              <a:ext uri="{FF2B5EF4-FFF2-40B4-BE49-F238E27FC236}">
                <a16:creationId xmlns:a16="http://schemas.microsoft.com/office/drawing/2014/main" id="{16A595C4-8E17-446D-ADA7-6AAB633807B0}"/>
              </a:ext>
            </a:extLst>
          </p:cNvPr>
          <p:cNvSpPr txBox="1"/>
          <p:nvPr/>
        </p:nvSpPr>
        <p:spPr>
          <a:xfrm>
            <a:off x="3209365" y="5243464"/>
            <a:ext cx="6096000" cy="830997"/>
          </a:xfrm>
          <a:prstGeom prst="rect">
            <a:avLst/>
          </a:prstGeom>
          <a:noFill/>
        </p:spPr>
        <p:txBody>
          <a:bodyPr wrap="square">
            <a:spAutoFit/>
          </a:bodyPr>
          <a:lstStyle/>
          <a:p>
            <a:pPr algn="ctr"/>
            <a:r>
              <a:rPr lang="en-GB" sz="2400" b="0" i="0" u="none" strike="noStrike" baseline="0" dirty="0">
                <a:solidFill>
                  <a:srgbClr val="FF0000"/>
                </a:solidFill>
                <a:latin typeface="Comic Sans MS" panose="030F0702030302020204" pitchFamily="66" charset="0"/>
              </a:rPr>
              <a:t>Sample of Discrete Measurements Taken Every 0.1 Sec</a:t>
            </a:r>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01768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70134B-D73A-4C7C-A235-4D74A38FFF66}"/>
              </a:ext>
            </a:extLst>
          </p:cNvPr>
          <p:cNvSpPr>
            <a:spLocks noGrp="1"/>
          </p:cNvSpPr>
          <p:nvPr>
            <p:ph idx="1"/>
          </p:nvPr>
        </p:nvSpPr>
        <p:spPr>
          <a:xfrm>
            <a:off x="62753" y="71718"/>
            <a:ext cx="12048565" cy="6786282"/>
          </a:xfrm>
        </p:spPr>
        <p:txBody>
          <a:bodyPr>
            <a:normAutofit lnSpcReduction="10000"/>
          </a:bodyPr>
          <a:lstStyle/>
          <a:p>
            <a:pPr algn="just"/>
            <a:r>
              <a:rPr lang="en-GB" b="0" i="0" u="none" strike="noStrike" baseline="0" dirty="0">
                <a:latin typeface="Comic Sans MS" panose="030F0702030302020204" pitchFamily="66" charset="0"/>
              </a:rPr>
              <a:t>Since computers look at the world with a fixed resolution in both</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time and magnitude, when the computer records an </a:t>
            </a:r>
            <a:r>
              <a:rPr lang="en-GB" b="0" i="0" u="none" strike="noStrike" baseline="0" dirty="0" err="1">
                <a:latin typeface="Comic Sans MS" panose="030F0702030302020204" pitchFamily="66" charset="0"/>
              </a:rPr>
              <a:t>analog</a:t>
            </a:r>
            <a:r>
              <a:rPr lang="en-GB" b="0" i="0" u="none" strike="noStrike" baseline="0" dirty="0">
                <a:latin typeface="Comic Sans MS" panose="030F0702030302020204" pitchFamily="66" charset="0"/>
              </a:rPr>
              <a:t> signal such</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as the sound waves from music, it does it by taking a sequence of snapshots.</a:t>
            </a:r>
            <a:endParaRPr lang="en-FI" b="0" i="0" u="none" strike="noStrike" baseline="0" dirty="0">
              <a:latin typeface="Comic Sans MS" panose="030F0702030302020204" pitchFamily="66" charset="0"/>
            </a:endParaRPr>
          </a:p>
          <a:p>
            <a:pPr marL="0" indent="0" algn="just">
              <a:buNone/>
            </a:pPr>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F</a:t>
            </a:r>
            <a:r>
              <a:rPr lang="en-FI" b="0" i="0" u="none" strike="noStrike" baseline="0" dirty="0">
                <a:latin typeface="Comic Sans MS" panose="030F0702030302020204" pitchFamily="66" charset="0"/>
              </a:rPr>
              <a:t>or example </a:t>
            </a:r>
            <a:r>
              <a:rPr lang="en-GB" b="0" i="0" u="none" strike="noStrike" baseline="0" dirty="0">
                <a:latin typeface="Comic Sans MS" panose="030F0702030302020204" pitchFamily="66" charset="0"/>
              </a:rPr>
              <a:t>assume an </a:t>
            </a:r>
            <a:r>
              <a:rPr lang="en-GB" b="0" i="0" u="none" strike="noStrike" baseline="0" dirty="0" err="1">
                <a:latin typeface="Comic Sans MS" panose="030F0702030302020204" pitchFamily="66" charset="0"/>
              </a:rPr>
              <a:t>analog</a:t>
            </a:r>
            <a:r>
              <a:rPr lang="en-GB" b="0" i="0" u="none" strike="noStrike" baseline="0" dirty="0">
                <a:latin typeface="Comic Sans MS" panose="030F0702030302020204" pitchFamily="66" charset="0"/>
              </a:rPr>
              <a:t> "real world" signal</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such as a sound wave</a:t>
            </a:r>
            <a:r>
              <a:rPr lang="en-FI" b="0" i="0" u="none" strike="noStrike" baseline="0" dirty="0">
                <a:latin typeface="Comic Sans MS" panose="030F0702030302020204" pitchFamily="66" charset="0"/>
              </a:rPr>
              <a:t>.</a:t>
            </a:r>
          </a:p>
          <a:p>
            <a:pPr marL="0" indent="0" algn="just">
              <a:buNone/>
            </a:pPr>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 computer can only measure the signal at</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intervals. </a:t>
            </a:r>
            <a:endParaRPr lang="en-FI" b="0" i="0" u="none" strike="noStrike" baseline="0" dirty="0">
              <a:latin typeface="Comic Sans MS" panose="030F0702030302020204" pitchFamily="66" charset="0"/>
            </a:endParaRPr>
          </a:p>
          <a:p>
            <a:pPr algn="just"/>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Each measurement is called </a:t>
            </a:r>
            <a:r>
              <a:rPr lang="en-GB" b="0" i="0" u="none" strike="noStrike" baseline="0" dirty="0">
                <a:solidFill>
                  <a:srgbClr val="FF0000"/>
                </a:solidFill>
                <a:latin typeface="Comic Sans MS" panose="030F0702030302020204" pitchFamily="66" charset="0"/>
              </a:rPr>
              <a:t>a </a:t>
            </a:r>
            <a:r>
              <a:rPr lang="en-GB" b="1" i="1" u="none" strike="noStrike" baseline="0" dirty="0">
                <a:solidFill>
                  <a:srgbClr val="FF0000"/>
                </a:solidFill>
                <a:latin typeface="Comic Sans MS" panose="030F0702030302020204" pitchFamily="66" charset="0"/>
              </a:rPr>
              <a:t>sample</a:t>
            </a:r>
            <a:r>
              <a:rPr lang="en-GB" b="0" i="0" u="none" strike="noStrike" baseline="0" dirty="0">
                <a:latin typeface="Comic Sans MS" panose="030F0702030302020204" pitchFamily="66" charset="0"/>
              </a:rPr>
              <a:t>. </a:t>
            </a:r>
            <a:endParaRPr lang="en-FI" b="0" i="0" u="none" strike="noStrike" baseline="0" dirty="0">
              <a:latin typeface="Comic Sans MS" panose="030F0702030302020204" pitchFamily="66" charset="0"/>
            </a:endParaRPr>
          </a:p>
          <a:p>
            <a:pPr marL="0" indent="0" algn="just">
              <a:buNone/>
            </a:pPr>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 rate at which these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samples are taken is called the </a:t>
            </a:r>
            <a:r>
              <a:rPr lang="en-GB" b="1" i="1" u="none" strike="noStrike" baseline="0" dirty="0">
                <a:solidFill>
                  <a:srgbClr val="FF0000"/>
                </a:solidFill>
                <a:latin typeface="Comic Sans MS" panose="030F0702030302020204" pitchFamily="66" charset="0"/>
              </a:rPr>
              <a:t>sampling rate</a:t>
            </a:r>
            <a:endParaRPr lang="en-FI" b="1" i="1" u="none" strike="noStrike" baseline="0" dirty="0">
              <a:solidFill>
                <a:srgbClr val="FF0000"/>
              </a:solidFill>
              <a:latin typeface="Comic Sans MS" panose="030F0702030302020204" pitchFamily="66" charset="0"/>
            </a:endParaRPr>
          </a:p>
          <a:p>
            <a:pPr marL="0" indent="0" algn="just">
              <a:buNone/>
            </a:pPr>
            <a:endParaRPr lang="en-FI" b="1" i="1" u="none" strike="noStrike" baseline="0" dirty="0">
              <a:solidFill>
                <a:srgbClr val="FF0000"/>
              </a:solidFill>
              <a:latin typeface="Comic Sans MS" panose="030F0702030302020204" pitchFamily="66" charset="0"/>
            </a:endParaRPr>
          </a:p>
          <a:p>
            <a:pPr algn="l"/>
            <a:r>
              <a:rPr lang="en-GB" b="0" i="0" u="none" strike="noStrike" baseline="0" dirty="0">
                <a:latin typeface="Comic Sans MS" panose="030F0702030302020204" pitchFamily="66" charset="0"/>
              </a:rPr>
              <a:t>The X's in </a:t>
            </a:r>
            <a:r>
              <a:rPr lang="en-FI" b="0" i="0" u="none" strike="noStrike" baseline="0" dirty="0">
                <a:latin typeface="Comic Sans MS" panose="030F0702030302020204" pitchFamily="66" charset="0"/>
              </a:rPr>
              <a:t>the </a:t>
            </a:r>
            <a:r>
              <a:rPr lang="en-GB" b="0" i="0" u="none" strike="noStrike" baseline="0" dirty="0">
                <a:latin typeface="Comic Sans MS" panose="030F0702030302020204" pitchFamily="66" charset="0"/>
              </a:rPr>
              <a:t>Figure </a:t>
            </a:r>
            <a:r>
              <a:rPr lang="en-FI" b="0" i="0" u="none" strike="noStrike" baseline="0" dirty="0">
                <a:latin typeface="Comic Sans MS" panose="030F0702030302020204" pitchFamily="66" charset="0"/>
              </a:rPr>
              <a:t>below </a:t>
            </a:r>
            <a:r>
              <a:rPr lang="en-GB" b="0" i="0" u="none" strike="noStrike" baseline="0" dirty="0">
                <a:latin typeface="Comic Sans MS" panose="030F0702030302020204" pitchFamily="66" charset="0"/>
              </a:rPr>
              <a:t>represent these measurements.</a:t>
            </a:r>
          </a:p>
          <a:p>
            <a:pPr algn="just"/>
            <a:endParaRPr lang="en-GB" sz="40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799677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F2B65A2-FA26-433F-97A2-E7BBD318A7E6}"/>
              </a:ext>
            </a:extLst>
          </p:cNvPr>
          <p:cNvPicPr>
            <a:picLocks noGrp="1" noChangeAspect="1"/>
          </p:cNvPicPr>
          <p:nvPr>
            <p:ph idx="1"/>
          </p:nvPr>
        </p:nvPicPr>
        <p:blipFill>
          <a:blip r:embed="rId2"/>
          <a:stretch>
            <a:fillRect/>
          </a:stretch>
        </p:blipFill>
        <p:spPr>
          <a:xfrm>
            <a:off x="1838874" y="1029562"/>
            <a:ext cx="8173591" cy="303889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670DEF8F-2B03-4BFA-A0F6-363E218FFDCC}"/>
              </a:ext>
            </a:extLst>
          </p:cNvPr>
          <p:cNvSpPr txBox="1"/>
          <p:nvPr/>
        </p:nvSpPr>
        <p:spPr>
          <a:xfrm>
            <a:off x="3514165" y="5117958"/>
            <a:ext cx="6096000" cy="523220"/>
          </a:xfrm>
          <a:prstGeom prst="rect">
            <a:avLst/>
          </a:prstGeom>
          <a:noFill/>
        </p:spPr>
        <p:txBody>
          <a:bodyPr wrap="square">
            <a:spAutoFit/>
          </a:bodyPr>
          <a:lstStyle/>
          <a:p>
            <a:r>
              <a:rPr lang="en-GB" sz="2800" b="0" i="0" u="none" strike="noStrike" baseline="0" dirty="0">
                <a:solidFill>
                  <a:srgbClr val="FF0000"/>
                </a:solidFill>
                <a:latin typeface="Comic Sans MS" panose="030F0702030302020204" pitchFamily="66" charset="0"/>
              </a:rPr>
              <a:t>Samples Taken of an Analog Signal</a:t>
            </a:r>
            <a:endParaRPr lang="en-GB" sz="2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549774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F11A92-3331-4C27-84DB-088B33A00110}"/>
              </a:ext>
            </a:extLst>
          </p:cNvPr>
          <p:cNvSpPr>
            <a:spLocks noGrp="1"/>
          </p:cNvSpPr>
          <p:nvPr>
            <p:ph idx="1"/>
          </p:nvPr>
        </p:nvSpPr>
        <p:spPr>
          <a:xfrm>
            <a:off x="80682" y="0"/>
            <a:ext cx="12111318" cy="6786282"/>
          </a:xfrm>
        </p:spPr>
        <p:txBody>
          <a:bodyPr>
            <a:normAutofit/>
          </a:bodyPr>
          <a:lstStyle/>
          <a:p>
            <a:pPr algn="just"/>
            <a:r>
              <a:rPr lang="en-GB" b="0" i="0" u="none" strike="noStrike" baseline="0" dirty="0">
                <a:latin typeface="Comic Sans MS" panose="030F0702030302020204" pitchFamily="66" charset="0"/>
              </a:rPr>
              <a:t>Two problems arise from this process: information can be lost</a:t>
            </a:r>
            <a:r>
              <a:rPr lang="en-FI" b="0" i="0" u="none" strike="noStrike" baseline="0" dirty="0">
                <a:latin typeface="Comic Sans MS" panose="030F0702030302020204" pitchFamily="66" charset="0"/>
              </a:rPr>
              <a:t> </a:t>
            </a:r>
            <a:r>
              <a:rPr lang="en-GB" b="0" i="1" u="none" strike="noStrike" baseline="0" dirty="0">
                <a:latin typeface="Comic Sans MS" panose="030F0702030302020204" pitchFamily="66" charset="0"/>
              </a:rPr>
              <a:t>between </a:t>
            </a:r>
            <a:r>
              <a:rPr lang="en-GB" b="0" i="0" u="none" strike="noStrike" baseline="0" dirty="0">
                <a:latin typeface="Comic Sans MS" panose="030F0702030302020204" pitchFamily="66" charset="0"/>
              </a:rPr>
              <a:t>the measurements and information can be lost due to the</a:t>
            </a:r>
            <a:r>
              <a:rPr lang="en-FI" b="0" i="0" u="none" strike="noStrike" baseline="0" dirty="0">
                <a:latin typeface="Comic Sans MS" panose="030F0702030302020204" pitchFamily="66" charset="0"/>
              </a:rPr>
              <a:t> </a:t>
            </a:r>
            <a:r>
              <a:rPr lang="en-GB" b="0" i="1" u="none" strike="noStrike" baseline="0" dirty="0">
                <a:latin typeface="Comic Sans MS" panose="030F0702030302020204" pitchFamily="66" charset="0"/>
              </a:rPr>
              <a:t>rounding </a:t>
            </a:r>
            <a:r>
              <a:rPr lang="en-GB" b="0" i="0" u="none" strike="noStrike" baseline="0" dirty="0">
                <a:latin typeface="Comic Sans MS" panose="030F0702030302020204" pitchFamily="66" charset="0"/>
              </a:rPr>
              <a:t>of the measurement. </a:t>
            </a:r>
            <a:endParaRPr lang="en-FI" b="0" i="0" u="none" strike="noStrike" baseline="0" dirty="0">
              <a:latin typeface="Comic Sans MS" panose="030F0702030302020204" pitchFamily="66" charset="0"/>
            </a:endParaRPr>
          </a:p>
          <a:p>
            <a:pPr algn="just"/>
            <a:endParaRPr lang="en-FI" dirty="0">
              <a:latin typeface="Comic Sans MS" panose="030F0702030302020204" pitchFamily="66" charset="0"/>
            </a:endParaRPr>
          </a:p>
          <a:p>
            <a:pPr algn="just"/>
            <a:r>
              <a:rPr lang="en-GB" b="0" i="0" u="none" strike="noStrike" baseline="0" dirty="0">
                <a:latin typeface="Comic Sans MS" panose="030F0702030302020204" pitchFamily="66" charset="0"/>
              </a:rPr>
              <a:t>First, if the sampling rate is too slow,</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then some details of the signal may be missed.</a:t>
            </a:r>
            <a:endParaRPr lang="en-GB" sz="4000" dirty="0">
              <a:latin typeface="Comic Sans MS" panose="030F0702030302020204" pitchFamily="66" charset="0"/>
            </a:endParaRPr>
          </a:p>
        </p:txBody>
      </p:sp>
      <p:pic>
        <p:nvPicPr>
          <p:cNvPr id="5" name="Picture 4">
            <a:extLst>
              <a:ext uri="{FF2B5EF4-FFF2-40B4-BE49-F238E27FC236}">
                <a16:creationId xmlns:a16="http://schemas.microsoft.com/office/drawing/2014/main" id="{6B37028C-94A0-43A6-BD35-D7386E7A8065}"/>
              </a:ext>
            </a:extLst>
          </p:cNvPr>
          <p:cNvPicPr>
            <a:picLocks noChangeAspect="1"/>
          </p:cNvPicPr>
          <p:nvPr/>
        </p:nvPicPr>
        <p:blipFill>
          <a:blip r:embed="rId2"/>
          <a:stretch>
            <a:fillRect/>
          </a:stretch>
        </p:blipFill>
        <p:spPr>
          <a:xfrm>
            <a:off x="2901055" y="2956677"/>
            <a:ext cx="8559391" cy="3166218"/>
          </a:xfrm>
          <a:prstGeom prst="rect">
            <a:avLst/>
          </a:prstGeom>
        </p:spPr>
      </p:pic>
      <p:sp>
        <p:nvSpPr>
          <p:cNvPr id="7" name="TextBox 6">
            <a:extLst>
              <a:ext uri="{FF2B5EF4-FFF2-40B4-BE49-F238E27FC236}">
                <a16:creationId xmlns:a16="http://schemas.microsoft.com/office/drawing/2014/main" id="{ADC23B0E-28F4-4E36-8112-F32907618880}"/>
              </a:ext>
            </a:extLst>
          </p:cNvPr>
          <p:cNvSpPr txBox="1"/>
          <p:nvPr/>
        </p:nvSpPr>
        <p:spPr>
          <a:xfrm>
            <a:off x="3050241" y="6295927"/>
            <a:ext cx="6172200" cy="461665"/>
          </a:xfrm>
          <a:prstGeom prst="rect">
            <a:avLst/>
          </a:prstGeom>
          <a:noFill/>
        </p:spPr>
        <p:txBody>
          <a:bodyPr wrap="square">
            <a:spAutoFit/>
          </a:bodyPr>
          <a:lstStyle/>
          <a:p>
            <a:r>
              <a:rPr lang="en-GB" sz="2400" b="1" i="0" u="none" strike="noStrike" baseline="0" dirty="0">
                <a:solidFill>
                  <a:srgbClr val="FF0000"/>
                </a:solidFill>
                <a:latin typeface="Comic Sans MS" panose="030F0702030302020204" pitchFamily="66" charset="0"/>
              </a:rPr>
              <a:t>Slow Sampling Rate Missed an Anomaly</a:t>
            </a:r>
            <a:endParaRPr lang="en-GB" sz="2400" b="1"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3547310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16E30C-BC63-4E0B-ABE9-F6DE79AFF9F9}"/>
              </a:ext>
            </a:extLst>
          </p:cNvPr>
          <p:cNvSpPr>
            <a:spLocks noGrp="1"/>
          </p:cNvSpPr>
          <p:nvPr>
            <p:ph idx="1"/>
          </p:nvPr>
        </p:nvSpPr>
        <p:spPr>
          <a:xfrm>
            <a:off x="98612" y="71718"/>
            <a:ext cx="11994776" cy="6786282"/>
          </a:xfrm>
        </p:spPr>
        <p:txBody>
          <a:bodyPr/>
          <a:lstStyle/>
          <a:p>
            <a:pPr algn="just"/>
            <a:r>
              <a:rPr lang="en-GB" b="0" i="0" u="none" strike="noStrike" baseline="0" dirty="0">
                <a:latin typeface="Comic Sans MS" panose="030F0702030302020204" pitchFamily="66" charset="0"/>
              </a:rPr>
              <a:t>Second, if the computer does not record with enough accuracy (i.e.,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enough digits after the decimal point) an error may be introduced</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between the actual measurement and the recorded value.</a:t>
            </a:r>
            <a:endParaRPr lang="en-FI" b="0" i="0" u="none" strike="noStrike" baseline="0" dirty="0">
              <a:latin typeface="Comic Sans MS" panose="030F0702030302020204" pitchFamily="66" charset="0"/>
            </a:endParaRPr>
          </a:p>
          <a:p>
            <a:pPr algn="l"/>
            <a:endParaRPr lang="en-FI" sz="1800" dirty="0">
              <a:latin typeface="TimesNewRomanPSMT"/>
            </a:endParaRPr>
          </a:p>
          <a:p>
            <a:pPr algn="l"/>
            <a:endParaRPr lang="en-FI" sz="1800" dirty="0">
              <a:latin typeface="TimesNewRomanPSMT"/>
            </a:endParaRPr>
          </a:p>
          <a:p>
            <a:pPr algn="l"/>
            <a:endParaRPr lang="en-GB" dirty="0"/>
          </a:p>
        </p:txBody>
      </p:sp>
      <p:pic>
        <p:nvPicPr>
          <p:cNvPr id="5" name="Picture 4">
            <a:extLst>
              <a:ext uri="{FF2B5EF4-FFF2-40B4-BE49-F238E27FC236}">
                <a16:creationId xmlns:a16="http://schemas.microsoft.com/office/drawing/2014/main" id="{B40F6F02-9941-456B-8A21-1E5A210EFC7F}"/>
              </a:ext>
            </a:extLst>
          </p:cNvPr>
          <p:cNvPicPr>
            <a:picLocks noChangeAspect="1"/>
          </p:cNvPicPr>
          <p:nvPr/>
        </p:nvPicPr>
        <p:blipFill>
          <a:blip r:embed="rId2"/>
          <a:stretch>
            <a:fillRect/>
          </a:stretch>
        </p:blipFill>
        <p:spPr>
          <a:xfrm>
            <a:off x="676392" y="1436689"/>
            <a:ext cx="10355120" cy="2657846"/>
          </a:xfrm>
          <a:prstGeom prst="rect">
            <a:avLst/>
          </a:prstGeom>
        </p:spPr>
      </p:pic>
      <p:sp>
        <p:nvSpPr>
          <p:cNvPr id="7" name="TextBox 6">
            <a:extLst>
              <a:ext uri="{FF2B5EF4-FFF2-40B4-BE49-F238E27FC236}">
                <a16:creationId xmlns:a16="http://schemas.microsoft.com/office/drawing/2014/main" id="{8B2AC82E-4F76-4594-97C7-CEB551241756}"/>
              </a:ext>
            </a:extLst>
          </p:cNvPr>
          <p:cNvSpPr txBox="1"/>
          <p:nvPr/>
        </p:nvSpPr>
        <p:spPr>
          <a:xfrm>
            <a:off x="1900518" y="4094535"/>
            <a:ext cx="8615081" cy="461665"/>
          </a:xfrm>
          <a:prstGeom prst="rect">
            <a:avLst/>
          </a:prstGeom>
          <a:noFill/>
        </p:spPr>
        <p:txBody>
          <a:bodyPr wrap="square">
            <a:spAutoFit/>
          </a:bodyPr>
          <a:lstStyle/>
          <a:p>
            <a:r>
              <a:rPr lang="en-GB" sz="2400" b="0" i="0" u="none" strike="noStrike" baseline="0" dirty="0">
                <a:solidFill>
                  <a:srgbClr val="FF0000"/>
                </a:solidFill>
                <a:latin typeface="Comic Sans MS" panose="030F0702030302020204" pitchFamily="66" charset="0"/>
              </a:rPr>
              <a:t>Poor Resolution Resulting in an Inaccurate Measurement</a:t>
            </a:r>
            <a:endParaRPr lang="en-GB" sz="2400" dirty="0">
              <a:solidFill>
                <a:srgbClr val="FF0000"/>
              </a:solidFill>
              <a:latin typeface="Comic Sans MS" panose="030F0702030302020204" pitchFamily="66" charset="0"/>
            </a:endParaRPr>
          </a:p>
        </p:txBody>
      </p:sp>
      <p:sp>
        <p:nvSpPr>
          <p:cNvPr id="9" name="TextBox 8">
            <a:extLst>
              <a:ext uri="{FF2B5EF4-FFF2-40B4-BE49-F238E27FC236}">
                <a16:creationId xmlns:a16="http://schemas.microsoft.com/office/drawing/2014/main" id="{A62B2472-57C7-4CE5-B36F-A7B310244C43}"/>
              </a:ext>
            </a:extLst>
          </p:cNvPr>
          <p:cNvSpPr txBox="1"/>
          <p:nvPr/>
        </p:nvSpPr>
        <p:spPr>
          <a:xfrm>
            <a:off x="403412" y="5230046"/>
            <a:ext cx="11689976" cy="954107"/>
          </a:xfrm>
          <a:prstGeom prst="rect">
            <a:avLst/>
          </a:prstGeom>
          <a:noFill/>
        </p:spPr>
        <p:txBody>
          <a:bodyPr wrap="square">
            <a:spAutoFit/>
          </a:bodyPr>
          <a:lstStyle/>
          <a:p>
            <a:pPr algn="l"/>
            <a:r>
              <a:rPr lang="en-GB" sz="2800" b="0" i="0" u="none" strike="noStrike" baseline="0" dirty="0">
                <a:latin typeface="Comic Sans MS" panose="030F0702030302020204" pitchFamily="66" charset="0"/>
              </a:rPr>
              <a:t>These effects can be reduced by increasing the resolution of the</a:t>
            </a:r>
          </a:p>
          <a:p>
            <a:pPr algn="l"/>
            <a:r>
              <a:rPr lang="en-GB" sz="2800" b="0" i="0" u="none" strike="noStrike" baseline="0" dirty="0">
                <a:latin typeface="Comic Sans MS" panose="030F0702030302020204" pitchFamily="66" charset="0"/>
              </a:rPr>
              <a:t>measurement and increasing the sampling rate.</a:t>
            </a:r>
            <a:endParaRPr lang="en-GB" sz="2800" dirty="0">
              <a:latin typeface="Comic Sans MS" panose="030F0702030302020204" pitchFamily="66" charset="0"/>
            </a:endParaRPr>
          </a:p>
        </p:txBody>
      </p:sp>
    </p:spTree>
    <p:extLst>
      <p:ext uri="{BB962C8B-B14F-4D97-AF65-F5344CB8AC3E}">
        <p14:creationId xmlns:p14="http://schemas.microsoft.com/office/powerpoint/2010/main" val="1084175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3A22F-0BC4-4A37-B8F9-EB292FC4D90D}"/>
              </a:ext>
            </a:extLst>
          </p:cNvPr>
          <p:cNvSpPr>
            <a:spLocks noGrp="1"/>
          </p:cNvSpPr>
          <p:nvPr>
            <p:ph idx="1"/>
          </p:nvPr>
        </p:nvSpPr>
        <p:spPr>
          <a:xfrm>
            <a:off x="116541" y="80682"/>
            <a:ext cx="11949953" cy="6714565"/>
          </a:xfrm>
        </p:spPr>
        <p:txBody>
          <a:bodyPr>
            <a:normAutofit/>
          </a:bodyPr>
          <a:lstStyle/>
          <a:p>
            <a:r>
              <a:rPr lang="en-GB" b="1" i="0" u="none" strike="noStrike" baseline="0" dirty="0">
                <a:solidFill>
                  <a:srgbClr val="FF0000"/>
                </a:solidFill>
                <a:latin typeface="Comic Sans MS" panose="030F0702030302020204" pitchFamily="66" charset="0"/>
              </a:rPr>
              <a:t>Conversion Systems</a:t>
            </a:r>
            <a:endParaRPr lang="en-FI" b="1" i="0" u="none" strike="noStrike" baseline="0" dirty="0">
              <a:solidFill>
                <a:srgbClr val="FF0000"/>
              </a:solidFill>
              <a:latin typeface="Comic Sans MS" panose="030F0702030302020204" pitchFamily="66" charset="0"/>
            </a:endParaRPr>
          </a:p>
          <a:p>
            <a:pPr algn="l"/>
            <a:r>
              <a:rPr lang="en-GB" b="0" i="0" u="none" strike="noStrike" baseline="0" dirty="0">
                <a:latin typeface="Comic Sans MS" panose="030F0702030302020204" pitchFamily="66" charset="0"/>
              </a:rPr>
              <a:t>The typical system used to convert an external condition such as</a:t>
            </a:r>
            <a:r>
              <a:rPr lang="en-FI" dirty="0">
                <a:latin typeface="Comic Sans MS" panose="030F0702030302020204" pitchFamily="66" charset="0"/>
              </a:rPr>
              <a:t> </a:t>
            </a:r>
            <a:r>
              <a:rPr lang="en-GB" b="0" i="0" u="none" strike="noStrike" baseline="0" dirty="0">
                <a:latin typeface="Comic Sans MS" panose="030F0702030302020204" pitchFamily="66" charset="0"/>
              </a:rPr>
              <a:t>pressure, temperature, or light intensity to a format usable by a digital</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system is shown in the block diagram in Figure</a:t>
            </a:r>
            <a:r>
              <a:rPr lang="en-FI" b="0" i="0" u="none" strike="noStrike" baseline="0" dirty="0">
                <a:latin typeface="Comic Sans MS" panose="030F0702030302020204" pitchFamily="66" charset="0"/>
              </a:rPr>
              <a:t> below </a:t>
            </a:r>
            <a:endParaRPr lang="en-GB" dirty="0">
              <a:latin typeface="Comic Sans MS" panose="030F0702030302020204" pitchFamily="66" charset="0"/>
            </a:endParaRPr>
          </a:p>
        </p:txBody>
      </p:sp>
      <p:pic>
        <p:nvPicPr>
          <p:cNvPr id="5" name="Picture 4">
            <a:extLst>
              <a:ext uri="{FF2B5EF4-FFF2-40B4-BE49-F238E27FC236}">
                <a16:creationId xmlns:a16="http://schemas.microsoft.com/office/drawing/2014/main" id="{6BBC6A41-3C17-48CC-ABC8-A90D1DB97C3C}"/>
              </a:ext>
            </a:extLst>
          </p:cNvPr>
          <p:cNvPicPr>
            <a:picLocks noChangeAspect="1"/>
          </p:cNvPicPr>
          <p:nvPr/>
        </p:nvPicPr>
        <p:blipFill>
          <a:blip r:embed="rId2"/>
          <a:stretch>
            <a:fillRect/>
          </a:stretch>
        </p:blipFill>
        <p:spPr>
          <a:xfrm>
            <a:off x="739588" y="1847542"/>
            <a:ext cx="10273552" cy="449001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756764A3-2BF9-46FA-A093-352EE3BD2FD1}"/>
              </a:ext>
            </a:extLst>
          </p:cNvPr>
          <p:cNvSpPr txBox="1"/>
          <p:nvPr/>
        </p:nvSpPr>
        <p:spPr>
          <a:xfrm>
            <a:off x="1371599" y="6254098"/>
            <a:ext cx="9439836" cy="523220"/>
          </a:xfrm>
          <a:prstGeom prst="rect">
            <a:avLst/>
          </a:prstGeom>
          <a:noFill/>
        </p:spPr>
        <p:txBody>
          <a:bodyPr wrap="square">
            <a:spAutoFit/>
          </a:bodyPr>
          <a:lstStyle/>
          <a:p>
            <a:r>
              <a:rPr lang="en-GB" sz="2800" b="0" i="0" u="none" strike="noStrike" baseline="0" dirty="0">
                <a:solidFill>
                  <a:srgbClr val="FF0000"/>
                </a:solidFill>
                <a:latin typeface="Comic Sans MS" panose="030F0702030302020204" pitchFamily="66" charset="0"/>
              </a:rPr>
              <a:t>Block Diagram of a System to Capture Analog Data</a:t>
            </a:r>
            <a:endParaRPr lang="en-GB" sz="2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4163768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ABF21F-2AA9-4088-8AB9-68D5F310DEA5}"/>
              </a:ext>
            </a:extLst>
          </p:cNvPr>
          <p:cNvSpPr>
            <a:spLocks noGrp="1"/>
          </p:cNvSpPr>
          <p:nvPr>
            <p:ph idx="1"/>
          </p:nvPr>
        </p:nvSpPr>
        <p:spPr>
          <a:xfrm>
            <a:off x="1" y="62753"/>
            <a:ext cx="12111318" cy="6732494"/>
          </a:xfrm>
        </p:spPr>
        <p:txBody>
          <a:bodyPr>
            <a:normAutofit lnSpcReduction="10000"/>
          </a:bodyPr>
          <a:lstStyle/>
          <a:p>
            <a:pPr algn="just"/>
            <a:r>
              <a:rPr lang="en-GB" sz="2400" b="0" i="0" u="none" strike="noStrike" baseline="0" dirty="0">
                <a:latin typeface="Comic Sans MS" panose="030F0702030302020204" pitchFamily="66" charset="0"/>
              </a:rPr>
              <a:t>The interface between the external condition and the electronics of</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the system is the sensor. This device converts the environmental</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conditions into a signal readable by </a:t>
            </a:r>
            <a:r>
              <a:rPr lang="en-GB" sz="2400" b="0" i="0" u="none" strike="noStrike" baseline="0" dirty="0" err="1">
                <a:latin typeface="Comic Sans MS" panose="030F0702030302020204" pitchFamily="66" charset="0"/>
              </a:rPr>
              <a:t>analog</a:t>
            </a:r>
            <a:r>
              <a:rPr lang="en-GB" sz="2400" b="0" i="0" u="none" strike="noStrike" baseline="0" dirty="0">
                <a:latin typeface="Comic Sans MS" panose="030F0702030302020204" pitchFamily="66" charset="0"/>
              </a:rPr>
              <a:t> electronics. </a:t>
            </a:r>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Often, this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signal is weak and is easily distorted by noise. Therefore, the output of</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the sensor is usually amplified and cleaned up before being converted</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to digital values by the Analog-to-Digital Converter (ADC).</a:t>
            </a:r>
          </a:p>
          <a:p>
            <a:pPr algn="just"/>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Continuous operation of this system results in a sequence of digital</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measurements or samples that are stored in the computer where it can</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be viewed much like the table of numbers in a spreadsheet.</a:t>
            </a:r>
            <a:endParaRPr lang="en-FI" sz="2400" b="0" i="0" u="none" strike="noStrike" baseline="0" dirty="0">
              <a:latin typeface="Comic Sans MS" panose="030F0702030302020204" pitchFamily="66" charset="0"/>
            </a:endParaRPr>
          </a:p>
          <a:p>
            <a:pPr algn="just"/>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There are benefits to using data in a digital format rather than</a:t>
            </a:r>
            <a:r>
              <a:rPr lang="en-FI" sz="2400" b="0" i="0" u="none" strike="noStrike" baseline="0" dirty="0">
                <a:latin typeface="Comic Sans MS" panose="030F0702030302020204" pitchFamily="66" charset="0"/>
              </a:rPr>
              <a:t> </a:t>
            </a:r>
            <a:r>
              <a:rPr lang="en-GB" sz="2400" b="0" i="0" u="none" strike="noStrike" baseline="0" dirty="0" err="1">
                <a:latin typeface="Comic Sans MS" panose="030F0702030302020204" pitchFamily="66" charset="0"/>
              </a:rPr>
              <a:t>analog</a:t>
            </a:r>
            <a:r>
              <a:rPr lang="en-GB" sz="2400" b="0" i="0" u="none" strike="noStrike" baseline="0" dirty="0">
                <a:latin typeface="Comic Sans MS" panose="030F0702030302020204" pitchFamily="66" charset="0"/>
              </a:rPr>
              <a:t>. First, if an </a:t>
            </a:r>
            <a:r>
              <a:rPr lang="en-GB" sz="2400" b="0" i="0" u="none" strike="noStrike" baseline="0" dirty="0" err="1">
                <a:latin typeface="Comic Sans MS" panose="030F0702030302020204" pitchFamily="66" charset="0"/>
              </a:rPr>
              <a:t>analog</a:t>
            </a:r>
            <a:r>
              <a:rPr lang="en-GB" sz="2400" b="0" i="0" u="none" strike="noStrike" baseline="0" dirty="0">
                <a:latin typeface="Comic Sans MS" panose="030F0702030302020204" pitchFamily="66" charset="0"/>
              </a:rPr>
              <a:t> signal is transmitted over long distances,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noise attaches itself to the signal. </a:t>
            </a:r>
            <a:endParaRPr lang="en-FI" sz="2400" b="0" i="0" u="none" strike="noStrike" baseline="0" dirty="0">
              <a:latin typeface="Comic Sans MS" panose="030F0702030302020204" pitchFamily="66" charset="0"/>
            </a:endParaRPr>
          </a:p>
          <a:p>
            <a:pPr marL="0" indent="0" algn="just">
              <a:buNone/>
            </a:pPr>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To keep the signal strong enough to</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reach its destination, it must be amplified. All of the noise that attached</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itself to the signal, however, is amplified along with the original signal</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resulting in distortion.</a:t>
            </a:r>
            <a:endParaRPr lang="en-GB" sz="3600" dirty="0">
              <a:latin typeface="Comic Sans MS" panose="030F0702030302020204" pitchFamily="66" charset="0"/>
            </a:endParaRPr>
          </a:p>
        </p:txBody>
      </p:sp>
    </p:spTree>
    <p:extLst>
      <p:ext uri="{BB962C8B-B14F-4D97-AF65-F5344CB8AC3E}">
        <p14:creationId xmlns:p14="http://schemas.microsoft.com/office/powerpoint/2010/main" val="659218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18EE3C-653B-42A4-9997-FB823CAF64A7}"/>
              </a:ext>
            </a:extLst>
          </p:cNvPr>
          <p:cNvSpPr>
            <a:spLocks noGrp="1"/>
          </p:cNvSpPr>
          <p:nvPr>
            <p:ph idx="1"/>
          </p:nvPr>
        </p:nvSpPr>
        <p:spPr>
          <a:xfrm>
            <a:off x="0" y="71718"/>
            <a:ext cx="12084424" cy="6786282"/>
          </a:xfrm>
        </p:spPr>
        <p:txBody>
          <a:bodyPr>
            <a:normAutofit fontScale="85000" lnSpcReduction="20000"/>
          </a:bodyPr>
          <a:lstStyle/>
          <a:p>
            <a:pPr algn="just"/>
            <a:r>
              <a:rPr lang="en-GB" sz="3300" b="0" i="0" u="none" strike="noStrike" baseline="0" dirty="0">
                <a:latin typeface="Comic Sans MS" panose="030F0702030302020204" pitchFamily="66" charset="0"/>
              </a:rPr>
              <a:t>Noise cannot attach itself to a digital signal. Once an </a:t>
            </a:r>
            <a:r>
              <a:rPr lang="en-GB" sz="3300" b="0" i="0" u="none" strike="noStrike" baseline="0" dirty="0" err="1">
                <a:latin typeface="Comic Sans MS" panose="030F0702030302020204" pitchFamily="66" charset="0"/>
              </a:rPr>
              <a:t>analog</a:t>
            </a:r>
            <a:r>
              <a:rPr lang="en-GB" sz="3300" b="0" i="0" u="none" strike="noStrike" baseline="0" dirty="0">
                <a:latin typeface="Comic Sans MS" panose="030F0702030302020204" pitchFamily="66" charset="0"/>
              </a:rPr>
              <a:t> signal</a:t>
            </a:r>
            <a:r>
              <a:rPr lang="en-FI" sz="3300" b="0" i="0" u="none" strike="noStrike" baseline="0" dirty="0">
                <a:latin typeface="Comic Sans MS" panose="030F0702030302020204" pitchFamily="66" charset="0"/>
              </a:rPr>
              <a:t> </a:t>
            </a:r>
            <a:r>
              <a:rPr lang="en-GB" sz="3300" b="0" i="0" u="none" strike="noStrike" baseline="0" dirty="0">
                <a:latin typeface="Comic Sans MS" panose="030F0702030302020204" pitchFamily="66" charset="0"/>
              </a:rPr>
              <a:t>has been converted to a sequence of numbers, the signal’s</a:t>
            </a:r>
            <a:r>
              <a:rPr lang="en-FI" sz="3300" b="0" i="0" u="none" strike="noStrike" baseline="0" dirty="0">
                <a:latin typeface="Comic Sans MS" panose="030F0702030302020204" pitchFamily="66" charset="0"/>
              </a:rPr>
              <a:t> </a:t>
            </a:r>
            <a:r>
              <a:rPr lang="en-GB" sz="3300" b="0" i="0" u="none" strike="noStrike" baseline="0" dirty="0">
                <a:latin typeface="Comic Sans MS" panose="030F0702030302020204" pitchFamily="66" charset="0"/>
              </a:rPr>
              <a:t>characteristics remain the same as long as the numbers don't change.</a:t>
            </a:r>
            <a:endParaRPr lang="en-FI" sz="3300" b="0" i="0" u="none" strike="noStrike" baseline="0" dirty="0">
              <a:latin typeface="Comic Sans MS" panose="030F0702030302020204" pitchFamily="66" charset="0"/>
            </a:endParaRPr>
          </a:p>
          <a:p>
            <a:pPr algn="just"/>
            <a:endParaRPr lang="en-FI" sz="3300" dirty="0">
              <a:latin typeface="Comic Sans MS" panose="030F0702030302020204" pitchFamily="66" charset="0"/>
            </a:endParaRPr>
          </a:p>
          <a:p>
            <a:pPr algn="just"/>
            <a:r>
              <a:rPr lang="en-GB" sz="3300" b="0" i="0" u="none" strike="noStrike" baseline="0" dirty="0">
                <a:latin typeface="Comic Sans MS" panose="030F0702030302020204" pitchFamily="66" charset="0"/>
              </a:rPr>
              <a:t>Therefore, digital systems such as the contemporary long-distance</a:t>
            </a:r>
            <a:r>
              <a:rPr lang="en-FI" sz="3300" b="0" i="0" u="none" strike="noStrike" baseline="0" dirty="0">
                <a:latin typeface="Comic Sans MS" panose="030F0702030302020204" pitchFamily="66" charset="0"/>
              </a:rPr>
              <a:t> </a:t>
            </a:r>
            <a:r>
              <a:rPr lang="en-GB" sz="3300" b="0" i="0" u="none" strike="noStrike" baseline="0" dirty="0">
                <a:latin typeface="Comic Sans MS" panose="030F0702030302020204" pitchFamily="66" charset="0"/>
              </a:rPr>
              <a:t>phone system do not suffer from degradation over long distances.</a:t>
            </a:r>
          </a:p>
          <a:p>
            <a:pPr algn="just"/>
            <a:endParaRPr lang="en-FI" sz="3300" b="0" i="0" u="none" strike="noStrike" baseline="0" dirty="0">
              <a:latin typeface="Comic Sans MS" panose="030F0702030302020204" pitchFamily="66" charset="0"/>
            </a:endParaRPr>
          </a:p>
          <a:p>
            <a:pPr algn="just"/>
            <a:r>
              <a:rPr lang="en-GB" sz="3300" b="0" i="0" u="none" strike="noStrike" baseline="0" dirty="0">
                <a:latin typeface="Comic Sans MS" panose="030F0702030302020204" pitchFamily="66" charset="0"/>
              </a:rPr>
              <a:t>A second benefit is that once a signal is turned into a sequence of</a:t>
            </a:r>
            <a:r>
              <a:rPr lang="en-FI" sz="3300" b="0" i="0" u="none" strike="noStrike" baseline="0" dirty="0">
                <a:latin typeface="Comic Sans MS" panose="030F0702030302020204" pitchFamily="66" charset="0"/>
              </a:rPr>
              <a:t> </a:t>
            </a:r>
            <a:r>
              <a:rPr lang="en-GB" sz="3300" b="0" i="0" u="none" strike="noStrike" baseline="0" dirty="0">
                <a:latin typeface="Comic Sans MS" panose="030F0702030302020204" pitchFamily="66" charset="0"/>
              </a:rPr>
              <a:t>numbers, mathematical algorithms can be used to operate on the data.</a:t>
            </a:r>
            <a:endParaRPr lang="en-FI" sz="3300" b="0" i="0" u="none" strike="noStrike" baseline="0" dirty="0">
              <a:latin typeface="Comic Sans MS" panose="030F0702030302020204" pitchFamily="66" charset="0"/>
            </a:endParaRPr>
          </a:p>
          <a:p>
            <a:pPr algn="just"/>
            <a:endParaRPr lang="en-GB" sz="3300" b="0" i="0" u="none" strike="noStrike" baseline="0" dirty="0">
              <a:latin typeface="Comic Sans MS" panose="030F0702030302020204" pitchFamily="66" charset="0"/>
            </a:endParaRPr>
          </a:p>
          <a:p>
            <a:pPr algn="just"/>
            <a:r>
              <a:rPr lang="en-GB" sz="3300" b="0" i="0" u="none" strike="noStrike" baseline="0" dirty="0">
                <a:latin typeface="Comic Sans MS" panose="030F0702030302020204" pitchFamily="66" charset="0"/>
              </a:rPr>
              <a:t>Disciplines such as Digital Signal Processing (DSP) and the study of</a:t>
            </a:r>
            <a:r>
              <a:rPr lang="en-FI" sz="3300" b="0" i="0" u="none" strike="noStrike" baseline="0" dirty="0">
                <a:latin typeface="Comic Sans MS" panose="030F0702030302020204" pitchFamily="66" charset="0"/>
              </a:rPr>
              <a:t> </a:t>
            </a:r>
            <a:r>
              <a:rPr lang="en-GB" sz="3300" b="0" i="0" u="none" strike="noStrike" baseline="0" dirty="0">
                <a:latin typeface="Comic Sans MS" panose="030F0702030302020204" pitchFamily="66" charset="0"/>
              </a:rPr>
              <a:t>wavelets allow for much more accurate processing of signals than</a:t>
            </a:r>
            <a:r>
              <a:rPr lang="en-FI" sz="3300" b="0" i="0" u="none" strike="noStrike" baseline="0" dirty="0">
                <a:latin typeface="Comic Sans MS" panose="030F0702030302020204" pitchFamily="66" charset="0"/>
              </a:rPr>
              <a:t> </a:t>
            </a:r>
            <a:r>
              <a:rPr lang="en-GB" sz="3300" b="0" i="0" u="none" strike="noStrike" baseline="0" dirty="0" err="1">
                <a:latin typeface="Comic Sans MS" panose="030F0702030302020204" pitchFamily="66" charset="0"/>
              </a:rPr>
              <a:t>analog</a:t>
            </a:r>
            <a:r>
              <a:rPr lang="en-GB" sz="3300" b="0" i="0" u="none" strike="noStrike" baseline="0" dirty="0">
                <a:latin typeface="Comic Sans MS" panose="030F0702030302020204" pitchFamily="66" charset="0"/>
              </a:rPr>
              <a:t> systems were ever able to achieve.</a:t>
            </a:r>
            <a:endParaRPr lang="en-FI" sz="3300" b="0" i="0" u="none" strike="noStrike" baseline="0" dirty="0">
              <a:latin typeface="Comic Sans MS" panose="030F0702030302020204" pitchFamily="66" charset="0"/>
            </a:endParaRPr>
          </a:p>
          <a:p>
            <a:pPr algn="just"/>
            <a:endParaRPr lang="en-GB" sz="3300" b="0" i="0" u="none" strike="noStrike" baseline="0" dirty="0">
              <a:latin typeface="Comic Sans MS" panose="030F0702030302020204" pitchFamily="66" charset="0"/>
            </a:endParaRPr>
          </a:p>
          <a:p>
            <a:pPr algn="just"/>
            <a:r>
              <a:rPr lang="en-GB" sz="3300" b="0" i="0" u="none" strike="noStrike" baseline="0" dirty="0">
                <a:latin typeface="Comic Sans MS" panose="030F0702030302020204" pitchFamily="66" charset="0"/>
              </a:rPr>
              <a:t>A sequence of digital numbers can also be stored more compactly</a:t>
            </a:r>
            <a:r>
              <a:rPr lang="en-FI" sz="3300" b="0" i="0" u="none" strike="noStrike" baseline="0" dirty="0">
                <a:latin typeface="Comic Sans MS" panose="030F0702030302020204" pitchFamily="66" charset="0"/>
              </a:rPr>
              <a:t> </a:t>
            </a:r>
            <a:r>
              <a:rPr lang="en-GB" sz="3300" b="0" i="0" u="none" strike="noStrike" baseline="0" dirty="0">
                <a:latin typeface="Comic Sans MS" panose="030F0702030302020204" pitchFamily="66" charset="0"/>
              </a:rPr>
              <a:t>than an </a:t>
            </a:r>
            <a:r>
              <a:rPr lang="en-GB" sz="3300" b="0" i="0" u="none" strike="noStrike" baseline="0" dirty="0" err="1">
                <a:latin typeface="Comic Sans MS" panose="030F0702030302020204" pitchFamily="66" charset="0"/>
              </a:rPr>
              <a:t>analog</a:t>
            </a:r>
            <a:r>
              <a:rPr lang="en-GB" sz="3300" b="0" i="0" u="none" strike="noStrike" baseline="0" dirty="0">
                <a:latin typeface="Comic Sans MS" panose="030F0702030302020204" pitchFamily="66" charset="0"/>
              </a:rPr>
              <a:t> signal. The data compression behind the MP3</a:t>
            </a:r>
            <a:r>
              <a:rPr lang="en-FI" sz="3300" b="0" i="0" u="none" strike="noStrike" baseline="0" dirty="0">
                <a:latin typeface="Comic Sans MS" panose="030F0702030302020204" pitchFamily="66" charset="0"/>
              </a:rPr>
              <a:t> </a:t>
            </a:r>
            <a:r>
              <a:rPr lang="en-GB" sz="3300" b="0" i="0" u="none" strike="noStrike" baseline="0" dirty="0">
                <a:latin typeface="Comic Sans MS" panose="030F0702030302020204" pitchFamily="66" charset="0"/>
              </a:rPr>
              <a:t>technology is not remotely possible with </a:t>
            </a:r>
            <a:r>
              <a:rPr lang="en-GB" sz="3300" b="0" i="0" u="none" strike="noStrike" baseline="0" dirty="0" err="1">
                <a:latin typeface="Comic Sans MS" panose="030F0702030302020204" pitchFamily="66" charset="0"/>
              </a:rPr>
              <a:t>analog</a:t>
            </a:r>
            <a:r>
              <a:rPr lang="en-GB" sz="3300" b="0" i="0" u="none" strike="noStrike" baseline="0" dirty="0">
                <a:latin typeface="Comic Sans MS" panose="030F0702030302020204" pitchFamily="66" charset="0"/>
              </a:rPr>
              <a:t> technology. </a:t>
            </a:r>
            <a:endParaRPr lang="en-FI" sz="3300" b="0" i="0" u="none" strike="noStrike" baseline="0" dirty="0">
              <a:latin typeface="Comic Sans MS" panose="030F0702030302020204" pitchFamily="66" charset="0"/>
            </a:endParaRPr>
          </a:p>
          <a:p>
            <a:pPr algn="just"/>
            <a:endParaRPr lang="en-FI" sz="3300" dirty="0">
              <a:latin typeface="Comic Sans MS" panose="030F0702030302020204" pitchFamily="66" charset="0"/>
            </a:endParaRPr>
          </a:p>
          <a:p>
            <a:pPr algn="l"/>
            <a:endParaRPr lang="en-FI" sz="1800" b="0" i="0" u="none" strike="noStrike" baseline="0" dirty="0">
              <a:latin typeface="TimesNewRomanPSMT"/>
            </a:endParaRPr>
          </a:p>
        </p:txBody>
      </p:sp>
    </p:spTree>
    <p:extLst>
      <p:ext uri="{BB962C8B-B14F-4D97-AF65-F5344CB8AC3E}">
        <p14:creationId xmlns:p14="http://schemas.microsoft.com/office/powerpoint/2010/main" val="1313774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307AAC-95CE-4A3C-ACCC-1C669B79047E}"/>
              </a:ext>
            </a:extLst>
          </p:cNvPr>
          <p:cNvSpPr>
            <a:spLocks noGrp="1"/>
          </p:cNvSpPr>
          <p:nvPr>
            <p:ph idx="1"/>
          </p:nvPr>
        </p:nvSpPr>
        <p:spPr>
          <a:xfrm>
            <a:off x="98612" y="0"/>
            <a:ext cx="11994776" cy="6786282"/>
          </a:xfrm>
        </p:spPr>
        <p:txBody>
          <a:bodyPr/>
          <a:lstStyle/>
          <a:p>
            <a:r>
              <a:rPr lang="en-GB" sz="2800" b="0" i="0" u="none" strike="noStrike" baseline="0" dirty="0">
                <a:latin typeface="Comic Sans MS" panose="030F0702030302020204" pitchFamily="66" charset="0"/>
              </a:rPr>
              <a:t>In</a:t>
            </a:r>
            <a:r>
              <a:rPr lang="en-FI" sz="2800" dirty="0">
                <a:latin typeface="Comic Sans MS" panose="030F0702030302020204" pitchFamily="66" charset="0"/>
              </a:rPr>
              <a:t> </a:t>
            </a:r>
            <a:r>
              <a:rPr lang="en-GB" sz="2800" b="0" i="0" u="none" strike="noStrike" baseline="0" dirty="0">
                <a:latin typeface="Comic Sans MS" panose="030F0702030302020204" pitchFamily="66" charset="0"/>
              </a:rPr>
              <a:t>addition, supplementary data can be stored along with the samples for</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information such as digital watermarking for security or codes for error</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checking or error correction.</a:t>
            </a:r>
          </a:p>
          <a:p>
            <a:pPr algn="l"/>
            <a:endParaRPr lang="en-FI" sz="2800" b="0" i="0" u="none" strike="noStrike" baseline="0" dirty="0">
              <a:latin typeface="Comic Sans MS" panose="030F0702030302020204" pitchFamily="66" charset="0"/>
            </a:endParaRPr>
          </a:p>
          <a:p>
            <a:pPr algn="l"/>
            <a:r>
              <a:rPr lang="en-GB" sz="2800" b="0" i="0" u="none" strike="noStrike" baseline="0" dirty="0">
                <a:solidFill>
                  <a:srgbClr val="FF0000"/>
                </a:solidFill>
                <a:latin typeface="Comic Sans MS" panose="030F0702030302020204" pitchFamily="66" charset="0"/>
              </a:rPr>
              <a:t>These advantages come at a price</a:t>
            </a:r>
            <a:r>
              <a:rPr lang="en-GB" sz="2800" b="0" i="0" u="none" strike="noStrike" baseline="0" dirty="0">
                <a:latin typeface="Comic Sans MS" panose="030F0702030302020204" pitchFamily="66" charset="0"/>
              </a:rPr>
              <a:t>, however, if</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the samples are taken too slowly, details of the </a:t>
            </a:r>
            <a:r>
              <a:rPr lang="en-GB" sz="2800" b="0" i="0" u="none" strike="noStrike" baseline="0" dirty="0" err="1">
                <a:latin typeface="Comic Sans MS" panose="030F0702030302020204" pitchFamily="66" charset="0"/>
              </a:rPr>
              <a:t>analog</a:t>
            </a:r>
            <a:r>
              <a:rPr lang="en-GB" sz="2800" b="0" i="0" u="none" strike="noStrike" baseline="0" dirty="0">
                <a:latin typeface="Comic Sans MS" panose="030F0702030302020204" pitchFamily="66" charset="0"/>
              </a:rPr>
              <a:t> input are missed.</a:t>
            </a:r>
            <a:endParaRPr lang="en-FI" sz="2800" b="0" i="0" u="none" strike="noStrike" baseline="0" dirty="0">
              <a:latin typeface="Comic Sans MS" panose="030F0702030302020204" pitchFamily="66" charset="0"/>
            </a:endParaRPr>
          </a:p>
          <a:p>
            <a:pPr algn="l"/>
            <a:endParaRPr lang="en-GB" sz="2800" b="0" i="0" u="none" strike="noStrike" baseline="0" dirty="0">
              <a:latin typeface="Comic Sans MS" panose="030F0702030302020204" pitchFamily="66" charset="0"/>
            </a:endParaRPr>
          </a:p>
          <a:p>
            <a:pPr algn="l"/>
            <a:r>
              <a:rPr lang="en-GB" sz="2800" b="0" i="0" u="none" strike="noStrike" baseline="0" dirty="0">
                <a:latin typeface="Comic Sans MS" panose="030F0702030302020204" pitchFamily="66" charset="0"/>
              </a:rPr>
              <a:t>If the resolution of the samples is not fine enough, the signal may not</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be precisely represented with the digital values. </a:t>
            </a:r>
            <a:endParaRPr lang="en-FI" sz="2800" b="0" i="0" u="none" strike="noStrike" baseline="0" dirty="0">
              <a:latin typeface="Comic Sans MS" panose="030F0702030302020204" pitchFamily="66" charset="0"/>
            </a:endParaRPr>
          </a:p>
          <a:p>
            <a:pPr algn="l"/>
            <a:endParaRPr lang="en-FI" dirty="0">
              <a:latin typeface="Comic Sans MS" panose="030F0702030302020204" pitchFamily="66" charset="0"/>
            </a:endParaRPr>
          </a:p>
          <a:p>
            <a:pPr algn="l"/>
            <a:r>
              <a:rPr lang="en-GB" sz="2800" b="0" i="0" u="none" strike="noStrike" baseline="0" dirty="0">
                <a:latin typeface="Comic Sans MS" panose="030F0702030302020204" pitchFamily="66" charset="0"/>
              </a:rPr>
              <a:t>Last of all, additional</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hardware is required to convert the signal from </a:t>
            </a:r>
            <a:r>
              <a:rPr lang="en-GB" sz="2800" b="0" i="0" u="none" strike="noStrike" baseline="0" dirty="0" err="1">
                <a:latin typeface="Comic Sans MS" panose="030F0702030302020204" pitchFamily="66" charset="0"/>
              </a:rPr>
              <a:t>analog</a:t>
            </a:r>
            <a:r>
              <a:rPr lang="en-GB" sz="2800" b="0" i="0" u="none" strike="noStrike" baseline="0" dirty="0">
                <a:latin typeface="Comic Sans MS" panose="030F0702030302020204" pitchFamily="66" charset="0"/>
              </a:rPr>
              <a:t> to digital.</a:t>
            </a:r>
            <a:endParaRPr lang="en-GB" dirty="0">
              <a:latin typeface="Comic Sans MS" panose="030F0702030302020204" pitchFamily="66" charset="0"/>
            </a:endParaRPr>
          </a:p>
          <a:p>
            <a:endParaRPr lang="en-GB" dirty="0"/>
          </a:p>
        </p:txBody>
      </p:sp>
    </p:spTree>
    <p:extLst>
      <p:ext uri="{BB962C8B-B14F-4D97-AF65-F5344CB8AC3E}">
        <p14:creationId xmlns:p14="http://schemas.microsoft.com/office/powerpoint/2010/main" val="2496653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7A1D6E-9146-47EF-B84A-9094BFD7ECD2}"/>
              </a:ext>
            </a:extLst>
          </p:cNvPr>
          <p:cNvSpPr>
            <a:spLocks noGrp="1"/>
          </p:cNvSpPr>
          <p:nvPr>
            <p:ph idx="1"/>
          </p:nvPr>
        </p:nvSpPr>
        <p:spPr>
          <a:xfrm>
            <a:off x="0" y="0"/>
            <a:ext cx="12119811" cy="6801853"/>
          </a:xfrm>
        </p:spPr>
        <p:txBody>
          <a:bodyPr>
            <a:normAutofit/>
          </a:bodyPr>
          <a:lstStyle/>
          <a:p>
            <a:r>
              <a:rPr lang="en-GB" sz="2400" b="1" i="0" u="none" strike="noStrike" baseline="0" dirty="0">
                <a:solidFill>
                  <a:srgbClr val="FF0000"/>
                </a:solidFill>
                <a:latin typeface="Comic Sans MS" panose="030F0702030302020204" pitchFamily="66" charset="0"/>
              </a:rPr>
              <a:t>Representation of Digital Signals</a:t>
            </a:r>
            <a:endParaRPr lang="en-FI" sz="2400" b="1" i="0" u="none" strike="noStrike" baseline="0" dirty="0">
              <a:solidFill>
                <a:srgbClr val="FF0000"/>
              </a:solidFill>
              <a:latin typeface="Comic Sans MS" panose="030F0702030302020204" pitchFamily="66" charset="0"/>
            </a:endParaRPr>
          </a:p>
          <a:p>
            <a:pPr algn="just"/>
            <a:r>
              <a:rPr lang="en-GB" sz="2400" b="0" i="0" u="none" strike="noStrike" baseline="0" dirty="0">
                <a:latin typeface="Comic Sans MS" panose="030F0702030302020204" pitchFamily="66" charset="0"/>
              </a:rPr>
              <a:t>Digital systems do not store numbers the way humans do. A human</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can remember the number 4.5 and understand that it represents a</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quantity. </a:t>
            </a:r>
            <a:endParaRPr lang="en-FI" sz="2400" dirty="0">
              <a:latin typeface="Comic Sans MS" panose="030F0702030302020204" pitchFamily="66" charset="0"/>
            </a:endParaRPr>
          </a:p>
          <a:p>
            <a:pPr algn="just"/>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The digital system does not have this capability. Instead,</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digital systems work with numbers using millions of tiny switches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called </a:t>
            </a:r>
            <a:r>
              <a:rPr lang="en-GB" sz="2400" b="1" i="1" u="none" strike="noStrike" baseline="0" dirty="0">
                <a:solidFill>
                  <a:srgbClr val="FF0000"/>
                </a:solidFill>
                <a:latin typeface="Comic Sans MS" panose="030F0702030302020204" pitchFamily="66" charset="0"/>
              </a:rPr>
              <a:t>transistors</a:t>
            </a:r>
            <a:r>
              <a:rPr lang="en-GB" sz="2400" b="0" i="0" u="none" strike="noStrike" baseline="0" dirty="0">
                <a:solidFill>
                  <a:srgbClr val="FF0000"/>
                </a:solidFill>
                <a:latin typeface="Comic Sans MS" panose="030F0702030302020204" pitchFamily="66" charset="0"/>
              </a:rPr>
              <a:t>. </a:t>
            </a:r>
            <a:endParaRPr lang="en-FI" sz="2400" b="0" i="0" u="none" strike="noStrike" baseline="0" dirty="0">
              <a:solidFill>
                <a:srgbClr val="FF0000"/>
              </a:solidFill>
              <a:latin typeface="Comic Sans MS" panose="030F0702030302020204" pitchFamily="66" charset="0"/>
            </a:endParaRPr>
          </a:p>
          <a:p>
            <a:pPr algn="just"/>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Each transistor can remember only one of two</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possible values, on or off. This is referred to as a </a:t>
            </a:r>
            <a:r>
              <a:rPr lang="en-GB" sz="2400" b="1" i="1" u="none" strike="noStrike" baseline="0" dirty="0">
                <a:solidFill>
                  <a:srgbClr val="FF0000"/>
                </a:solidFill>
                <a:latin typeface="Comic Sans MS" panose="030F0702030302020204" pitchFamily="66" charset="0"/>
              </a:rPr>
              <a:t>binary system</a:t>
            </a:r>
            <a:r>
              <a:rPr lang="en-GB" sz="2400" b="0" i="0" u="none" strike="noStrike" baseline="0" dirty="0">
                <a:solidFill>
                  <a:srgbClr val="FF0000"/>
                </a:solidFill>
                <a:latin typeface="Comic Sans MS" panose="030F0702030302020204" pitchFamily="66" charset="0"/>
              </a:rPr>
              <a:t>.</a:t>
            </a:r>
            <a:endParaRPr lang="en-FI" sz="2400" b="0" i="0" u="none" strike="noStrike" baseline="0" dirty="0">
              <a:solidFill>
                <a:srgbClr val="FF0000"/>
              </a:solidFill>
              <a:latin typeface="Comic Sans MS" panose="030F0702030302020204" pitchFamily="66" charset="0"/>
            </a:endParaRPr>
          </a:p>
          <a:p>
            <a:pPr algn="just"/>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The values represented by the transistors of a binary system can be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interpreted as needed by the application.</a:t>
            </a:r>
            <a:endParaRPr lang="en-FI" sz="2400" b="0" i="0" u="none" strike="noStrike" baseline="0" dirty="0">
              <a:latin typeface="Comic Sans MS" panose="030F0702030302020204" pitchFamily="66" charset="0"/>
            </a:endParaRPr>
          </a:p>
          <a:p>
            <a:pPr algn="just"/>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 On and off can just as easily</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mean 1 or 0, yes or no, true or false, up or down, or high or low. At this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point, it is immaterial what the two values represent. What matters is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that there are only two possible values per transistor. </a:t>
            </a:r>
            <a:endParaRPr lang="en-FI" sz="2400" b="0" i="0" u="none" strike="noStrike" baseline="0" dirty="0">
              <a:latin typeface="Comic Sans MS" panose="030F0702030302020204" pitchFamily="66" charset="0"/>
            </a:endParaRPr>
          </a:p>
          <a:p>
            <a:pPr algn="l"/>
            <a:endParaRPr lang="en-FI" sz="2400" b="0" i="0" u="none" strike="noStrike" baseline="0" dirty="0">
              <a:latin typeface="Comic Sans MS" panose="030F0702030302020204" pitchFamily="66" charset="0"/>
            </a:endParaRPr>
          </a:p>
        </p:txBody>
      </p:sp>
    </p:spTree>
    <p:extLst>
      <p:ext uri="{BB962C8B-B14F-4D97-AF65-F5344CB8AC3E}">
        <p14:creationId xmlns:p14="http://schemas.microsoft.com/office/powerpoint/2010/main" val="3071091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FE9A21-B0EC-4A5A-B0D9-3231389DB24D}"/>
              </a:ext>
            </a:extLst>
          </p:cNvPr>
          <p:cNvSpPr>
            <a:spLocks noGrp="1"/>
          </p:cNvSpPr>
          <p:nvPr>
            <p:ph idx="1"/>
          </p:nvPr>
        </p:nvSpPr>
        <p:spPr>
          <a:xfrm>
            <a:off x="111967" y="111966"/>
            <a:ext cx="11961845" cy="6652727"/>
          </a:xfrm>
        </p:spPr>
        <p:txBody>
          <a:bodyPr>
            <a:normAutofit lnSpcReduction="10000"/>
          </a:bodyPr>
          <a:lstStyle/>
          <a:p>
            <a:r>
              <a:rPr lang="en-GB" sz="2800" b="0" i="0" u="none" strike="noStrike" baseline="0" dirty="0">
                <a:latin typeface="Comic Sans MS" panose="030F0702030302020204" pitchFamily="66" charset="0"/>
              </a:rPr>
              <a:t>The complexity of</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the computer comes in how the millions of transistors are designed to</a:t>
            </a:r>
            <a:r>
              <a:rPr lang="en-FI" sz="2800" b="1" dirty="0">
                <a:latin typeface="Comic Sans MS" panose="030F0702030302020204" pitchFamily="66" charset="0"/>
              </a:rPr>
              <a:t> </a:t>
            </a:r>
            <a:r>
              <a:rPr lang="en-GB" sz="2800" b="0" i="0" u="none" strike="noStrike" baseline="0" dirty="0">
                <a:latin typeface="Comic Sans MS" panose="030F0702030302020204" pitchFamily="66" charset="0"/>
              </a:rPr>
              <a:t>work together. For the purpose of this discussion, the two values of a</a:t>
            </a:r>
            <a:r>
              <a:rPr lang="en-FI" sz="2800" b="0" i="0" u="none" strike="noStrike" baseline="0" dirty="0">
                <a:latin typeface="Comic Sans MS" panose="030F0702030302020204" pitchFamily="66" charset="0"/>
              </a:rPr>
              <a:t> </a:t>
            </a:r>
            <a:r>
              <a:rPr lang="en-GB" sz="2800" b="0" i="0" u="none" strike="noStrike" baseline="0" dirty="0">
                <a:latin typeface="Comic Sans MS" panose="030F0702030302020204" pitchFamily="66" charset="0"/>
              </a:rPr>
              <a:t>transistor will be referred to as </a:t>
            </a:r>
            <a:r>
              <a:rPr lang="en-GB" sz="2800" b="1" i="1" u="none" strike="noStrike" baseline="0" dirty="0">
                <a:solidFill>
                  <a:srgbClr val="FF0000"/>
                </a:solidFill>
                <a:latin typeface="Comic Sans MS" panose="030F0702030302020204" pitchFamily="66" charset="0"/>
              </a:rPr>
              <a:t>logic 1 </a:t>
            </a:r>
            <a:r>
              <a:rPr lang="en-GB" sz="2800" b="0" i="0" u="none" strike="noStrike" baseline="0" dirty="0">
                <a:solidFill>
                  <a:srgbClr val="FF0000"/>
                </a:solidFill>
                <a:latin typeface="Comic Sans MS" panose="030F0702030302020204" pitchFamily="66" charset="0"/>
              </a:rPr>
              <a:t>and </a:t>
            </a:r>
            <a:r>
              <a:rPr lang="en-GB" sz="2800" b="1" i="1" u="none" strike="noStrike" baseline="0" dirty="0">
                <a:solidFill>
                  <a:srgbClr val="FF0000"/>
                </a:solidFill>
                <a:latin typeface="Comic Sans MS" panose="030F0702030302020204" pitchFamily="66" charset="0"/>
              </a:rPr>
              <a:t>logic 0</a:t>
            </a:r>
            <a:r>
              <a:rPr lang="en-GB" sz="2800" b="0" i="0" u="none" strike="noStrike" baseline="0" dirty="0">
                <a:solidFill>
                  <a:srgbClr val="FF0000"/>
                </a:solidFill>
                <a:latin typeface="Comic Sans MS" panose="030F0702030302020204" pitchFamily="66" charset="0"/>
              </a:rPr>
              <a:t>.</a:t>
            </a:r>
            <a:endParaRPr lang="en-FI" sz="2800" b="0" i="0" u="none" strike="noStrike" baseline="0" dirty="0">
              <a:solidFill>
                <a:srgbClr val="FF0000"/>
              </a:solidFill>
              <a:latin typeface="Comic Sans MS" panose="030F0702030302020204" pitchFamily="66" charset="0"/>
            </a:endParaRPr>
          </a:p>
          <a:p>
            <a:endParaRPr lang="en-FI" sz="2800" b="0" i="0" u="none" strike="noStrike" baseline="0" dirty="0">
              <a:solidFill>
                <a:srgbClr val="FF0000"/>
              </a:solidFill>
              <a:latin typeface="Comic Sans MS" panose="030F0702030302020204" pitchFamily="66" charset="0"/>
            </a:endParaRPr>
          </a:p>
          <a:p>
            <a:pPr algn="l"/>
            <a:r>
              <a:rPr lang="en-GB" b="0" i="0" u="none" strike="noStrike" baseline="0" dirty="0">
                <a:latin typeface="Comic Sans MS" panose="030F0702030302020204" pitchFamily="66" charset="0"/>
              </a:rPr>
              <a:t>Assume we are recording</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the binary values present on a single wire controlling a light bulb.</a:t>
            </a:r>
            <a:endParaRPr lang="en-FI" b="0" i="0" u="none" strike="noStrike" baseline="0" dirty="0">
              <a:latin typeface="Comic Sans MS" panose="030F0702030302020204" pitchFamily="66" charset="0"/>
            </a:endParaRPr>
          </a:p>
          <a:p>
            <a:pPr algn="l"/>
            <a:endParaRPr lang="en-GB" b="0" i="0" u="none" strike="noStrike" baseline="0" dirty="0">
              <a:latin typeface="Comic Sans MS" panose="030F0702030302020204" pitchFamily="66" charset="0"/>
            </a:endParaRPr>
          </a:p>
          <a:p>
            <a:pPr algn="l"/>
            <a:r>
              <a:rPr lang="en-GB" b="0" i="0" u="none" strike="noStrike" baseline="0" dirty="0">
                <a:latin typeface="Comic Sans MS" panose="030F0702030302020204" pitchFamily="66" charset="0"/>
              </a:rPr>
              <a:t>Excluding lights controlled by dimmer switches, a light bulb circuit</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is a binary system; the light is either on or off, a logic 1 or a logic 0</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respectively. </a:t>
            </a:r>
            <a:endParaRPr lang="en-FI" b="0" i="0" u="none" strike="noStrike" baseline="0" dirty="0">
              <a:latin typeface="Comic Sans MS" panose="030F0702030302020204" pitchFamily="66" charset="0"/>
            </a:endParaRPr>
          </a:p>
          <a:p>
            <a:pPr algn="l"/>
            <a:endParaRPr lang="en-FI" dirty="0">
              <a:latin typeface="Comic Sans MS" panose="030F0702030302020204" pitchFamily="66" charset="0"/>
            </a:endParaRPr>
          </a:p>
          <a:p>
            <a:pPr algn="l"/>
            <a:r>
              <a:rPr lang="en-GB" b="0" i="0" u="none" strike="noStrike" baseline="0" dirty="0">
                <a:latin typeface="Comic Sans MS" panose="030F0702030302020204" pitchFamily="66" charset="0"/>
              </a:rPr>
              <a:t>Over time, the state of the light bulb changes following</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the position of the switch. The top portion of </a:t>
            </a:r>
            <a:r>
              <a:rPr lang="en-FI" b="0" i="0" u="none" strike="noStrike" baseline="0" dirty="0">
                <a:latin typeface="Comic Sans MS" panose="030F0702030302020204" pitchFamily="66" charset="0"/>
              </a:rPr>
              <a:t> the </a:t>
            </a:r>
            <a:r>
              <a:rPr lang="en-GB" b="0" i="0" u="none" strike="noStrike" baseline="0" dirty="0">
                <a:latin typeface="Comic Sans MS" panose="030F0702030302020204" pitchFamily="66" charset="0"/>
              </a:rPr>
              <a:t>Figure</a:t>
            </a:r>
            <a:r>
              <a:rPr lang="en-FI" b="0" i="0" u="none" strike="noStrike" baseline="0" dirty="0">
                <a:latin typeface="Comic Sans MS" panose="030F0702030302020204" pitchFamily="66" charset="0"/>
              </a:rPr>
              <a:t> below </a:t>
            </a:r>
            <a:r>
              <a:rPr lang="en-GB" b="0" i="0" u="none" strike="noStrike" baseline="0" dirty="0">
                <a:latin typeface="Comic Sans MS" panose="030F0702030302020204" pitchFamily="66" charset="0"/>
              </a:rPr>
              <a:t> represents the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waveform of the binary signal controlling the light bulb based on the</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changes in the switch position shown in the lower half of the figure.</a:t>
            </a:r>
            <a:endParaRPr lang="en-GB" dirty="0">
              <a:solidFill>
                <a:srgbClr val="FF0000"/>
              </a:solidFill>
              <a:latin typeface="Comic Sans MS" panose="030F0702030302020204" pitchFamily="66" charset="0"/>
            </a:endParaRPr>
          </a:p>
          <a:p>
            <a:endParaRPr lang="en-GB" dirty="0"/>
          </a:p>
        </p:txBody>
      </p:sp>
    </p:spTree>
    <p:extLst>
      <p:ext uri="{BB962C8B-B14F-4D97-AF65-F5344CB8AC3E}">
        <p14:creationId xmlns:p14="http://schemas.microsoft.com/office/powerpoint/2010/main" val="348100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86D3DD4-9406-4589-8B3A-162BC12E2F2B}"/>
              </a:ext>
            </a:extLst>
          </p:cNvPr>
          <p:cNvPicPr>
            <a:picLocks noGrp="1" noChangeAspect="1"/>
          </p:cNvPicPr>
          <p:nvPr>
            <p:ph idx="1"/>
          </p:nvPr>
        </p:nvPicPr>
        <p:blipFill>
          <a:blip r:embed="rId2"/>
          <a:stretch>
            <a:fillRect/>
          </a:stretch>
        </p:blipFill>
        <p:spPr>
          <a:xfrm>
            <a:off x="1733133" y="628314"/>
            <a:ext cx="8306605" cy="4104821"/>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3CC41C4E-A3DA-4446-87A5-CC771EE7D457}"/>
              </a:ext>
            </a:extLst>
          </p:cNvPr>
          <p:cNvSpPr txBox="1"/>
          <p:nvPr/>
        </p:nvSpPr>
        <p:spPr>
          <a:xfrm>
            <a:off x="3226060" y="5942568"/>
            <a:ext cx="6097554" cy="461665"/>
          </a:xfrm>
          <a:prstGeom prst="rect">
            <a:avLst/>
          </a:prstGeom>
          <a:noFill/>
        </p:spPr>
        <p:txBody>
          <a:bodyPr wrap="square">
            <a:spAutoFit/>
          </a:bodyPr>
          <a:lstStyle/>
          <a:p>
            <a:r>
              <a:rPr lang="en-GB" sz="2400" b="0" i="0" u="none" strike="noStrike" baseline="0" dirty="0">
                <a:solidFill>
                  <a:srgbClr val="FF0000"/>
                </a:solidFill>
                <a:latin typeface="Comic Sans MS" panose="030F0702030302020204" pitchFamily="66" charset="0"/>
              </a:rPr>
              <a:t>Representation of a Single Binary Signal</a:t>
            </a:r>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4236929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B633C3-8D2E-417C-9EB0-6CE170F0F235}"/>
              </a:ext>
            </a:extLst>
          </p:cNvPr>
          <p:cNvSpPr>
            <a:spLocks noGrp="1"/>
          </p:cNvSpPr>
          <p:nvPr>
            <p:ph idx="1"/>
          </p:nvPr>
        </p:nvSpPr>
        <p:spPr>
          <a:xfrm>
            <a:off x="102637" y="149290"/>
            <a:ext cx="11989836" cy="6596743"/>
          </a:xfrm>
        </p:spPr>
        <p:txBody>
          <a:bodyPr>
            <a:normAutofit/>
          </a:bodyPr>
          <a:lstStyle/>
          <a:p>
            <a:pPr algn="just"/>
            <a:r>
              <a:rPr lang="en-GB" sz="2400" b="0" i="0" u="none" strike="noStrike" baseline="0" dirty="0">
                <a:latin typeface="Comic Sans MS" panose="030F0702030302020204" pitchFamily="66" charset="0"/>
              </a:rPr>
              <a:t>This representation is much like a mathematical x-y plot where the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x-axis represents time and the y-axis identifies either logic 1 or 0.</a:t>
            </a:r>
          </a:p>
          <a:p>
            <a:pPr algn="just"/>
            <a:r>
              <a:rPr lang="en-GB" sz="2400" b="0" i="0" u="none" strike="noStrike" baseline="0" dirty="0">
                <a:latin typeface="Comic Sans MS" panose="030F0702030302020204" pitchFamily="66" charset="0"/>
              </a:rPr>
              <a:t>Sometimes, two or more binary lines are grouped together to</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perform a single function. For example, the overall lighting in a room</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may be controlled by three different switches controlling independent</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banks of lights. </a:t>
            </a:r>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This circumstance may be represented with a diagram</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such as the one shown in Figure</a:t>
            </a:r>
            <a:r>
              <a:rPr lang="en-FI" sz="2400" b="0" i="0" u="none" strike="noStrike" baseline="0" dirty="0">
                <a:latin typeface="Comic Sans MS" panose="030F0702030302020204" pitchFamily="66" charset="0"/>
              </a:rPr>
              <a:t> below</a:t>
            </a:r>
          </a:p>
          <a:p>
            <a:pPr algn="just"/>
            <a:endParaRPr lang="en-FI" sz="2400" dirty="0">
              <a:latin typeface="Comic Sans MS" panose="030F0702030302020204" pitchFamily="66" charset="0"/>
            </a:endParaRPr>
          </a:p>
          <a:p>
            <a:pPr algn="just"/>
            <a:endParaRPr lang="en-GB" sz="3600" dirty="0">
              <a:latin typeface="Comic Sans MS" panose="030F0702030302020204" pitchFamily="66" charset="0"/>
            </a:endParaRPr>
          </a:p>
        </p:txBody>
      </p:sp>
      <p:pic>
        <p:nvPicPr>
          <p:cNvPr id="5" name="Picture 4">
            <a:extLst>
              <a:ext uri="{FF2B5EF4-FFF2-40B4-BE49-F238E27FC236}">
                <a16:creationId xmlns:a16="http://schemas.microsoft.com/office/drawing/2014/main" id="{7E8D460D-E78A-4C35-92C2-D7F25153784C}"/>
              </a:ext>
            </a:extLst>
          </p:cNvPr>
          <p:cNvPicPr>
            <a:picLocks noChangeAspect="1"/>
          </p:cNvPicPr>
          <p:nvPr/>
        </p:nvPicPr>
        <p:blipFill>
          <a:blip r:embed="rId2"/>
          <a:stretch>
            <a:fillRect/>
          </a:stretch>
        </p:blipFill>
        <p:spPr>
          <a:xfrm>
            <a:off x="1179629" y="2913929"/>
            <a:ext cx="8545118" cy="3362794"/>
          </a:xfrm>
          <a:prstGeom prst="rect">
            <a:avLst/>
          </a:prstGeom>
        </p:spPr>
      </p:pic>
      <p:sp>
        <p:nvSpPr>
          <p:cNvPr id="7" name="TextBox 6">
            <a:extLst>
              <a:ext uri="{FF2B5EF4-FFF2-40B4-BE49-F238E27FC236}">
                <a16:creationId xmlns:a16="http://schemas.microsoft.com/office/drawing/2014/main" id="{B65D4BF7-424D-492F-A2F7-D6B92AB4B3FD}"/>
              </a:ext>
            </a:extLst>
          </p:cNvPr>
          <p:cNvSpPr txBox="1"/>
          <p:nvPr/>
        </p:nvSpPr>
        <p:spPr>
          <a:xfrm>
            <a:off x="3047223" y="6326712"/>
            <a:ext cx="6097554" cy="400110"/>
          </a:xfrm>
          <a:prstGeom prst="rect">
            <a:avLst/>
          </a:prstGeom>
          <a:noFill/>
        </p:spPr>
        <p:txBody>
          <a:bodyPr wrap="square">
            <a:spAutoFit/>
          </a:bodyPr>
          <a:lstStyle/>
          <a:p>
            <a:r>
              <a:rPr lang="en-GB" sz="2000" b="0" i="0" u="none" strike="noStrike" baseline="0" dirty="0">
                <a:solidFill>
                  <a:srgbClr val="FF0000"/>
                </a:solidFill>
                <a:latin typeface="Comic Sans MS" panose="030F0702030302020204" pitchFamily="66" charset="0"/>
              </a:rPr>
              <a:t>Representation of Multiple Digital Signals</a:t>
            </a:r>
            <a:endParaRPr lang="en-GB" sz="20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993923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42E6B6-D77E-443B-827B-1CB45667A873}"/>
              </a:ext>
            </a:extLst>
          </p:cNvPr>
          <p:cNvSpPr>
            <a:spLocks noGrp="1"/>
          </p:cNvSpPr>
          <p:nvPr>
            <p:ph idx="1"/>
          </p:nvPr>
        </p:nvSpPr>
        <p:spPr>
          <a:xfrm>
            <a:off x="107576" y="71718"/>
            <a:ext cx="12003742" cy="6723529"/>
          </a:xfrm>
        </p:spPr>
        <p:txBody>
          <a:bodyPr/>
          <a:lstStyle/>
          <a:p>
            <a:pPr algn="just"/>
            <a:r>
              <a:rPr lang="en-GB" b="1" i="0" u="none" strike="noStrike" baseline="0" dirty="0">
                <a:latin typeface="Comic Sans MS" panose="030F0702030302020204" pitchFamily="66" charset="0"/>
              </a:rPr>
              <a:t>Types of Digital Signals</a:t>
            </a:r>
            <a:endParaRPr lang="en-FI" b="1" i="0" u="none" strike="noStrike" baseline="0" dirty="0">
              <a:latin typeface="Comic Sans MS" panose="030F0702030302020204" pitchFamily="66" charset="0"/>
            </a:endParaRPr>
          </a:p>
          <a:p>
            <a:pPr algn="just"/>
            <a:r>
              <a:rPr lang="en-GB" b="0" i="1" u="none" strike="noStrike" baseline="0" dirty="0">
                <a:latin typeface="Comic Sans MS" panose="030F0702030302020204" pitchFamily="66" charset="0"/>
              </a:rPr>
              <a:t>Edges</a:t>
            </a:r>
          </a:p>
          <a:p>
            <a:pPr algn="just"/>
            <a:r>
              <a:rPr lang="en-GB" b="0" i="0" u="none" strike="noStrike" baseline="0" dirty="0">
                <a:latin typeface="Comic Sans MS" panose="030F0702030302020204" pitchFamily="66" charset="0"/>
              </a:rPr>
              <a:t>A single binary signal can have one of two possible transitions as shown in Figure </a:t>
            </a:r>
            <a:r>
              <a:rPr lang="en-FI" dirty="0">
                <a:latin typeface="Comic Sans MS" panose="030F0702030302020204" pitchFamily="66" charset="0"/>
              </a:rPr>
              <a:t>below</a:t>
            </a:r>
            <a:r>
              <a:rPr lang="en-GB" b="0" i="0" u="none" strike="noStrike" baseline="0" dirty="0">
                <a:latin typeface="Comic Sans MS" panose="030F0702030302020204" pitchFamily="66" charset="0"/>
              </a:rPr>
              <a:t>. The first one, a transition from a </a:t>
            </a:r>
            <a:r>
              <a:rPr lang="en-GB" b="0" i="0" u="none" strike="noStrike" baseline="0" dirty="0">
                <a:solidFill>
                  <a:srgbClr val="FF0000"/>
                </a:solidFill>
                <a:latin typeface="Comic Sans MS" panose="030F0702030302020204" pitchFamily="66" charset="0"/>
              </a:rPr>
              <a:t>logic 0</a:t>
            </a:r>
            <a:r>
              <a:rPr lang="en-GB" b="0" i="0" u="none" strike="noStrike" baseline="0" dirty="0">
                <a:latin typeface="Comic Sans MS" panose="030F0702030302020204" pitchFamily="66" charset="0"/>
              </a:rPr>
              <a:t> to a </a:t>
            </a:r>
            <a:r>
              <a:rPr lang="en-GB" b="0" i="0" u="none" strike="noStrike" baseline="0" dirty="0">
                <a:solidFill>
                  <a:srgbClr val="FF0000"/>
                </a:solidFill>
                <a:latin typeface="Comic Sans MS" panose="030F0702030302020204" pitchFamily="66" charset="0"/>
              </a:rPr>
              <a:t>logic 1</a:t>
            </a:r>
            <a:r>
              <a:rPr lang="en-GB" b="0" i="0" u="none" strike="noStrike" baseline="0" dirty="0">
                <a:latin typeface="Comic Sans MS" panose="030F0702030302020204" pitchFamily="66" charset="0"/>
              </a:rPr>
              <a:t>, is called </a:t>
            </a:r>
            <a:r>
              <a:rPr lang="en-GB" b="0" i="0" u="none" strike="noStrike" baseline="0" dirty="0">
                <a:solidFill>
                  <a:srgbClr val="FF0000"/>
                </a:solidFill>
                <a:latin typeface="Comic Sans MS" panose="030F0702030302020204" pitchFamily="66" charset="0"/>
              </a:rPr>
              <a:t>a rising edge transition</a:t>
            </a:r>
            <a:r>
              <a:rPr lang="en-GB" b="0" i="0" u="none" strike="noStrike" baseline="0" dirty="0">
                <a:latin typeface="Comic Sans MS" panose="030F0702030302020204" pitchFamily="66" charset="0"/>
              </a:rPr>
              <a:t>. The second one, a transition from a logic 1 to a logic 0 is called a </a:t>
            </a:r>
            <a:r>
              <a:rPr lang="en-GB" b="0" i="0" u="none" strike="noStrike" baseline="0" dirty="0">
                <a:solidFill>
                  <a:srgbClr val="FF0000"/>
                </a:solidFill>
                <a:latin typeface="Comic Sans MS" panose="030F0702030302020204" pitchFamily="66" charset="0"/>
              </a:rPr>
              <a:t>falling edge transition</a:t>
            </a:r>
            <a:r>
              <a:rPr lang="en-GB" b="0" i="0" u="none" strike="noStrike" baseline="0" dirty="0">
                <a:latin typeface="Comic Sans MS" panose="030F0702030302020204" pitchFamily="66" charset="0"/>
              </a:rPr>
              <a:t>.</a:t>
            </a:r>
          </a:p>
          <a:p>
            <a:pPr marL="0" indent="0" algn="just">
              <a:buNone/>
            </a:pPr>
            <a:endParaRPr lang="en-GB" b="0" i="0" u="none" strike="noStrike" baseline="0" dirty="0">
              <a:latin typeface="Comic Sans MS" panose="030F0702030302020204" pitchFamily="66" charset="0"/>
            </a:endParaRPr>
          </a:p>
          <a:p>
            <a:pPr algn="just"/>
            <a:r>
              <a:rPr lang="en-GB" b="0" i="1" u="none" strike="noStrike" baseline="0" dirty="0">
                <a:latin typeface="Comic Sans MS" panose="030F0702030302020204" pitchFamily="66" charset="0"/>
              </a:rPr>
              <a:t>Pulses</a:t>
            </a:r>
          </a:p>
          <a:p>
            <a:pPr algn="just"/>
            <a:r>
              <a:rPr lang="en-GB" b="0" i="0" u="none" strike="noStrike" baseline="0" dirty="0">
                <a:latin typeface="Comic Sans MS" panose="030F0702030302020204" pitchFamily="66" charset="0"/>
              </a:rPr>
              <a:t>A binary pulse occurs when a signal changes from one value to the other for a short period, then returns to its original value. Examples of this type of signal might be the power-on or reset buttons on a</a:t>
            </a:r>
            <a:r>
              <a:rPr lang="en-FI" b="1" dirty="0">
                <a:latin typeface="Comic Sans MS" panose="030F0702030302020204" pitchFamily="66" charset="0"/>
              </a:rPr>
              <a:t> </a:t>
            </a:r>
            <a:r>
              <a:rPr lang="en-GB" b="0" i="0" u="none" strike="noStrike" baseline="0" dirty="0">
                <a:latin typeface="Comic Sans MS" panose="030F0702030302020204" pitchFamily="66" charset="0"/>
              </a:rPr>
              <a:t>computer (</a:t>
            </a:r>
            <a:r>
              <a:rPr lang="en-GB" b="0" i="0" u="none" strike="noStrike" baseline="0" dirty="0">
                <a:solidFill>
                  <a:srgbClr val="FF0000"/>
                </a:solidFill>
                <a:latin typeface="Comic Sans MS" panose="030F0702030302020204" pitchFamily="66" charset="0"/>
              </a:rPr>
              <a:t>momentarily pressed, then released</a:t>
            </a:r>
            <a:r>
              <a:rPr lang="en-GB" b="0" i="0" u="none" strike="noStrike" baseline="0" dirty="0">
                <a:latin typeface="Comic Sans MS" panose="030F0702030302020204" pitchFamily="66" charset="0"/>
              </a:rPr>
              <a:t>) or the button used to initialize synchronization between a PDA and a computer</a:t>
            </a:r>
            <a:endParaRPr lang="en-GB" dirty="0">
              <a:latin typeface="Comic Sans MS" panose="030F0702030302020204" pitchFamily="66" charset="0"/>
            </a:endParaRPr>
          </a:p>
        </p:txBody>
      </p:sp>
    </p:spTree>
    <p:extLst>
      <p:ext uri="{BB962C8B-B14F-4D97-AF65-F5344CB8AC3E}">
        <p14:creationId xmlns:p14="http://schemas.microsoft.com/office/powerpoint/2010/main" val="33627931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052B82F-775B-49E1-8191-58449DF15D49}"/>
              </a:ext>
            </a:extLst>
          </p:cNvPr>
          <p:cNvPicPr>
            <a:picLocks noGrp="1" noChangeAspect="1"/>
          </p:cNvPicPr>
          <p:nvPr>
            <p:ph idx="1"/>
          </p:nvPr>
        </p:nvPicPr>
        <p:blipFill>
          <a:blip r:embed="rId2"/>
          <a:stretch>
            <a:fillRect/>
          </a:stretch>
        </p:blipFill>
        <p:spPr>
          <a:xfrm>
            <a:off x="661643" y="1147046"/>
            <a:ext cx="11002205" cy="2856242"/>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16DAE473-6591-4AFC-AF2C-479031887CEA}"/>
              </a:ext>
            </a:extLst>
          </p:cNvPr>
          <p:cNvSpPr txBox="1"/>
          <p:nvPr/>
        </p:nvSpPr>
        <p:spPr>
          <a:xfrm>
            <a:off x="3300705" y="5942567"/>
            <a:ext cx="6097554" cy="584775"/>
          </a:xfrm>
          <a:prstGeom prst="rect">
            <a:avLst/>
          </a:prstGeom>
          <a:noFill/>
        </p:spPr>
        <p:txBody>
          <a:bodyPr wrap="square">
            <a:spAutoFit/>
          </a:bodyPr>
          <a:lstStyle/>
          <a:p>
            <a:r>
              <a:rPr lang="en-GB" sz="3200" b="1" i="0" u="none" strike="noStrike" baseline="0" dirty="0">
                <a:solidFill>
                  <a:srgbClr val="FF0000"/>
                </a:solidFill>
                <a:latin typeface="Comic Sans MS" panose="030F0702030302020204" pitchFamily="66" charset="0"/>
              </a:rPr>
              <a:t>Digital Transition Definitions</a:t>
            </a:r>
            <a:endParaRPr lang="en-GB" sz="3200" b="1"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965267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84DD83-0ED5-4973-A0B6-1A54D5DFF3D0}"/>
              </a:ext>
            </a:extLst>
          </p:cNvPr>
          <p:cNvSpPr>
            <a:spLocks noGrp="1"/>
          </p:cNvSpPr>
          <p:nvPr>
            <p:ph idx="1"/>
          </p:nvPr>
        </p:nvSpPr>
        <p:spPr>
          <a:xfrm>
            <a:off x="169889" y="93306"/>
            <a:ext cx="11906882" cy="6764694"/>
          </a:xfrm>
        </p:spPr>
        <p:txBody>
          <a:bodyPr>
            <a:normAutofit/>
          </a:bodyPr>
          <a:lstStyle/>
          <a:p>
            <a:pPr algn="just"/>
            <a:r>
              <a:rPr lang="en-GB" b="0" i="0" u="none" strike="noStrike" baseline="0" dirty="0">
                <a:latin typeface="Comic Sans MS" panose="030F0702030302020204" pitchFamily="66" charset="0"/>
              </a:rPr>
              <a:t>There are two types of pulses. The first is called a </a:t>
            </a:r>
            <a:r>
              <a:rPr lang="en-GB" b="1" i="1" u="none" strike="noStrike" baseline="0" dirty="0">
                <a:solidFill>
                  <a:srgbClr val="FF0000"/>
                </a:solidFill>
                <a:latin typeface="Comic Sans MS" panose="030F0702030302020204" pitchFamily="66" charset="0"/>
              </a:rPr>
              <a:t>positive-going pulse</a:t>
            </a:r>
            <a:r>
              <a:rPr lang="en-GB" b="0" i="0" u="none" strike="noStrike" baseline="0" dirty="0">
                <a:latin typeface="Comic Sans MS" panose="030F0702030302020204" pitchFamily="66" charset="0"/>
              </a:rPr>
              <a:t>, and it has an idle state of logic 0 with a short pulse to logic 1.</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 other one, </a:t>
            </a:r>
            <a:r>
              <a:rPr lang="en-GB" b="0" i="0" u="none" strike="noStrike" baseline="0" dirty="0">
                <a:solidFill>
                  <a:srgbClr val="FF0000"/>
                </a:solidFill>
                <a:latin typeface="Comic Sans MS" panose="030F0702030302020204" pitchFamily="66" charset="0"/>
              </a:rPr>
              <a:t>a </a:t>
            </a:r>
            <a:r>
              <a:rPr lang="en-GB" b="1" i="1" u="none" strike="noStrike" baseline="0" dirty="0">
                <a:solidFill>
                  <a:srgbClr val="FF0000"/>
                </a:solidFill>
                <a:latin typeface="Comic Sans MS" panose="030F0702030302020204" pitchFamily="66" charset="0"/>
              </a:rPr>
              <a:t>negative-going pulse</a:t>
            </a:r>
            <a:r>
              <a:rPr lang="en-GB" b="0" i="0" u="none" strike="noStrike" baseline="0" dirty="0">
                <a:latin typeface="Comic Sans MS" panose="030F0702030302020204" pitchFamily="66" charset="0"/>
              </a:rPr>
              <a:t>, has an idle state of logic 1 with a short pulse to logic 0. Both of these signals are shown in Figure the figure below </a:t>
            </a:r>
            <a:endParaRPr lang="en-GB" sz="4000" dirty="0">
              <a:latin typeface="Comic Sans MS" panose="030F0702030302020204" pitchFamily="66" charset="0"/>
            </a:endParaRPr>
          </a:p>
        </p:txBody>
      </p:sp>
      <p:pic>
        <p:nvPicPr>
          <p:cNvPr id="5" name="Picture 4">
            <a:extLst>
              <a:ext uri="{FF2B5EF4-FFF2-40B4-BE49-F238E27FC236}">
                <a16:creationId xmlns:a16="http://schemas.microsoft.com/office/drawing/2014/main" id="{74865DC9-C18D-43C1-9E01-8C5D30FD3B96}"/>
              </a:ext>
            </a:extLst>
          </p:cNvPr>
          <p:cNvPicPr>
            <a:picLocks noChangeAspect="1"/>
          </p:cNvPicPr>
          <p:nvPr/>
        </p:nvPicPr>
        <p:blipFill>
          <a:blip r:embed="rId2"/>
          <a:stretch>
            <a:fillRect/>
          </a:stretch>
        </p:blipFill>
        <p:spPr>
          <a:xfrm>
            <a:off x="269868" y="2768912"/>
            <a:ext cx="11183911" cy="2962688"/>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3C6B8282-41CD-4D23-B9DE-C82DF87E4472}"/>
              </a:ext>
            </a:extLst>
          </p:cNvPr>
          <p:cNvSpPr txBox="1"/>
          <p:nvPr/>
        </p:nvSpPr>
        <p:spPr>
          <a:xfrm>
            <a:off x="3399473" y="6176963"/>
            <a:ext cx="6097554" cy="523220"/>
          </a:xfrm>
          <a:prstGeom prst="rect">
            <a:avLst/>
          </a:prstGeom>
          <a:noFill/>
        </p:spPr>
        <p:txBody>
          <a:bodyPr wrap="square">
            <a:spAutoFit/>
          </a:bodyPr>
          <a:lstStyle/>
          <a:p>
            <a:r>
              <a:rPr lang="en-GB" sz="2800" b="0" i="0" u="none" strike="noStrike" baseline="0" dirty="0">
                <a:latin typeface="Comic Sans MS" panose="030F0702030302020204" pitchFamily="66" charset="0"/>
              </a:rPr>
              <a:t>Pulse Waveforms</a:t>
            </a:r>
            <a:endParaRPr lang="en-GB" sz="2800" dirty="0">
              <a:latin typeface="Comic Sans MS" panose="030F0702030302020204" pitchFamily="66" charset="0"/>
            </a:endParaRPr>
          </a:p>
        </p:txBody>
      </p:sp>
    </p:spTree>
    <p:extLst>
      <p:ext uri="{BB962C8B-B14F-4D97-AF65-F5344CB8AC3E}">
        <p14:creationId xmlns:p14="http://schemas.microsoft.com/office/powerpoint/2010/main" val="2106112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CDEBAA-3FF2-4334-89C4-EB61AE4558C7}"/>
              </a:ext>
            </a:extLst>
          </p:cNvPr>
          <p:cNvSpPr>
            <a:spLocks noGrp="1"/>
          </p:cNvSpPr>
          <p:nvPr>
            <p:ph idx="1"/>
          </p:nvPr>
        </p:nvSpPr>
        <p:spPr>
          <a:xfrm>
            <a:off x="93305" y="111966"/>
            <a:ext cx="11999167" cy="6624735"/>
          </a:xfrm>
        </p:spPr>
        <p:txBody>
          <a:bodyPr>
            <a:normAutofit/>
          </a:bodyPr>
          <a:lstStyle/>
          <a:p>
            <a:pPr algn="l"/>
            <a:r>
              <a:rPr lang="en-GB" b="1" u="none" strike="noStrike" baseline="0" dirty="0">
                <a:solidFill>
                  <a:srgbClr val="FF0000"/>
                </a:solidFill>
                <a:latin typeface="Comic Sans MS" panose="030F0702030302020204" pitchFamily="66" charset="0"/>
              </a:rPr>
              <a:t>Non-Periodic Pulse Trains</a:t>
            </a:r>
          </a:p>
          <a:p>
            <a:pPr algn="l"/>
            <a:r>
              <a:rPr lang="en-GB" b="0" i="0" u="none" strike="noStrike" baseline="0" dirty="0">
                <a:latin typeface="Comic Sans MS" panose="030F0702030302020204" pitchFamily="66" charset="0"/>
              </a:rPr>
              <a:t>Some digital signals such as the data wires of an Ethernet link or the data and address lines of a memory interface do not have a characteristic pattern in their changes between logic 1 and logic 0.</a:t>
            </a:r>
          </a:p>
          <a:p>
            <a:pPr algn="l"/>
            <a:endParaRPr lang="en-GB" b="0" i="0" u="none" strike="noStrike" baseline="0" dirty="0">
              <a:latin typeface="Comic Sans MS" panose="030F0702030302020204" pitchFamily="66" charset="0"/>
            </a:endParaRPr>
          </a:p>
          <a:p>
            <a:pPr algn="l"/>
            <a:r>
              <a:rPr lang="en-GB" b="0" i="0" u="none" strike="noStrike" baseline="0" dirty="0">
                <a:latin typeface="Comic Sans MS" panose="030F0702030302020204" pitchFamily="66" charset="0"/>
              </a:rPr>
              <a:t>These are called </a:t>
            </a:r>
            <a:r>
              <a:rPr lang="en-GB" b="1" i="1" u="none" strike="noStrike" baseline="0" dirty="0">
                <a:solidFill>
                  <a:srgbClr val="FF0000"/>
                </a:solidFill>
                <a:latin typeface="Comic Sans MS" panose="030F0702030302020204" pitchFamily="66" charset="0"/>
              </a:rPr>
              <a:t>non-periodic pulse trains</a:t>
            </a:r>
            <a:r>
              <a:rPr lang="en-GB" b="0" i="0" u="none" strike="noStrike" baseline="0" dirty="0">
                <a:solidFill>
                  <a:srgbClr val="FF0000"/>
                </a:solidFill>
                <a:latin typeface="Comic Sans MS" panose="030F0702030302020204" pitchFamily="66" charset="0"/>
              </a:rPr>
              <a:t>.</a:t>
            </a:r>
            <a:endParaRPr lang="en-FI" b="0" i="0" u="none" strike="noStrike" baseline="0" dirty="0">
              <a:solidFill>
                <a:srgbClr val="FF0000"/>
              </a:solidFill>
              <a:latin typeface="Comic Sans MS" panose="030F0702030302020204" pitchFamily="66" charset="0"/>
            </a:endParaRPr>
          </a:p>
          <a:p>
            <a:pPr algn="l"/>
            <a:endParaRPr lang="en-FI" dirty="0">
              <a:latin typeface="Comic Sans MS" panose="030F0702030302020204" pitchFamily="66" charset="0"/>
            </a:endParaRPr>
          </a:p>
          <a:p>
            <a:pPr algn="l"/>
            <a:endParaRPr lang="en-FI" b="0" i="0" u="none" strike="noStrike" baseline="0" dirty="0">
              <a:latin typeface="Comic Sans MS" panose="030F0702030302020204" pitchFamily="66" charset="0"/>
            </a:endParaRPr>
          </a:p>
          <a:p>
            <a:pPr algn="l"/>
            <a:endParaRPr lang="en-FI" dirty="0">
              <a:latin typeface="Comic Sans MS" panose="030F0702030302020204" pitchFamily="66" charset="0"/>
            </a:endParaRPr>
          </a:p>
          <a:p>
            <a:pPr algn="l"/>
            <a:endParaRPr lang="en-GB" b="0" i="0" u="none" strike="noStrike" baseline="0" dirty="0">
              <a:latin typeface="Comic Sans MS" panose="030F0702030302020204" pitchFamily="66" charset="0"/>
            </a:endParaRPr>
          </a:p>
          <a:p>
            <a:pPr algn="l"/>
            <a:endParaRPr lang="en-FI" b="1" i="0" u="none" strike="noStrike" baseline="0" dirty="0">
              <a:latin typeface="Comic Sans MS" panose="030F0702030302020204" pitchFamily="66" charset="0"/>
            </a:endParaRPr>
          </a:p>
          <a:p>
            <a:pPr algn="l"/>
            <a:endParaRPr lang="en-FI" b="1" dirty="0">
              <a:latin typeface="Comic Sans MS" panose="030F0702030302020204" pitchFamily="66" charset="0"/>
            </a:endParaRPr>
          </a:p>
          <a:p>
            <a:pPr algn="l"/>
            <a:r>
              <a:rPr lang="en-GB" b="0" i="0" u="none" strike="noStrike" baseline="0" dirty="0">
                <a:latin typeface="Comic Sans MS" panose="030F0702030302020204" pitchFamily="66" charset="0"/>
              </a:rPr>
              <a:t>Non-Periodic Pulse Train</a:t>
            </a:r>
            <a:endParaRPr lang="en-GB" sz="4000" dirty="0">
              <a:latin typeface="Comic Sans MS" panose="030F0702030302020204" pitchFamily="66" charset="0"/>
            </a:endParaRPr>
          </a:p>
        </p:txBody>
      </p:sp>
      <p:pic>
        <p:nvPicPr>
          <p:cNvPr id="5" name="Picture 4">
            <a:extLst>
              <a:ext uri="{FF2B5EF4-FFF2-40B4-BE49-F238E27FC236}">
                <a16:creationId xmlns:a16="http://schemas.microsoft.com/office/drawing/2014/main" id="{DC6539F5-1D66-4733-91D6-9F27B3B4F95D}"/>
              </a:ext>
            </a:extLst>
          </p:cNvPr>
          <p:cNvPicPr>
            <a:picLocks noChangeAspect="1"/>
          </p:cNvPicPr>
          <p:nvPr/>
        </p:nvPicPr>
        <p:blipFill>
          <a:blip r:embed="rId2"/>
          <a:stretch>
            <a:fillRect/>
          </a:stretch>
        </p:blipFill>
        <p:spPr>
          <a:xfrm>
            <a:off x="574783" y="3136430"/>
            <a:ext cx="9869277" cy="1667108"/>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3055561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13B95F-8952-4A8F-A958-E3750A1910CE}"/>
              </a:ext>
            </a:extLst>
          </p:cNvPr>
          <p:cNvSpPr>
            <a:spLocks noGrp="1"/>
          </p:cNvSpPr>
          <p:nvPr>
            <p:ph idx="1"/>
          </p:nvPr>
        </p:nvSpPr>
        <p:spPr>
          <a:xfrm>
            <a:off x="84841" y="0"/>
            <a:ext cx="11953188" cy="6683604"/>
          </a:xfrm>
        </p:spPr>
        <p:txBody>
          <a:bodyPr>
            <a:normAutofit fontScale="92500" lnSpcReduction="10000"/>
          </a:bodyPr>
          <a:lstStyle/>
          <a:p>
            <a:pPr marL="0" indent="0" algn="just">
              <a:buNone/>
            </a:pPr>
            <a:r>
              <a:rPr lang="en-GB" b="1" u="none" strike="noStrike" baseline="0" dirty="0">
                <a:solidFill>
                  <a:srgbClr val="FF0000"/>
                </a:solidFill>
                <a:latin typeface="Comic Sans MS" panose="030F0702030302020204" pitchFamily="66" charset="0"/>
              </a:rPr>
              <a:t>Periodic Pulse Trains</a:t>
            </a:r>
          </a:p>
          <a:p>
            <a:pPr algn="just"/>
            <a:r>
              <a:rPr lang="en-GB" b="0" i="0" u="none" strike="noStrike" baseline="0" dirty="0">
                <a:latin typeface="Comic Sans MS" panose="030F0702030302020204" pitchFamily="66" charset="0"/>
              </a:rPr>
              <a:t>Some signals act as the heartbeat to a digital system. For example, a signal might tell a system, "Every 1/100th of a second, you need to ____."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The output from a car's processor to control the engine's spark plug is such a signal. These signals are referred to as </a:t>
            </a:r>
            <a:r>
              <a:rPr lang="en-GB" b="1" i="1" u="none" strike="noStrike" baseline="0" dirty="0">
                <a:solidFill>
                  <a:srgbClr val="FF0000"/>
                </a:solidFill>
                <a:latin typeface="Comic Sans MS" panose="030F0702030302020204" pitchFamily="66" charset="0"/>
              </a:rPr>
              <a:t>periodic pulse trains</a:t>
            </a:r>
            <a:r>
              <a:rPr lang="en-GB" b="0" i="0" u="none" strike="noStrike" baseline="0" dirty="0">
                <a:latin typeface="Comic Sans MS" panose="030F0702030302020204" pitchFamily="66" charset="0"/>
              </a:rPr>
              <a:t>. Like the drum beat to a song, a periodic pulse train is meant to synchronize events or keep processes moving.</a:t>
            </a:r>
          </a:p>
          <a:p>
            <a:pPr marL="0" indent="0" algn="just">
              <a:buNone/>
            </a:pPr>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 defining characteristic of this type of waveform is that all measurements between any two subsequent, identical </a:t>
            </a:r>
            <a:r>
              <a:rPr lang="en-GB" b="0" i="0" u="none" strike="noStrike" baseline="0" dirty="0">
                <a:solidFill>
                  <a:srgbClr val="FF0000"/>
                </a:solidFill>
                <a:latin typeface="Comic Sans MS" panose="030F0702030302020204" pitchFamily="66" charset="0"/>
              </a:rPr>
              <a:t>parts of the waveform produce the same value</a:t>
            </a:r>
            <a:r>
              <a:rPr lang="en-GB" b="0" i="0" u="none" strike="noStrike" baseline="0" dirty="0">
                <a:latin typeface="Comic Sans MS" panose="030F0702030302020204" pitchFamily="66" charset="0"/>
              </a:rPr>
              <a:t>. </a:t>
            </a:r>
          </a:p>
          <a:p>
            <a:pPr algn="just"/>
            <a:r>
              <a:rPr lang="en-GB" b="0" i="0" u="none" strike="noStrike" baseline="0" dirty="0">
                <a:latin typeface="Comic Sans MS" panose="030F0702030302020204" pitchFamily="66" charset="0"/>
              </a:rPr>
              <a:t>This value is referred to as the </a:t>
            </a:r>
            <a:r>
              <a:rPr lang="en-GB" b="1" i="1" u="none" strike="noStrike" baseline="0" dirty="0">
                <a:solidFill>
                  <a:srgbClr val="FF0000"/>
                </a:solidFill>
                <a:latin typeface="Comic Sans MS" panose="030F0702030302020204" pitchFamily="66" charset="0"/>
              </a:rPr>
              <a:t>period, T</a:t>
            </a:r>
            <a:r>
              <a:rPr lang="en-GB" b="1" i="1" u="none" strike="noStrike" baseline="0" dirty="0">
                <a:latin typeface="Comic Sans MS" panose="030F0702030302020204" pitchFamily="66" charset="0"/>
              </a:rPr>
              <a:t>, </a:t>
            </a:r>
            <a:r>
              <a:rPr lang="en-GB" b="0" i="0" u="none" strike="noStrike" baseline="0" dirty="0">
                <a:latin typeface="Comic Sans MS" panose="030F0702030302020204" pitchFamily="66" charset="0"/>
              </a:rPr>
              <a:t>and it has units of </a:t>
            </a:r>
            <a:r>
              <a:rPr lang="en-GB" b="0" i="0" u="none" strike="noStrike" baseline="0" dirty="0">
                <a:solidFill>
                  <a:srgbClr val="FF0000"/>
                </a:solidFill>
                <a:latin typeface="Comic Sans MS" panose="030F0702030302020204" pitchFamily="66" charset="0"/>
              </a:rPr>
              <a:t>seconds/cycle </a:t>
            </a:r>
            <a:r>
              <a:rPr lang="en-GB" b="0" i="0" u="none" strike="noStrike" baseline="0" dirty="0">
                <a:latin typeface="Comic Sans MS" panose="030F0702030302020204" pitchFamily="66" charset="0"/>
              </a:rPr>
              <a:t>(read seconds per cycle).</a:t>
            </a:r>
          </a:p>
          <a:p>
            <a:pPr algn="just"/>
            <a:endParaRPr lang="en-GB" b="0" i="0" u="none" strike="noStrike" baseline="0" dirty="0">
              <a:latin typeface="Comic Sans MS" panose="030F0702030302020204" pitchFamily="66" charset="0"/>
            </a:endParaRPr>
          </a:p>
          <a:p>
            <a:pPr algn="just"/>
            <a:r>
              <a:rPr lang="en-GB" b="0" i="0" u="none" strike="noStrike" baseline="0" dirty="0">
                <a:solidFill>
                  <a:srgbClr val="FF0000"/>
                </a:solidFill>
                <a:latin typeface="Comic Sans MS" panose="030F0702030302020204" pitchFamily="66" charset="0"/>
              </a:rPr>
              <a:t>The figure below  </a:t>
            </a:r>
            <a:r>
              <a:rPr lang="en-GB" b="0" i="0" u="none" strike="noStrike" baseline="0" dirty="0">
                <a:latin typeface="Comic Sans MS" panose="030F0702030302020204" pitchFamily="66" charset="0"/>
              </a:rPr>
              <a:t>identifies the measurement of a period in a typical periodic Pulse Train</a:t>
            </a:r>
            <a:endParaRPr lang="en-GB" sz="4000" dirty="0">
              <a:latin typeface="Comic Sans MS" panose="030F0702030302020204" pitchFamily="66" charset="0"/>
            </a:endParaRPr>
          </a:p>
        </p:txBody>
      </p:sp>
    </p:spTree>
    <p:extLst>
      <p:ext uri="{BB962C8B-B14F-4D97-AF65-F5344CB8AC3E}">
        <p14:creationId xmlns:p14="http://schemas.microsoft.com/office/powerpoint/2010/main" val="4566133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DE8569D-E84B-48F4-A17C-0A0BF81487C2}"/>
              </a:ext>
            </a:extLst>
          </p:cNvPr>
          <p:cNvPicPr>
            <a:picLocks noGrp="1" noChangeAspect="1"/>
          </p:cNvPicPr>
          <p:nvPr>
            <p:ph idx="1"/>
          </p:nvPr>
        </p:nvPicPr>
        <p:blipFill>
          <a:blip r:embed="rId2"/>
          <a:stretch>
            <a:fillRect/>
          </a:stretch>
        </p:blipFill>
        <p:spPr>
          <a:xfrm>
            <a:off x="324567" y="414779"/>
            <a:ext cx="11385330" cy="448715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A748DEB8-5C95-4BDC-B2EF-1270BAFC1AA7}"/>
              </a:ext>
            </a:extLst>
          </p:cNvPr>
          <p:cNvSpPr txBox="1"/>
          <p:nvPr/>
        </p:nvSpPr>
        <p:spPr>
          <a:xfrm>
            <a:off x="3524639" y="5819583"/>
            <a:ext cx="6097554" cy="523220"/>
          </a:xfrm>
          <a:prstGeom prst="rect">
            <a:avLst/>
          </a:prstGeom>
          <a:noFill/>
        </p:spPr>
        <p:txBody>
          <a:bodyPr wrap="square">
            <a:spAutoFit/>
          </a:bodyPr>
          <a:lstStyle/>
          <a:p>
            <a:r>
              <a:rPr lang="en-GB" sz="2800" b="0" i="0" u="none" strike="noStrike" baseline="0" dirty="0">
                <a:solidFill>
                  <a:srgbClr val="FF0000"/>
                </a:solidFill>
                <a:latin typeface="Comic Sans MS" panose="030F0702030302020204" pitchFamily="66" charset="0"/>
              </a:rPr>
              <a:t>Periodic Pulse Train</a:t>
            </a:r>
            <a:endParaRPr lang="en-GB" sz="2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590433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5F720E-694C-42EC-8551-BF4FA654D9C6}"/>
              </a:ext>
            </a:extLst>
          </p:cNvPr>
          <p:cNvSpPr>
            <a:spLocks noGrp="1"/>
          </p:cNvSpPr>
          <p:nvPr>
            <p:ph idx="1"/>
          </p:nvPr>
        </p:nvSpPr>
        <p:spPr>
          <a:xfrm>
            <a:off x="207390" y="242596"/>
            <a:ext cx="11984610" cy="6535276"/>
          </a:xfrm>
        </p:spPr>
        <p:txBody>
          <a:bodyPr/>
          <a:lstStyle/>
          <a:p>
            <a:pPr algn="just"/>
            <a:r>
              <a:rPr lang="en-GB" sz="2400" b="0" i="0" u="none" strike="noStrike" baseline="0" dirty="0">
                <a:latin typeface="Comic Sans MS" panose="030F0702030302020204" pitchFamily="66" charset="0"/>
              </a:rPr>
              <a:t>The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measurement of the period does not fully describe a periodic pulse train, however; a second measurement, the width of the pulse, </a:t>
            </a:r>
            <a:r>
              <a:rPr lang="en-GB" sz="2400" b="0" i="0" u="none" strike="noStrike" baseline="0" dirty="0" err="1">
                <a:latin typeface="Comic Sans MS" panose="030F0702030302020204" pitchFamily="66" charset="0"/>
              </a:rPr>
              <a:t>t</a:t>
            </a:r>
            <a:r>
              <a:rPr lang="en-GB" sz="2400" b="0" i="0" u="none" strike="noStrike" baseline="-25000" dirty="0" err="1">
                <a:latin typeface="Comic Sans MS" panose="030F0702030302020204" pitchFamily="66" charset="0"/>
              </a:rPr>
              <a:t>w</a:t>
            </a:r>
            <a:r>
              <a:rPr lang="en-GB" sz="2400" b="0" i="0" u="none" strike="noStrike" baseline="0" dirty="0">
                <a:latin typeface="Comic Sans MS" panose="030F0702030302020204" pitchFamily="66" charset="0"/>
              </a:rPr>
              <a:t>, is needed. </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For example, the two signals in the Figure below have the same period. Their pulse widths, however, are not the same.</a:t>
            </a:r>
          </a:p>
          <a:p>
            <a:pPr marL="0" indent="0" algn="just">
              <a:buNone/>
            </a:pPr>
            <a:r>
              <a:rPr lang="en-GB" sz="2400" b="0" i="0" u="none" strike="noStrike" baseline="0" dirty="0">
                <a:latin typeface="Comic Sans MS" panose="030F0702030302020204" pitchFamily="66" charset="0"/>
              </a:rPr>
              <a:t> </a:t>
            </a:r>
          </a:p>
          <a:p>
            <a:pPr algn="just"/>
            <a:r>
              <a:rPr lang="en-GB" sz="2400" b="0" i="0" u="none" strike="noStrike" baseline="0" dirty="0">
                <a:latin typeface="Comic Sans MS" panose="030F0702030302020204" pitchFamily="66" charset="0"/>
              </a:rPr>
              <a:t>In signal a, </a:t>
            </a:r>
            <a:r>
              <a:rPr lang="en-GB" sz="2400" b="0" i="0" u="none" strike="noStrike" baseline="0" dirty="0" err="1">
                <a:latin typeface="Comic Sans MS" panose="030F0702030302020204" pitchFamily="66" charset="0"/>
              </a:rPr>
              <a:t>t</a:t>
            </a:r>
            <a:r>
              <a:rPr lang="en-GB" sz="2400" b="0" i="0" u="none" strike="noStrike" baseline="-25000" dirty="0" err="1">
                <a:latin typeface="Comic Sans MS" panose="030F0702030302020204" pitchFamily="66" charset="0"/>
              </a:rPr>
              <a:t>w</a:t>
            </a:r>
            <a:r>
              <a:rPr lang="en-GB" sz="2400" b="0" i="0" u="none" strike="noStrike" baseline="0" dirty="0">
                <a:latin typeface="Comic Sans MS" panose="030F0702030302020204" pitchFamily="66" charset="0"/>
              </a:rPr>
              <a:t> is about one-fourth of the signal's period while </a:t>
            </a:r>
            <a:r>
              <a:rPr lang="en-GB" sz="2400" b="0" i="0" u="none" strike="noStrike" baseline="0" dirty="0" err="1">
                <a:latin typeface="Comic Sans MS" panose="030F0702030302020204" pitchFamily="66" charset="0"/>
              </a:rPr>
              <a:t>t</a:t>
            </a:r>
            <a:r>
              <a:rPr lang="en-GB" sz="2400" b="0" i="0" u="none" strike="noStrike" baseline="-25000" dirty="0" err="1">
                <a:latin typeface="Comic Sans MS" panose="030F0702030302020204" pitchFamily="66" charset="0"/>
              </a:rPr>
              <a:t>w</a:t>
            </a:r>
            <a:r>
              <a:rPr lang="en-GB" sz="2400" b="0" i="0" u="none" strike="noStrike" baseline="-25000" dirty="0">
                <a:latin typeface="Comic Sans MS" panose="030F0702030302020204" pitchFamily="66" charset="0"/>
              </a:rPr>
              <a:t> </a:t>
            </a:r>
            <a:r>
              <a:rPr lang="en-GB" sz="2400" b="0" i="0" u="none" strike="noStrike" baseline="0" dirty="0">
                <a:latin typeface="Comic Sans MS" panose="030F0702030302020204" pitchFamily="66" charset="0"/>
              </a:rPr>
              <a:t>of signal b is about one half</a:t>
            </a:r>
            <a:r>
              <a:rPr lang="en-GB" sz="2400" dirty="0">
                <a:latin typeface="Comic Sans MS" panose="030F0702030302020204" pitchFamily="66" charset="0"/>
              </a:rPr>
              <a:t> </a:t>
            </a:r>
            <a:r>
              <a:rPr lang="en-GB" sz="2400" b="0" i="0" u="none" strike="noStrike" baseline="0" dirty="0">
                <a:latin typeface="Comic Sans MS" panose="030F0702030302020204" pitchFamily="66" charset="0"/>
              </a:rPr>
              <a:t>of the signal's period.</a:t>
            </a:r>
            <a:endParaRPr lang="en-FI" sz="2400" b="0" i="0" u="none" strike="noStrike" baseline="0" dirty="0">
              <a:latin typeface="Comic Sans MS" panose="030F0702030302020204" pitchFamily="66" charset="0"/>
            </a:endParaRPr>
          </a:p>
          <a:p>
            <a:pPr algn="l"/>
            <a:endParaRPr lang="en-GB" dirty="0"/>
          </a:p>
        </p:txBody>
      </p:sp>
      <p:pic>
        <p:nvPicPr>
          <p:cNvPr id="5" name="Picture 4">
            <a:extLst>
              <a:ext uri="{FF2B5EF4-FFF2-40B4-BE49-F238E27FC236}">
                <a16:creationId xmlns:a16="http://schemas.microsoft.com/office/drawing/2014/main" id="{0047A07D-DE9F-4864-8A96-41BD20554DB3}"/>
              </a:ext>
            </a:extLst>
          </p:cNvPr>
          <p:cNvPicPr>
            <a:picLocks noChangeAspect="1"/>
          </p:cNvPicPr>
          <p:nvPr/>
        </p:nvPicPr>
        <p:blipFill>
          <a:blip r:embed="rId2"/>
          <a:stretch>
            <a:fillRect/>
          </a:stretch>
        </p:blipFill>
        <p:spPr>
          <a:xfrm>
            <a:off x="972398" y="3429000"/>
            <a:ext cx="9288171" cy="2924583"/>
          </a:xfrm>
          <a:prstGeom prst="rect">
            <a:avLst/>
          </a:prstGeom>
        </p:spPr>
      </p:pic>
      <p:sp>
        <p:nvSpPr>
          <p:cNvPr id="7" name="TextBox 6">
            <a:extLst>
              <a:ext uri="{FF2B5EF4-FFF2-40B4-BE49-F238E27FC236}">
                <a16:creationId xmlns:a16="http://schemas.microsoft.com/office/drawing/2014/main" id="{B85396EF-7F1C-45B6-AF93-699552BFA33B}"/>
              </a:ext>
            </a:extLst>
          </p:cNvPr>
          <p:cNvSpPr txBox="1"/>
          <p:nvPr/>
        </p:nvSpPr>
        <p:spPr>
          <a:xfrm>
            <a:off x="3150918" y="6142531"/>
            <a:ext cx="6097554" cy="400110"/>
          </a:xfrm>
          <a:prstGeom prst="rect">
            <a:avLst/>
          </a:prstGeom>
          <a:noFill/>
        </p:spPr>
        <p:txBody>
          <a:bodyPr wrap="square">
            <a:spAutoFit/>
          </a:bodyPr>
          <a:lstStyle/>
          <a:p>
            <a:r>
              <a:rPr lang="en-GB" sz="2000" b="0" i="0" u="none" strike="noStrike" baseline="0" dirty="0">
                <a:solidFill>
                  <a:srgbClr val="FF0000"/>
                </a:solidFill>
                <a:latin typeface="Comic Sans MS" panose="030F0702030302020204" pitchFamily="66" charset="0"/>
              </a:rPr>
              <a:t>Periodic Pulse Train with Different Pulse Widths</a:t>
            </a:r>
            <a:endParaRPr lang="en-GB" sz="20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792445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85D43A-EF55-4442-A435-D8D25B3DFA6A}"/>
              </a:ext>
            </a:extLst>
          </p:cNvPr>
          <p:cNvSpPr>
            <a:spLocks noGrp="1"/>
          </p:cNvSpPr>
          <p:nvPr>
            <p:ph idx="1"/>
          </p:nvPr>
        </p:nvSpPr>
        <p:spPr>
          <a:xfrm>
            <a:off x="251927" y="139959"/>
            <a:ext cx="11840546" cy="6615404"/>
          </a:xfrm>
        </p:spPr>
        <p:txBody>
          <a:bodyPr/>
          <a:lstStyle/>
          <a:p>
            <a:pPr algn="just"/>
            <a:r>
              <a:rPr lang="en-GB" b="0" i="0" u="none" strike="noStrike" baseline="0" dirty="0">
                <a:latin typeface="Comic Sans MS" panose="030F0702030302020204" pitchFamily="66" charset="0"/>
              </a:rPr>
              <a:t>The units of </a:t>
            </a:r>
            <a:r>
              <a:rPr lang="en-GB" b="0" i="0" u="none" strike="noStrike" baseline="0" dirty="0" err="1">
                <a:latin typeface="Comic Sans MS" panose="030F0702030302020204" pitchFamily="66" charset="0"/>
              </a:rPr>
              <a:t>t</a:t>
            </a:r>
            <a:r>
              <a:rPr lang="en-GB" b="0" i="0" u="none" strike="noStrike" baseline="-25000" dirty="0" err="1">
                <a:latin typeface="Comic Sans MS" panose="030F0702030302020204" pitchFamily="66" charset="0"/>
              </a:rPr>
              <a:t>w</a:t>
            </a:r>
            <a:r>
              <a:rPr lang="en-GB" b="0" i="0" u="none" strike="noStrike" baseline="0" dirty="0">
                <a:latin typeface="Comic Sans MS" panose="030F0702030302020204" pitchFamily="66" charset="0"/>
              </a:rPr>
              <a:t> is seconds. Its value will always be greater than zero and less than the period. A </a:t>
            </a:r>
            <a:r>
              <a:rPr lang="en-GB" b="0" i="0" u="none" strike="noStrike" baseline="0" dirty="0" err="1">
                <a:latin typeface="Comic Sans MS" panose="030F0702030302020204" pitchFamily="66" charset="0"/>
              </a:rPr>
              <a:t>t</a:t>
            </a:r>
            <a:r>
              <a:rPr lang="en-GB" b="0" i="0" u="none" strike="noStrike" baseline="-25000" dirty="0" err="1">
                <a:latin typeface="Comic Sans MS" panose="030F0702030302020204" pitchFamily="66" charset="0"/>
              </a:rPr>
              <a:t>w</a:t>
            </a:r>
            <a:r>
              <a:rPr lang="en-GB" b="0" i="0" u="none" strike="noStrike" baseline="0" dirty="0">
                <a:latin typeface="Comic Sans MS" panose="030F0702030302020204" pitchFamily="66" charset="0"/>
              </a:rPr>
              <a:t> of zero implies the signal has no pulses, and if </a:t>
            </a:r>
            <a:r>
              <a:rPr lang="en-GB" b="0" i="0" u="none" strike="noStrike" baseline="0" dirty="0" err="1">
                <a:latin typeface="Comic Sans MS" panose="030F0702030302020204" pitchFamily="66" charset="0"/>
              </a:rPr>
              <a:t>t</a:t>
            </a:r>
            <a:r>
              <a:rPr lang="en-GB" b="0" i="0" u="none" strike="noStrike" baseline="-25000" dirty="0" err="1">
                <a:latin typeface="Comic Sans MS" panose="030F0702030302020204" pitchFamily="66" charset="0"/>
              </a:rPr>
              <a:t>w</a:t>
            </a:r>
            <a:r>
              <a:rPr lang="en-GB" b="0" i="0" u="none" strike="noStrike" baseline="0" dirty="0">
                <a:latin typeface="Comic Sans MS" panose="030F0702030302020204" pitchFamily="66" charset="0"/>
              </a:rPr>
              <a:t> equalled the period, then the signal would never go low.</a:t>
            </a:r>
          </a:p>
          <a:p>
            <a:pPr algn="just"/>
            <a:endParaRPr lang="en-GB" dirty="0">
              <a:latin typeface="Comic Sans MS" panose="030F0702030302020204" pitchFamily="66" charset="0"/>
            </a:endParaRPr>
          </a:p>
          <a:p>
            <a:pPr algn="just"/>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It is also common to represent the rate of the pulses in a periodic pulse train with the inverse measurement of the period. This measurement, called the</a:t>
            </a:r>
            <a:r>
              <a:rPr lang="en-GB" b="0" i="0" u="none" strike="noStrike" baseline="0" dirty="0">
                <a:solidFill>
                  <a:srgbClr val="FF0000"/>
                </a:solidFill>
                <a:latin typeface="Comic Sans MS" panose="030F0702030302020204" pitchFamily="66" charset="0"/>
              </a:rPr>
              <a:t> </a:t>
            </a:r>
            <a:r>
              <a:rPr lang="en-GB" b="1" i="1" u="none" strike="noStrike" baseline="0" dirty="0">
                <a:solidFill>
                  <a:srgbClr val="FF0000"/>
                </a:solidFill>
                <a:latin typeface="Comic Sans MS" panose="030F0702030302020204" pitchFamily="66" charset="0"/>
              </a:rPr>
              <a:t>frequency </a:t>
            </a:r>
            <a:r>
              <a:rPr lang="en-GB" b="0" i="0" u="none" strike="noStrike" baseline="0" dirty="0">
                <a:latin typeface="Comic Sans MS" panose="030F0702030302020204" pitchFamily="66" charset="0"/>
              </a:rPr>
              <a:t>of the periodic pulse train has units of cycles/second, otherwise known as </a:t>
            </a:r>
            <a:r>
              <a:rPr lang="en-GB" b="1" i="1" u="none" strike="noStrike" baseline="0" dirty="0">
                <a:solidFill>
                  <a:srgbClr val="FF0000"/>
                </a:solidFill>
                <a:latin typeface="Comic Sans MS" panose="030F0702030302020204" pitchFamily="66" charset="0"/>
              </a:rPr>
              <a:t>Hertz </a:t>
            </a:r>
            <a:r>
              <a:rPr lang="en-GB" b="0" i="0" u="none" strike="noStrike" baseline="0" dirty="0">
                <a:solidFill>
                  <a:srgbClr val="FF0000"/>
                </a:solidFill>
                <a:latin typeface="Comic Sans MS" panose="030F0702030302020204" pitchFamily="66" charset="0"/>
              </a:rPr>
              <a:t>(Hz).</a:t>
            </a:r>
          </a:p>
          <a:p>
            <a:pPr algn="just"/>
            <a:endParaRPr lang="en-GB" b="0" i="0" u="none" strike="noStrike" baseline="0" dirty="0">
              <a:solidFill>
                <a:srgbClr val="FF0000"/>
              </a:solidFill>
              <a:latin typeface="Comic Sans MS" panose="030F0702030302020204" pitchFamily="66" charset="0"/>
            </a:endParaRPr>
          </a:p>
          <a:p>
            <a:pPr algn="just"/>
            <a:r>
              <a:rPr lang="en-GB" b="0" i="0" u="none" strike="noStrike" baseline="0" dirty="0">
                <a:latin typeface="Comic Sans MS" panose="030F0702030302020204" pitchFamily="66" charset="0"/>
              </a:rPr>
              <a:t>To determine the frequency of a periodic pulse train from the period, invert the measurement for the period.</a:t>
            </a:r>
            <a:endParaRPr lang="en-FI" b="0" i="0" u="none" strike="noStrike" baseline="0" dirty="0">
              <a:latin typeface="Comic Sans MS" panose="030F0702030302020204" pitchFamily="66" charset="0"/>
            </a:endParaRPr>
          </a:p>
          <a:p>
            <a:pPr algn="l"/>
            <a:endParaRPr lang="en-FI" sz="1800" dirty="0">
              <a:latin typeface="TimesNewRomanPSMT"/>
            </a:endParaRPr>
          </a:p>
          <a:p>
            <a:pPr algn="l"/>
            <a:endParaRPr lang="en-GB" dirty="0"/>
          </a:p>
        </p:txBody>
      </p:sp>
      <p:pic>
        <p:nvPicPr>
          <p:cNvPr id="5" name="Picture 4">
            <a:extLst>
              <a:ext uri="{FF2B5EF4-FFF2-40B4-BE49-F238E27FC236}">
                <a16:creationId xmlns:a16="http://schemas.microsoft.com/office/drawing/2014/main" id="{C9BFF19C-CB60-4A48-8A18-E2F86CB88553}"/>
              </a:ext>
            </a:extLst>
          </p:cNvPr>
          <p:cNvPicPr>
            <a:picLocks noChangeAspect="1"/>
          </p:cNvPicPr>
          <p:nvPr/>
        </p:nvPicPr>
        <p:blipFill>
          <a:blip r:embed="rId2"/>
          <a:stretch>
            <a:fillRect/>
          </a:stretch>
        </p:blipFill>
        <p:spPr>
          <a:xfrm>
            <a:off x="3684395" y="5635868"/>
            <a:ext cx="3326005" cy="765989"/>
          </a:xfrm>
          <a:prstGeom prst="rect">
            <a:avLst/>
          </a:prstGeom>
        </p:spPr>
      </p:pic>
    </p:spTree>
    <p:extLst>
      <p:ext uri="{BB962C8B-B14F-4D97-AF65-F5344CB8AC3E}">
        <p14:creationId xmlns:p14="http://schemas.microsoft.com/office/powerpoint/2010/main" val="4124640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C03794-713C-4EB0-AE73-B96B1C260D79}"/>
              </a:ext>
            </a:extLst>
          </p:cNvPr>
          <p:cNvSpPr>
            <a:spLocks noGrp="1"/>
          </p:cNvSpPr>
          <p:nvPr>
            <p:ph idx="1"/>
          </p:nvPr>
        </p:nvSpPr>
        <p:spPr>
          <a:xfrm>
            <a:off x="131975" y="103694"/>
            <a:ext cx="11943761" cy="6627043"/>
          </a:xfrm>
        </p:spPr>
        <p:txBody>
          <a:bodyPr/>
          <a:lstStyle/>
          <a:p>
            <a:pPr algn="just"/>
            <a:r>
              <a:rPr lang="en-GB" b="0" i="1" u="none" strike="noStrike" baseline="0" dirty="0">
                <a:solidFill>
                  <a:srgbClr val="FF0000"/>
                </a:solidFill>
                <a:latin typeface="Comic Sans MS" panose="030F0702030302020204" pitchFamily="66" charset="0"/>
              </a:rPr>
              <a:t>Example</a:t>
            </a:r>
          </a:p>
          <a:p>
            <a:pPr algn="just"/>
            <a:r>
              <a:rPr lang="en-GB" sz="2400" b="0" i="0" u="none" strike="noStrike" baseline="0" dirty="0">
                <a:latin typeface="Comic Sans MS" panose="030F0702030302020204" pitchFamily="66" charset="0"/>
              </a:rPr>
              <a:t>If it takes 0.1 seconds for a periodic pulse train to make a complete cycle or period, what is that waveform's frequency?</a:t>
            </a:r>
          </a:p>
          <a:p>
            <a:pPr algn="just"/>
            <a:r>
              <a:rPr lang="en-GB" sz="2400" b="0" i="1" u="none" strike="noStrike" baseline="0" dirty="0">
                <a:latin typeface="Comic Sans MS" panose="030F0702030302020204" pitchFamily="66" charset="0"/>
              </a:rPr>
              <a:t>Solution</a:t>
            </a:r>
            <a:endParaRPr lang="en-FI" sz="2400" b="0" i="1" u="none" strike="noStrike" baseline="0" dirty="0">
              <a:latin typeface="Comic Sans MS" panose="030F0702030302020204" pitchFamily="66" charset="0"/>
            </a:endParaRPr>
          </a:p>
        </p:txBody>
      </p:sp>
      <p:pic>
        <p:nvPicPr>
          <p:cNvPr id="5" name="Picture 4">
            <a:extLst>
              <a:ext uri="{FF2B5EF4-FFF2-40B4-BE49-F238E27FC236}">
                <a16:creationId xmlns:a16="http://schemas.microsoft.com/office/drawing/2014/main" id="{7D32199F-989C-48AD-8393-01E3D00CC4CE}"/>
              </a:ext>
            </a:extLst>
          </p:cNvPr>
          <p:cNvPicPr>
            <a:picLocks noChangeAspect="1"/>
          </p:cNvPicPr>
          <p:nvPr/>
        </p:nvPicPr>
        <p:blipFill>
          <a:blip r:embed="rId2"/>
          <a:stretch>
            <a:fillRect/>
          </a:stretch>
        </p:blipFill>
        <p:spPr>
          <a:xfrm>
            <a:off x="2041077" y="2104840"/>
            <a:ext cx="5632341" cy="3182502"/>
          </a:xfrm>
          <a:prstGeom prst="rect">
            <a:avLst/>
          </a:prstGeom>
        </p:spPr>
      </p:pic>
    </p:spTree>
    <p:extLst>
      <p:ext uri="{BB962C8B-B14F-4D97-AF65-F5344CB8AC3E}">
        <p14:creationId xmlns:p14="http://schemas.microsoft.com/office/powerpoint/2010/main" val="7924234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99DD19-E7F4-4F82-8A30-182060F6D3D1}"/>
              </a:ext>
            </a:extLst>
          </p:cNvPr>
          <p:cNvSpPr>
            <a:spLocks noGrp="1"/>
          </p:cNvSpPr>
          <p:nvPr>
            <p:ph idx="1"/>
          </p:nvPr>
        </p:nvSpPr>
        <p:spPr>
          <a:xfrm>
            <a:off x="233264" y="177282"/>
            <a:ext cx="11958735" cy="6559420"/>
          </a:xfrm>
        </p:spPr>
        <p:txBody>
          <a:bodyPr>
            <a:normAutofit lnSpcReduction="10000"/>
          </a:bodyPr>
          <a:lstStyle/>
          <a:p>
            <a:pPr algn="l"/>
            <a:r>
              <a:rPr lang="en-GB" sz="2400" b="0" i="1" u="none" strike="noStrike" baseline="0" dirty="0">
                <a:solidFill>
                  <a:srgbClr val="FF0000"/>
                </a:solidFill>
                <a:latin typeface="Comic Sans MS" panose="030F0702030302020204" pitchFamily="66" charset="0"/>
              </a:rPr>
              <a:t>Example</a:t>
            </a:r>
          </a:p>
          <a:p>
            <a:pPr algn="l"/>
            <a:r>
              <a:rPr lang="en-GB" sz="2400" b="0" i="0" u="none" strike="noStrike" baseline="0" dirty="0">
                <a:latin typeface="Comic Sans MS" panose="030F0702030302020204" pitchFamily="66" charset="0"/>
              </a:rPr>
              <a:t>If a computer’s system clock is 2 Gigahertz (2,000,000,000 Hz), what is the duration of its system clock’s period?</a:t>
            </a:r>
          </a:p>
          <a:p>
            <a:pPr algn="l"/>
            <a:endParaRPr lang="en-GB" sz="2400" b="0" i="1" u="none" strike="noStrike" baseline="0" dirty="0">
              <a:latin typeface="Comic Sans MS" panose="030F0702030302020204" pitchFamily="66" charset="0"/>
            </a:endParaRPr>
          </a:p>
          <a:p>
            <a:pPr algn="l"/>
            <a:r>
              <a:rPr lang="en-GB" sz="2400" b="0" i="1" u="none" strike="noStrike" baseline="0" dirty="0">
                <a:latin typeface="Comic Sans MS" panose="030F0702030302020204" pitchFamily="66" charset="0"/>
              </a:rPr>
              <a:t>Solution</a:t>
            </a:r>
          </a:p>
          <a:p>
            <a:pPr algn="l"/>
            <a:r>
              <a:rPr lang="en-GB" sz="2400" b="0" i="0" u="none" strike="noStrike" baseline="0" dirty="0">
                <a:latin typeface="Comic Sans MS" panose="030F0702030302020204" pitchFamily="66" charset="0"/>
              </a:rPr>
              <a:t>Using the appropriate  formulae gives us the equation used to determine the period from the frequency.</a:t>
            </a:r>
            <a:endParaRPr lang="en-FI" sz="2400" b="0" i="0" u="none" strike="noStrike" baseline="0" dirty="0">
              <a:latin typeface="Comic Sans MS" panose="030F0702030302020204" pitchFamily="66" charset="0"/>
            </a:endParaRPr>
          </a:p>
          <a:p>
            <a:pPr algn="l"/>
            <a:endParaRPr lang="en-FI" sz="1800" dirty="0">
              <a:latin typeface="TimesNewRomanPSMT"/>
            </a:endParaRPr>
          </a:p>
          <a:p>
            <a:pPr algn="l"/>
            <a:endParaRPr lang="en-FI" sz="1800" b="0" i="0" u="none" strike="noStrike" baseline="0" dirty="0">
              <a:latin typeface="TimesNewRomanPSMT"/>
            </a:endParaRPr>
          </a:p>
          <a:p>
            <a:pPr algn="l"/>
            <a:endParaRPr lang="en-FI" sz="1800" dirty="0">
              <a:latin typeface="TimesNewRomanPSMT"/>
            </a:endParaRPr>
          </a:p>
          <a:p>
            <a:pPr algn="l"/>
            <a:endParaRPr lang="en-FI" sz="1800" b="0" i="0" u="none" strike="noStrike" baseline="0" dirty="0">
              <a:latin typeface="TimesNewRomanPSMT"/>
            </a:endParaRPr>
          </a:p>
          <a:p>
            <a:pPr algn="l"/>
            <a:r>
              <a:rPr lang="en-GB" sz="2400" b="0" i="0" u="none" strike="noStrike" baseline="0" dirty="0">
                <a:latin typeface="Comic Sans MS" panose="030F0702030302020204" pitchFamily="66" charset="0"/>
              </a:rPr>
              <a:t>Substituting 2,000,000,000 Hz for the frequency in this new equation gives us the following solution.</a:t>
            </a:r>
            <a:endParaRPr lang="en-FI" sz="2400" b="0" i="0" u="none" strike="noStrike" baseline="0" dirty="0">
              <a:latin typeface="Comic Sans MS" panose="030F0702030302020204" pitchFamily="66" charset="0"/>
            </a:endParaRPr>
          </a:p>
          <a:p>
            <a:pPr algn="l"/>
            <a:endParaRPr lang="en-FI" sz="1800" dirty="0">
              <a:latin typeface="TimesNewRomanPSMT"/>
            </a:endParaRPr>
          </a:p>
          <a:p>
            <a:pPr algn="l"/>
            <a:endParaRPr lang="en-FI" sz="1800" b="0" i="0" u="none" strike="noStrike" baseline="0" dirty="0">
              <a:latin typeface="TimesNewRomanPSMT"/>
            </a:endParaRPr>
          </a:p>
          <a:p>
            <a:pPr algn="l"/>
            <a:endParaRPr lang="en-FI" sz="1800" dirty="0">
              <a:latin typeface="TimesNewRomanPSMT"/>
            </a:endParaRPr>
          </a:p>
          <a:p>
            <a:pPr algn="l"/>
            <a:endParaRPr lang="en-FI" sz="1800" b="0" i="0" u="none" strike="noStrike" baseline="0" dirty="0">
              <a:latin typeface="TimesNewRomanPSMT"/>
            </a:endParaRPr>
          </a:p>
          <a:p>
            <a:pPr algn="l"/>
            <a:r>
              <a:rPr lang="en-GB" sz="2400" b="0" i="0" u="none" strike="noStrike" baseline="0" dirty="0">
                <a:latin typeface="Comic Sans MS" panose="030F0702030302020204" pitchFamily="66" charset="0"/>
              </a:rPr>
              <a:t>Period = 0.0000000005 seconds = 0.5 nanoseconds</a:t>
            </a:r>
            <a:endParaRPr lang="en-FI" sz="2400" b="0" i="0" u="none" strike="noStrike" baseline="0" dirty="0">
              <a:latin typeface="Comic Sans MS" panose="030F0702030302020204" pitchFamily="66" charset="0"/>
            </a:endParaRPr>
          </a:p>
          <a:p>
            <a:pPr algn="l"/>
            <a:endParaRPr lang="en-FI" sz="1800" dirty="0">
              <a:latin typeface="TimesNewRomanPSMT"/>
            </a:endParaRPr>
          </a:p>
          <a:p>
            <a:pPr algn="l"/>
            <a:endParaRPr lang="en-GB" dirty="0"/>
          </a:p>
        </p:txBody>
      </p:sp>
      <p:pic>
        <p:nvPicPr>
          <p:cNvPr id="5" name="Picture 4">
            <a:extLst>
              <a:ext uri="{FF2B5EF4-FFF2-40B4-BE49-F238E27FC236}">
                <a16:creationId xmlns:a16="http://schemas.microsoft.com/office/drawing/2014/main" id="{9EC35ECD-A1C9-4584-A4F6-DEB081B8AE2E}"/>
              </a:ext>
            </a:extLst>
          </p:cNvPr>
          <p:cNvPicPr>
            <a:picLocks noChangeAspect="1"/>
          </p:cNvPicPr>
          <p:nvPr/>
        </p:nvPicPr>
        <p:blipFill>
          <a:blip r:embed="rId2"/>
          <a:stretch>
            <a:fillRect/>
          </a:stretch>
        </p:blipFill>
        <p:spPr>
          <a:xfrm>
            <a:off x="2829072" y="3125856"/>
            <a:ext cx="3467584" cy="800212"/>
          </a:xfrm>
          <a:prstGeom prst="rect">
            <a:avLst/>
          </a:prstGeom>
        </p:spPr>
      </p:pic>
      <p:pic>
        <p:nvPicPr>
          <p:cNvPr id="7" name="Picture 6">
            <a:extLst>
              <a:ext uri="{FF2B5EF4-FFF2-40B4-BE49-F238E27FC236}">
                <a16:creationId xmlns:a16="http://schemas.microsoft.com/office/drawing/2014/main" id="{2684A0CF-6AC1-409C-AA61-7129BECF58A3}"/>
              </a:ext>
            </a:extLst>
          </p:cNvPr>
          <p:cNvPicPr>
            <a:picLocks noChangeAspect="1"/>
          </p:cNvPicPr>
          <p:nvPr/>
        </p:nvPicPr>
        <p:blipFill>
          <a:blip r:embed="rId3"/>
          <a:stretch>
            <a:fillRect/>
          </a:stretch>
        </p:blipFill>
        <p:spPr>
          <a:xfrm>
            <a:off x="2528750" y="5032025"/>
            <a:ext cx="4248743" cy="885949"/>
          </a:xfrm>
          <a:prstGeom prst="rect">
            <a:avLst/>
          </a:prstGeom>
        </p:spPr>
      </p:pic>
    </p:spTree>
    <p:extLst>
      <p:ext uri="{BB962C8B-B14F-4D97-AF65-F5344CB8AC3E}">
        <p14:creationId xmlns:p14="http://schemas.microsoft.com/office/powerpoint/2010/main" val="23360737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71A1D0-9CFD-486B-AADC-D5A31C14DA5D}"/>
              </a:ext>
            </a:extLst>
          </p:cNvPr>
          <p:cNvSpPr>
            <a:spLocks noGrp="1"/>
          </p:cNvSpPr>
          <p:nvPr>
            <p:ph idx="1"/>
          </p:nvPr>
        </p:nvSpPr>
        <p:spPr>
          <a:xfrm>
            <a:off x="103695" y="0"/>
            <a:ext cx="12088305" cy="6858000"/>
          </a:xfrm>
        </p:spPr>
        <p:txBody>
          <a:bodyPr/>
          <a:lstStyle/>
          <a:p>
            <a:r>
              <a:rPr lang="en-GB" sz="2400" b="1" i="1" u="none" strike="noStrike" baseline="0" dirty="0">
                <a:solidFill>
                  <a:srgbClr val="FF0000"/>
                </a:solidFill>
                <a:latin typeface="Comic Sans MS" panose="030F0702030302020204" pitchFamily="66" charset="0"/>
              </a:rPr>
              <a:t>Pulse-Width Modulation</a:t>
            </a:r>
            <a:endParaRPr lang="en-FI" sz="2400" b="1" i="1" dirty="0">
              <a:solidFill>
                <a:srgbClr val="FF0000"/>
              </a:solidFill>
              <a:latin typeface="Comic Sans MS" panose="030F0702030302020204" pitchFamily="66" charset="0"/>
            </a:endParaRPr>
          </a:p>
          <a:p>
            <a:pPr algn="just"/>
            <a:r>
              <a:rPr lang="en-GB" sz="2400" b="0" i="0" u="none" strike="noStrike" baseline="0" dirty="0">
                <a:latin typeface="Comic Sans MS" panose="030F0702030302020204" pitchFamily="66" charset="0"/>
              </a:rPr>
              <a:t>The last measurement of a periodic waveform is the </a:t>
            </a:r>
            <a:r>
              <a:rPr lang="en-GB" sz="2400" b="1" i="1" u="none" strike="noStrike" baseline="0" dirty="0">
                <a:solidFill>
                  <a:srgbClr val="FF0000"/>
                </a:solidFill>
                <a:latin typeface="Comic Sans MS" panose="030F0702030302020204" pitchFamily="66" charset="0"/>
              </a:rPr>
              <a:t>duty cycle</a:t>
            </a:r>
            <a:r>
              <a:rPr lang="en-GB" sz="2400" b="0" i="0" u="none" strike="noStrike" baseline="0" dirty="0">
                <a:latin typeface="Comic Sans MS" panose="030F0702030302020204" pitchFamily="66" charset="0"/>
              </a:rPr>
              <a:t>. The duty cycle represents the percentage of time that a periodic signal is a logic '1'. For example, the Figure below represents a periodic pulse train where </a:t>
            </a:r>
            <a:r>
              <a:rPr lang="en-GB" sz="2400" b="0" i="0" u="none" strike="noStrike" baseline="0" dirty="0" err="1">
                <a:latin typeface="Comic Sans MS" panose="030F0702030302020204" pitchFamily="66" charset="0"/>
              </a:rPr>
              <a:t>t</a:t>
            </a:r>
            <a:r>
              <a:rPr lang="en-GB" sz="2400" b="0" i="0" u="none" strike="noStrike" baseline="-25000" dirty="0" err="1">
                <a:latin typeface="Comic Sans MS" panose="030F0702030302020204" pitchFamily="66" charset="0"/>
              </a:rPr>
              <a:t>w</a:t>
            </a:r>
            <a:r>
              <a:rPr lang="en-GB" sz="2400" b="0" i="0" u="none" strike="noStrike" baseline="0" dirty="0">
                <a:latin typeface="Comic Sans MS" panose="030F0702030302020204" pitchFamily="66" charset="0"/>
              </a:rPr>
              <a:t> is about one-quarter or 25% of the duration of the period.</a:t>
            </a:r>
          </a:p>
          <a:p>
            <a:pPr algn="just"/>
            <a:r>
              <a:rPr lang="en-GB" sz="2400" b="0" i="0" u="none" strike="noStrike" baseline="0" dirty="0">
                <a:latin typeface="Comic Sans MS" panose="030F0702030302020204" pitchFamily="66" charset="0"/>
              </a:rPr>
              <a:t>Therefore, the duty cycle of this signal is 25%.</a:t>
            </a:r>
            <a:endParaRPr lang="en-FI" sz="2400" dirty="0">
              <a:latin typeface="Comic Sans MS" panose="030F0702030302020204" pitchFamily="66" charset="0"/>
            </a:endParaRPr>
          </a:p>
          <a:p>
            <a:pPr algn="l"/>
            <a:endParaRPr lang="en-FI" sz="1800" b="0" i="1" u="none" strike="noStrike" baseline="0" dirty="0">
              <a:latin typeface="TimesNewRomanPSMT"/>
            </a:endParaRPr>
          </a:p>
          <a:p>
            <a:pPr algn="l"/>
            <a:endParaRPr lang="en-FI" sz="1800" i="1" dirty="0">
              <a:latin typeface="TimesNewRomanPSMT"/>
            </a:endParaRPr>
          </a:p>
          <a:p>
            <a:pPr algn="l"/>
            <a:endParaRPr lang="en-FI" sz="1800" b="0" i="1" u="none" strike="noStrike" baseline="0" dirty="0">
              <a:latin typeface="TimesNewRomanPSMT"/>
            </a:endParaRPr>
          </a:p>
          <a:p>
            <a:pPr algn="l"/>
            <a:endParaRPr lang="en-FI" sz="1800" i="1" dirty="0">
              <a:latin typeface="TimesNewRomanPSMT"/>
            </a:endParaRPr>
          </a:p>
          <a:p>
            <a:pPr algn="l"/>
            <a:endParaRPr lang="en-FI" sz="1800" b="0" i="1" u="none" strike="noStrike" baseline="0" dirty="0">
              <a:latin typeface="TimesNewRomanPSMT"/>
            </a:endParaRPr>
          </a:p>
          <a:p>
            <a:pPr algn="l"/>
            <a:endParaRPr lang="en-FI" sz="1800" i="1" dirty="0">
              <a:latin typeface="TimesNewRomanPSMT"/>
            </a:endParaRPr>
          </a:p>
          <a:p>
            <a:pPr algn="l"/>
            <a:endParaRPr lang="en-FI" sz="1800" b="0" i="1" u="none" strike="noStrike" baseline="0" dirty="0">
              <a:latin typeface="TimesNewRomanPSMT"/>
            </a:endParaRPr>
          </a:p>
          <a:p>
            <a:pPr algn="l"/>
            <a:endParaRPr lang="en-FI" sz="1800" b="0" i="1" u="none" strike="noStrike" baseline="0" dirty="0">
              <a:latin typeface="TimesNewRomanPS-ItalicMT"/>
            </a:endParaRPr>
          </a:p>
          <a:p>
            <a:pPr algn="l"/>
            <a:endParaRPr lang="en-FI" sz="1800" i="1" dirty="0">
              <a:latin typeface="TimesNewRomanPS-ItalicMT"/>
            </a:endParaRPr>
          </a:p>
          <a:p>
            <a:pPr algn="l"/>
            <a:endParaRPr lang="en-FI" sz="1800" i="1" dirty="0">
              <a:latin typeface="TimesNewRomanPS-ItalicMT"/>
            </a:endParaRPr>
          </a:p>
          <a:p>
            <a:pPr algn="l"/>
            <a:endParaRPr lang="en-FI" sz="1800" i="1" dirty="0">
              <a:latin typeface="TimesNewRomanPS-ItalicMT"/>
            </a:endParaRPr>
          </a:p>
          <a:p>
            <a:pPr algn="l"/>
            <a:endParaRPr lang="en-FI" sz="1800" i="1" dirty="0">
              <a:latin typeface="TimesNewRomanPS-ItalicMT"/>
            </a:endParaRPr>
          </a:p>
          <a:p>
            <a:pPr algn="l"/>
            <a:endParaRPr lang="en-FI" sz="1800" i="1" dirty="0">
              <a:latin typeface="TimesNewRomanPS-ItalicMT"/>
            </a:endParaRPr>
          </a:p>
          <a:p>
            <a:pPr algn="l"/>
            <a:endParaRPr lang="en-FI" sz="1800" i="1" dirty="0">
              <a:latin typeface="TimesNewRomanPS-ItalicMT"/>
            </a:endParaRPr>
          </a:p>
          <a:p>
            <a:pPr algn="l"/>
            <a:endParaRPr lang="en-FI" sz="1800" i="1" dirty="0">
              <a:latin typeface="TimesNewRomanPS-ItalicMT"/>
            </a:endParaRPr>
          </a:p>
          <a:p>
            <a:pPr algn="l"/>
            <a:endParaRPr lang="en-FI" sz="1800" i="1" dirty="0">
              <a:latin typeface="TimesNewRomanPS-ItalicMT"/>
            </a:endParaRPr>
          </a:p>
          <a:p>
            <a:pPr algn="l"/>
            <a:endParaRPr lang="en-GB" dirty="0"/>
          </a:p>
        </p:txBody>
      </p:sp>
      <p:pic>
        <p:nvPicPr>
          <p:cNvPr id="5" name="Picture 4">
            <a:extLst>
              <a:ext uri="{FF2B5EF4-FFF2-40B4-BE49-F238E27FC236}">
                <a16:creationId xmlns:a16="http://schemas.microsoft.com/office/drawing/2014/main" id="{D738A840-58B5-4AE1-83BB-876F5D2E0E5E}"/>
              </a:ext>
            </a:extLst>
          </p:cNvPr>
          <p:cNvPicPr>
            <a:picLocks noChangeAspect="1"/>
          </p:cNvPicPr>
          <p:nvPr/>
        </p:nvPicPr>
        <p:blipFill>
          <a:blip r:embed="rId2"/>
          <a:stretch>
            <a:fillRect/>
          </a:stretch>
        </p:blipFill>
        <p:spPr>
          <a:xfrm>
            <a:off x="1112865" y="2368183"/>
            <a:ext cx="8030696" cy="199100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5993A90F-0E19-44CD-A357-3955D0BAB05B}"/>
              </a:ext>
            </a:extLst>
          </p:cNvPr>
          <p:cNvSpPr txBox="1"/>
          <p:nvPr/>
        </p:nvSpPr>
        <p:spPr>
          <a:xfrm>
            <a:off x="2311659" y="4578611"/>
            <a:ext cx="6097554" cy="400110"/>
          </a:xfrm>
          <a:prstGeom prst="rect">
            <a:avLst/>
          </a:prstGeom>
          <a:noFill/>
        </p:spPr>
        <p:txBody>
          <a:bodyPr wrap="square">
            <a:spAutoFit/>
          </a:bodyPr>
          <a:lstStyle/>
          <a:p>
            <a:r>
              <a:rPr lang="en-GB" sz="2000" b="0" i="0" u="none" strike="noStrike" baseline="0" dirty="0">
                <a:solidFill>
                  <a:srgbClr val="FF0000"/>
                </a:solidFill>
                <a:latin typeface="Comic Sans MS" panose="030F0702030302020204" pitchFamily="66" charset="0"/>
              </a:rPr>
              <a:t>Periodic Pulse Train with 25% Duty Cycle</a:t>
            </a:r>
            <a:endParaRPr lang="en-GB" sz="20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5513996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1AA1A6-0084-42D0-BD9F-18A7C6F6D8D4}"/>
              </a:ext>
            </a:extLst>
          </p:cNvPr>
          <p:cNvSpPr>
            <a:spLocks noGrp="1"/>
          </p:cNvSpPr>
          <p:nvPr>
            <p:ph idx="1"/>
          </p:nvPr>
        </p:nvSpPr>
        <p:spPr>
          <a:xfrm>
            <a:off x="103695" y="122548"/>
            <a:ext cx="12000321" cy="6735452"/>
          </a:xfrm>
        </p:spPr>
        <p:txBody>
          <a:bodyPr/>
          <a:lstStyle/>
          <a:p>
            <a:pPr algn="just"/>
            <a:r>
              <a:rPr lang="en-GB" b="0" i="0" u="none" strike="noStrike" baseline="0" dirty="0">
                <a:latin typeface="Comic Sans MS" panose="030F0702030302020204" pitchFamily="66" charset="0"/>
              </a:rPr>
              <a:t>Equation </a:t>
            </a:r>
            <a:r>
              <a:rPr lang="en-GB" dirty="0">
                <a:latin typeface="Comic Sans MS" panose="030F0702030302020204" pitchFamily="66" charset="0"/>
              </a:rPr>
              <a:t>below </a:t>
            </a:r>
            <a:r>
              <a:rPr lang="en-GB" b="0" i="0" u="none" strike="noStrike" baseline="0" dirty="0">
                <a:latin typeface="Comic Sans MS" panose="030F0702030302020204" pitchFamily="66" charset="0"/>
              </a:rPr>
              <a:t> represents the formula used to calculate the duty cycle where both </a:t>
            </a:r>
            <a:r>
              <a:rPr lang="en-GB" b="0" i="0" u="none" strike="noStrike" baseline="0" dirty="0" err="1">
                <a:latin typeface="Comic Sans MS" panose="030F0702030302020204" pitchFamily="66" charset="0"/>
              </a:rPr>
              <a:t>t</a:t>
            </a:r>
            <a:r>
              <a:rPr lang="en-GB" b="0" i="0" u="none" strike="noStrike" baseline="-25000" dirty="0" err="1">
                <a:latin typeface="Comic Sans MS" panose="030F0702030302020204" pitchFamily="66" charset="0"/>
              </a:rPr>
              <a:t>w</a:t>
            </a:r>
            <a:r>
              <a:rPr lang="en-GB" b="0" i="0" u="none" strike="noStrike" baseline="0" dirty="0">
                <a:latin typeface="Comic Sans MS" panose="030F0702030302020204" pitchFamily="66" charset="0"/>
              </a:rPr>
              <a:t> and T have units of seconds</a:t>
            </a:r>
            <a:endParaRPr lang="en-FI" i="1" dirty="0">
              <a:latin typeface="Comic Sans MS" panose="030F0702030302020204" pitchFamily="66" charset="0"/>
            </a:endParaRPr>
          </a:p>
          <a:p>
            <a:pPr algn="l"/>
            <a:endParaRPr lang="en-GB" sz="1800" dirty="0">
              <a:latin typeface="TimesNewRomanPSMT"/>
            </a:endParaRPr>
          </a:p>
          <a:p>
            <a:pPr algn="l"/>
            <a:endParaRPr lang="en-GB" sz="1800" dirty="0">
              <a:latin typeface="TimesNewRomanPSMT"/>
            </a:endParaRPr>
          </a:p>
          <a:p>
            <a:pPr algn="l"/>
            <a:endParaRPr lang="en-GB" sz="1800" dirty="0">
              <a:latin typeface="TimesNewRomanPSMT"/>
            </a:endParaRPr>
          </a:p>
          <a:p>
            <a:pPr algn="l"/>
            <a:endParaRPr lang="en-GB" sz="1800" dirty="0">
              <a:latin typeface="TimesNewRomanPSMT"/>
            </a:endParaRPr>
          </a:p>
          <a:p>
            <a:pPr algn="l"/>
            <a:endParaRPr lang="en-GB" sz="1800" dirty="0">
              <a:latin typeface="TimesNewRomanPSMT"/>
            </a:endParaRPr>
          </a:p>
          <a:p>
            <a:pPr algn="just"/>
            <a:r>
              <a:rPr lang="en-GB" b="0" i="0" u="none" strike="noStrike" baseline="0" dirty="0">
                <a:latin typeface="Comic Sans MS" panose="030F0702030302020204" pitchFamily="66" charset="0"/>
              </a:rPr>
              <a:t>Since the range of </a:t>
            </a:r>
            <a:r>
              <a:rPr lang="en-GB" b="0" i="0" u="none" strike="noStrike" baseline="0" dirty="0" err="1">
                <a:latin typeface="Comic Sans MS" panose="030F0702030302020204" pitchFamily="66" charset="0"/>
              </a:rPr>
              <a:t>t</a:t>
            </a:r>
            <a:r>
              <a:rPr lang="en-GB" b="0" i="0" u="none" strike="noStrike" baseline="-25000" dirty="0" err="1">
                <a:latin typeface="Comic Sans MS" panose="030F0702030302020204" pitchFamily="66" charset="0"/>
              </a:rPr>
              <a:t>w</a:t>
            </a:r>
            <a:r>
              <a:rPr lang="en-GB" b="0" i="0" u="none" strike="noStrike" baseline="0" dirty="0">
                <a:latin typeface="Comic Sans MS" panose="030F0702030302020204" pitchFamily="66" charset="0"/>
              </a:rPr>
              <a:t> is from 0 to T, then the duty cycle has a range from 0% (a constant logic 0) to 100% (a constant logic 1).</a:t>
            </a:r>
            <a:endParaRPr lang="en-GB" sz="4000" dirty="0">
              <a:latin typeface="Comic Sans MS" panose="030F0702030302020204" pitchFamily="66" charset="0"/>
            </a:endParaRPr>
          </a:p>
        </p:txBody>
      </p:sp>
      <p:pic>
        <p:nvPicPr>
          <p:cNvPr id="4" name="Picture 3">
            <a:extLst>
              <a:ext uri="{FF2B5EF4-FFF2-40B4-BE49-F238E27FC236}">
                <a16:creationId xmlns:a16="http://schemas.microsoft.com/office/drawing/2014/main" id="{767FFEB5-F797-4C4A-A8B2-0E7872723B84}"/>
              </a:ext>
            </a:extLst>
          </p:cNvPr>
          <p:cNvPicPr>
            <a:picLocks noChangeAspect="1"/>
          </p:cNvPicPr>
          <p:nvPr/>
        </p:nvPicPr>
        <p:blipFill>
          <a:blip r:embed="rId2"/>
          <a:stretch>
            <a:fillRect/>
          </a:stretch>
        </p:blipFill>
        <p:spPr>
          <a:xfrm>
            <a:off x="481346" y="1527481"/>
            <a:ext cx="6654745" cy="1050750"/>
          </a:xfrm>
          <a:prstGeom prst="rect">
            <a:avLst/>
          </a:prstGeom>
        </p:spPr>
      </p:pic>
    </p:spTree>
    <p:extLst>
      <p:ext uri="{BB962C8B-B14F-4D97-AF65-F5344CB8AC3E}">
        <p14:creationId xmlns:p14="http://schemas.microsoft.com/office/powerpoint/2010/main" val="39596661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5FD921-0460-444B-BD6D-432846B403B5}"/>
              </a:ext>
            </a:extLst>
          </p:cNvPr>
          <p:cNvSpPr>
            <a:spLocks noGrp="1"/>
          </p:cNvSpPr>
          <p:nvPr>
            <p:ph idx="1"/>
          </p:nvPr>
        </p:nvSpPr>
        <p:spPr>
          <a:xfrm>
            <a:off x="0" y="65988"/>
            <a:ext cx="12104016" cy="6702457"/>
          </a:xfrm>
        </p:spPr>
        <p:txBody>
          <a:bodyPr>
            <a:normAutofit fontScale="92500" lnSpcReduction="20000"/>
          </a:bodyPr>
          <a:lstStyle/>
          <a:p>
            <a:pPr algn="just"/>
            <a:r>
              <a:rPr lang="en-GB" sz="3000" b="1" i="0" u="none" strike="noStrike" baseline="0" dirty="0">
                <a:solidFill>
                  <a:srgbClr val="FF0000"/>
                </a:solidFill>
                <a:latin typeface="Comic Sans MS" panose="030F0702030302020204" pitchFamily="66" charset="0"/>
              </a:rPr>
              <a:t>Unit Prefixes</a:t>
            </a:r>
            <a:endParaRPr lang="en-FI" sz="3000" b="1" i="0" u="none" strike="noStrike" baseline="0" dirty="0">
              <a:solidFill>
                <a:srgbClr val="FF0000"/>
              </a:solidFill>
              <a:latin typeface="Comic Sans MS" panose="030F0702030302020204" pitchFamily="66" charset="0"/>
            </a:endParaRPr>
          </a:p>
          <a:p>
            <a:pPr algn="just"/>
            <a:r>
              <a:rPr lang="en-GB" b="0" i="0" u="none" strike="noStrike" baseline="0" dirty="0">
                <a:latin typeface="Comic Sans MS" panose="030F0702030302020204" pitchFamily="66" charset="0"/>
              </a:rPr>
              <a:t>You may have noticed that in some of our examples, a prefix was used with the units of seconds or Hertz. </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This is done to reduce the number of leading zeros between a decimal point and a magnitude or to reduce the number of trailing zeros in a very large magnitude.</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A prefix replaces a power of 10 multiplier. For example, the measurement 5,000 hertz is equivalent to 5 x 10</a:t>
            </a:r>
            <a:r>
              <a:rPr lang="en-GB" b="0" i="0" u="none" strike="noStrike" baseline="30000" dirty="0">
                <a:latin typeface="Comic Sans MS" panose="030F0702030302020204" pitchFamily="66" charset="0"/>
              </a:rPr>
              <a:t>3</a:t>
            </a:r>
            <a:r>
              <a:rPr lang="en-GB" b="0" i="0" u="none" strike="noStrike" baseline="0" dirty="0">
                <a:latin typeface="Comic Sans MS" panose="030F0702030302020204" pitchFamily="66" charset="0"/>
              </a:rPr>
              <a:t> hertz.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The multiplier 10</a:t>
            </a:r>
            <a:r>
              <a:rPr lang="en-GB" b="0" i="0" u="none" strike="noStrike" baseline="30000" dirty="0">
                <a:latin typeface="Comic Sans MS" panose="030F0702030302020204" pitchFamily="66" charset="0"/>
              </a:rPr>
              <a:t>3</a:t>
            </a:r>
            <a:r>
              <a:rPr lang="en-GB" b="0" i="0" u="none" strike="noStrike" baseline="0" dirty="0">
                <a:latin typeface="Comic Sans MS" panose="030F0702030302020204" pitchFamily="66" charset="0"/>
              </a:rPr>
              <a:t> can be replaced with the prefix "kilo" giving us 5 kilohertz. Each prefix has a single-letter abbreviation that can be used with the abbreviation of the units. For example, to use kilo with the abbreviation Hz, the single letter "k" would be used giving us kHz.</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Throughout this </a:t>
            </a:r>
            <a:r>
              <a:rPr lang="en-GB" dirty="0">
                <a:latin typeface="Comic Sans MS" panose="030F0702030302020204" pitchFamily="66" charset="0"/>
              </a:rPr>
              <a:t>lecture,</a:t>
            </a:r>
            <a:r>
              <a:rPr lang="en-GB" b="0" i="0" u="none" strike="noStrike" baseline="0" dirty="0">
                <a:latin typeface="Comic Sans MS" panose="030F0702030302020204" pitchFamily="66" charset="0"/>
              </a:rPr>
              <a:t> many prefixes will be used to describe the measurements being discussed. These are presented in the table </a:t>
            </a:r>
            <a:r>
              <a:rPr lang="en-GB" dirty="0">
                <a:latin typeface="Comic Sans MS" panose="030F0702030302020204" pitchFamily="66" charset="0"/>
              </a:rPr>
              <a:t>below</a:t>
            </a:r>
            <a:r>
              <a:rPr lang="en-GB" b="0" i="0" u="none" strike="noStrike" baseline="0" dirty="0">
                <a:latin typeface="Comic Sans MS" panose="030F0702030302020204" pitchFamily="66" charset="0"/>
              </a:rPr>
              <a:t>. Note that there are prefixes well beyond those presented in this table.</a:t>
            </a:r>
            <a:endParaRPr lang="en-GB" sz="4000" dirty="0">
              <a:latin typeface="Comic Sans MS" panose="030F0702030302020204" pitchFamily="66" charset="0"/>
            </a:endParaRPr>
          </a:p>
        </p:txBody>
      </p:sp>
    </p:spTree>
    <p:extLst>
      <p:ext uri="{BB962C8B-B14F-4D97-AF65-F5344CB8AC3E}">
        <p14:creationId xmlns:p14="http://schemas.microsoft.com/office/powerpoint/2010/main" val="390170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43E60EE-C89D-4908-A2CD-30D3A75FD70E}"/>
              </a:ext>
            </a:extLst>
          </p:cNvPr>
          <p:cNvPicPr>
            <a:picLocks noGrp="1" noChangeAspect="1"/>
          </p:cNvPicPr>
          <p:nvPr>
            <p:ph idx="1"/>
          </p:nvPr>
        </p:nvPicPr>
        <p:blipFill>
          <a:blip r:embed="rId2"/>
          <a:stretch>
            <a:fillRect/>
          </a:stretch>
        </p:blipFill>
        <p:spPr>
          <a:xfrm>
            <a:off x="2086651" y="186924"/>
            <a:ext cx="7400041" cy="6281707"/>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26451763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9364FF-6C6C-4E0E-8A6E-68B6DB02F433}"/>
              </a:ext>
            </a:extLst>
          </p:cNvPr>
          <p:cNvSpPr>
            <a:spLocks noGrp="1"/>
          </p:cNvSpPr>
          <p:nvPr>
            <p:ph idx="1"/>
          </p:nvPr>
        </p:nvSpPr>
        <p:spPr>
          <a:xfrm>
            <a:off x="-1" y="113121"/>
            <a:ext cx="12066309" cy="6645898"/>
          </a:xfrm>
        </p:spPr>
        <p:txBody>
          <a:bodyPr>
            <a:normAutofit/>
          </a:bodyPr>
          <a:lstStyle/>
          <a:p>
            <a:pPr algn="just"/>
            <a:endParaRPr lang="en-GB" sz="3200" b="1" dirty="0">
              <a:solidFill>
                <a:srgbClr val="FF0000"/>
              </a:solidFill>
              <a:latin typeface="Comic Sans MS" panose="030F0702030302020204" pitchFamily="66" charset="0"/>
            </a:endParaRPr>
          </a:p>
          <a:p>
            <a:pPr algn="just"/>
            <a:endParaRPr lang="en-GB" sz="3200" b="1" dirty="0">
              <a:solidFill>
                <a:srgbClr val="FF0000"/>
              </a:solidFill>
              <a:latin typeface="Comic Sans MS" panose="030F0702030302020204" pitchFamily="66" charset="0"/>
            </a:endParaRPr>
          </a:p>
          <a:p>
            <a:pPr algn="just"/>
            <a:endParaRPr lang="en-GB" sz="4800" b="1" dirty="0">
              <a:solidFill>
                <a:srgbClr val="FF0000"/>
              </a:solidFill>
              <a:latin typeface="Comic Sans MS" panose="030F0702030302020204" pitchFamily="66" charset="0"/>
            </a:endParaRPr>
          </a:p>
          <a:p>
            <a:pPr marL="0" indent="0" algn="just">
              <a:buNone/>
            </a:pPr>
            <a:r>
              <a:rPr lang="en-GB" sz="4800" b="1" dirty="0">
                <a:solidFill>
                  <a:srgbClr val="FF0000"/>
                </a:solidFill>
                <a:latin typeface="Comic Sans MS" panose="030F0702030302020204" pitchFamily="66" charset="0"/>
              </a:rPr>
              <a:t> T</a:t>
            </a:r>
            <a:r>
              <a:rPr lang="en-FI" sz="4800" b="1" dirty="0">
                <a:solidFill>
                  <a:srgbClr val="FF0000"/>
                </a:solidFill>
                <a:latin typeface="Comic Sans MS" panose="030F0702030302020204" pitchFamily="66" charset="0"/>
              </a:rPr>
              <a:t>hank you for listening </a:t>
            </a:r>
          </a:p>
          <a:p>
            <a:pPr algn="just"/>
            <a:endParaRPr lang="en-FI" sz="3200" dirty="0">
              <a:latin typeface="Comic Sans MS" panose="030F0702030302020204" pitchFamily="66" charset="0"/>
            </a:endParaRPr>
          </a:p>
        </p:txBody>
      </p:sp>
    </p:spTree>
    <p:extLst>
      <p:ext uri="{BB962C8B-B14F-4D97-AF65-F5344CB8AC3E}">
        <p14:creationId xmlns:p14="http://schemas.microsoft.com/office/powerpoint/2010/main" val="36562709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71E119-C9B2-4311-B43C-375A1642F404}"/>
              </a:ext>
            </a:extLst>
          </p:cNvPr>
          <p:cNvSpPr>
            <a:spLocks noGrp="1"/>
          </p:cNvSpPr>
          <p:nvPr>
            <p:ph idx="1"/>
          </p:nvPr>
        </p:nvSpPr>
        <p:spPr/>
        <p:txBody>
          <a:bodyPr>
            <a:normAutofit fontScale="92500"/>
          </a:bodyPr>
          <a:lstStyle/>
          <a:p>
            <a:pPr algn="just"/>
            <a:r>
              <a:rPr lang="en-GB" sz="3200" dirty="0">
                <a:solidFill>
                  <a:srgbClr val="FF0000"/>
                </a:solidFill>
                <a:latin typeface="Comic Sans MS" panose="030F0702030302020204" pitchFamily="66" charset="0"/>
              </a:rPr>
              <a:t>Assignment</a:t>
            </a:r>
            <a:r>
              <a:rPr lang="en-GB" sz="3200" dirty="0">
                <a:latin typeface="Comic Sans MS" panose="030F0702030302020204" pitchFamily="66" charset="0"/>
              </a:rPr>
              <a:t> </a:t>
            </a:r>
            <a:endParaRPr lang="en-FI" sz="3200" dirty="0">
              <a:latin typeface="Comic Sans MS" panose="030F0702030302020204" pitchFamily="66" charset="0"/>
            </a:endParaRPr>
          </a:p>
          <a:p>
            <a:pPr algn="just"/>
            <a:endParaRPr lang="en-FI" sz="3200" dirty="0">
              <a:latin typeface="Comic Sans MS" panose="030F0702030302020204" pitchFamily="66" charset="0"/>
            </a:endParaRPr>
          </a:p>
          <a:p>
            <a:pPr algn="just"/>
            <a:r>
              <a:rPr lang="en-GB" b="0" i="0" u="none" strike="noStrike" baseline="0" dirty="0">
                <a:latin typeface="Comic Sans MS" panose="030F0702030302020204" pitchFamily="66" charset="0"/>
              </a:rPr>
              <a:t>Name the three parts of the system used to input an </a:t>
            </a:r>
            <a:r>
              <a:rPr lang="en-GB" b="0" i="0" u="none" strike="noStrike" baseline="0" dirty="0" err="1">
                <a:latin typeface="Comic Sans MS" panose="030F0702030302020204" pitchFamily="66" charset="0"/>
              </a:rPr>
              <a:t>analog</a:t>
            </a:r>
            <a:r>
              <a:rPr lang="en-GB" b="0" i="0" u="none" strike="noStrike" baseline="0" dirty="0">
                <a:latin typeface="Comic Sans MS" panose="030F0702030302020204" pitchFamily="66" charset="0"/>
              </a:rPr>
              <a:t> signal into a digital system and describe their purpose.</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Name four benefits of a digital system over an </a:t>
            </a:r>
            <a:r>
              <a:rPr lang="en-GB" b="0" i="0" u="none" strike="noStrike" baseline="0" dirty="0" err="1">
                <a:latin typeface="Comic Sans MS" panose="030F0702030302020204" pitchFamily="66" charset="0"/>
              </a:rPr>
              <a:t>analog</a:t>
            </a:r>
            <a:r>
              <a:rPr lang="en-GB" b="0" i="0" u="none" strike="noStrike" baseline="0" dirty="0">
                <a:latin typeface="Comic Sans MS" panose="030F0702030302020204" pitchFamily="66" charset="0"/>
              </a:rPr>
              <a:t> system.</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Name three drawbacks of a digital system over an </a:t>
            </a:r>
            <a:r>
              <a:rPr lang="en-GB" b="0" i="0" u="none" strike="noStrike" baseline="0" dirty="0" err="1">
                <a:latin typeface="Comic Sans MS" panose="030F0702030302020204" pitchFamily="66" charset="0"/>
              </a:rPr>
              <a:t>analog</a:t>
            </a:r>
            <a:r>
              <a:rPr lang="en-GB" b="0" i="0" u="none" strike="noStrike" baseline="0" dirty="0">
                <a:latin typeface="Comic Sans MS" panose="030F0702030302020204" pitchFamily="66" charset="0"/>
              </a:rPr>
              <a:t> system.</a:t>
            </a:r>
            <a:endParaRPr lang="en-GB" sz="4000" dirty="0">
              <a:latin typeface="Comic Sans MS" panose="030F0702030302020204" pitchFamily="66" charset="0"/>
            </a:endParaRPr>
          </a:p>
          <a:p>
            <a:endParaRPr lang="en-GB" dirty="0"/>
          </a:p>
        </p:txBody>
      </p:sp>
    </p:spTree>
    <p:extLst>
      <p:ext uri="{BB962C8B-B14F-4D97-AF65-F5344CB8AC3E}">
        <p14:creationId xmlns:p14="http://schemas.microsoft.com/office/powerpoint/2010/main" val="3084590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TotalTime>
  <Words>3069</Words>
  <Application>Microsoft Office PowerPoint</Application>
  <PresentationFormat>Widescreen</PresentationFormat>
  <Paragraphs>322</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Calibri Light</vt:lpstr>
      <vt:lpstr>Comic Sans MS</vt:lpstr>
      <vt:lpstr>TimesNewRomanPS-ItalicMT</vt:lpstr>
      <vt:lpstr>TimesNewRomanPSMT</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Femi Alamu</dc:creator>
  <cp:lastModifiedBy>Femi Alamu</cp:lastModifiedBy>
  <cp:revision>29</cp:revision>
  <dcterms:created xsi:type="dcterms:W3CDTF">2025-11-05T05:22:33Z</dcterms:created>
  <dcterms:modified xsi:type="dcterms:W3CDTF">2025-11-26T10:48:05Z</dcterms:modified>
</cp:coreProperties>
</file>