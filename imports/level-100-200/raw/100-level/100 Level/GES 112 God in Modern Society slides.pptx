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8" r:id="rId2"/>
    <p:sldId id="377" r:id="rId3"/>
    <p:sldId id="256" r:id="rId4"/>
    <p:sldId id="257" r:id="rId5"/>
    <p:sldId id="379" r:id="rId6"/>
    <p:sldId id="258" r:id="rId7"/>
    <p:sldId id="259" r:id="rId8"/>
    <p:sldId id="260" r:id="rId9"/>
    <p:sldId id="261" r:id="rId10"/>
    <p:sldId id="262" r:id="rId11"/>
    <p:sldId id="263" r:id="rId12"/>
    <p:sldId id="264" r:id="rId13"/>
    <p:sldId id="266" r:id="rId14"/>
    <p:sldId id="267" r:id="rId15"/>
    <p:sldId id="268" r:id="rId16"/>
    <p:sldId id="371" r:id="rId17"/>
    <p:sldId id="372" r:id="rId18"/>
    <p:sldId id="373" r:id="rId19"/>
    <p:sldId id="374" r:id="rId20"/>
    <p:sldId id="270" r:id="rId21"/>
    <p:sldId id="269" r:id="rId22"/>
    <p:sldId id="271" r:id="rId23"/>
    <p:sldId id="272" r:id="rId24"/>
    <p:sldId id="273" r:id="rId25"/>
    <p:sldId id="274" r:id="rId26"/>
    <p:sldId id="275" r:id="rId27"/>
    <p:sldId id="276" r:id="rId28"/>
    <p:sldId id="277" r:id="rId29"/>
    <p:sldId id="278" r:id="rId30"/>
    <p:sldId id="279" r:id="rId31"/>
    <p:sldId id="291" r:id="rId32"/>
    <p:sldId id="280" r:id="rId33"/>
    <p:sldId id="375" r:id="rId34"/>
    <p:sldId id="281" r:id="rId35"/>
    <p:sldId id="282" r:id="rId36"/>
    <p:sldId id="283" r:id="rId37"/>
    <p:sldId id="284" r:id="rId38"/>
    <p:sldId id="285" r:id="rId39"/>
    <p:sldId id="286" r:id="rId40"/>
    <p:sldId id="287" r:id="rId41"/>
    <p:sldId id="288" r:id="rId42"/>
    <p:sldId id="289" r:id="rId43"/>
    <p:sldId id="290"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76" r:id="rId60"/>
    <p:sldId id="307" r:id="rId61"/>
    <p:sldId id="308" r:id="rId62"/>
    <p:sldId id="309" r:id="rId63"/>
    <p:sldId id="310" r:id="rId64"/>
    <p:sldId id="311" r:id="rId65"/>
    <p:sldId id="321" r:id="rId66"/>
    <p:sldId id="312" r:id="rId67"/>
    <p:sldId id="322" r:id="rId68"/>
    <p:sldId id="313" r:id="rId69"/>
    <p:sldId id="314" r:id="rId70"/>
    <p:sldId id="315" r:id="rId71"/>
    <p:sldId id="316" r:id="rId72"/>
    <p:sldId id="317" r:id="rId73"/>
    <p:sldId id="318" r:id="rId74"/>
    <p:sldId id="319" r:id="rId75"/>
    <p:sldId id="320"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80" r:id="rId115"/>
    <p:sldId id="361" r:id="rId116"/>
    <p:sldId id="362" r:id="rId117"/>
    <p:sldId id="363" r:id="rId118"/>
    <p:sldId id="364" r:id="rId119"/>
    <p:sldId id="365" r:id="rId120"/>
    <p:sldId id="366" r:id="rId121"/>
    <p:sldId id="367" r:id="rId122"/>
    <p:sldId id="368" r:id="rId123"/>
    <p:sldId id="370" r:id="rId1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1074" y="1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1D44C74-1E6F-420E-8A3B-FE72E1355A82}" type="datetimeFigureOut">
              <a:rPr lang="en-US" smtClean="0"/>
              <a:pPr/>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988589-1003-420C-A92F-D55CB731581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D44C74-1E6F-420E-8A3B-FE72E1355A82}" type="datetimeFigureOut">
              <a:rPr lang="en-US" smtClean="0"/>
              <a:pPr/>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988589-1003-420C-A92F-D55CB731581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D44C74-1E6F-420E-8A3B-FE72E1355A82}" type="datetimeFigureOut">
              <a:rPr lang="en-US" smtClean="0"/>
              <a:pPr/>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988589-1003-420C-A92F-D55CB731581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1D44C74-1E6F-420E-8A3B-FE72E1355A82}" type="datetimeFigureOut">
              <a:rPr lang="en-US" smtClean="0"/>
              <a:pPr/>
              <a:t>6/23/2021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988589-1003-420C-A92F-D55CB731581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1D44C74-1E6F-420E-8A3B-FE72E1355A82}" type="datetimeFigureOut">
              <a:rPr lang="en-US" smtClean="0"/>
              <a:pPr/>
              <a:t>6/23/2021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988589-1003-420C-A92F-D55CB731581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1D44C74-1E6F-420E-8A3B-FE72E1355A82}" type="datetimeFigureOut">
              <a:rPr lang="en-US" smtClean="0"/>
              <a:pPr/>
              <a:t>6/23/2021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988589-1003-420C-A92F-D55CB731581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D44C74-1E6F-420E-8A3B-FE72E1355A82}" type="datetimeFigureOut">
              <a:rPr lang="en-US" smtClean="0"/>
              <a:pPr/>
              <a:t>6/23/2021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988589-1003-420C-A92F-D55CB731581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D44C74-1E6F-420E-8A3B-FE72E1355A82}" type="datetimeFigureOut">
              <a:rPr lang="en-US" smtClean="0"/>
              <a:pPr/>
              <a:t>6/23/2021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988589-1003-420C-A92F-D55CB731581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D44C74-1E6F-420E-8A3B-FE72E1355A82}" type="datetimeFigureOut">
              <a:rPr lang="en-US" smtClean="0"/>
              <a:pPr/>
              <a:t>6/23/2021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988589-1003-420C-A92F-D55CB731581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D44C74-1E6F-420E-8A3B-FE72E1355A82}" type="datetimeFigureOut">
              <a:rPr lang="en-US" smtClean="0"/>
              <a:pPr/>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988589-1003-420C-A92F-D55CB731581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D44C74-1E6F-420E-8A3B-FE72E1355A82}" type="datetimeFigureOut">
              <a:rPr lang="en-US" smtClean="0"/>
              <a:pPr/>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988589-1003-420C-A92F-D55CB731581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D44C74-1E6F-420E-8A3B-FE72E1355A82}" type="datetimeFigureOut">
              <a:rPr lang="en-US" smtClean="0"/>
              <a:pPr/>
              <a:t>6/23/2021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988589-1003-420C-A92F-D55CB731581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a:bodyPr>
          <a:lstStyle/>
          <a:p>
            <a:pPr algn="ctr">
              <a:buNone/>
            </a:pPr>
            <a:r>
              <a:rPr lang="en-US" sz="4800" dirty="0" smtClean="0"/>
              <a:t>GES 112 </a:t>
            </a:r>
          </a:p>
          <a:p>
            <a:pPr algn="ctr">
              <a:buNone/>
            </a:pPr>
            <a:endParaRPr lang="en-US" sz="4800" dirty="0" smtClean="0"/>
          </a:p>
          <a:p>
            <a:pPr algn="ctr">
              <a:buNone/>
            </a:pPr>
            <a:r>
              <a:rPr lang="en-US" sz="4800" dirty="0" smtClean="0"/>
              <a:t>(God in Modern Society)</a:t>
            </a:r>
            <a:endParaRPr lang="en-GB" sz="4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People Don’t believe in God</a:t>
            </a:r>
            <a:endParaRPr lang="en-GB" dirty="0"/>
          </a:p>
        </p:txBody>
      </p:sp>
      <p:sp>
        <p:nvSpPr>
          <p:cNvPr id="3" name="Content Placeholder 2"/>
          <p:cNvSpPr>
            <a:spLocks noGrp="1"/>
          </p:cNvSpPr>
          <p:nvPr>
            <p:ph idx="1"/>
          </p:nvPr>
        </p:nvSpPr>
        <p:spPr/>
        <p:txBody>
          <a:bodyPr/>
          <a:lstStyle/>
          <a:p>
            <a:pPr marL="514350" indent="-514350">
              <a:buAutoNum type="arabicPeriod"/>
            </a:pPr>
            <a:r>
              <a:rPr lang="en-US" dirty="0" smtClean="0"/>
              <a:t>Personal negative experiences</a:t>
            </a:r>
          </a:p>
          <a:p>
            <a:pPr marL="514350" indent="-514350">
              <a:buAutoNum type="arabicPeriod"/>
            </a:pPr>
            <a:r>
              <a:rPr lang="en-US" dirty="0" smtClean="0"/>
              <a:t>Natural disasters</a:t>
            </a:r>
          </a:p>
          <a:p>
            <a:pPr marL="514350" indent="-514350">
              <a:buAutoNum type="arabicPeriod"/>
            </a:pPr>
            <a:r>
              <a:rPr lang="en-US" dirty="0" smtClean="0"/>
              <a:t>Human made disasters</a:t>
            </a:r>
          </a:p>
          <a:p>
            <a:pPr marL="514350" indent="-514350">
              <a:buAutoNum type="arabicPeriod"/>
            </a:pPr>
            <a:r>
              <a:rPr lang="en-US" dirty="0" smtClean="0"/>
              <a:t>Bad behaviors by professed believers in God</a:t>
            </a:r>
          </a:p>
          <a:p>
            <a:pPr marL="514350" indent="-514350">
              <a:buAutoNum type="arabicPeriod"/>
            </a:pPr>
            <a:r>
              <a:rPr lang="en-US" dirty="0" smtClean="0"/>
              <a:t>Lack of empirical evidence of God’s existence</a:t>
            </a:r>
          </a:p>
          <a:p>
            <a:pPr marL="514350" indent="-514350">
              <a:buAutoNum type="arabicPeriod"/>
            </a:pPr>
            <a:endParaRPr lang="en-GB"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66801"/>
            <a:ext cx="7772400" cy="1219200"/>
          </a:xfrm>
        </p:spPr>
        <p:txBody>
          <a:bodyPr>
            <a:normAutofit/>
          </a:bodyPr>
          <a:lstStyle/>
          <a:p>
            <a:r>
              <a:rPr lang="en-US" sz="2400" dirty="0" smtClean="0"/>
              <a:t>GES 112 (God in Modern Society)</a:t>
            </a:r>
            <a:endParaRPr lang="en-US" sz="2400" dirty="0"/>
          </a:p>
        </p:txBody>
      </p:sp>
      <p:sp>
        <p:nvSpPr>
          <p:cNvPr id="3" name="Subtitle 2"/>
          <p:cNvSpPr>
            <a:spLocks noGrp="1"/>
          </p:cNvSpPr>
          <p:nvPr>
            <p:ph type="subTitle" idx="1"/>
          </p:nvPr>
        </p:nvSpPr>
        <p:spPr>
          <a:xfrm>
            <a:off x="1371600" y="1981200"/>
            <a:ext cx="6400800" cy="5105400"/>
          </a:xfrm>
        </p:spPr>
        <p:txBody>
          <a:bodyPr>
            <a:noAutofit/>
          </a:bodyPr>
          <a:lstStyle/>
          <a:p>
            <a:r>
              <a:rPr lang="en-US" sz="2800" b="1" u="sng" dirty="0" smtClean="0">
                <a:solidFill>
                  <a:schemeClr val="tx1"/>
                </a:solidFill>
              </a:rPr>
              <a:t>Myth &amp; Mythology</a:t>
            </a:r>
            <a:r>
              <a:rPr lang="en-US" sz="2800" b="1" dirty="0" smtClean="0">
                <a:solidFill>
                  <a:schemeClr val="tx1"/>
                </a:solidFill>
              </a:rPr>
              <a:t> </a:t>
            </a:r>
          </a:p>
          <a:p>
            <a:pPr algn="just"/>
            <a:r>
              <a:rPr lang="en-US" sz="2800" b="1" dirty="0" smtClean="0">
                <a:solidFill>
                  <a:schemeClr val="tx1"/>
                </a:solidFill>
              </a:rPr>
              <a:t>They are ways through which people over time have tried to explain meaning for events/occurrences in the world. Mythology is the body of stories told to explain the world and its mysteries.</a:t>
            </a:r>
          </a:p>
          <a:p>
            <a:pPr algn="just"/>
            <a:r>
              <a:rPr lang="en-US" sz="2800" b="1" dirty="0" smtClean="0">
                <a:solidFill>
                  <a:schemeClr val="tx1"/>
                </a:solidFill>
              </a:rPr>
              <a:t>Myths are different from folklores. The latter are not true, but most religions hold their myths as very true. Pg 5-6, God </a:t>
            </a:r>
            <a:r>
              <a:rPr lang="en-US" sz="2800" dirty="0" smtClean="0"/>
              <a:t>Today.</a:t>
            </a:r>
            <a:endParaRPr 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GES 112</a:t>
            </a:r>
            <a:endParaRPr lang="en-US" dirty="0"/>
          </a:p>
        </p:txBody>
      </p:sp>
      <p:sp>
        <p:nvSpPr>
          <p:cNvPr id="3" name="Content Placeholder 2"/>
          <p:cNvSpPr>
            <a:spLocks noGrp="1"/>
          </p:cNvSpPr>
          <p:nvPr>
            <p:ph idx="1"/>
          </p:nvPr>
        </p:nvSpPr>
        <p:spPr/>
        <p:txBody>
          <a:bodyPr>
            <a:normAutofit lnSpcReduction="10000"/>
          </a:bodyPr>
          <a:lstStyle/>
          <a:p>
            <a:r>
              <a:rPr lang="en-US" b="1" dirty="0" smtClean="0"/>
              <a:t>Functional definition of religion</a:t>
            </a:r>
            <a:r>
              <a:rPr lang="en-US" dirty="0" smtClean="0"/>
              <a:t>: Some definitions see religion as arising from human thoughts or their societies as a means of solving personal, psychological or societal problems.</a:t>
            </a:r>
          </a:p>
          <a:p>
            <a:r>
              <a:rPr lang="en-US" b="1" dirty="0" smtClean="0"/>
              <a:t>Substantive definitions</a:t>
            </a:r>
            <a:r>
              <a:rPr lang="en-US" dirty="0" smtClean="0"/>
              <a:t>: religion is seen as essentialist and independent of human thought. </a:t>
            </a:r>
          </a:p>
          <a:p>
            <a:r>
              <a:rPr lang="en-US" dirty="0" smtClean="0"/>
              <a:t>See pg 6-7, God Today.</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meaning of religion</a:t>
            </a:r>
            <a:endParaRPr lang="en-GB" dirty="0"/>
          </a:p>
        </p:txBody>
      </p:sp>
      <p:sp>
        <p:nvSpPr>
          <p:cNvPr id="3" name="Content Placeholder 2"/>
          <p:cNvSpPr>
            <a:spLocks noGrp="1"/>
          </p:cNvSpPr>
          <p:nvPr>
            <p:ph idx="1"/>
          </p:nvPr>
        </p:nvSpPr>
        <p:spPr/>
        <p:txBody>
          <a:bodyPr/>
          <a:lstStyle/>
          <a:p>
            <a:pPr>
              <a:buFont typeface="Symbol"/>
              <a:buChar char="Þ"/>
            </a:pPr>
            <a:r>
              <a:rPr lang="en-US" dirty="0" smtClean="0"/>
              <a:t>From the Latin root words:</a:t>
            </a:r>
          </a:p>
          <a:p>
            <a:pPr>
              <a:buFont typeface="Symbol"/>
              <a:buChar char="Þ"/>
            </a:pPr>
            <a:r>
              <a:rPr lang="en-US" dirty="0" smtClean="0"/>
              <a:t>1. </a:t>
            </a:r>
            <a:r>
              <a:rPr lang="en-US" dirty="0" err="1" smtClean="0"/>
              <a:t>Ligare</a:t>
            </a:r>
            <a:r>
              <a:rPr lang="en-US" dirty="0" smtClean="0"/>
              <a:t>: To bind</a:t>
            </a:r>
          </a:p>
          <a:p>
            <a:pPr>
              <a:buNone/>
            </a:pPr>
            <a:endParaRPr lang="en-US" dirty="0" smtClean="0"/>
          </a:p>
          <a:p>
            <a:pPr>
              <a:buFont typeface="Symbol"/>
              <a:buChar char="Þ"/>
            </a:pPr>
            <a:r>
              <a:rPr lang="en-US" dirty="0" smtClean="0"/>
              <a:t>2. </a:t>
            </a:r>
            <a:r>
              <a:rPr lang="en-US" dirty="0" err="1" smtClean="0"/>
              <a:t>Religare</a:t>
            </a:r>
            <a:r>
              <a:rPr lang="en-US" dirty="0" smtClean="0"/>
              <a:t>: To Unite</a:t>
            </a:r>
          </a:p>
          <a:p>
            <a:pPr>
              <a:buFont typeface="Symbol"/>
              <a:buChar char="Þ"/>
            </a:pPr>
            <a:endParaRPr lang="en-US" dirty="0" smtClean="0"/>
          </a:p>
          <a:p>
            <a:pPr>
              <a:buFont typeface="Symbol"/>
              <a:buChar char="Þ"/>
            </a:pPr>
            <a:r>
              <a:rPr lang="en-US" dirty="0" smtClean="0"/>
              <a:t>3. </a:t>
            </a:r>
            <a:r>
              <a:rPr lang="en-US" dirty="0" err="1" smtClean="0"/>
              <a:t>Religio</a:t>
            </a:r>
            <a:r>
              <a:rPr lang="en-US" dirty="0" smtClean="0"/>
              <a:t>: Relationship</a:t>
            </a:r>
            <a:endParaRPr lang="en-GB"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GES 122</a:t>
            </a:r>
            <a:endParaRPr lang="en-US" dirty="0"/>
          </a:p>
        </p:txBody>
      </p:sp>
      <p:sp>
        <p:nvSpPr>
          <p:cNvPr id="3" name="Content Placeholder 2"/>
          <p:cNvSpPr>
            <a:spLocks noGrp="1"/>
          </p:cNvSpPr>
          <p:nvPr>
            <p:ph idx="1"/>
          </p:nvPr>
        </p:nvSpPr>
        <p:spPr/>
        <p:txBody>
          <a:bodyPr>
            <a:normAutofit fontScale="92500"/>
          </a:bodyPr>
          <a:lstStyle/>
          <a:p>
            <a:r>
              <a:rPr lang="en-US" dirty="0" smtClean="0"/>
              <a:t>Kindly know definitions and the scholar that gave the definition. For the purpose of exams, know the definitions given by the following people:</a:t>
            </a:r>
          </a:p>
          <a:p>
            <a:pPr>
              <a:buNone/>
            </a:pPr>
            <a:r>
              <a:rPr lang="en-US" dirty="0" smtClean="0"/>
              <a:t>1. Paul </a:t>
            </a:r>
            <a:r>
              <a:rPr lang="en-US" dirty="0" err="1" smtClean="0"/>
              <a:t>Tilich</a:t>
            </a:r>
            <a:endParaRPr lang="en-US" dirty="0" smtClean="0"/>
          </a:p>
          <a:p>
            <a:pPr>
              <a:buNone/>
            </a:pPr>
            <a:r>
              <a:rPr lang="en-US" dirty="0" smtClean="0"/>
              <a:t>2. Bolaji Idowu</a:t>
            </a:r>
          </a:p>
          <a:p>
            <a:pPr>
              <a:buNone/>
            </a:pPr>
            <a:r>
              <a:rPr lang="en-US" dirty="0" smtClean="0"/>
              <a:t>3. Emile Durkheim</a:t>
            </a:r>
          </a:p>
          <a:p>
            <a:pPr>
              <a:buNone/>
            </a:pPr>
            <a:r>
              <a:rPr lang="en-US" dirty="0" smtClean="0"/>
              <a:t>4. Alfred Whitehead</a:t>
            </a:r>
          </a:p>
          <a:p>
            <a:pPr>
              <a:buNone/>
            </a:pPr>
            <a:r>
              <a:rPr lang="en-US" dirty="0" smtClean="0"/>
              <a:t>5. Rudolf Otto</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 Critical Analysis of The Phenomenon of Religion (pg 11-19, God Today)</a:t>
            </a:r>
            <a:endParaRPr lang="en-US" dirty="0"/>
          </a:p>
        </p:txBody>
      </p:sp>
      <p:sp>
        <p:nvSpPr>
          <p:cNvPr id="3" name="Content Placeholder 2"/>
          <p:cNvSpPr>
            <a:spLocks noGrp="1"/>
          </p:cNvSpPr>
          <p:nvPr>
            <p:ph idx="1"/>
          </p:nvPr>
        </p:nvSpPr>
        <p:spPr/>
        <p:txBody>
          <a:bodyPr>
            <a:normAutofit lnSpcReduction="10000"/>
          </a:bodyPr>
          <a:lstStyle/>
          <a:p>
            <a:r>
              <a:rPr lang="en-US" dirty="0" smtClean="0"/>
              <a:t>1. Karl Marx: Religion is the sigh of the oppressed creature…a protest against real suffering. It is the opium of the people.</a:t>
            </a:r>
          </a:p>
          <a:p>
            <a:r>
              <a:rPr lang="en-US" dirty="0" smtClean="0"/>
              <a:t>Marx was not a religious scholar, he was an economics theorist and social critic. </a:t>
            </a:r>
          </a:p>
          <a:p>
            <a:r>
              <a:rPr lang="en-US" dirty="0" smtClean="0"/>
              <a:t>To Marx, religion was a symptom of social and economic injustice. Religion is not necessarily a creation of the bourgeoisies, but an expression that all is not well in the society.</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Karl Marx</a:t>
            </a:r>
            <a:endParaRPr lang="en-US" dirty="0"/>
          </a:p>
        </p:txBody>
      </p:sp>
      <p:sp>
        <p:nvSpPr>
          <p:cNvPr id="3" name="Content Placeholder 2"/>
          <p:cNvSpPr>
            <a:spLocks noGrp="1"/>
          </p:cNvSpPr>
          <p:nvPr>
            <p:ph idx="1"/>
          </p:nvPr>
        </p:nvSpPr>
        <p:spPr/>
        <p:txBody>
          <a:bodyPr>
            <a:normAutofit lnSpcReduction="10000"/>
          </a:bodyPr>
          <a:lstStyle/>
          <a:p>
            <a:r>
              <a:rPr lang="en-US" dirty="0" smtClean="0"/>
              <a:t>Religion gives hope in the face of hopelessness. It gives people happiness in the face of injustice</a:t>
            </a:r>
          </a:p>
          <a:p>
            <a:r>
              <a:rPr lang="en-US" dirty="0" smtClean="0"/>
              <a:t>Religion is not needed. What is needed is economic and social justice, equitable distribution of (national) wealth and religion will loose relevance.</a:t>
            </a:r>
          </a:p>
          <a:p>
            <a:r>
              <a:rPr lang="en-US" dirty="0" smtClean="0"/>
              <a:t>To Marx, the cure for religion is justice.</a:t>
            </a:r>
          </a:p>
          <a:p>
            <a:r>
              <a:rPr lang="en-US" dirty="0" smtClean="0"/>
              <a:t>Religion is used to maintain inequality.</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Critical Appraisal of Karl Marx Theory on Religion</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It is true that religion can be used to fool people and give them diversionary but unhelpful for their real welfare.</a:t>
            </a:r>
          </a:p>
          <a:p>
            <a:r>
              <a:rPr lang="en-US" dirty="0" smtClean="0"/>
              <a:t>But Marx is not a theologian or religion scholar; the quality of his contribution in the discourse will be limited.</a:t>
            </a:r>
          </a:p>
          <a:p>
            <a:r>
              <a:rPr lang="en-US" dirty="0" smtClean="0"/>
              <a:t>Many world religion actually strive to maintain equality and fairness; they promote love, caring and sharing. </a:t>
            </a:r>
            <a:r>
              <a:rPr lang="en-US" dirty="0" err="1" smtClean="0"/>
              <a:t>E.g</a:t>
            </a:r>
            <a:r>
              <a:rPr lang="en-US" dirty="0"/>
              <a:t> </a:t>
            </a:r>
            <a:r>
              <a:rPr lang="en-US" dirty="0" smtClean="0"/>
              <a:t>Rev. Martin Luther King fought injustice using his faith tradition. So also is Mahatma Gandhi of India.</a:t>
            </a:r>
          </a:p>
          <a:p>
            <a:r>
              <a:rPr lang="en-US" dirty="0" smtClean="0"/>
              <a:t>Some affluent nations are still religious </a:t>
            </a:r>
            <a:r>
              <a:rPr lang="en-US" dirty="0" err="1" smtClean="0"/>
              <a:t>e.g</a:t>
            </a:r>
            <a:r>
              <a:rPr lang="en-US" dirty="0" smtClean="0"/>
              <a:t> the UAE, Saudi Arabia, The Vatican City. </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Sigmund Freud</a:t>
            </a:r>
            <a:endParaRPr lang="en-US" dirty="0"/>
          </a:p>
        </p:txBody>
      </p:sp>
      <p:sp>
        <p:nvSpPr>
          <p:cNvPr id="3" name="Content Placeholder 2"/>
          <p:cNvSpPr>
            <a:spLocks noGrp="1"/>
          </p:cNvSpPr>
          <p:nvPr>
            <p:ph idx="1"/>
          </p:nvPr>
        </p:nvSpPr>
        <p:spPr/>
        <p:txBody>
          <a:bodyPr/>
          <a:lstStyle/>
          <a:p>
            <a:r>
              <a:rPr lang="en-US" dirty="0" smtClean="0"/>
              <a:t>Was a psychologist. </a:t>
            </a:r>
          </a:p>
          <a:p>
            <a:r>
              <a:rPr lang="en-US" dirty="0" smtClean="0"/>
              <a:t>His work Totem and Taboo and the Future of Illusion</a:t>
            </a:r>
          </a:p>
          <a:p>
            <a:r>
              <a:rPr lang="en-US" dirty="0" smtClean="0"/>
              <a:t>Religion is a symptom of insecurity in humans from childhood manifesting in adulthood</a:t>
            </a:r>
          </a:p>
          <a:p>
            <a:r>
              <a:rPr lang="en-US" dirty="0" smtClean="0"/>
              <a:t>The father’s inadequacies are being compensated in form of God, a perfect father.</a:t>
            </a:r>
          </a:p>
          <a:p>
            <a:r>
              <a:rPr lang="en-US" dirty="0" smtClean="0"/>
              <a:t>God is nothing more than and exalted father.</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Freud</a:t>
            </a:r>
            <a:endParaRPr lang="en-US" dirty="0"/>
          </a:p>
        </p:txBody>
      </p:sp>
      <p:sp>
        <p:nvSpPr>
          <p:cNvPr id="3" name="Content Placeholder 2"/>
          <p:cNvSpPr>
            <a:spLocks noGrp="1"/>
          </p:cNvSpPr>
          <p:nvPr>
            <p:ph idx="1"/>
          </p:nvPr>
        </p:nvSpPr>
        <p:spPr/>
        <p:txBody>
          <a:bodyPr>
            <a:normAutofit lnSpcReduction="10000"/>
          </a:bodyPr>
          <a:lstStyle/>
          <a:p>
            <a:r>
              <a:rPr lang="en-US" dirty="0" smtClean="0"/>
              <a:t>He finds parallel between religion and obsessive neurotics.</a:t>
            </a:r>
          </a:p>
          <a:p>
            <a:r>
              <a:rPr lang="en-US" dirty="0" smtClean="0"/>
              <a:t>Belief in God is a projection of the good qualities of a good father to an imaginary being called “God.”</a:t>
            </a:r>
          </a:p>
          <a:p>
            <a:r>
              <a:rPr lang="en-US" dirty="0" smtClean="0"/>
              <a:t>He claims that children displace some of their feelings from their father on to an animal.</a:t>
            </a:r>
          </a:p>
          <a:p>
            <a:r>
              <a:rPr lang="en-US" dirty="0" smtClean="0"/>
              <a:t>The cure for religion is for people to “grow up.”</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Critical analysis of Freud’s theory on Religion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He was not a theologian or religious scholar, his contributions on the subject are suspect.</a:t>
            </a:r>
          </a:p>
          <a:p>
            <a:r>
              <a:rPr lang="en-US" dirty="0" smtClean="0"/>
              <a:t>Other scholars like White point out the lack of scientific or empirical proof for his claim.</a:t>
            </a:r>
          </a:p>
          <a:p>
            <a:r>
              <a:rPr lang="en-US" dirty="0" smtClean="0"/>
              <a:t>His idea of “a father” is western; there are other communities that the father may not fit the context of Freud.</a:t>
            </a:r>
          </a:p>
          <a:p>
            <a:r>
              <a:rPr lang="en-US" dirty="0" smtClean="0"/>
              <a:t>Not all religions see God as a father; his theory assumes all religions are like Christianity/Judaism. Islam for </a:t>
            </a:r>
            <a:r>
              <a:rPr lang="en-US" dirty="0" err="1" smtClean="0"/>
              <a:t>e.g</a:t>
            </a:r>
            <a:r>
              <a:rPr lang="en-US" dirty="0" smtClean="0"/>
              <a:t> forbids seeing God as a father.</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Emile Durkheim</a:t>
            </a:r>
            <a:endParaRPr lang="en-US" dirty="0"/>
          </a:p>
        </p:txBody>
      </p:sp>
      <p:sp>
        <p:nvSpPr>
          <p:cNvPr id="3" name="Content Placeholder 2"/>
          <p:cNvSpPr>
            <a:spLocks noGrp="1"/>
          </p:cNvSpPr>
          <p:nvPr>
            <p:ph idx="1"/>
          </p:nvPr>
        </p:nvSpPr>
        <p:spPr/>
        <p:txBody>
          <a:bodyPr>
            <a:normAutofit lnSpcReduction="10000"/>
          </a:bodyPr>
          <a:lstStyle/>
          <a:p>
            <a:r>
              <a:rPr lang="en-US" dirty="0" smtClean="0"/>
              <a:t>A sociologist.</a:t>
            </a:r>
          </a:p>
          <a:p>
            <a:r>
              <a:rPr lang="en-US" dirty="0" smtClean="0"/>
              <a:t>His work includes “The Elementary Forms of Religious Life.”</a:t>
            </a:r>
          </a:p>
          <a:p>
            <a:r>
              <a:rPr lang="en-US" dirty="0" smtClean="0"/>
              <a:t>He believed religion is a creation of societies.</a:t>
            </a:r>
          </a:p>
          <a:p>
            <a:r>
              <a:rPr lang="en-US" dirty="0" smtClean="0"/>
              <a:t>Societies have values on ethics and morals which they desire to enforce; they want compliance.</a:t>
            </a:r>
          </a:p>
          <a:p>
            <a:r>
              <a:rPr lang="en-US" dirty="0" smtClean="0"/>
              <a:t>They attribute such to some divine sources in order to enforce such values.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Critical Appraisal of Durkheim’s Theory on Religion</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Durkheim assumes uniformity and unity in certain religious beliefs. For </a:t>
            </a:r>
            <a:r>
              <a:rPr lang="en-US" dirty="0" err="1" smtClean="0"/>
              <a:t>e.g</a:t>
            </a:r>
            <a:r>
              <a:rPr lang="en-US" dirty="0" smtClean="0"/>
              <a:t>, not all religions have any serious moral or ethical codes; some ancient religions such as of Greeks do not have such ethical codes or creeds.</a:t>
            </a:r>
          </a:p>
          <a:p>
            <a:r>
              <a:rPr lang="en-US" dirty="0" smtClean="0"/>
              <a:t>The religious and socio-cultural context he knew shaped his total picture of religion. Religious beliefs are not homogenous. </a:t>
            </a:r>
          </a:p>
          <a:p>
            <a:r>
              <a:rPr lang="en-US" dirty="0" smtClean="0"/>
              <a:t>There are secular states that have religious people as leaders; his description of religion does not put that in consideration. </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 Questions</a:t>
            </a:r>
            <a:endParaRPr lang="en-US" dirty="0"/>
          </a:p>
        </p:txBody>
      </p:sp>
      <p:sp>
        <p:nvSpPr>
          <p:cNvPr id="3" name="Content Placeholder 2"/>
          <p:cNvSpPr>
            <a:spLocks noGrp="1"/>
          </p:cNvSpPr>
          <p:nvPr>
            <p:ph idx="1"/>
          </p:nvPr>
        </p:nvSpPr>
        <p:spPr/>
        <p:txBody>
          <a:bodyPr/>
          <a:lstStyle/>
          <a:p>
            <a:r>
              <a:rPr lang="en-US" dirty="0" smtClean="0"/>
              <a:t>What is the implication of the varying theories about the nature of religion</a:t>
            </a:r>
          </a:p>
          <a:p>
            <a:pPr>
              <a:buNone/>
            </a:pPr>
            <a:r>
              <a:rPr lang="en-US" dirty="0" smtClean="0"/>
              <a:t>    - who is really correct??</a:t>
            </a:r>
          </a:p>
          <a:p>
            <a:r>
              <a:rPr lang="en-US" dirty="0" smtClean="0"/>
              <a:t>Why do people attempt to remove religion from contemporary experience of modern societies? Is it necessary to achieve their goals?</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Etymology of the word “religion.”</a:t>
            </a:r>
            <a:endParaRPr lang="en-GB" dirty="0"/>
          </a:p>
        </p:txBody>
      </p:sp>
      <p:sp>
        <p:nvSpPr>
          <p:cNvPr id="3" name="Content Placeholder 2"/>
          <p:cNvSpPr>
            <a:spLocks noGrp="1"/>
          </p:cNvSpPr>
          <p:nvPr>
            <p:ph idx="1"/>
          </p:nvPr>
        </p:nvSpPr>
        <p:spPr/>
        <p:txBody>
          <a:bodyPr/>
          <a:lstStyle/>
          <a:p>
            <a:r>
              <a:rPr lang="en-US" dirty="0" smtClean="0"/>
              <a:t>Possible Latin words that evolved to become English word “religion” are:</a:t>
            </a:r>
          </a:p>
          <a:p>
            <a:pPr marL="514350" indent="-514350">
              <a:buAutoNum type="arabicPeriod"/>
            </a:pPr>
            <a:r>
              <a:rPr lang="en-US" dirty="0" err="1" smtClean="0"/>
              <a:t>Ligare</a:t>
            </a:r>
            <a:r>
              <a:rPr lang="en-US" dirty="0" smtClean="0"/>
              <a:t> = to bind</a:t>
            </a:r>
          </a:p>
          <a:p>
            <a:pPr marL="514350" indent="-514350">
              <a:buAutoNum type="arabicPeriod"/>
            </a:pPr>
            <a:r>
              <a:rPr lang="en-US" dirty="0" err="1" smtClean="0"/>
              <a:t>Religare</a:t>
            </a:r>
            <a:r>
              <a:rPr lang="en-US" dirty="0" smtClean="0"/>
              <a:t> = to unite</a:t>
            </a:r>
          </a:p>
          <a:p>
            <a:pPr marL="514350" indent="-514350">
              <a:buAutoNum type="arabicPeriod"/>
            </a:pPr>
            <a:r>
              <a:rPr lang="en-US" dirty="0" err="1" smtClean="0"/>
              <a:t>Religio</a:t>
            </a:r>
            <a:r>
              <a:rPr lang="en-US" dirty="0" smtClean="0"/>
              <a:t> = relationship</a:t>
            </a:r>
            <a:endParaRPr lang="en-GB"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dirty="0" smtClean="0"/>
              <a:t>These words may suggest the connection between two parties; people and God/the creator. Or between the worshipper and the worshipped. </a:t>
            </a:r>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religion</a:t>
            </a:r>
            <a:endParaRPr lang="en-GB" dirty="0"/>
          </a:p>
        </p:txBody>
      </p:sp>
      <p:sp>
        <p:nvSpPr>
          <p:cNvPr id="3" name="Content Placeholder 2"/>
          <p:cNvSpPr>
            <a:spLocks noGrp="1"/>
          </p:cNvSpPr>
          <p:nvPr>
            <p:ph idx="1"/>
          </p:nvPr>
        </p:nvSpPr>
        <p:spPr/>
        <p:txBody>
          <a:bodyPr/>
          <a:lstStyle/>
          <a:p>
            <a:r>
              <a:rPr lang="en-US" dirty="0" smtClean="0"/>
              <a:t>Dates way back. Human history is almost contemporaneous with history of religion. </a:t>
            </a:r>
          </a:p>
          <a:p>
            <a:r>
              <a:rPr lang="en-US" dirty="0" smtClean="0"/>
              <a:t>Richard Brown </a:t>
            </a:r>
            <a:r>
              <a:rPr lang="en-US" smtClean="0"/>
              <a:t>says humans are </a:t>
            </a:r>
            <a:r>
              <a:rPr lang="en-US" dirty="0" smtClean="0"/>
              <a:t>incurably religious. </a:t>
            </a:r>
          </a:p>
          <a:p>
            <a:r>
              <a:rPr lang="en-US" dirty="0" smtClean="0"/>
              <a:t>We do not know any human history that is devoid of religion or worship of something/someone.</a:t>
            </a:r>
            <a:endParaRPr lang="en-GB"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definitions of the term</a:t>
            </a:r>
            <a:endParaRPr lang="en-GB" dirty="0"/>
          </a:p>
        </p:txBody>
      </p:sp>
      <p:sp>
        <p:nvSpPr>
          <p:cNvPr id="3" name="Content Placeholder 2"/>
          <p:cNvSpPr>
            <a:spLocks noGrp="1"/>
          </p:cNvSpPr>
          <p:nvPr>
            <p:ph idx="1"/>
          </p:nvPr>
        </p:nvSpPr>
        <p:spPr/>
        <p:txBody>
          <a:bodyPr>
            <a:normAutofit fontScale="92500" lnSpcReduction="10000"/>
          </a:bodyPr>
          <a:lstStyle/>
          <a:p>
            <a:r>
              <a:rPr lang="en-US" dirty="0" smtClean="0"/>
              <a:t>There are more than 70 definitions of religion.</a:t>
            </a:r>
          </a:p>
          <a:p>
            <a:r>
              <a:rPr lang="en-US" dirty="0" smtClean="0"/>
              <a:t>The term is difficult to define because the experience differs from one tradition or perspective to the other.</a:t>
            </a:r>
          </a:p>
          <a:p>
            <a:r>
              <a:rPr lang="en-US" dirty="0" smtClean="0"/>
              <a:t> We will just focus on a few of them. See pages 6-9.</a:t>
            </a:r>
          </a:p>
          <a:p>
            <a:pPr>
              <a:buNone/>
            </a:pPr>
            <a:r>
              <a:rPr lang="en-US" dirty="0" smtClean="0"/>
              <a:t>For the purpose of exams, know the definition by : Rudolf Otto, Paul Tillich, </a:t>
            </a:r>
            <a:r>
              <a:rPr lang="en-US" dirty="0" err="1" smtClean="0"/>
              <a:t>Bolaji</a:t>
            </a:r>
            <a:r>
              <a:rPr lang="en-US" dirty="0" smtClean="0"/>
              <a:t> </a:t>
            </a:r>
            <a:r>
              <a:rPr lang="en-US" dirty="0" err="1" smtClean="0"/>
              <a:t>Idowu</a:t>
            </a:r>
            <a:r>
              <a:rPr lang="en-US" dirty="0" smtClean="0"/>
              <a:t>, Alfred Whitehead, </a:t>
            </a:r>
            <a:r>
              <a:rPr lang="en-US" dirty="0" err="1" smtClean="0"/>
              <a:t>Olugbenga</a:t>
            </a:r>
            <a:r>
              <a:rPr lang="en-US" dirty="0" smtClean="0"/>
              <a:t> </a:t>
            </a:r>
            <a:r>
              <a:rPr lang="en-US" dirty="0" err="1" smtClean="0"/>
              <a:t>Efuntade</a:t>
            </a:r>
            <a:r>
              <a:rPr lang="en-US" dirty="0" smtClean="0"/>
              <a:t>. </a:t>
            </a:r>
            <a:br>
              <a:rPr lang="en-US" dirty="0" smtClean="0"/>
            </a:br>
            <a:endParaRPr lang="en-GB"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Philosophical Arguments in Support of the Existence of God</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Cosmological argument:</a:t>
            </a:r>
          </a:p>
          <a:p>
            <a:pPr>
              <a:buNone/>
            </a:pPr>
            <a:r>
              <a:rPr lang="en-US" dirty="0" smtClean="0"/>
              <a:t>It was St. Thomas Aquinas’ adaptation of </a:t>
            </a:r>
            <a:r>
              <a:rPr lang="en-US" dirty="0" err="1" smtClean="0"/>
              <a:t>Aristole’s</a:t>
            </a:r>
            <a:r>
              <a:rPr lang="en-US" dirty="0" smtClean="0"/>
              <a:t> philosophy of the “Prime Mover.”</a:t>
            </a:r>
          </a:p>
          <a:p>
            <a:r>
              <a:rPr lang="en-US" dirty="0" smtClean="0"/>
              <a:t>It is therefore also called the argument of “cause.”</a:t>
            </a:r>
          </a:p>
          <a:p>
            <a:r>
              <a:rPr lang="en-US" dirty="0" smtClean="0"/>
              <a:t>It is used by Christian theologians, appealing to logic, to show that God created the world and therefore must exist.</a:t>
            </a:r>
          </a:p>
          <a:p>
            <a:r>
              <a:rPr lang="en-US" dirty="0" smtClean="0"/>
              <a:t>“Every action is set in motion; nothing happens </a:t>
            </a:r>
            <a:r>
              <a:rPr lang="en-US" smtClean="0"/>
              <a:t>by chance.”</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Teleological argument</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It is an argument that all things in  nature necessarily depend on other things in order for them to exist.</a:t>
            </a:r>
          </a:p>
          <a:p>
            <a:r>
              <a:rPr lang="en-US" dirty="0" smtClean="0"/>
              <a:t>Major philosophers who taught this: Immanuel Kant, Thomas Aquinas.</a:t>
            </a:r>
          </a:p>
          <a:p>
            <a:r>
              <a:rPr lang="en-US" dirty="0" smtClean="0"/>
              <a:t>There is order, pattern or design in the universe which proves the existence of an Intelligence behind this design: design-designer paradigm.</a:t>
            </a:r>
          </a:p>
          <a:p>
            <a:r>
              <a:rPr lang="en-US" dirty="0" smtClean="0"/>
              <a:t>Design is seen in every sphere of nature; macro or micro levels, plant or animals, terrestrial or celestial.</a:t>
            </a:r>
          </a:p>
          <a:p>
            <a:r>
              <a:rPr lang="en-US" b="1" i="1" dirty="0" err="1" smtClean="0"/>
              <a:t>Teleo</a:t>
            </a:r>
            <a:r>
              <a:rPr lang="en-US" dirty="0" smtClean="0"/>
              <a:t> means distant/end/goal while </a:t>
            </a:r>
            <a:r>
              <a:rPr lang="en-US" b="1" i="1" dirty="0" smtClean="0"/>
              <a:t>logos</a:t>
            </a:r>
            <a:r>
              <a:rPr lang="en-US" dirty="0" smtClean="0"/>
              <a:t> means study/speech/word. It is the understanding that the world is a design, something preplanned.</a:t>
            </a:r>
          </a:p>
          <a:p>
            <a:r>
              <a:rPr lang="en-US" dirty="0" smtClean="0"/>
              <a:t>Also called the Intelligent design argument.</a:t>
            </a:r>
          </a:p>
          <a:p>
            <a:r>
              <a:rPr lang="en-US" dirty="0" smtClean="0"/>
              <a:t>This world is a design and the designer is God.</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Ontological Argument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Is a branch of metaphysics dealing with state of being or existence.</a:t>
            </a:r>
          </a:p>
          <a:p>
            <a:r>
              <a:rPr lang="en-US" dirty="0" smtClean="0"/>
              <a:t>Early church father, St. </a:t>
            </a:r>
            <a:r>
              <a:rPr lang="en-US" dirty="0" err="1" smtClean="0"/>
              <a:t>Anslem</a:t>
            </a:r>
            <a:r>
              <a:rPr lang="en-US" dirty="0" smtClean="0"/>
              <a:t> gave theological meaning to Plato’s philosophy on ontology.</a:t>
            </a:r>
          </a:p>
          <a:p>
            <a:r>
              <a:rPr lang="en-US" dirty="0" smtClean="0"/>
              <a:t>It does not try to prove the existence of God, but assumes it and measure virtue relative to God who is recognized as the Supreme Reality.</a:t>
            </a:r>
          </a:p>
          <a:p>
            <a:r>
              <a:rPr lang="en-US" dirty="0" smtClean="0"/>
              <a:t>The fact that people strive to be better people, more virtuous means there is a perfect being who people strive to be like i.e. God.</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Religious Argument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Rests on the fact that it seems humans all over the world in all cultures often exhibit religious traits/tendencies (regardless of their varying theological interpretations or supreme being) is the evidence there must be God.</a:t>
            </a:r>
          </a:p>
          <a:p>
            <a:r>
              <a:rPr lang="en-US" dirty="0" smtClean="0"/>
              <a:t>St. Augustine was a leader in this school of thought.</a:t>
            </a:r>
          </a:p>
          <a:p>
            <a:r>
              <a:rPr lang="en-US" dirty="0" smtClean="0"/>
              <a:t>God must have put the desire for religion in people’s heart so that we can seek God and know God better.</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Epistemological Argument</a:t>
            </a:r>
            <a:endParaRPr lang="en-US" dirty="0"/>
          </a:p>
        </p:txBody>
      </p:sp>
      <p:sp>
        <p:nvSpPr>
          <p:cNvPr id="3" name="Content Placeholder 2"/>
          <p:cNvSpPr>
            <a:spLocks noGrp="1"/>
          </p:cNvSpPr>
          <p:nvPr>
            <p:ph idx="1"/>
          </p:nvPr>
        </p:nvSpPr>
        <p:spPr/>
        <p:txBody>
          <a:bodyPr/>
          <a:lstStyle/>
          <a:p>
            <a:r>
              <a:rPr lang="en-US" dirty="0" smtClean="0"/>
              <a:t>Epistemology is the study of how we know, acquire truth/information.</a:t>
            </a:r>
          </a:p>
          <a:p>
            <a:r>
              <a:rPr lang="en-US" dirty="0" smtClean="0"/>
              <a:t>This argument is based on prowess of humans in acquiring knowledge in various fields. It wonders if it is possible for beings like humans to have existed by chance. It claims God, who is the </a:t>
            </a:r>
            <a:r>
              <a:rPr lang="en-US" b="1" dirty="0" smtClean="0"/>
              <a:t>Ultimate Intelligence</a:t>
            </a:r>
            <a:r>
              <a:rPr lang="en-US" dirty="0" smtClean="0"/>
              <a:t>, must have created humans in that manner </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for Discussion</a:t>
            </a:r>
            <a:endParaRPr lang="en-US" dirty="0"/>
          </a:p>
        </p:txBody>
      </p:sp>
      <p:sp>
        <p:nvSpPr>
          <p:cNvPr id="3" name="Content Placeholder 2"/>
          <p:cNvSpPr>
            <a:spLocks noGrp="1"/>
          </p:cNvSpPr>
          <p:nvPr>
            <p:ph idx="1"/>
          </p:nvPr>
        </p:nvSpPr>
        <p:spPr/>
        <p:txBody>
          <a:bodyPr/>
          <a:lstStyle/>
          <a:p>
            <a:r>
              <a:rPr lang="en-US" dirty="0" smtClean="0"/>
              <a:t>Which of these arguments would you consider the best, why?</a:t>
            </a:r>
          </a:p>
          <a:p>
            <a:r>
              <a:rPr lang="en-US" dirty="0" smtClean="0"/>
              <a:t>What are the possible weaknesses of </a:t>
            </a:r>
            <a:r>
              <a:rPr lang="en-US" smtClean="0"/>
              <a:t>these arguments?</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Definition of Some Concepts and Paradigms of God</a:t>
            </a:r>
            <a:endParaRPr lang="en-US" dirty="0"/>
          </a:p>
        </p:txBody>
      </p:sp>
      <p:sp>
        <p:nvSpPr>
          <p:cNvPr id="3" name="Content Placeholder 2"/>
          <p:cNvSpPr>
            <a:spLocks noGrp="1"/>
          </p:cNvSpPr>
          <p:nvPr>
            <p:ph idx="1"/>
          </p:nvPr>
        </p:nvSpPr>
        <p:spPr/>
        <p:txBody>
          <a:bodyPr>
            <a:normAutofit lnSpcReduction="10000"/>
          </a:bodyPr>
          <a:lstStyle/>
          <a:p>
            <a:r>
              <a:rPr lang="en-US" b="1" dirty="0" smtClean="0"/>
              <a:t>Monotheism:</a:t>
            </a:r>
            <a:r>
              <a:rPr lang="en-US" dirty="0" smtClean="0"/>
              <a:t> Is the belief in and the worship of only one God. It denies the possible existence of any other god. </a:t>
            </a:r>
            <a:r>
              <a:rPr lang="en-US" dirty="0" err="1" smtClean="0"/>
              <a:t>E.g</a:t>
            </a:r>
            <a:r>
              <a:rPr lang="en-US" dirty="0" smtClean="0"/>
              <a:t> Islam, Judaism, Christianity, (ATR?).</a:t>
            </a:r>
          </a:p>
          <a:p>
            <a:r>
              <a:rPr lang="en-US" b="1" dirty="0" smtClean="0"/>
              <a:t>Polytheism:</a:t>
            </a:r>
            <a:r>
              <a:rPr lang="en-US" dirty="0" smtClean="0"/>
              <a:t> Is the belief in and the worship of more than one god. E.g. ancient religions of Egypt, Rome, Greece, (ATR?).</a:t>
            </a:r>
          </a:p>
          <a:p>
            <a:r>
              <a:rPr lang="en-US" b="1" dirty="0" smtClean="0"/>
              <a:t>Pantheon:</a:t>
            </a:r>
            <a:r>
              <a:rPr lang="en-US" dirty="0" smtClean="0"/>
              <a:t> Is a house of worship (temple) where many gods are placed and worshipped. </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 of concepts </a:t>
            </a:r>
            <a:r>
              <a:rPr lang="en-US" dirty="0" err="1" smtClean="0"/>
              <a:t>ctd</a:t>
            </a:r>
            <a:r>
              <a:rPr lang="en-US" dirty="0" smtClean="0"/>
              <a:t>.</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Henotheism</a:t>
            </a:r>
            <a:r>
              <a:rPr lang="en-US" dirty="0" smtClean="0"/>
              <a:t>: Is the belief and worship of one god while accepting the possible existence of other gods. Henotheists will be loyal to their one god, but they acknowledge the existence of other (ethnic, tribal) gods.</a:t>
            </a:r>
          </a:p>
          <a:p>
            <a:r>
              <a:rPr lang="en-US" b="1" dirty="0" smtClean="0"/>
              <a:t>Pantheism</a:t>
            </a:r>
            <a:r>
              <a:rPr lang="en-US" dirty="0" smtClean="0"/>
              <a:t>: Is the belief that God is in nature and nature is God. They are one and the same. Everything in nature has God in it.</a:t>
            </a:r>
          </a:p>
          <a:p>
            <a:r>
              <a:rPr lang="en-US" b="1" dirty="0" smtClean="0"/>
              <a:t>Deism</a:t>
            </a:r>
            <a:r>
              <a:rPr lang="en-US" dirty="0" smtClean="0"/>
              <a:t>: Is the belief that God created the world, but no longer involved in the world; natural laws govern the world and there are no divine interventions in course of nature.</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 of concepts </a:t>
            </a:r>
            <a:r>
              <a:rPr lang="en-US" dirty="0" err="1" smtClean="0"/>
              <a:t>ctd</a:t>
            </a:r>
            <a:r>
              <a:rPr lang="en-US" dirty="0" smtClean="0"/>
              <a:t>.</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Animism:</a:t>
            </a:r>
            <a:r>
              <a:rPr lang="en-US" dirty="0" smtClean="0"/>
              <a:t> is the belief that spirits fill creation and inhabit them such that all nature are not really inanimate. Mountains, trees, rivers etc all have spirits inhabiting them.</a:t>
            </a:r>
          </a:p>
          <a:p>
            <a:r>
              <a:rPr lang="en-US" b="1" dirty="0" smtClean="0"/>
              <a:t>Dynamism:</a:t>
            </a:r>
            <a:r>
              <a:rPr lang="en-US" dirty="0" smtClean="0"/>
              <a:t> is the belief that certain, not all, nature have spirits or special force called “</a:t>
            </a:r>
            <a:r>
              <a:rPr lang="en-US" b="1" i="1" u="sng" dirty="0" smtClean="0"/>
              <a:t>manna</a:t>
            </a:r>
            <a:r>
              <a:rPr lang="en-US" dirty="0" smtClean="0"/>
              <a:t>” in them. So certain tree or a particular river may have manna which qualified it to be revered or worshipped. </a:t>
            </a:r>
          </a:p>
          <a:p>
            <a:r>
              <a:rPr lang="en-US" b="1" dirty="0" smtClean="0"/>
              <a:t>New Age:</a:t>
            </a:r>
            <a:r>
              <a:rPr lang="en-US" dirty="0" smtClean="0"/>
              <a:t> Very complex and difficult to define. But it is a mix of certain religious beliefs such as in meditation, life in planes, communication with spirits etc.</a:t>
            </a:r>
          </a:p>
          <a:p>
            <a:endParaRPr lang="en-US" dirty="0" smtClean="0"/>
          </a:p>
          <a:p>
            <a:endParaRPr lang="en-US" dirty="0" smtClean="0"/>
          </a:p>
          <a:p>
            <a:endParaRPr lang="en-US" dirty="0" smtClean="0"/>
          </a:p>
          <a:p>
            <a:pPr>
              <a:buNone/>
            </a:pPr>
            <a:endParaRPr lang="en-US"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 </a:t>
            </a:r>
            <a:r>
              <a:rPr lang="en-US" dirty="0" err="1" smtClean="0"/>
              <a:t>ctd</a:t>
            </a:r>
            <a:r>
              <a:rPr lang="en-US" dirty="0" smtClean="0"/>
              <a:t>.</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Monism:</a:t>
            </a:r>
            <a:r>
              <a:rPr lang="en-US" dirty="0" smtClean="0"/>
              <a:t> here no distinction between certain spheres of existence; matter and God are not different. Matter and mind are one and the same.</a:t>
            </a:r>
          </a:p>
          <a:p>
            <a:r>
              <a:rPr lang="en-US" b="1" dirty="0" smtClean="0"/>
              <a:t>Gnosticism:</a:t>
            </a:r>
            <a:r>
              <a:rPr lang="en-US" dirty="0" smtClean="0"/>
              <a:t> it literarily means “knowledge” or “to know.” It is multi-layers of beliefs; it is a pre-Christian philosophy, religion or world view. It teaches that the material world is a creation of the demiurge, and it is inferior, rather we should pursue the higher world of the spirit. To them, liberation is in sacrificing personal comfort even to the point of poverty, sexual abstinence etc.</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 </a:t>
            </a:r>
            <a:r>
              <a:rPr lang="en-US" dirty="0" err="1" smtClean="0"/>
              <a:t>ctd</a:t>
            </a:r>
            <a:r>
              <a:rPr lang="en-US" dirty="0" smtClean="0"/>
              <a:t>.</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Agnosticism: It believes the possibility of the existence of God, but insists that God is too big to be known. Humans cannot know God, there is therefore no reason to talk about God because we do </a:t>
            </a:r>
            <a:r>
              <a:rPr lang="en-US" smtClean="0"/>
              <a:t>not know.</a:t>
            </a:r>
            <a:endParaRPr lang="en-US" dirty="0" smtClean="0"/>
          </a:p>
          <a:p>
            <a:endParaRPr lang="en-US" dirty="0" smtClean="0"/>
          </a:p>
          <a:p>
            <a:r>
              <a:rPr lang="en-US" dirty="0" smtClean="0"/>
              <a:t>Theism: The general description of the belief in the existence of God or gods and with varying level of involvement with the world,</a:t>
            </a:r>
          </a:p>
          <a:p>
            <a:r>
              <a:rPr lang="en-US" dirty="0" smtClean="0"/>
              <a:t>Atheism: The belief that there is no God/gods. There is no supernatural powers involved in nature/creation. God is the creation of human mind. Etc.</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GES 112 QUIZ (APRIL 9, 2014).</a:t>
            </a:r>
            <a:endParaRPr lang="en-US" dirty="0"/>
          </a:p>
        </p:txBody>
      </p:sp>
      <p:sp>
        <p:nvSpPr>
          <p:cNvPr id="3" name="Content Placeholder 2"/>
          <p:cNvSpPr>
            <a:spLocks noGrp="1"/>
          </p:cNvSpPr>
          <p:nvPr>
            <p:ph idx="1"/>
          </p:nvPr>
        </p:nvSpPr>
        <p:spPr/>
        <p:txBody>
          <a:bodyPr>
            <a:normAutofit fontScale="25000" lnSpcReduction="20000"/>
          </a:bodyPr>
          <a:lstStyle/>
          <a:p>
            <a:pPr>
              <a:buNone/>
            </a:pPr>
            <a:endParaRPr lang="en-US" dirty="0" smtClean="0"/>
          </a:p>
          <a:p>
            <a:pPr lvl="0">
              <a:buNone/>
            </a:pPr>
            <a:r>
              <a:rPr lang="en-US" sz="9600" dirty="0" smtClean="0"/>
              <a:t>1. ____________ are stories told to explain the world and its mysteries by specific religious traditions  (a) Mysteries (b) Myth (c) Methodology (d) Religion.</a:t>
            </a:r>
          </a:p>
          <a:p>
            <a:pPr lvl="0">
              <a:buNone/>
            </a:pPr>
            <a:r>
              <a:rPr lang="en-US" sz="9600" dirty="0" smtClean="0"/>
              <a:t>2. The scholar who postulated that religion is nothing more than symptom of economic oppression and the sigh of the oppressed is (a) Emile Durkheim (b) Sigmund Freud (c) Karl Marx (d) Alfred Whitehead.</a:t>
            </a:r>
          </a:p>
          <a:p>
            <a:pPr lvl="0">
              <a:buNone/>
            </a:pPr>
            <a:r>
              <a:rPr lang="en-US" sz="9600" dirty="0" smtClean="0"/>
              <a:t>3. _____________________ defined religion as “what an individual does with his solitariness.”</a:t>
            </a:r>
          </a:p>
          <a:p>
            <a:pPr lvl="0">
              <a:buNone/>
            </a:pPr>
            <a:r>
              <a:rPr lang="en-US" sz="9600" dirty="0" smtClean="0"/>
              <a:t>4. The belief and worship of one God/god while acknowledging the possibility of the existence of other gods is called             (a) polytheism (b) Monotheism (c) Henotheism (d) Monism.</a:t>
            </a:r>
          </a:p>
          <a:p>
            <a:pPr lvl="0">
              <a:buNone/>
            </a:pPr>
            <a:r>
              <a:rPr lang="en-US" sz="9600" dirty="0" smtClean="0"/>
              <a:t>5. As far as agnostics are concerned, God can be known if we seek God through denying of the flesh pleasures and nurture the spirit. </a:t>
            </a:r>
            <a:r>
              <a:rPr lang="en-US" sz="9600" b="1" dirty="0" smtClean="0"/>
              <a:t>True or False</a:t>
            </a:r>
            <a:r>
              <a:rPr lang="en-US" sz="9600" dirty="0" smtClean="0"/>
              <a:t> ?</a:t>
            </a:r>
          </a:p>
          <a:p>
            <a:endParaRPr lang="en-US" sz="96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World Religions and Primary Beliefs</a:t>
            </a:r>
            <a:endParaRPr lang="en-US" dirty="0"/>
          </a:p>
        </p:txBody>
      </p:sp>
      <p:sp>
        <p:nvSpPr>
          <p:cNvPr id="3" name="Content Placeholder 2"/>
          <p:cNvSpPr>
            <a:spLocks noGrp="1"/>
          </p:cNvSpPr>
          <p:nvPr>
            <p:ph idx="1"/>
          </p:nvPr>
        </p:nvSpPr>
        <p:spPr/>
        <p:txBody>
          <a:bodyPr>
            <a:normAutofit/>
          </a:bodyPr>
          <a:lstStyle/>
          <a:p>
            <a:r>
              <a:rPr lang="en-US" dirty="0" smtClean="0"/>
              <a:t>These are religions that have spread beyond their original birth places; they have been embraced by other world cultures and people.</a:t>
            </a:r>
          </a:p>
          <a:p>
            <a:pPr>
              <a:buNone/>
            </a:pPr>
            <a:endParaRPr lang="en-US" dirty="0" smtClean="0"/>
          </a:p>
          <a:p>
            <a:r>
              <a:rPr lang="en-US" dirty="0" smtClean="0"/>
              <a:t>It is puzzling that God is conceived so differently by various religions.</a:t>
            </a:r>
          </a:p>
          <a:p>
            <a:r>
              <a:rPr lang="en-US" dirty="0" smtClean="0"/>
              <a:t>A  general overview of some of these are highlighted:</a:t>
            </a:r>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Judaism</a:t>
            </a:r>
            <a:endParaRPr lang="en-GB"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lgn="ctr">
              <a:buNone/>
            </a:pPr>
            <a:r>
              <a:rPr lang="en-US" sz="8000" baseline="-25000" dirty="0" smtClean="0"/>
              <a:t>Who is the founder of Judaism?</a:t>
            </a:r>
            <a:endParaRPr lang="en-GB" sz="8000" baseline="-250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Judaism</a:t>
            </a:r>
            <a:endParaRPr lang="en-US" dirty="0"/>
          </a:p>
        </p:txBody>
      </p:sp>
      <p:sp>
        <p:nvSpPr>
          <p:cNvPr id="3" name="Content Placeholder 2"/>
          <p:cNvSpPr>
            <a:spLocks noGrp="1"/>
          </p:cNvSpPr>
          <p:nvPr>
            <p:ph idx="1"/>
          </p:nvPr>
        </p:nvSpPr>
        <p:spPr/>
        <p:txBody>
          <a:bodyPr/>
          <a:lstStyle/>
          <a:p>
            <a:r>
              <a:rPr lang="en-US" dirty="0" smtClean="0"/>
              <a:t>The question is who found Judaism?</a:t>
            </a:r>
          </a:p>
          <a:p>
            <a:r>
              <a:rPr lang="en-US" dirty="0" smtClean="0"/>
              <a:t>It is the religion of the Jews.</a:t>
            </a:r>
          </a:p>
          <a:p>
            <a:r>
              <a:rPr lang="en-US" dirty="0" smtClean="0"/>
              <a:t>Traced to a Sumerian called </a:t>
            </a:r>
            <a:r>
              <a:rPr lang="en-US" b="1" dirty="0" smtClean="0"/>
              <a:t>Abram</a:t>
            </a:r>
            <a:r>
              <a:rPr lang="en-US" dirty="0" smtClean="0"/>
              <a:t> (1800BCE); he is seen as the progenitor of the Jewish people. His son, the child of promise is </a:t>
            </a:r>
            <a:r>
              <a:rPr lang="en-US" b="1" dirty="0" smtClean="0"/>
              <a:t>Isaac.</a:t>
            </a:r>
          </a:p>
          <a:p>
            <a:r>
              <a:rPr lang="en-US" dirty="0" smtClean="0"/>
              <a:t>But the organized form of the religion is traceable to </a:t>
            </a:r>
            <a:r>
              <a:rPr lang="en-US" b="1" dirty="0" smtClean="0"/>
              <a:t>Moses</a:t>
            </a:r>
            <a:r>
              <a:rPr lang="en-US" dirty="0" smtClean="0"/>
              <a:t>, who gave the structure and form to the religion (around 1300BCE).</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Judaism</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Judaism is a strict monotheism (Deut. 6:4-5; Exodus 20: 2-3).</a:t>
            </a:r>
          </a:p>
          <a:p>
            <a:r>
              <a:rPr lang="en-US" dirty="0" smtClean="0"/>
              <a:t>Judaism is not a henotheism as mistaken by some scholars.</a:t>
            </a:r>
          </a:p>
          <a:p>
            <a:r>
              <a:rPr lang="en-US" dirty="0" smtClean="0"/>
              <a:t>Yahweh (the covenant name of God) is not only for the Jews but for the whole world. Note how Yahweh related with other nations (Nebuchadnezzar of Babylon, The </a:t>
            </a:r>
            <a:r>
              <a:rPr lang="en-US" dirty="0" err="1" smtClean="0"/>
              <a:t>Ninehvites</a:t>
            </a:r>
            <a:r>
              <a:rPr lang="en-US" dirty="0" smtClean="0"/>
              <a:t>, etc.).</a:t>
            </a:r>
          </a:p>
          <a:p>
            <a:r>
              <a:rPr lang="en-US" dirty="0" smtClean="0"/>
              <a:t>They were guided by their covenant with Yahweh with laws guiding the covenant:</a:t>
            </a:r>
          </a:p>
          <a:p>
            <a:r>
              <a:rPr lang="en-US" dirty="0" smtClean="0"/>
              <a:t>Their laws are divided into: </a:t>
            </a:r>
            <a:r>
              <a:rPr lang="en-US" b="1" dirty="0" smtClean="0"/>
              <a:t>Ceremonial laws</a:t>
            </a:r>
            <a:r>
              <a:rPr lang="en-US" dirty="0" smtClean="0"/>
              <a:t>, </a:t>
            </a:r>
            <a:r>
              <a:rPr lang="en-US" b="1" dirty="0" smtClean="0"/>
              <a:t>Health laws, civil laws and the moral law (exemplified in the 10 commandments).</a:t>
            </a:r>
            <a:r>
              <a:rPr lang="en-US" dirty="0" smtClean="0"/>
              <a:t> </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Judaism </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Yahweh is to be revered as Holy.</a:t>
            </a:r>
          </a:p>
          <a:p>
            <a:r>
              <a:rPr lang="en-US" dirty="0" smtClean="0"/>
              <a:t>God is both </a:t>
            </a:r>
            <a:r>
              <a:rPr lang="en-US" b="1" dirty="0" smtClean="0"/>
              <a:t>transcendent </a:t>
            </a:r>
            <a:r>
              <a:rPr lang="en-US" dirty="0" smtClean="0"/>
              <a:t>and </a:t>
            </a:r>
            <a:r>
              <a:rPr lang="en-US" b="1" dirty="0" smtClean="0"/>
              <a:t>immanent.</a:t>
            </a:r>
          </a:p>
          <a:p>
            <a:r>
              <a:rPr lang="en-US" dirty="0" smtClean="0"/>
              <a:t>Humans are seen as sinful and Yahweh wants to forgive sin through the sacrificial systems and ceremonial laws and processes. Blood is essential in the process of remission of sins.</a:t>
            </a:r>
          </a:p>
          <a:p>
            <a:r>
              <a:rPr lang="en-US" dirty="0" smtClean="0"/>
              <a:t>Their place of worship is called the </a:t>
            </a:r>
            <a:r>
              <a:rPr lang="en-US" b="1" dirty="0" smtClean="0"/>
              <a:t>Temple</a:t>
            </a:r>
            <a:r>
              <a:rPr lang="en-US" dirty="0" smtClean="0"/>
              <a:t> (at Jerusalem). They also have what they call </a:t>
            </a:r>
            <a:r>
              <a:rPr lang="en-US" b="1" dirty="0" smtClean="0"/>
              <a:t>Synagogues</a:t>
            </a:r>
            <a:r>
              <a:rPr lang="en-US" dirty="0" smtClean="0"/>
              <a:t>; a place of worship and learning of their laws and traditions outside of Jerusalem.</a:t>
            </a:r>
          </a:p>
          <a:p>
            <a:r>
              <a:rPr lang="en-US" dirty="0" smtClean="0"/>
              <a:t>The scripture of the Jews is generally called the </a:t>
            </a:r>
            <a:r>
              <a:rPr lang="en-US" b="1" dirty="0" smtClean="0"/>
              <a:t>Torah. </a:t>
            </a:r>
            <a:endParaRPr lang="en-US" b="1"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Judaism</a:t>
            </a:r>
            <a:endParaRPr lang="en-US" dirty="0"/>
          </a:p>
        </p:txBody>
      </p:sp>
      <p:sp>
        <p:nvSpPr>
          <p:cNvPr id="3" name="Content Placeholder 2"/>
          <p:cNvSpPr>
            <a:spLocks noGrp="1"/>
          </p:cNvSpPr>
          <p:nvPr>
            <p:ph idx="1"/>
          </p:nvPr>
        </p:nvSpPr>
        <p:spPr/>
        <p:txBody>
          <a:bodyPr>
            <a:normAutofit fontScale="55000" lnSpcReduction="20000"/>
          </a:bodyPr>
          <a:lstStyle/>
          <a:p>
            <a:r>
              <a:rPr lang="en-US" b="1" dirty="0" smtClean="0"/>
              <a:t>Ethics</a:t>
            </a:r>
            <a:r>
              <a:rPr lang="en-US" dirty="0" smtClean="0"/>
              <a:t> is based on their Torah.</a:t>
            </a:r>
          </a:p>
          <a:p>
            <a:r>
              <a:rPr lang="en-US" dirty="0" smtClean="0"/>
              <a:t>Torah has three general divisions: The Torah (5 books of Moses), The Holy writings (other Jewish stories, records and narratives), The Prophets (major and minor prophets). They had other resource like the Talmud (</a:t>
            </a:r>
            <a:r>
              <a:rPr lang="en-US" dirty="0" err="1" smtClean="0"/>
              <a:t>Mishnah</a:t>
            </a:r>
            <a:r>
              <a:rPr lang="en-US" dirty="0" smtClean="0"/>
              <a:t> + </a:t>
            </a:r>
            <a:r>
              <a:rPr lang="en-US" dirty="0" err="1" smtClean="0"/>
              <a:t>Gemara</a:t>
            </a:r>
            <a:r>
              <a:rPr lang="en-US" dirty="0" smtClean="0"/>
              <a:t>). </a:t>
            </a:r>
            <a:r>
              <a:rPr lang="en-US" dirty="0" err="1" smtClean="0"/>
              <a:t>Mishnah</a:t>
            </a:r>
            <a:r>
              <a:rPr lang="en-US" dirty="0" smtClean="0"/>
              <a:t> is the collection of the oral traditions, the civil laws and ceremonial laws of the Jews. The </a:t>
            </a:r>
            <a:r>
              <a:rPr lang="en-US" dirty="0" err="1" smtClean="0"/>
              <a:t>Gemara</a:t>
            </a:r>
            <a:r>
              <a:rPr lang="en-US" dirty="0" smtClean="0"/>
              <a:t> is the rabbinical commentary on the </a:t>
            </a:r>
            <a:r>
              <a:rPr lang="en-US" dirty="0" err="1" smtClean="0"/>
              <a:t>Mishnah</a:t>
            </a:r>
            <a:r>
              <a:rPr lang="en-US" dirty="0" smtClean="0"/>
              <a:t>. </a:t>
            </a:r>
          </a:p>
          <a:p>
            <a:pPr>
              <a:buNone/>
            </a:pPr>
            <a:r>
              <a:rPr lang="en-US" b="1" dirty="0" smtClean="0"/>
              <a:t> They had 3 forms of leadership:</a:t>
            </a:r>
          </a:p>
          <a:p>
            <a:r>
              <a:rPr lang="en-US" dirty="0" smtClean="0"/>
              <a:t>They had the priests (only males) who lead out in Temple services. From the family of Levi.</a:t>
            </a:r>
          </a:p>
          <a:p>
            <a:r>
              <a:rPr lang="en-US" dirty="0" smtClean="0"/>
              <a:t>Prophets (may be males or females) were like the conscience of the society who speak on behalf of God to people and leaders to be on the right path spiritually and socially. They are not from specific family; they were called into the office.</a:t>
            </a:r>
          </a:p>
          <a:p>
            <a:r>
              <a:rPr lang="en-US" dirty="0" smtClean="0"/>
              <a:t>Kings (usually males) were later features who were the political and military leaders of the society. </a:t>
            </a:r>
          </a:p>
          <a:p>
            <a:pPr>
              <a:buNone/>
            </a:pPr>
            <a:r>
              <a:rPr lang="en-US" dirty="0" smtClean="0"/>
              <a:t>Apart from these broad leadership, they later had the </a:t>
            </a:r>
            <a:r>
              <a:rPr lang="en-US" b="1" dirty="0" smtClean="0"/>
              <a:t>rabbis</a:t>
            </a:r>
            <a:r>
              <a:rPr lang="en-US" dirty="0" smtClean="0"/>
              <a:t> (teachers of the law), </a:t>
            </a:r>
            <a:r>
              <a:rPr lang="en-US" b="1" dirty="0" smtClean="0"/>
              <a:t>Pharisees</a:t>
            </a:r>
            <a:r>
              <a:rPr lang="en-US" dirty="0" smtClean="0"/>
              <a:t> and the </a:t>
            </a:r>
            <a:r>
              <a:rPr lang="en-US" b="1" dirty="0" smtClean="0"/>
              <a:t>Sadducees</a:t>
            </a:r>
            <a:r>
              <a:rPr lang="en-US" dirty="0" smtClean="0"/>
              <a:t>. </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Judaism</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A major part of the Jewish belief after their Babylonian captivity is their expectation of the Messiah who they are still expecting till today.</a:t>
            </a:r>
          </a:p>
          <a:p>
            <a:r>
              <a:rPr lang="en-US" dirty="0" smtClean="0"/>
              <a:t>They follow strict dietary laws based on Lev. 11. They have a process of killing their animals and would generally not purchase their food product anyhow. </a:t>
            </a:r>
          </a:p>
          <a:p>
            <a:r>
              <a:rPr lang="en-US" dirty="0" smtClean="0"/>
              <a:t>Kosher: Kosher foods are those that conform to the regulations of </a:t>
            </a:r>
            <a:r>
              <a:rPr lang="en-US" dirty="0" err="1" smtClean="0"/>
              <a:t>kashrut</a:t>
            </a:r>
            <a:r>
              <a:rPr lang="en-US" dirty="0" smtClean="0"/>
              <a:t>. Food that may be consumed according to </a:t>
            </a:r>
            <a:r>
              <a:rPr lang="en-US" dirty="0" err="1" smtClean="0"/>
              <a:t>halakha</a:t>
            </a:r>
            <a:r>
              <a:rPr lang="en-US" dirty="0" smtClean="0"/>
              <a:t> is termed kosher in English, from the Ashkenazi pronunciation of the Hebrew term </a:t>
            </a:r>
            <a:r>
              <a:rPr lang="en-US" dirty="0" err="1" smtClean="0"/>
              <a:t>kashér</a:t>
            </a:r>
            <a:r>
              <a:rPr lang="en-US" smtClean="0"/>
              <a:t>, meaning "fit“.</a:t>
            </a:r>
            <a:endParaRPr lang="en-US" dirty="0" smtClean="0"/>
          </a:p>
          <a:p>
            <a:r>
              <a:rPr lang="en-US" dirty="0" smtClean="0"/>
              <a:t>Judaism teaches God’s care about the world; righteousness, justice, equity, environment.</a:t>
            </a:r>
          </a:p>
          <a:p>
            <a:r>
              <a:rPr lang="en-US" dirty="0" smtClean="0"/>
              <a:t>One of the difficulties people have with Judaism is the exclusivity and a form of narcissism relative to other world cultures.</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African Traditional Religion</a:t>
            </a:r>
            <a:endParaRPr lang="en-US" dirty="0"/>
          </a:p>
        </p:txBody>
      </p:sp>
      <p:sp>
        <p:nvSpPr>
          <p:cNvPr id="3" name="Content Placeholder 2"/>
          <p:cNvSpPr>
            <a:spLocks noGrp="1"/>
          </p:cNvSpPr>
          <p:nvPr>
            <p:ph idx="1"/>
          </p:nvPr>
        </p:nvSpPr>
        <p:spPr/>
        <p:txBody>
          <a:bodyPr>
            <a:normAutofit fontScale="92500"/>
          </a:bodyPr>
          <a:lstStyle/>
          <a:p>
            <a:r>
              <a:rPr lang="en-US" dirty="0" smtClean="0"/>
              <a:t>Also called African Indigenous Religion.</a:t>
            </a:r>
          </a:p>
          <a:p>
            <a:r>
              <a:rPr lang="en-US" dirty="0" smtClean="0"/>
              <a:t>It is the complex series of beliefs that are found in the very diverse religious systems of the African people and how they understand transcendence.</a:t>
            </a:r>
          </a:p>
          <a:p>
            <a:r>
              <a:rPr lang="en-US" dirty="0" smtClean="0"/>
              <a:t>There is no known founder; it may depend on the brand of ATR.</a:t>
            </a:r>
          </a:p>
          <a:p>
            <a:r>
              <a:rPr lang="en-US" dirty="0" smtClean="0"/>
              <a:t>It is generally called, by the West, a polytheism although practitioners call it a monotheism; they appeal to one God through many divinities.</a:t>
            </a:r>
          </a:p>
          <a:p>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ATR</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Africans believe in spirits including that of the dead humans having impact on human life. </a:t>
            </a:r>
          </a:p>
          <a:p>
            <a:r>
              <a:rPr lang="en-US" dirty="0" smtClean="0"/>
              <a:t>ATR also believe nature sometimes hosts spirits in them so they worship nature like trees, rivers, mountains even animals. They also appease them to avert evil or provoke blessings.</a:t>
            </a:r>
          </a:p>
          <a:p>
            <a:r>
              <a:rPr lang="en-US" dirty="0" smtClean="0"/>
              <a:t>Ethics: They urge people to avoid evil and do good just like the character of the Supreme Being. Evil is harming other individuals or the community. Also certain cults have unique rules which adherents are expected to follow.</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ATR</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ATR allows for allegiance to multiple cults, beliefs.</a:t>
            </a:r>
          </a:p>
          <a:p>
            <a:r>
              <a:rPr lang="en-US" dirty="0" smtClean="0"/>
              <a:t>Priests lead out in cultic services, rites sacrifices. Priest can be males or females, depending on the cult.</a:t>
            </a:r>
          </a:p>
          <a:p>
            <a:r>
              <a:rPr lang="en-US" dirty="0" smtClean="0"/>
              <a:t>Sacrifices are not to remit sins, but to appease divinities. It can be done with humans, animals, food items. In modern days, civil laws prohibit the use of humans.</a:t>
            </a:r>
          </a:p>
          <a:p>
            <a:r>
              <a:rPr lang="en-US" dirty="0" smtClean="0"/>
              <a:t>Libation is pouring drink offerings on the ground and incantations spoken to invoke spirits. Once the priest says the right incantation and follow the ritual process correctly, the spirits must obey and do the biding of people. </a:t>
            </a:r>
          </a:p>
          <a:p>
            <a:endParaRPr lang="en-US" dirty="0" smtClean="0"/>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ATR</a:t>
            </a:r>
            <a:endParaRPr lang="en-US" dirty="0"/>
          </a:p>
        </p:txBody>
      </p:sp>
      <p:sp>
        <p:nvSpPr>
          <p:cNvPr id="3" name="Content Placeholder 2"/>
          <p:cNvSpPr>
            <a:spLocks noGrp="1"/>
          </p:cNvSpPr>
          <p:nvPr>
            <p:ph idx="1"/>
          </p:nvPr>
        </p:nvSpPr>
        <p:spPr/>
        <p:txBody>
          <a:bodyPr/>
          <a:lstStyle/>
          <a:p>
            <a:r>
              <a:rPr lang="en-US" dirty="0" smtClean="0"/>
              <a:t>There are no written scriptures, liturgies of ATR. Traditions, rules etc are communicated in strong oral tradition.</a:t>
            </a:r>
          </a:p>
          <a:p>
            <a:r>
              <a:rPr lang="en-US" dirty="0" smtClean="0"/>
              <a:t>Challenges associated with ATR includes secrecy, human sacrifice and lack of documented traditions. </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Buddhism </a:t>
            </a:r>
            <a:endParaRPr lang="en-US" dirty="0"/>
          </a:p>
        </p:txBody>
      </p:sp>
      <p:sp>
        <p:nvSpPr>
          <p:cNvPr id="3" name="Content Placeholder 2"/>
          <p:cNvSpPr>
            <a:spLocks noGrp="1"/>
          </p:cNvSpPr>
          <p:nvPr>
            <p:ph idx="1"/>
          </p:nvPr>
        </p:nvSpPr>
        <p:spPr/>
        <p:txBody>
          <a:bodyPr/>
          <a:lstStyle/>
          <a:p>
            <a:r>
              <a:rPr lang="en-US" dirty="0" smtClean="0"/>
              <a:t>Founded by Siddhartha Gautama in India around 500BCE (no one knows the exact date).</a:t>
            </a:r>
          </a:p>
          <a:p>
            <a:r>
              <a:rPr lang="en-US" dirty="0" smtClean="0"/>
              <a:t>The religion evolved out of Hinduism.</a:t>
            </a:r>
          </a:p>
          <a:p>
            <a:r>
              <a:rPr lang="en-US" dirty="0" smtClean="0"/>
              <a:t>Buddha means “The Enlightened one” or “The Awakened one.”</a:t>
            </a:r>
          </a:p>
          <a:p>
            <a:r>
              <a:rPr lang="en-US" dirty="0" smtClean="0"/>
              <a:t> Siddhartha is regarded as the Supreme Buddha in most Buddhist traditions.</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Buddhism</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Born under mysterious circumstances and with supernatural events.</a:t>
            </a:r>
          </a:p>
          <a:p>
            <a:r>
              <a:rPr lang="en-US" dirty="0" smtClean="0"/>
              <a:t>Born into royal family, raised to be king.</a:t>
            </a:r>
          </a:p>
          <a:p>
            <a:r>
              <a:rPr lang="en-US" dirty="0" smtClean="0"/>
              <a:t>He encountered shocking realities like old age, sickness and death. He began to seek for “meaning” in life and enlightenment instead of the illusions of pleasure.</a:t>
            </a:r>
          </a:p>
          <a:p>
            <a:r>
              <a:rPr lang="en-US" dirty="0" smtClean="0"/>
              <a:t>He abandoned the palace, father, wife and son practicing </a:t>
            </a:r>
            <a:r>
              <a:rPr lang="en-US" b="1" dirty="0" smtClean="0"/>
              <a:t>asceticism </a:t>
            </a:r>
            <a:r>
              <a:rPr lang="en-US" dirty="0" smtClean="0"/>
              <a:t>(punishing the flesh to develop the spirit.)</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Buddhism</a:t>
            </a:r>
            <a:endParaRPr lang="en-US" dirty="0"/>
          </a:p>
        </p:txBody>
      </p:sp>
      <p:sp>
        <p:nvSpPr>
          <p:cNvPr id="3" name="Content Placeholder 2"/>
          <p:cNvSpPr>
            <a:spLocks noGrp="1"/>
          </p:cNvSpPr>
          <p:nvPr>
            <p:ph idx="1"/>
          </p:nvPr>
        </p:nvSpPr>
        <p:spPr/>
        <p:txBody>
          <a:bodyPr>
            <a:normAutofit lnSpcReduction="10000"/>
          </a:bodyPr>
          <a:lstStyle/>
          <a:p>
            <a:r>
              <a:rPr lang="en-US" dirty="0" smtClean="0"/>
              <a:t>6 years of Asceticism did not lead him to enlightenment or illumination.</a:t>
            </a:r>
          </a:p>
          <a:p>
            <a:r>
              <a:rPr lang="en-US" dirty="0" smtClean="0"/>
              <a:t>He achieved this through meditation.</a:t>
            </a:r>
          </a:p>
          <a:p>
            <a:r>
              <a:rPr lang="en-US" dirty="0" smtClean="0"/>
              <a:t>He began preaching that asceticism does not lead to illumination and enlightenment or salvation. It is meditation that can do so.</a:t>
            </a:r>
          </a:p>
          <a:p>
            <a:r>
              <a:rPr lang="en-US" dirty="0" smtClean="0"/>
              <a:t>Religion grew more outside of India. It actually declined in India because of Hinduism.</a:t>
            </a:r>
          </a:p>
          <a:p>
            <a:r>
              <a:rPr lang="en-US" dirty="0" smtClean="0"/>
              <a:t>He died at about the age of 80 around 483BCE</a:t>
            </a:r>
          </a:p>
          <a:p>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Buddhism</a:t>
            </a:r>
            <a:endParaRPr lang="en-US" dirty="0"/>
          </a:p>
        </p:txBody>
      </p:sp>
      <p:sp>
        <p:nvSpPr>
          <p:cNvPr id="3" name="Content Placeholder 2"/>
          <p:cNvSpPr>
            <a:spLocks noGrp="1"/>
          </p:cNvSpPr>
          <p:nvPr>
            <p:ph idx="1"/>
          </p:nvPr>
        </p:nvSpPr>
        <p:spPr/>
        <p:txBody>
          <a:bodyPr>
            <a:normAutofit lnSpcReduction="10000"/>
          </a:bodyPr>
          <a:lstStyle/>
          <a:p>
            <a:r>
              <a:rPr lang="en-US" dirty="0" smtClean="0"/>
              <a:t>Buddha himself did not write the scriptures.</a:t>
            </a:r>
          </a:p>
          <a:p>
            <a:r>
              <a:rPr lang="en-US" dirty="0" smtClean="0"/>
              <a:t>Followers much later developed the scriptures called </a:t>
            </a:r>
            <a:r>
              <a:rPr lang="en-US" dirty="0" err="1" smtClean="0"/>
              <a:t>Tripitaka</a:t>
            </a:r>
            <a:r>
              <a:rPr lang="en-US" dirty="0" smtClean="0"/>
              <a:t> over a long period of time.</a:t>
            </a:r>
          </a:p>
          <a:p>
            <a:r>
              <a:rPr lang="en-US" dirty="0" smtClean="0"/>
              <a:t>Buddha himself was silent on the nature or existence of God or the devil.</a:t>
            </a:r>
          </a:p>
          <a:p>
            <a:r>
              <a:rPr lang="en-US" dirty="0" smtClean="0"/>
              <a:t>He taught on the power of self help without any recourse to the supernatural.</a:t>
            </a:r>
          </a:p>
          <a:p>
            <a:r>
              <a:rPr lang="en-US" dirty="0" smtClean="0"/>
              <a:t>A major teaching is on the law of Karma as eternal justice; good will happen to those . </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Buddhism</a:t>
            </a:r>
            <a:endParaRPr lang="en-US" dirty="0"/>
          </a:p>
        </p:txBody>
      </p:sp>
      <p:sp>
        <p:nvSpPr>
          <p:cNvPr id="3" name="Content Placeholder 2"/>
          <p:cNvSpPr>
            <a:spLocks noGrp="1"/>
          </p:cNvSpPr>
          <p:nvPr>
            <p:ph idx="1"/>
          </p:nvPr>
        </p:nvSpPr>
        <p:spPr/>
        <p:txBody>
          <a:bodyPr>
            <a:normAutofit lnSpcReduction="10000"/>
          </a:bodyPr>
          <a:lstStyle/>
          <a:p>
            <a:r>
              <a:rPr lang="en-US" dirty="0" smtClean="0"/>
              <a:t>Those who do good and suffering to those who do evil.</a:t>
            </a:r>
          </a:p>
          <a:p>
            <a:r>
              <a:rPr lang="en-US" dirty="0" smtClean="0"/>
              <a:t>He did not really teach on life after death and other metaphysical issues. He however taught reincarnation into awful world/circumstances to those who do evil.</a:t>
            </a:r>
          </a:p>
          <a:p>
            <a:r>
              <a:rPr lang="en-US" dirty="0" smtClean="0"/>
              <a:t>Those who do good and cleansed their souls through meditation will be released to Nirvana.</a:t>
            </a:r>
          </a:p>
          <a:p>
            <a:endParaRPr lang="en-US" dirty="0" smtClean="0"/>
          </a:p>
          <a:p>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Buddhism</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It teaches tolerance, patience and love for humanity.</a:t>
            </a:r>
          </a:p>
          <a:p>
            <a:r>
              <a:rPr lang="en-US" dirty="0" smtClean="0"/>
              <a:t>Their teachers are called </a:t>
            </a:r>
            <a:r>
              <a:rPr lang="en-US" b="1" dirty="0" smtClean="0"/>
              <a:t>monks.</a:t>
            </a:r>
          </a:p>
          <a:p>
            <a:r>
              <a:rPr lang="en-US" dirty="0" smtClean="0"/>
              <a:t>It teaches that the desire to live is the cause of suffering and rebirth.</a:t>
            </a:r>
          </a:p>
          <a:p>
            <a:r>
              <a:rPr lang="en-US" dirty="0" smtClean="0"/>
              <a:t>The world came into being through evolution, not by creation. No divine intervention, world governed by laws.</a:t>
            </a:r>
          </a:p>
          <a:p>
            <a:r>
              <a:rPr lang="en-US" dirty="0" smtClean="0"/>
              <a:t>It teaches against lying, stealing, drinking, forbidden sex, and other vices.</a:t>
            </a:r>
          </a:p>
          <a:p>
            <a:r>
              <a:rPr lang="en-US" dirty="0" smtClean="0"/>
              <a:t>It does not deny the existence of God but does not teach it. It focuses on what humans can do and less on metaphysical issues.</a:t>
            </a:r>
          </a:p>
          <a:p>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Hinduism</a:t>
            </a:r>
            <a:endParaRPr lang="en-US" dirty="0"/>
          </a:p>
        </p:txBody>
      </p:sp>
      <p:sp>
        <p:nvSpPr>
          <p:cNvPr id="3" name="Content Placeholder 2"/>
          <p:cNvSpPr>
            <a:spLocks noGrp="1"/>
          </p:cNvSpPr>
          <p:nvPr>
            <p:ph idx="1"/>
          </p:nvPr>
        </p:nvSpPr>
        <p:spPr/>
        <p:txBody>
          <a:bodyPr/>
          <a:lstStyle/>
          <a:p>
            <a:r>
              <a:rPr lang="en-US" dirty="0" smtClean="0"/>
              <a:t>It is the religion, thought and the way of life of Indians.</a:t>
            </a:r>
          </a:p>
          <a:p>
            <a:r>
              <a:rPr lang="en-US" dirty="0" smtClean="0"/>
              <a:t>Indians sometimes call the religion </a:t>
            </a:r>
            <a:r>
              <a:rPr lang="en-US" dirty="0" err="1" smtClean="0"/>
              <a:t>Sanatana</a:t>
            </a:r>
            <a:r>
              <a:rPr lang="en-US" dirty="0" smtClean="0"/>
              <a:t>-Dharma.</a:t>
            </a:r>
          </a:p>
          <a:p>
            <a:r>
              <a:rPr lang="en-US" dirty="0" smtClean="0"/>
              <a:t>Founded around 1500BCE; No particular person is the founder.</a:t>
            </a:r>
          </a:p>
          <a:p>
            <a:r>
              <a:rPr lang="en-US" dirty="0" smtClean="0"/>
              <a:t>The religion has grown and changed form over the years.</a:t>
            </a:r>
          </a:p>
          <a:p>
            <a:endParaRPr lang="en-US" dirty="0" smtClean="0"/>
          </a:p>
          <a:p>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Hinduism</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There are no set of “doctrines” one must adhere to or profess to be a Hindu. This is unlike most of other religions. </a:t>
            </a:r>
          </a:p>
          <a:p>
            <a:r>
              <a:rPr lang="en-US" dirty="0" smtClean="0"/>
              <a:t>Priests are called Brahmans. They are the most appreciated in the four-caste system in India; others were warriors, followed by artisans/farmers/merchants and the least esteemed were the “untouchables.” they were  the outcasts of the society.</a:t>
            </a:r>
          </a:p>
          <a:p>
            <a:r>
              <a:rPr lang="en-US" dirty="0" smtClean="0"/>
              <a:t>Their scripture is called the Veda; the sacred writings of the </a:t>
            </a:r>
            <a:r>
              <a:rPr lang="en-US" dirty="0" err="1" smtClean="0"/>
              <a:t>hindus</a:t>
            </a:r>
            <a:r>
              <a:rPr lang="en-US" dirty="0" smtClean="0"/>
              <a:t>.  </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Hinduism</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Hinduism evolved over a long period and in phases. Initially it had some polytheism elements, but at the newest form, it evolved to some sort of monotheism where the Supreme Being is regarded as the </a:t>
            </a:r>
            <a:r>
              <a:rPr lang="en-US" b="1" dirty="0" err="1" smtClean="0"/>
              <a:t>Indra</a:t>
            </a:r>
            <a:r>
              <a:rPr lang="en-US" dirty="0" smtClean="0"/>
              <a:t> or </a:t>
            </a:r>
            <a:r>
              <a:rPr lang="en-US" b="1" dirty="0" err="1" smtClean="0"/>
              <a:t>Varuna</a:t>
            </a:r>
            <a:r>
              <a:rPr lang="en-US" b="1" dirty="0" smtClean="0"/>
              <a:t>. </a:t>
            </a:r>
            <a:r>
              <a:rPr lang="en-US" dirty="0" smtClean="0"/>
              <a:t> </a:t>
            </a:r>
          </a:p>
          <a:p>
            <a:r>
              <a:rPr lang="en-US" dirty="0" smtClean="0"/>
              <a:t>It teaches karma, the law of cause and effect.</a:t>
            </a:r>
          </a:p>
          <a:p>
            <a:r>
              <a:rPr lang="en-US" dirty="0" smtClean="0"/>
              <a:t>There is life after this life; people who do wrong cannot attain salvation or release (</a:t>
            </a:r>
            <a:r>
              <a:rPr lang="en-US" dirty="0" err="1" smtClean="0"/>
              <a:t>Moshka</a:t>
            </a:r>
            <a:r>
              <a:rPr lang="en-US" dirty="0" smtClean="0"/>
              <a:t>), so they keep coming in rebirth. Suffering in life is punishment for wrong doing in previous life. </a:t>
            </a:r>
          </a:p>
          <a:p>
            <a:r>
              <a:rPr lang="en-US" dirty="0" smtClean="0"/>
              <a:t>Rebirth continues until one changes and </a:t>
            </a:r>
            <a:r>
              <a:rPr lang="en-US" dirty="0" err="1" smtClean="0"/>
              <a:t>achives</a:t>
            </a:r>
            <a:r>
              <a:rPr lang="en-US" dirty="0" smtClean="0"/>
              <a:t> the release or salvation.</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Hinduism</a:t>
            </a:r>
            <a:endParaRPr lang="en-US" dirty="0"/>
          </a:p>
        </p:txBody>
      </p:sp>
      <p:sp>
        <p:nvSpPr>
          <p:cNvPr id="3" name="Content Placeholder 2"/>
          <p:cNvSpPr>
            <a:spLocks noGrp="1"/>
          </p:cNvSpPr>
          <p:nvPr>
            <p:ph idx="1"/>
          </p:nvPr>
        </p:nvSpPr>
        <p:spPr/>
        <p:txBody>
          <a:bodyPr/>
          <a:lstStyle/>
          <a:p>
            <a:r>
              <a:rPr lang="en-US" dirty="0" smtClean="0"/>
              <a:t>Hinduism teaches non-violence and deep reverence for all forms of life (animals or humans).</a:t>
            </a:r>
          </a:p>
          <a:p>
            <a:r>
              <a:rPr lang="en-US" dirty="0" smtClean="0"/>
              <a:t>They teach self control and detachment from worldly materials. Generosity is promoted towards the poor. One must never convert other </a:t>
            </a:r>
            <a:r>
              <a:rPr lang="en-US" smtClean="0"/>
              <a:t>people’s belonging.</a:t>
            </a: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Islam</a:t>
            </a:r>
            <a:endParaRPr lang="en-US" dirty="0"/>
          </a:p>
        </p:txBody>
      </p:sp>
      <p:sp>
        <p:nvSpPr>
          <p:cNvPr id="3" name="Content Placeholder 2"/>
          <p:cNvSpPr>
            <a:spLocks noGrp="1"/>
          </p:cNvSpPr>
          <p:nvPr>
            <p:ph idx="1"/>
          </p:nvPr>
        </p:nvSpPr>
        <p:spPr/>
        <p:txBody>
          <a:bodyPr>
            <a:normAutofit lnSpcReduction="10000"/>
          </a:bodyPr>
          <a:lstStyle/>
          <a:p>
            <a:r>
              <a:rPr lang="en-US" dirty="0" smtClean="0"/>
              <a:t>The founding of the religion is generally traced to a man called Mohammed. It started in Arabia, in the Middle East.</a:t>
            </a:r>
          </a:p>
          <a:p>
            <a:r>
              <a:rPr lang="en-US" dirty="0" smtClean="0"/>
              <a:t>Traditional and orthodox Muslims would reject that and say it comes from God directly.</a:t>
            </a:r>
          </a:p>
          <a:p>
            <a:r>
              <a:rPr lang="en-US" dirty="0" smtClean="0"/>
              <a:t>The name of God in Islam is Allah.</a:t>
            </a:r>
          </a:p>
          <a:p>
            <a:r>
              <a:rPr lang="en-US" dirty="0" smtClean="0"/>
              <a:t>Prophet Mohammed was born 570CE.</a:t>
            </a:r>
          </a:p>
          <a:p>
            <a:r>
              <a:rPr lang="en-US" dirty="0" smtClean="0"/>
              <a:t>An orphan, raised by his grandfather and later by his uncle named </a:t>
            </a:r>
            <a:r>
              <a:rPr lang="en-US" b="1" dirty="0" smtClean="0"/>
              <a:t>Abu Talib</a:t>
            </a:r>
            <a:r>
              <a:rPr lang="en-US" dirty="0" smtClean="0"/>
              <a:t> </a:t>
            </a:r>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Islam</a:t>
            </a:r>
            <a:endParaRPr lang="en-US" dirty="0"/>
          </a:p>
        </p:txBody>
      </p:sp>
      <p:sp>
        <p:nvSpPr>
          <p:cNvPr id="3" name="Content Placeholder 2"/>
          <p:cNvSpPr>
            <a:spLocks noGrp="1"/>
          </p:cNvSpPr>
          <p:nvPr>
            <p:ph idx="1"/>
          </p:nvPr>
        </p:nvSpPr>
        <p:spPr/>
        <p:txBody>
          <a:bodyPr/>
          <a:lstStyle/>
          <a:p>
            <a:r>
              <a:rPr lang="en-US" dirty="0" smtClean="0"/>
              <a:t>Married to </a:t>
            </a:r>
            <a:r>
              <a:rPr lang="en-US" b="1" dirty="0" err="1" smtClean="0"/>
              <a:t>Khadijat</a:t>
            </a:r>
            <a:r>
              <a:rPr lang="en-US" dirty="0" smtClean="0"/>
              <a:t> at age </a:t>
            </a:r>
            <a:r>
              <a:rPr lang="en-US" b="1" dirty="0" smtClean="0"/>
              <a:t>25 years</a:t>
            </a:r>
            <a:r>
              <a:rPr lang="en-US" dirty="0" smtClean="0"/>
              <a:t>.</a:t>
            </a:r>
          </a:p>
          <a:p>
            <a:r>
              <a:rPr lang="en-US" dirty="0" smtClean="0"/>
              <a:t>He spent a lot of time in meditation;  when he was </a:t>
            </a:r>
            <a:r>
              <a:rPr lang="en-US" b="1" dirty="0" smtClean="0"/>
              <a:t>40 years</a:t>
            </a:r>
            <a:r>
              <a:rPr lang="en-US" dirty="0" smtClean="0"/>
              <a:t> of age, in the year </a:t>
            </a:r>
            <a:r>
              <a:rPr lang="en-US" b="1" dirty="0" smtClean="0"/>
              <a:t>610CE</a:t>
            </a:r>
            <a:r>
              <a:rPr lang="en-US" dirty="0" smtClean="0"/>
              <a:t> he got the revelation from Allah on the religion.</a:t>
            </a:r>
          </a:p>
          <a:p>
            <a:r>
              <a:rPr lang="en-US" dirty="0" smtClean="0"/>
              <a:t>Islam is a strict monotheism. A fundamental belief reflected in the </a:t>
            </a:r>
            <a:r>
              <a:rPr lang="en-US" b="1" i="1" dirty="0" err="1" smtClean="0"/>
              <a:t>Shadaha</a:t>
            </a:r>
            <a:r>
              <a:rPr lang="en-US" dirty="0" smtClean="0"/>
              <a:t> is “I testify that there is no god but God (</a:t>
            </a:r>
            <a:r>
              <a:rPr lang="en-US" i="1" dirty="0" smtClean="0"/>
              <a:t>Allah</a:t>
            </a:r>
            <a:r>
              <a:rPr lang="en-US" dirty="0" smtClean="0"/>
              <a:t>), and Mohammed is the messenger of God (</a:t>
            </a:r>
            <a:r>
              <a:rPr lang="en-US" i="1" dirty="0" smtClean="0"/>
              <a:t>Allah</a:t>
            </a:r>
            <a:r>
              <a:rPr lang="en-US" dirty="0" smtClean="0"/>
              <a:t>).”</a:t>
            </a:r>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Islam</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Allah should never be described in any human form. Allah is not begotten nor did Allah beget any one.</a:t>
            </a:r>
          </a:p>
          <a:p>
            <a:r>
              <a:rPr lang="en-US" dirty="0" smtClean="0"/>
              <a:t> Mohammed is the prophet and the last of all prophets. Muslims should say “Peace be upon him” after calling his name. Must never be insulted.</a:t>
            </a:r>
          </a:p>
          <a:p>
            <a:r>
              <a:rPr lang="en-US" dirty="0" smtClean="0"/>
              <a:t>Born in </a:t>
            </a:r>
            <a:r>
              <a:rPr lang="en-US" b="1" dirty="0" smtClean="0"/>
              <a:t>Mecca</a:t>
            </a:r>
            <a:r>
              <a:rPr lang="en-US" dirty="0" smtClean="0"/>
              <a:t>. Country people who worshipped idols never accepted his religion. This conflict made the Mohammed and followers to flee to (</a:t>
            </a:r>
            <a:r>
              <a:rPr lang="en-US" dirty="0" err="1" smtClean="0"/>
              <a:t>Yathrib</a:t>
            </a:r>
            <a:r>
              <a:rPr lang="en-US" dirty="0" smtClean="0"/>
              <a:t>) </a:t>
            </a:r>
            <a:r>
              <a:rPr lang="en-US" b="1" dirty="0" smtClean="0"/>
              <a:t>Medina</a:t>
            </a:r>
            <a:r>
              <a:rPr lang="en-US" dirty="0" smtClean="0"/>
              <a:t> where the religion grew. </a:t>
            </a:r>
          </a:p>
          <a:p>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Islam</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flight from Mecca, which took place 622CE, is called </a:t>
            </a:r>
            <a:r>
              <a:rPr lang="en-US" b="1" i="1" dirty="0" err="1" smtClean="0"/>
              <a:t>Hejirah</a:t>
            </a:r>
            <a:endParaRPr lang="en-US" b="1" i="1" dirty="0" smtClean="0"/>
          </a:p>
          <a:p>
            <a:r>
              <a:rPr lang="en-US" dirty="0" smtClean="0"/>
              <a:t> with his army he fought and defeated opposition, destroyed the idols and instituted the facing of Mecca for prayers instead of Jerusalem as they had previously done.</a:t>
            </a:r>
          </a:p>
          <a:p>
            <a:r>
              <a:rPr lang="en-US" dirty="0" smtClean="0"/>
              <a:t>The </a:t>
            </a:r>
            <a:r>
              <a:rPr lang="en-US" b="1" dirty="0" err="1" smtClean="0"/>
              <a:t>Ka’ba</a:t>
            </a:r>
            <a:r>
              <a:rPr lang="en-US" dirty="0" smtClean="0"/>
              <a:t> which was a shrine was converted and dedicated to Allah and the previous idolatrous pilgrimage was converted to holy Islamic pilgrimage. He went back to Medina where </a:t>
            </a:r>
            <a:r>
              <a:rPr lang="en-US" b="1" dirty="0" smtClean="0"/>
              <a:t>he died in 632CE</a:t>
            </a:r>
            <a:r>
              <a:rPr lang="en-US" dirty="0" smtClean="0"/>
              <a:t>. </a:t>
            </a:r>
          </a:p>
          <a:p>
            <a:pPr>
              <a:buNone/>
            </a:pPr>
            <a:endParaRPr lang="en-US" dirty="0" smtClean="0"/>
          </a:p>
          <a:p>
            <a:endParaRPr lang="en-US" b="1" i="1"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Islam: Beliefs and Practices</a:t>
            </a:r>
            <a:endParaRPr lang="en-US" dirty="0"/>
          </a:p>
        </p:txBody>
      </p:sp>
      <p:sp>
        <p:nvSpPr>
          <p:cNvPr id="3" name="Content Placeholder 2"/>
          <p:cNvSpPr>
            <a:spLocks noGrp="1"/>
          </p:cNvSpPr>
          <p:nvPr>
            <p:ph idx="1"/>
          </p:nvPr>
        </p:nvSpPr>
        <p:spPr/>
        <p:txBody>
          <a:bodyPr>
            <a:normAutofit fontScale="92500" lnSpcReduction="10000"/>
          </a:bodyPr>
          <a:lstStyle/>
          <a:p>
            <a:endParaRPr lang="en-US" dirty="0" smtClean="0"/>
          </a:p>
          <a:p>
            <a:r>
              <a:rPr lang="en-US" dirty="0" smtClean="0"/>
              <a:t>The holy </a:t>
            </a:r>
            <a:r>
              <a:rPr lang="en-US" b="1" dirty="0" smtClean="0"/>
              <a:t>Qur'an</a:t>
            </a:r>
            <a:r>
              <a:rPr lang="en-US" dirty="0" smtClean="0"/>
              <a:t> is the scriptures of Islam. It was delivered by the </a:t>
            </a:r>
            <a:r>
              <a:rPr lang="en-US" b="1" dirty="0" smtClean="0"/>
              <a:t>angel Gabriel.</a:t>
            </a:r>
          </a:p>
          <a:p>
            <a:r>
              <a:rPr lang="en-US" dirty="0" smtClean="0"/>
              <a:t>The religion is that of peace and submission to the will of Allah.</a:t>
            </a:r>
          </a:p>
          <a:p>
            <a:r>
              <a:rPr lang="en-US" dirty="0" smtClean="0"/>
              <a:t>It believes in Angels and demons, last day judgment, heaven and hell.</a:t>
            </a:r>
          </a:p>
          <a:p>
            <a:r>
              <a:rPr lang="en-US" dirty="0" smtClean="0"/>
              <a:t>God’s demand for justice, compassion and mercy especially to the less privileged.</a:t>
            </a:r>
          </a:p>
          <a:p>
            <a:pPr>
              <a:buNone/>
            </a:pP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pillars of Islam</a:t>
            </a:r>
            <a:endParaRPr lang="en-US" dirty="0"/>
          </a:p>
        </p:txBody>
      </p:sp>
      <p:sp>
        <p:nvSpPr>
          <p:cNvPr id="3" name="Content Placeholder 2"/>
          <p:cNvSpPr>
            <a:spLocks noGrp="1"/>
          </p:cNvSpPr>
          <p:nvPr>
            <p:ph idx="1"/>
          </p:nvPr>
        </p:nvSpPr>
        <p:spPr/>
        <p:txBody>
          <a:bodyPr/>
          <a:lstStyle/>
          <a:p>
            <a:r>
              <a:rPr lang="en-US" dirty="0" smtClean="0"/>
              <a:t> There is no other God but Allah and Mohammed his prophet. </a:t>
            </a:r>
          </a:p>
          <a:p>
            <a:r>
              <a:rPr lang="en-US" dirty="0" smtClean="0"/>
              <a:t>Prayers offered 5 times a day, </a:t>
            </a:r>
          </a:p>
          <a:p>
            <a:r>
              <a:rPr lang="en-US" dirty="0" smtClean="0"/>
              <a:t> Alms giving and charity are precious virtues</a:t>
            </a:r>
          </a:p>
          <a:p>
            <a:r>
              <a:rPr lang="en-US" dirty="0" smtClean="0"/>
              <a:t> 30 days fasting during the special month of </a:t>
            </a:r>
            <a:r>
              <a:rPr lang="en-US" i="1" dirty="0" smtClean="0"/>
              <a:t>Ramadan</a:t>
            </a:r>
            <a:r>
              <a:rPr lang="en-US" dirty="0" smtClean="0"/>
              <a:t> and </a:t>
            </a:r>
          </a:p>
          <a:p>
            <a:r>
              <a:rPr lang="en-US" dirty="0" smtClean="0"/>
              <a:t> Pilgrimage to Mecca at least once in a lifetime if affordable.</a:t>
            </a: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Christianity</a:t>
            </a:r>
            <a:endParaRPr lang="en-GB" dirty="0"/>
          </a:p>
        </p:txBody>
      </p:sp>
      <p:sp>
        <p:nvSpPr>
          <p:cNvPr id="3" name="Content Placeholder 2"/>
          <p:cNvSpPr>
            <a:spLocks noGrp="1"/>
          </p:cNvSpPr>
          <p:nvPr>
            <p:ph idx="1"/>
          </p:nvPr>
        </p:nvSpPr>
        <p:spPr/>
        <p:txBody>
          <a:bodyPr/>
          <a:lstStyle/>
          <a:p>
            <a:pPr>
              <a:buNone/>
            </a:pPr>
            <a:endParaRPr lang="en-US" dirty="0" smtClean="0"/>
          </a:p>
          <a:p>
            <a:pPr algn="ctr">
              <a:buNone/>
            </a:pPr>
            <a:r>
              <a:rPr lang="en-US" sz="4800" dirty="0" smtClean="0"/>
              <a:t>Who is the founder of Christianity?</a:t>
            </a:r>
            <a:endParaRPr lang="en-GB" sz="48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Christianity</a:t>
            </a:r>
            <a:endParaRPr lang="en-US" dirty="0"/>
          </a:p>
        </p:txBody>
      </p:sp>
      <p:sp>
        <p:nvSpPr>
          <p:cNvPr id="3" name="Content Placeholder 2"/>
          <p:cNvSpPr>
            <a:spLocks noGrp="1"/>
          </p:cNvSpPr>
          <p:nvPr>
            <p:ph idx="1"/>
          </p:nvPr>
        </p:nvSpPr>
        <p:spPr/>
        <p:txBody>
          <a:bodyPr/>
          <a:lstStyle/>
          <a:p>
            <a:r>
              <a:rPr lang="en-US" dirty="0" smtClean="0"/>
              <a:t>The Christian faith is named after Jesus Christ</a:t>
            </a:r>
          </a:p>
          <a:p>
            <a:r>
              <a:rPr lang="en-US" dirty="0" smtClean="0"/>
              <a:t>He was born around 4BCE-6CE.</a:t>
            </a:r>
          </a:p>
          <a:p>
            <a:r>
              <a:rPr lang="en-US" dirty="0" smtClean="0"/>
              <a:t>He himself did not really set up a religion as he was a Jew who practiced Judaism.</a:t>
            </a:r>
          </a:p>
          <a:p>
            <a:r>
              <a:rPr lang="en-US" dirty="0" smtClean="0"/>
              <a:t>He came to show us who God is.</a:t>
            </a:r>
          </a:p>
          <a:p>
            <a:r>
              <a:rPr lang="en-US" dirty="0" smtClean="0"/>
              <a:t>Christians believe that Jesus is not just a good prophet sent by God, but that He is God incarnate.</a:t>
            </a:r>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Christianity</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Some believe that Peter started Christianity because  of the inaugural sermon that converted about 3,000 people in Acts 2.</a:t>
            </a:r>
          </a:p>
          <a:p>
            <a:r>
              <a:rPr lang="en-US" dirty="0" smtClean="0"/>
              <a:t>Some think it was started by Paul of Tarsus who was responsible for the growth of the faith outside of Jewish culture and for a lot of his theology.</a:t>
            </a:r>
          </a:p>
          <a:p>
            <a:r>
              <a:rPr lang="en-US" dirty="0" smtClean="0"/>
              <a:t>Christianity’s body of beliefs grew over time as there were disputes as to what Christianity was all about.</a:t>
            </a:r>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Christianity</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Christianity developed from Judaism</a:t>
            </a:r>
          </a:p>
          <a:p>
            <a:r>
              <a:rPr lang="en-US" dirty="0" smtClean="0"/>
              <a:t>The Christian scriptures (Bible) has its foundation laid on the Jewish Torah.</a:t>
            </a:r>
          </a:p>
          <a:p>
            <a:r>
              <a:rPr lang="en-US" dirty="0" smtClean="0"/>
              <a:t>It contains 66 books, 39 of the OT and 27 of the NT. </a:t>
            </a:r>
          </a:p>
          <a:p>
            <a:r>
              <a:rPr lang="en-US" dirty="0" smtClean="0"/>
              <a:t>The acceptance of books that are called the Bible is called “</a:t>
            </a:r>
            <a:r>
              <a:rPr lang="en-US" b="1" dirty="0" smtClean="0"/>
              <a:t>CANONIZATION</a:t>
            </a:r>
            <a:r>
              <a:rPr lang="en-US" dirty="0" smtClean="0"/>
              <a:t>.”</a:t>
            </a:r>
          </a:p>
          <a:p>
            <a:r>
              <a:rPr lang="en-US" dirty="0" smtClean="0"/>
              <a:t>The </a:t>
            </a:r>
            <a:r>
              <a:rPr lang="en-US" b="1" dirty="0" smtClean="0"/>
              <a:t>canonization</a:t>
            </a:r>
            <a:r>
              <a:rPr lang="en-US" dirty="0" smtClean="0"/>
              <a:t> of the Christian bible was completed around the year 397CE by the Council of Carthage</a:t>
            </a:r>
          </a:p>
          <a:p>
            <a:r>
              <a:rPr lang="en-US" dirty="0" smtClean="0"/>
              <a:t>The OT Canonization was easier than that of the NT</a:t>
            </a:r>
          </a:p>
          <a:p>
            <a:r>
              <a:rPr lang="en-US" dirty="0" smtClean="0"/>
              <a:t>There are different brands of Christianity technically or theologically called “</a:t>
            </a:r>
            <a:r>
              <a:rPr lang="en-US" b="1" dirty="0" smtClean="0"/>
              <a:t>DENOMINATIONS</a:t>
            </a:r>
            <a:r>
              <a:rPr lang="en-US" dirty="0" smtClean="0"/>
              <a:t>.”</a:t>
            </a:r>
          </a:p>
          <a:p>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Christianity and the Revelation of God</a:t>
            </a:r>
            <a:endParaRPr lang="en-US" dirty="0"/>
          </a:p>
        </p:txBody>
      </p:sp>
      <p:sp>
        <p:nvSpPr>
          <p:cNvPr id="3" name="Content Placeholder 2"/>
          <p:cNvSpPr>
            <a:spLocks noGrp="1"/>
          </p:cNvSpPr>
          <p:nvPr>
            <p:ph idx="1"/>
          </p:nvPr>
        </p:nvSpPr>
        <p:spPr/>
        <p:txBody>
          <a:bodyPr>
            <a:normAutofit lnSpcReduction="10000"/>
          </a:bodyPr>
          <a:lstStyle/>
          <a:p>
            <a:r>
              <a:rPr lang="en-US" dirty="0" smtClean="0"/>
              <a:t>At the risk of being criticized of narcissism; I make bold to say that Christianity is the authentic revelation of who God is.</a:t>
            </a:r>
          </a:p>
          <a:p>
            <a:r>
              <a:rPr lang="en-US" dirty="0" smtClean="0"/>
              <a:t>Revelation means to unveil</a:t>
            </a:r>
          </a:p>
          <a:p>
            <a:r>
              <a:rPr lang="en-US" dirty="0" smtClean="0"/>
              <a:t>God wants to reveal self to humanity and that happened through the life, ministry, death and resurrection of Jesus Christ.</a:t>
            </a:r>
          </a:p>
          <a:p>
            <a:r>
              <a:rPr lang="en-US" dirty="0" smtClean="0"/>
              <a:t>God has always sought to reveal self to humans though various means</a:t>
            </a: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Sources/Avenues of Divine Revelation</a:t>
            </a:r>
            <a:endParaRPr lang="en-US" dirty="0"/>
          </a:p>
        </p:txBody>
      </p:sp>
      <p:sp>
        <p:nvSpPr>
          <p:cNvPr id="3" name="Content Placeholder 2"/>
          <p:cNvSpPr>
            <a:spLocks noGrp="1"/>
          </p:cNvSpPr>
          <p:nvPr>
            <p:ph idx="1"/>
          </p:nvPr>
        </p:nvSpPr>
        <p:spPr/>
        <p:txBody>
          <a:bodyPr>
            <a:normAutofit fontScale="92500"/>
          </a:bodyPr>
          <a:lstStyle/>
          <a:p>
            <a:r>
              <a:rPr lang="en-US" b="1" dirty="0" smtClean="0"/>
              <a:t>Nature: </a:t>
            </a:r>
          </a:p>
          <a:p>
            <a:pPr>
              <a:buNone/>
            </a:pPr>
            <a:r>
              <a:rPr lang="en-US" dirty="0" smtClean="0"/>
              <a:t>Revisit teleological argument; the beauty and order in nature are pointers that god made the world. Psalm 19: 1-2; 139:14</a:t>
            </a:r>
          </a:p>
          <a:p>
            <a:r>
              <a:rPr lang="en-US" dirty="0" smtClean="0"/>
              <a:t>Nature tells us that God loves humanity.</a:t>
            </a:r>
          </a:p>
          <a:p>
            <a:r>
              <a:rPr lang="en-US" dirty="0" smtClean="0"/>
              <a:t>The Sabbath commandment should always remind us that God made the world; “for in 6 days God made the world and all in it, but rested on the Sabbath day.” Gen 2:1-3; EX. 20: 11</a:t>
            </a:r>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http://4.bp.blogspot.com/-CpHoKXEYmMI/T4cCt-eVfnI/AAAAAAAAACg/fhtzaPHyxNY/s1600/1.jpg"/>
          <p:cNvPicPr>
            <a:picLocks noGrp="1"/>
          </p:cNvPicPr>
          <p:nvPr>
            <p:ph idx="1"/>
          </p:nvPr>
        </p:nvPicPr>
        <p:blipFill>
          <a:blip r:embed="rId2" cstate="print"/>
          <a:srcRect/>
          <a:stretch>
            <a:fillRect/>
          </a:stretch>
        </p:blipFill>
        <p:spPr bwMode="auto">
          <a:xfrm>
            <a:off x="1384526" y="1600200"/>
            <a:ext cx="6374947" cy="4525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Christianity and Avenues of Revelation of God</a:t>
            </a:r>
            <a:endParaRPr lang="en-US" dirty="0"/>
          </a:p>
        </p:txBody>
      </p:sp>
      <p:sp>
        <p:nvSpPr>
          <p:cNvPr id="3" name="Content Placeholder 2"/>
          <p:cNvSpPr>
            <a:spLocks noGrp="1"/>
          </p:cNvSpPr>
          <p:nvPr>
            <p:ph idx="1"/>
          </p:nvPr>
        </p:nvSpPr>
        <p:spPr/>
        <p:txBody>
          <a:bodyPr/>
          <a:lstStyle/>
          <a:p>
            <a:r>
              <a:rPr lang="en-US" dirty="0" smtClean="0"/>
              <a:t>The entrance of sin into the world made nature grossly inadequate source of revelation of God; Nature cant talk in detail, natural disasters distort the nature of God.</a:t>
            </a:r>
          </a:p>
          <a:p>
            <a:r>
              <a:rPr lang="en-US" dirty="0" smtClean="0"/>
              <a:t>Misinterpretations of nature leads to criticism of God and sometimes nature worship </a:t>
            </a:r>
            <a:r>
              <a:rPr lang="en-US" dirty="0" err="1" smtClean="0"/>
              <a:t>e.g</a:t>
            </a:r>
            <a:r>
              <a:rPr lang="en-US" dirty="0" smtClean="0"/>
              <a:t> ATR and pantheism.</a:t>
            </a:r>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ttp://1.bp.blogspot.com/-DTufzhk9soc/T3a59oeZ4-I/AAAAAAAAC2g/vtinzrK9pxk/s1600/tsunami.jpg"/>
          <p:cNvPicPr>
            <a:picLocks noGrp="1"/>
          </p:cNvPicPr>
          <p:nvPr>
            <p:ph idx="1"/>
          </p:nvPr>
        </p:nvPicPr>
        <p:blipFill>
          <a:blip r:embed="rId2" cstate="print"/>
          <a:srcRect/>
          <a:stretch>
            <a:fillRect/>
          </a:stretch>
        </p:blipFill>
        <p:spPr bwMode="auto">
          <a:xfrm>
            <a:off x="1524000" y="1600200"/>
            <a:ext cx="6034617" cy="4525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Sources/avenues of Revelation: Conscience</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Conscience</a:t>
            </a:r>
            <a:r>
              <a:rPr lang="en-US" dirty="0" smtClean="0"/>
              <a:t> is the inner feeling or voice acting as moral compass and judge of what is right or wrong.</a:t>
            </a:r>
          </a:p>
          <a:p>
            <a:r>
              <a:rPr lang="en-US" dirty="0" smtClean="0"/>
              <a:t>God uses it to lead and teach humans (Rom. Romans 1:12-15).</a:t>
            </a:r>
          </a:p>
          <a:p>
            <a:r>
              <a:rPr lang="en-US" dirty="0" smtClean="0"/>
              <a:t>Conscience is however a function of knowledge and the environment. i.e. your morality may depend on the moral standards of your environment. Nurture affects conscience.</a:t>
            </a:r>
          </a:p>
          <a:p>
            <a:r>
              <a:rPr lang="en-US" dirty="0" smtClean="0"/>
              <a:t>Although God works through conscience, but it is an  inadequate as source of revelation of who God is.</a:t>
            </a:r>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Sources of Divine Revelation: </a:t>
            </a:r>
            <a:r>
              <a:rPr lang="en-US" dirty="0" err="1" smtClean="0"/>
              <a:t>Scritpture</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Scripture: </a:t>
            </a:r>
            <a:r>
              <a:rPr lang="en-US" dirty="0" smtClean="0"/>
              <a:t>also called the Bible; contains the Old Testament and the New Testament. </a:t>
            </a:r>
          </a:p>
          <a:p>
            <a:r>
              <a:rPr lang="en-US" dirty="0" smtClean="0"/>
              <a:t>Christians believe that the Bible is inspired word of God,  </a:t>
            </a:r>
            <a:r>
              <a:rPr lang="en-US" b="1" dirty="0" smtClean="0"/>
              <a:t>2 Timothy 3:16</a:t>
            </a:r>
            <a:r>
              <a:rPr lang="en-US" dirty="0" smtClean="0"/>
              <a:t>. </a:t>
            </a:r>
          </a:p>
          <a:p>
            <a:r>
              <a:rPr lang="en-US" dirty="0" smtClean="0"/>
              <a:t>The bible is not a product of human imagination, it is a product of the activity of God through the Holy Spirit on humans, urging them to document certain events, thoughts, divine instructions and principles in order to have a better understanding of who God is and how God relates with the world</a:t>
            </a:r>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Inspiration</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bible is a product of inspiration.</a:t>
            </a:r>
          </a:p>
          <a:p>
            <a:r>
              <a:rPr lang="en-US" b="1" dirty="0" smtClean="0"/>
              <a:t>Inspiration </a:t>
            </a:r>
            <a:r>
              <a:rPr lang="en-US" dirty="0" smtClean="0"/>
              <a:t>is the process by which human authors were moved to write the holy scriptures.</a:t>
            </a:r>
          </a:p>
          <a:p>
            <a:r>
              <a:rPr lang="en-US" b="1" dirty="0" smtClean="0"/>
              <a:t>Verbal inspiration:</a:t>
            </a:r>
            <a:r>
              <a:rPr lang="en-US" dirty="0" smtClean="0"/>
              <a:t> The words of the bible were dictated by the Holy Spirit. The bible contains no form of error; theological, typographical or grammatical.</a:t>
            </a:r>
          </a:p>
          <a:p>
            <a:r>
              <a:rPr lang="en-US" b="1" dirty="0" smtClean="0"/>
              <a:t>Thought inspiration:</a:t>
            </a:r>
            <a:r>
              <a:rPr lang="en-US" dirty="0" smtClean="0"/>
              <a:t> The bible is a product of the leading of the Holy Spirit using human agents whose works were shaped by their experiences, educational and careers. The message of the Bible is without any error, it is pure, dependable and eternal. But the human factor is sometimes reflected in it. </a:t>
            </a:r>
          </a:p>
          <a:p>
            <a:r>
              <a:rPr lang="en-US" dirty="0" smtClean="0"/>
              <a:t>For example see contradictions in synoptic gospels</a:t>
            </a:r>
          </a:p>
          <a:p>
            <a:r>
              <a:rPr lang="en-US" dirty="0" smtClean="0"/>
              <a:t>It is the thought that was inspired not the construction of the words.</a:t>
            </a:r>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Other narratives sometimes are confusing </a:t>
            </a:r>
            <a:r>
              <a:rPr lang="en-US" dirty="0" err="1" smtClean="0"/>
              <a:t>e.g</a:t>
            </a:r>
            <a:r>
              <a:rPr lang="en-US" dirty="0" smtClean="0"/>
              <a:t> genocides and revenge promoted by God of the OT(?).</a:t>
            </a:r>
          </a:p>
          <a:p>
            <a:r>
              <a:rPr lang="en-US" b="1" dirty="0" smtClean="0"/>
              <a:t>Attributes of the Scriptures include: inerrancy (devoid of error), immutability (unchangeable), infallibility (perfect), pure, inspired. </a:t>
            </a:r>
          </a:p>
          <a:p>
            <a:r>
              <a:rPr lang="en-US" dirty="0" smtClean="0"/>
              <a:t>It is written in 3 languages; Hebrew, Aramaic and Greek. The OT is basically in Hebrew and few Aramaic. The NT is basically in Greek and few Aramaic. </a:t>
            </a:r>
          </a:p>
          <a:p>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Yardstick for Canonization</a:t>
            </a:r>
            <a:endParaRPr lang="en-US" dirty="0"/>
          </a:p>
        </p:txBody>
      </p:sp>
      <p:sp>
        <p:nvSpPr>
          <p:cNvPr id="3" name="Content Placeholder 2"/>
          <p:cNvSpPr>
            <a:spLocks noGrp="1"/>
          </p:cNvSpPr>
          <p:nvPr>
            <p:ph idx="1"/>
          </p:nvPr>
        </p:nvSpPr>
        <p:spPr/>
        <p:txBody>
          <a:bodyPr/>
          <a:lstStyle/>
          <a:p>
            <a:r>
              <a:rPr lang="en-US" dirty="0" smtClean="0"/>
              <a:t> apostolicity of author or the relationship to an apostle and </a:t>
            </a:r>
          </a:p>
          <a:p>
            <a:r>
              <a:rPr lang="en-US" dirty="0" smtClean="0"/>
              <a:t> the content of the document, how it is in consonant with other scriptures both Old and New.</a:t>
            </a:r>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The Bible is a great source of knowing about God.</a:t>
            </a:r>
          </a:p>
          <a:p>
            <a:r>
              <a:rPr lang="en-US" dirty="0" smtClean="0"/>
              <a:t>But there are factors that makes it difficult to understand God in scripture:</a:t>
            </a:r>
          </a:p>
          <a:p>
            <a:pPr>
              <a:buFontTx/>
              <a:buChar char="-"/>
            </a:pPr>
            <a:r>
              <a:rPr lang="en-US" dirty="0" smtClean="0"/>
              <a:t>e.g. It requires skillful hermeneutical procedure.</a:t>
            </a:r>
          </a:p>
          <a:p>
            <a:pPr>
              <a:buFontTx/>
              <a:buChar char="-"/>
            </a:pPr>
            <a:r>
              <a:rPr lang="en-US" dirty="0" smtClean="0"/>
              <a:t>Some stories told in it sometimes make it difficult to understand how God really acts. It needs a lot of guidance, interpretative and proper contextualization efforts for proper use.</a:t>
            </a:r>
          </a:p>
          <a:p>
            <a:pPr>
              <a:buFontTx/>
              <a:buChar char="-"/>
            </a:pPr>
            <a:r>
              <a:rPr lang="en-US" dirty="0" smtClean="0"/>
              <a:t>It is not the best form of revelation of who God is.</a:t>
            </a:r>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Divine Revelation: The Holy Spirit</a:t>
            </a:r>
            <a:endParaRPr lang="en-US" dirty="0"/>
          </a:p>
        </p:txBody>
      </p:sp>
      <p:sp>
        <p:nvSpPr>
          <p:cNvPr id="3" name="Content Placeholder 2"/>
          <p:cNvSpPr>
            <a:spLocks noGrp="1"/>
          </p:cNvSpPr>
          <p:nvPr>
            <p:ph idx="1"/>
          </p:nvPr>
        </p:nvSpPr>
        <p:spPr/>
        <p:txBody>
          <a:bodyPr>
            <a:normAutofit lnSpcReduction="10000"/>
          </a:bodyPr>
          <a:lstStyle/>
          <a:p>
            <a:r>
              <a:rPr lang="en-US" b="1" dirty="0" smtClean="0"/>
              <a:t>The Holy Spirit:</a:t>
            </a:r>
            <a:r>
              <a:rPr lang="en-US" dirty="0" smtClean="0"/>
              <a:t> The third person of the Godhead or Trinity helps people to know God better. The Holy Spirit is the divine agency working on people’s minds and wooing them to God’s side. The Spirit helps people to understand the scriptures better and also working through the conscience, pointing to nature and speaking to people’s minds about the love and acts of God (1 Corinthians 2:14; 2 peter 1:19-21).</a:t>
            </a:r>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Holy Spirit cannot be seen, and many people have abused.</a:t>
            </a:r>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Divine Revelation: Jesus Christ</a:t>
            </a:r>
            <a:endParaRPr lang="en-US" dirty="0"/>
          </a:p>
        </p:txBody>
      </p:sp>
      <p:sp>
        <p:nvSpPr>
          <p:cNvPr id="3" name="Content Placeholder 2"/>
          <p:cNvSpPr>
            <a:spLocks noGrp="1"/>
          </p:cNvSpPr>
          <p:nvPr>
            <p:ph idx="1"/>
          </p:nvPr>
        </p:nvSpPr>
        <p:spPr/>
        <p:txBody>
          <a:bodyPr/>
          <a:lstStyle/>
          <a:p>
            <a:r>
              <a:rPr lang="en-US" dirty="0" smtClean="0"/>
              <a:t> </a:t>
            </a:r>
            <a:r>
              <a:rPr lang="en-US" b="1" dirty="0" smtClean="0"/>
              <a:t>Jesus Christ:</a:t>
            </a:r>
            <a:r>
              <a:rPr lang="en-US" dirty="0" smtClean="0"/>
              <a:t> The desire of God to reveal self to humanity is culminated in the incarnation, ministry, death and resurrection of Jesus Christ.</a:t>
            </a:r>
          </a:p>
          <a:p>
            <a:r>
              <a:rPr lang="en-US" dirty="0" smtClean="0"/>
              <a:t> Jesus is recognized by Christians as God who came in human form to show us the Father.</a:t>
            </a:r>
          </a:p>
          <a:p>
            <a:r>
              <a:rPr lang="en-US" dirty="0" smtClean="0"/>
              <a:t>Jesus’ life reflected the true nature of God and how God relates with people.</a:t>
            </a:r>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dirty="0" smtClean="0"/>
              <a:t>God has been given awful image of being mean, violent, uncaring and indifferent.</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534400" cy="5105400"/>
          </a:xfrm>
        </p:spPr>
        <p:txBody>
          <a:bodyPr>
            <a:noAutofit/>
          </a:bodyPr>
          <a:lstStyle/>
          <a:p>
            <a:r>
              <a:rPr lang="en-US" sz="2200" b="1" dirty="0" smtClean="0"/>
              <a:t>The following were the attitudes of God reflected in Jesus</a:t>
            </a:r>
            <a:r>
              <a:rPr lang="en-US" sz="2200" dirty="0" smtClean="0"/>
              <a:t>:</a:t>
            </a:r>
          </a:p>
          <a:p>
            <a:pPr marL="514350" indent="-514350">
              <a:buAutoNum type="alphaLcPeriod"/>
            </a:pPr>
            <a:r>
              <a:rPr lang="en-US" sz="2200" dirty="0" smtClean="0"/>
              <a:t>Love: John 3:16 which was not localized to the Jews but global in nature.</a:t>
            </a:r>
          </a:p>
          <a:p>
            <a:pPr marL="514350" indent="-514350">
              <a:buAutoNum type="alphaLcPeriod"/>
            </a:pPr>
            <a:r>
              <a:rPr lang="en-US" sz="2200" dirty="0" smtClean="0"/>
              <a:t>Gender equality and equity: The world that produced most part of the entire bible treated women as inferior and they often became victims of social injustice which is given religious garb in many occasions. But Jesus was recorded as acting in ways that showed equality and true justice. In the account of a woman caught in adultery (John 8: 3-11).</a:t>
            </a:r>
          </a:p>
          <a:p>
            <a:pPr marL="514350" indent="-514350">
              <a:buAutoNum type="alphaLcPeriod"/>
            </a:pPr>
            <a:r>
              <a:rPr lang="en-US" sz="2200" dirty="0" smtClean="0"/>
              <a:t>Healing and restoration: He healed </a:t>
            </a:r>
            <a:r>
              <a:rPr lang="en-US" sz="2200" b="1" dirty="0" smtClean="0"/>
              <a:t>all</a:t>
            </a:r>
            <a:r>
              <a:rPr lang="en-US" sz="2200" dirty="0" smtClean="0"/>
              <a:t> that came to him. The ancient Near Eastern thought was that when people suffered sickness, it was because God was angry with them or that it was because they were personally and uniquely involved in sin (John 9: 2-3; Job 20: 11-24 to cite a few). </a:t>
            </a:r>
            <a:endParaRPr lang="en-US" sz="2200"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Plans for the world: Humans always have the question about God’s plan and care for this world; the tragedy, pain and suffering in the world raises concerns about the meaning, purpose and direction for the world.</a:t>
            </a:r>
          </a:p>
          <a:p>
            <a:r>
              <a:rPr lang="en-US" dirty="0" smtClean="0"/>
              <a:t>The 2</a:t>
            </a:r>
            <a:r>
              <a:rPr lang="en-US" baseline="30000" dirty="0" smtClean="0"/>
              <a:t>nd</a:t>
            </a:r>
            <a:r>
              <a:rPr lang="en-US" dirty="0" smtClean="0"/>
              <a:t> coming of Jesus and other eschatological texts show that there is a plan and purpose for humanity and the world generally.</a:t>
            </a: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Non-Violence: Jesus showed us that God loves peace. Jesus never advocated for violence nor did he encourage the use of violence even to propagate the gospel. He was a </a:t>
            </a:r>
            <a:r>
              <a:rPr lang="en-US" b="1" dirty="0" smtClean="0"/>
              <a:t>Pacifist</a:t>
            </a:r>
            <a:r>
              <a:rPr lang="en-US" dirty="0" smtClean="0"/>
              <a:t>. </a:t>
            </a:r>
          </a:p>
          <a:p>
            <a:r>
              <a:rPr lang="en-US" dirty="0" smtClean="0"/>
              <a:t>Non-retaliation: (Matthew 5: 38-48). He taught people never to repay evil for evil. “Turn the other cheek.”</a:t>
            </a:r>
            <a:endParaRPr 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When Phillip, one of his disciples, urged Jesus to reveal the father (God) to them, Jesus responded by pointing to himself as the true and perfect representation of God (John 14: 8-11).</a:t>
            </a:r>
          </a:p>
          <a:p>
            <a:r>
              <a:rPr lang="en-US" dirty="0" smtClean="0"/>
              <a:t>Jesus came to show us who God (the Father) </a:t>
            </a:r>
            <a:r>
              <a:rPr lang="en-US" smtClean="0"/>
              <a:t>really is.</a:t>
            </a:r>
            <a:endParaRPr lang="en-US"/>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God and the Evolution of Human Society</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How has human perception about God changed over time?</a:t>
            </a:r>
          </a:p>
          <a:p>
            <a:r>
              <a:rPr lang="en-US" dirty="0" smtClean="0"/>
              <a:t>How have we changed as per our relationship to God.</a:t>
            </a:r>
          </a:p>
          <a:p>
            <a:r>
              <a:rPr lang="en-US" dirty="0" smtClean="0"/>
              <a:t>How have the changes in human experiences; cultural, economic, sociological affected how we conceive God?</a:t>
            </a:r>
          </a:p>
          <a:p>
            <a:r>
              <a:rPr lang="en-US" dirty="0" smtClean="0"/>
              <a:t>What experiences have changed how we see and understand who God is?</a:t>
            </a:r>
          </a:p>
          <a:p>
            <a:r>
              <a:rPr lang="en-US" dirty="0" smtClean="0"/>
              <a:t>How do we describe successive generations/societies.</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Middle Ages and Religion</a:t>
            </a:r>
            <a:endParaRPr lang="en-US" dirty="0"/>
          </a:p>
        </p:txBody>
      </p:sp>
      <p:sp>
        <p:nvSpPr>
          <p:cNvPr id="3" name="Content Placeholder 2"/>
          <p:cNvSpPr>
            <a:spLocks noGrp="1"/>
          </p:cNvSpPr>
          <p:nvPr>
            <p:ph idx="1"/>
          </p:nvPr>
        </p:nvSpPr>
        <p:spPr/>
        <p:txBody>
          <a:bodyPr>
            <a:normAutofit lnSpcReduction="10000"/>
          </a:bodyPr>
          <a:lstStyle/>
          <a:p>
            <a:r>
              <a:rPr lang="en-US" dirty="0" smtClean="0"/>
              <a:t>Around 400- 1500 CE.</a:t>
            </a:r>
          </a:p>
          <a:p>
            <a:r>
              <a:rPr lang="en-US" dirty="0" smtClean="0"/>
              <a:t>Also called the medieval period.</a:t>
            </a:r>
          </a:p>
          <a:p>
            <a:r>
              <a:rPr lang="en-US" dirty="0" smtClean="0"/>
              <a:t>It was a period characterized with low technology/science.</a:t>
            </a:r>
          </a:p>
          <a:p>
            <a:r>
              <a:rPr lang="en-US" dirty="0" smtClean="0"/>
              <a:t>Sickness, economic low.</a:t>
            </a:r>
          </a:p>
          <a:p>
            <a:r>
              <a:rPr lang="en-US" dirty="0" smtClean="0"/>
              <a:t>Christianity’s influence (rose through wars by the Roman Catholic Church organization) earlier on but began to decline due to Islamic wars. </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Middle Ages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reformation within the church also led to the reduction of Catholicism.</a:t>
            </a:r>
          </a:p>
          <a:p>
            <a:r>
              <a:rPr lang="en-US" dirty="0" smtClean="0"/>
              <a:t>Regardless of religious changes, people generally believed in God </a:t>
            </a:r>
          </a:p>
          <a:p>
            <a:r>
              <a:rPr lang="en-US" dirty="0" smtClean="0"/>
              <a:t>Morality was essentially based on religion.</a:t>
            </a:r>
          </a:p>
          <a:p>
            <a:r>
              <a:rPr lang="en-US" dirty="0" smtClean="0"/>
              <a:t>There came a rise in philosophic and theological endeavors- Thomas Aquinas etc.  </a:t>
            </a:r>
          </a:p>
          <a:p>
            <a:r>
              <a:rPr lang="en-US" dirty="0" smtClean="0"/>
              <a:t>Tradition was strong, superstition was high and science was relatively low, sicknesses were attributed to evil spirits etc.</a:t>
            </a:r>
          </a:p>
          <a:p>
            <a:r>
              <a:rPr lang="en-US" dirty="0" smtClean="0"/>
              <a:t>Belief in God was generally unchallenged.</a:t>
            </a:r>
          </a:p>
          <a:p>
            <a:r>
              <a:rPr lang="en-US" dirty="0" smtClean="0"/>
              <a:t>At the tail end, there began a decline in the influence of clergy because of the morality of taxation of the church, abuse of power etc.</a:t>
            </a:r>
          </a:p>
          <a:p>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Renaissance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Called the period of “Rebirth.”</a:t>
            </a:r>
          </a:p>
          <a:p>
            <a:r>
              <a:rPr lang="en-US" dirty="0" smtClean="0"/>
              <a:t>Around 14</a:t>
            </a:r>
            <a:r>
              <a:rPr lang="en-US" baseline="30000" dirty="0" smtClean="0"/>
              <a:t>th</a:t>
            </a:r>
            <a:r>
              <a:rPr lang="en-US" dirty="0" smtClean="0"/>
              <a:t>-18</a:t>
            </a:r>
            <a:r>
              <a:rPr lang="en-US" baseline="30000" dirty="0" smtClean="0"/>
              <a:t>th</a:t>
            </a:r>
            <a:r>
              <a:rPr lang="en-US" dirty="0" smtClean="0"/>
              <a:t> century</a:t>
            </a:r>
          </a:p>
          <a:p>
            <a:r>
              <a:rPr lang="en-US" dirty="0" smtClean="0"/>
              <a:t>Complex cultural reforms involving renewed interests in the arts, classics, architecture.</a:t>
            </a:r>
          </a:p>
          <a:p>
            <a:r>
              <a:rPr lang="en-US" dirty="0" smtClean="0"/>
              <a:t>It was a general reaction and rejection of the prescribed life of the medieval period. People were appalled at the abuse of the religious life of the Middle Ages.</a:t>
            </a:r>
          </a:p>
          <a:p>
            <a:r>
              <a:rPr lang="en-US" dirty="0" smtClean="0"/>
              <a:t>Interests in Greek language increased Christian knowledge, but with a more open and critical outlook.</a:t>
            </a:r>
          </a:p>
          <a:p>
            <a:r>
              <a:rPr lang="en-US" dirty="0" smtClean="0"/>
              <a:t>The reformation and Protestantism changed the world!</a:t>
            </a:r>
          </a:p>
          <a:p>
            <a:r>
              <a:rPr lang="en-US" dirty="0" smtClean="0"/>
              <a:t>The Black Death plague in Europe during this period changed focus from religion to how humans will survive, live on earth.</a:t>
            </a:r>
            <a:endParaRPr 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Renaissance</a:t>
            </a:r>
            <a:endParaRPr lang="en-US" dirty="0"/>
          </a:p>
        </p:txBody>
      </p:sp>
      <p:sp>
        <p:nvSpPr>
          <p:cNvPr id="3" name="Content Placeholder 2"/>
          <p:cNvSpPr>
            <a:spLocks noGrp="1"/>
          </p:cNvSpPr>
          <p:nvPr>
            <p:ph idx="1"/>
          </p:nvPr>
        </p:nvSpPr>
        <p:spPr/>
        <p:txBody>
          <a:bodyPr/>
          <a:lstStyle/>
          <a:p>
            <a:r>
              <a:rPr lang="en-US" dirty="0" smtClean="0"/>
              <a:t>Events of the period led to the rise of reason.</a:t>
            </a:r>
          </a:p>
          <a:p>
            <a:r>
              <a:rPr lang="en-US" dirty="0" smtClean="0"/>
              <a:t>Reason began to be the basis for moral judgment rather than religion.</a:t>
            </a:r>
          </a:p>
          <a:p>
            <a:r>
              <a:rPr lang="en-US" dirty="0" smtClean="0"/>
              <a:t>The period was not really anti-Christianity or religion, but the power of reason began to take root.</a:t>
            </a:r>
            <a:endParaRPr lang="en-US"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 of Enlightenment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Around 17</a:t>
            </a:r>
            <a:r>
              <a:rPr lang="en-US" baseline="30000" dirty="0" smtClean="0"/>
              <a:t>th</a:t>
            </a:r>
            <a:r>
              <a:rPr lang="en-US" dirty="0" smtClean="0"/>
              <a:t>-late18</a:t>
            </a:r>
            <a:r>
              <a:rPr lang="en-US" baseline="30000" dirty="0" smtClean="0"/>
              <a:t>th</a:t>
            </a:r>
            <a:r>
              <a:rPr lang="en-US" dirty="0" smtClean="0"/>
              <a:t> /Early</a:t>
            </a:r>
            <a:r>
              <a:rPr lang="en-US" baseline="30000" dirty="0" smtClean="0"/>
              <a:t> 19th</a:t>
            </a:r>
            <a:r>
              <a:rPr lang="en-US" dirty="0" smtClean="0"/>
              <a:t> century</a:t>
            </a:r>
          </a:p>
          <a:p>
            <a:r>
              <a:rPr lang="en-US" dirty="0" smtClean="0"/>
              <a:t>Fast and major gravitation to reason, science.</a:t>
            </a:r>
          </a:p>
          <a:p>
            <a:r>
              <a:rPr lang="en-US" dirty="0" smtClean="0"/>
              <a:t>Many technological breakthroughs including the development of transportations system (railway).</a:t>
            </a:r>
          </a:p>
          <a:p>
            <a:r>
              <a:rPr lang="en-US" dirty="0" smtClean="0"/>
              <a:t>Secular philosophers arose at this time such as Baruch Spinoza (1632-1677), John Locke (1632-1704), Isaac Newton (1643-1727) </a:t>
            </a:r>
          </a:p>
          <a:p>
            <a:r>
              <a:rPr lang="en-US" dirty="0" smtClean="0"/>
              <a:t>Charles Darwin (1809-1882) came up with Evolution theory</a:t>
            </a:r>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 Theory</a:t>
            </a:r>
            <a:endParaRPr lang="en-US" dirty="0"/>
          </a:p>
        </p:txBody>
      </p:sp>
      <p:sp>
        <p:nvSpPr>
          <p:cNvPr id="3" name="Content Placeholder 2"/>
          <p:cNvSpPr>
            <a:spLocks noGrp="1"/>
          </p:cNvSpPr>
          <p:nvPr>
            <p:ph idx="1"/>
          </p:nvPr>
        </p:nvSpPr>
        <p:spPr/>
        <p:txBody>
          <a:bodyPr/>
          <a:lstStyle/>
          <a:p>
            <a:r>
              <a:rPr lang="en-US" dirty="0" smtClean="0"/>
              <a:t>Life evolved from lower life/ specie to higher specie through a process of natural selection and the survival of the fittest.</a:t>
            </a:r>
          </a:p>
          <a:p>
            <a:endParaRPr lang="en-US" dirty="0"/>
          </a:p>
        </p:txBody>
      </p:sp>
      <p:pic>
        <p:nvPicPr>
          <p:cNvPr id="4" name="irc_mi" descr="http://the4faces.com/wp-content/uploads/2011/09/Human-Evolution.jpg"/>
          <p:cNvPicPr/>
          <p:nvPr/>
        </p:nvPicPr>
        <p:blipFill>
          <a:blip r:embed="rId2" cstate="print"/>
          <a:srcRect/>
          <a:stretch>
            <a:fillRect/>
          </a:stretch>
        </p:blipFill>
        <p:spPr bwMode="auto">
          <a:xfrm>
            <a:off x="2133600" y="3048000"/>
            <a:ext cx="5304028" cy="182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Charles Darwin</a:t>
            </a:r>
            <a:endParaRPr lang="en-US" dirty="0"/>
          </a:p>
        </p:txBody>
      </p:sp>
      <p:sp>
        <p:nvSpPr>
          <p:cNvPr id="3" name="Content Placeholder 2"/>
          <p:cNvSpPr>
            <a:spLocks noGrp="1"/>
          </p:cNvSpPr>
          <p:nvPr>
            <p:ph idx="1"/>
          </p:nvPr>
        </p:nvSpPr>
        <p:spPr/>
        <p:txBody>
          <a:bodyPr/>
          <a:lstStyle/>
          <a:p>
            <a:r>
              <a:rPr lang="en-US" dirty="0" smtClean="0"/>
              <a:t>His theory was a major blow on religion.</a:t>
            </a:r>
          </a:p>
          <a:p>
            <a:r>
              <a:rPr lang="en-US" dirty="0" smtClean="0"/>
              <a:t>It began the abandonment of creation by fiat previously held by Abrahamic religions- Judaism, Christianity &amp; Islam.</a:t>
            </a:r>
          </a:p>
          <a:p>
            <a:r>
              <a:rPr lang="en-US" dirty="0" smtClean="0"/>
              <a:t>The big bang theory followed and began the thought of demise of God’s involvement in the creation of the world.</a:t>
            </a:r>
            <a:endParaRPr 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raised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What happened to the gaps between each stage of development?</a:t>
            </a:r>
          </a:p>
          <a:p>
            <a:r>
              <a:rPr lang="en-US" dirty="0" smtClean="0"/>
              <a:t>Why have species not visibly evolved into something else?</a:t>
            </a:r>
          </a:p>
          <a:p>
            <a:r>
              <a:rPr lang="en-US" dirty="0" smtClean="0"/>
              <a:t>Why did each specie not become more than one type of specie?</a:t>
            </a:r>
          </a:p>
          <a:p>
            <a:r>
              <a:rPr lang="en-US" dirty="0" smtClean="0"/>
              <a:t>How many fossils do we have to establish the theory as a fact?</a:t>
            </a:r>
          </a:p>
          <a:p>
            <a:r>
              <a:rPr lang="en-US" dirty="0" smtClean="0"/>
              <a:t>How do you explain major carbon dating errors?</a:t>
            </a:r>
          </a:p>
          <a:p>
            <a:r>
              <a:rPr lang="en-US" dirty="0" smtClean="0"/>
              <a:t>There is a remarkable separation of human life from animal life. </a:t>
            </a:r>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Modernism</a:t>
            </a:r>
            <a:endParaRPr lang="en-US" dirty="0"/>
          </a:p>
        </p:txBody>
      </p:sp>
      <p:sp>
        <p:nvSpPr>
          <p:cNvPr id="3" name="Content Placeholder 2"/>
          <p:cNvSpPr>
            <a:spLocks noGrp="1"/>
          </p:cNvSpPr>
          <p:nvPr>
            <p:ph idx="1"/>
          </p:nvPr>
        </p:nvSpPr>
        <p:spPr/>
        <p:txBody>
          <a:bodyPr/>
          <a:lstStyle/>
          <a:p>
            <a:r>
              <a:rPr lang="en-US" dirty="0" smtClean="0"/>
              <a:t>19</a:t>
            </a:r>
            <a:r>
              <a:rPr lang="en-US" baseline="30000" dirty="0" smtClean="0"/>
              <a:t>th</a:t>
            </a:r>
            <a:r>
              <a:rPr lang="en-US" dirty="0" smtClean="0"/>
              <a:t>-20</a:t>
            </a:r>
            <a:r>
              <a:rPr lang="en-US" baseline="30000" dirty="0" smtClean="0"/>
              <a:t>th</a:t>
            </a:r>
            <a:r>
              <a:rPr lang="en-US" dirty="0" smtClean="0"/>
              <a:t> century</a:t>
            </a:r>
          </a:p>
          <a:p>
            <a:r>
              <a:rPr lang="en-US" dirty="0" smtClean="0"/>
              <a:t>A natural child of the cultural movement starting from renaissance to enlightenment,</a:t>
            </a:r>
          </a:p>
          <a:p>
            <a:r>
              <a:rPr lang="en-US" dirty="0" smtClean="0"/>
              <a:t>Science dominance, no subjectivity</a:t>
            </a:r>
          </a:p>
          <a:p>
            <a:r>
              <a:rPr lang="en-US" dirty="0" smtClean="0"/>
              <a:t>Focus on what humans can do rather than God.</a:t>
            </a:r>
          </a:p>
          <a:p>
            <a:r>
              <a:rPr lang="en-US" dirty="0" smtClean="0"/>
              <a:t>Rejection of status-quo</a:t>
            </a:r>
          </a:p>
          <a:p>
            <a:r>
              <a:rPr lang="en-US" dirty="0" smtClean="0"/>
              <a:t>Less thought on divine intervention</a:t>
            </a:r>
            <a:endParaRPr 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 Modernism</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An extension of modernism</a:t>
            </a:r>
          </a:p>
          <a:p>
            <a:r>
              <a:rPr lang="en-US" dirty="0" smtClean="0"/>
              <a:t>20</a:t>
            </a:r>
            <a:r>
              <a:rPr lang="en-US" baseline="30000" dirty="0" smtClean="0"/>
              <a:t>th</a:t>
            </a:r>
            <a:r>
              <a:rPr lang="en-US" dirty="0" smtClean="0"/>
              <a:t>-21</a:t>
            </a:r>
            <a:r>
              <a:rPr lang="en-US" baseline="30000" dirty="0" smtClean="0"/>
              <a:t>st</a:t>
            </a:r>
            <a:r>
              <a:rPr lang="en-US" dirty="0" smtClean="0"/>
              <a:t> century</a:t>
            </a:r>
          </a:p>
          <a:p>
            <a:r>
              <a:rPr lang="en-US" dirty="0" smtClean="0"/>
              <a:t>High tech/ high science.</a:t>
            </a:r>
          </a:p>
          <a:p>
            <a:r>
              <a:rPr lang="en-US" dirty="0" smtClean="0"/>
              <a:t>High skepticism to traditional approaches to doing things.</a:t>
            </a:r>
          </a:p>
          <a:p>
            <a:r>
              <a:rPr lang="en-US" dirty="0" smtClean="0"/>
              <a:t>Not rigid, fluid, relativism, No principles, critical, rejection of anything absolute</a:t>
            </a:r>
          </a:p>
          <a:p>
            <a:r>
              <a:rPr lang="en-US" dirty="0" smtClean="0"/>
              <a:t>Urbanized and globalized; relativism in ideas and philosophy.</a:t>
            </a:r>
          </a:p>
          <a:p>
            <a:r>
              <a:rPr lang="en-US" dirty="0" smtClean="0"/>
              <a:t>No tolerance of rigidity and prescription of morality or “truth.”</a:t>
            </a:r>
          </a:p>
          <a:p>
            <a:r>
              <a:rPr lang="en-US" dirty="0" smtClean="0"/>
              <a:t>Feelings sometimes is the factor for decisions.</a:t>
            </a:r>
          </a:p>
          <a:p>
            <a:r>
              <a:rPr lang="en-US" dirty="0" smtClean="0"/>
              <a:t>Fervency of faith </a:t>
            </a:r>
            <a:r>
              <a:rPr lang="en-US" smtClean="0"/>
              <a:t>called fundamentalism </a:t>
            </a:r>
            <a:endParaRPr lang="en-US"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Pluralism &amp; Tolerance</a:t>
            </a:r>
            <a:endParaRPr lang="en-US" dirty="0"/>
          </a:p>
        </p:txBody>
      </p:sp>
      <p:sp>
        <p:nvSpPr>
          <p:cNvPr id="3" name="Content Placeholder 2"/>
          <p:cNvSpPr>
            <a:spLocks noGrp="1"/>
          </p:cNvSpPr>
          <p:nvPr>
            <p:ph idx="1"/>
          </p:nvPr>
        </p:nvSpPr>
        <p:spPr/>
        <p:txBody>
          <a:bodyPr>
            <a:normAutofit lnSpcReduction="10000"/>
          </a:bodyPr>
          <a:lstStyle/>
          <a:p>
            <a:r>
              <a:rPr lang="en-US" dirty="0" smtClean="0"/>
              <a:t>We need to understand the implication of the current structures of our societies.</a:t>
            </a:r>
          </a:p>
          <a:p>
            <a:r>
              <a:rPr lang="en-US" dirty="0" smtClean="0"/>
              <a:t>A major feature of contemporary societies is pluralistic identities in terms of political ideologies, religion, economic worldview etc.</a:t>
            </a:r>
          </a:p>
          <a:p>
            <a:r>
              <a:rPr lang="en-US" dirty="0" smtClean="0"/>
              <a:t>Pluralism is heterogeneous identity of communities; less homogeneous structures.</a:t>
            </a:r>
          </a:p>
          <a:p>
            <a:r>
              <a:rPr lang="en-US" dirty="0" smtClean="0"/>
              <a:t>Globalization and urbanization facilitates this diversity in modern communities.</a:t>
            </a:r>
            <a:endParaRPr lang="en-US"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Pluralism &amp; Tolerance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When people who see and think differently come to live together, tension levels increase.</a:t>
            </a:r>
          </a:p>
          <a:p>
            <a:r>
              <a:rPr lang="en-US" dirty="0" smtClean="0"/>
              <a:t>To avoid the escalation of tension, we need to learn how to communicate, dialogue and negotiate for peaceful coexistence.</a:t>
            </a:r>
          </a:p>
          <a:p>
            <a:r>
              <a:rPr lang="en-US" dirty="0" smtClean="0"/>
              <a:t>Fanaticism is when people have excessive and obsessive about their beliefs such that can lead to injuring themselves or more importantly other people.</a:t>
            </a:r>
          </a:p>
          <a:p>
            <a:r>
              <a:rPr lang="en-US" dirty="0" smtClean="0"/>
              <a:t>It must be avoided in every community.</a:t>
            </a:r>
            <a:endParaRPr lang="en-US"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Pluralism &amp; Tolerance</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Religion has a tendency to escalate tension and conflict due to the following:</a:t>
            </a:r>
          </a:p>
          <a:p>
            <a:pPr>
              <a:buFontTx/>
              <a:buChar char="-"/>
            </a:pPr>
            <a:r>
              <a:rPr lang="en-US" dirty="0" smtClean="0"/>
              <a:t>The element of faith: Religion has a tendency to act less by “</a:t>
            </a:r>
            <a:r>
              <a:rPr lang="en-US" b="1" dirty="0" smtClean="0"/>
              <a:t>reason</a:t>
            </a:r>
            <a:r>
              <a:rPr lang="en-US" dirty="0" smtClean="0"/>
              <a:t>” but by “</a:t>
            </a:r>
            <a:r>
              <a:rPr lang="en-US" b="1" dirty="0" smtClean="0"/>
              <a:t>faith</a:t>
            </a:r>
            <a:r>
              <a:rPr lang="en-US" dirty="0" smtClean="0"/>
              <a:t>.” </a:t>
            </a:r>
            <a:r>
              <a:rPr lang="en-US" dirty="0" err="1" smtClean="0"/>
              <a:t>e.g</a:t>
            </a:r>
            <a:r>
              <a:rPr lang="en-US" dirty="0" smtClean="0"/>
              <a:t> somebody jumps into a lion den at the zoo, the Guyana tragedy/Jim Jones, the </a:t>
            </a:r>
            <a:r>
              <a:rPr lang="en-US" dirty="0" err="1" smtClean="0"/>
              <a:t>Davidian</a:t>
            </a:r>
            <a:r>
              <a:rPr lang="en-US" dirty="0" smtClean="0"/>
              <a:t> Sect of the SDAs etc.</a:t>
            </a:r>
          </a:p>
          <a:p>
            <a:pPr>
              <a:buFontTx/>
              <a:buChar char="-"/>
            </a:pPr>
            <a:r>
              <a:rPr lang="en-US" dirty="0" smtClean="0"/>
              <a:t>The Divine Command Theory: People take action in what they believe the Supreme Being commands </a:t>
            </a:r>
            <a:r>
              <a:rPr lang="en-US" dirty="0" err="1" smtClean="0"/>
              <a:t>e.g</a:t>
            </a:r>
            <a:r>
              <a:rPr lang="en-US" dirty="0" smtClean="0"/>
              <a:t> killing of people. </a:t>
            </a:r>
            <a:r>
              <a:rPr lang="en-US" b="1" dirty="0" smtClean="0"/>
              <a:t>How does one convince someone not to act in accordance to God’s command?</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Pluralism &amp; Tolerance</a:t>
            </a:r>
            <a:endParaRPr lang="en-US" dirty="0"/>
          </a:p>
        </p:txBody>
      </p:sp>
      <p:sp>
        <p:nvSpPr>
          <p:cNvPr id="3" name="Content Placeholder 2"/>
          <p:cNvSpPr>
            <a:spLocks noGrp="1"/>
          </p:cNvSpPr>
          <p:nvPr>
            <p:ph idx="1"/>
          </p:nvPr>
        </p:nvSpPr>
        <p:spPr/>
        <p:txBody>
          <a:bodyPr/>
          <a:lstStyle/>
          <a:p>
            <a:pPr>
              <a:buFontTx/>
              <a:buChar char="-"/>
            </a:pPr>
            <a:r>
              <a:rPr lang="en-US" dirty="0" smtClean="0"/>
              <a:t>Misguided Zeal: The demand for certain moral action is often characteristic of religion. They want to punish “erring” people and rid the community of “evil” people.</a:t>
            </a:r>
          </a:p>
          <a:p>
            <a:pPr>
              <a:buFontTx/>
              <a:buChar char="-"/>
            </a:pPr>
            <a:r>
              <a:rPr lang="en-US" dirty="0" smtClean="0"/>
              <a:t>Hermeneutic challenges: Scripture may be difficult to interpret and apply appropriately. Many people interpret scriptures wrongly. Contextualization of scripture is challenging.</a:t>
            </a:r>
            <a:endParaRPr lang="en-US"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Efforts to Prevent Religious Abuses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Total ban on religion: Some nations put a total ban on all forms of religion: USSR, Communist nations. Religious people were jailed, tortured etc. Churches, Mosques and religious centers shut, schools, hospitals taken over.</a:t>
            </a:r>
          </a:p>
          <a:p>
            <a:r>
              <a:rPr lang="en-US" dirty="0" smtClean="0"/>
              <a:t>Adoption of State Religion: Some states adopt one religion and technically outlaw others. E.g. Catholicism in Vatican city in Rome, Islam in Middle East countries such as Saudi Arabia, Iran, Mauritania etc. </a:t>
            </a:r>
            <a:endParaRPr lang="en-US"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Efforts to Prevent Religious Abuses</a:t>
            </a:r>
            <a:endParaRPr lang="en-US" dirty="0"/>
          </a:p>
        </p:txBody>
      </p:sp>
      <p:sp>
        <p:nvSpPr>
          <p:cNvPr id="3" name="Content Placeholder 2"/>
          <p:cNvSpPr>
            <a:spLocks noGrp="1"/>
          </p:cNvSpPr>
          <p:nvPr>
            <p:ph idx="1"/>
          </p:nvPr>
        </p:nvSpPr>
        <p:spPr/>
        <p:txBody>
          <a:bodyPr/>
          <a:lstStyle/>
          <a:p>
            <a:r>
              <a:rPr lang="en-US" dirty="0" smtClean="0"/>
              <a:t>Secularization of the Public Space: The states maintain a neutral religious identity. There are different kind of practices:</a:t>
            </a:r>
          </a:p>
          <a:p>
            <a:pPr>
              <a:buFontTx/>
              <a:buChar char="-"/>
            </a:pPr>
            <a:r>
              <a:rPr lang="en-US" dirty="0" smtClean="0"/>
              <a:t>No religion whatsoever in public space.</a:t>
            </a:r>
          </a:p>
          <a:p>
            <a:pPr>
              <a:buFontTx/>
              <a:buChar char="-"/>
            </a:pPr>
            <a:r>
              <a:rPr lang="en-US" dirty="0" smtClean="0"/>
              <a:t>All major religious groups are given equal opportunity to be involved in the public space. The state maintains a neutral posture and equality towards all religions (e.g. Nigeria) </a:t>
            </a:r>
            <a:endParaRPr lang="en-US"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New Tolerance</a:t>
            </a:r>
            <a:endParaRPr lang="en-US" dirty="0"/>
          </a:p>
        </p:txBody>
      </p:sp>
      <p:sp>
        <p:nvSpPr>
          <p:cNvPr id="3" name="Content Placeholder 2"/>
          <p:cNvSpPr>
            <a:spLocks noGrp="1"/>
          </p:cNvSpPr>
          <p:nvPr>
            <p:ph idx="1"/>
          </p:nvPr>
        </p:nvSpPr>
        <p:spPr/>
        <p:txBody>
          <a:bodyPr/>
          <a:lstStyle/>
          <a:p>
            <a:r>
              <a:rPr lang="en-US" dirty="0" smtClean="0"/>
              <a:t>Tolerance is a major key in living peacefully in a pluralistic environment.</a:t>
            </a:r>
          </a:p>
          <a:p>
            <a:r>
              <a:rPr lang="en-US" dirty="0" smtClean="0"/>
              <a:t>The definition of tolerance has evolved over time. Before now, Tolerance means “The ability or willingness to put up with something, in particular the existence of opinions or behavior that does not necessarily agree with yours.</a:t>
            </a:r>
            <a:endParaRPr lang="en-US"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However, the understanding of the word has changed in postmodernism to:</a:t>
            </a:r>
          </a:p>
          <a:p>
            <a:endParaRPr lang="en-US" dirty="0" smtClean="0"/>
          </a:p>
          <a:p>
            <a:pPr>
              <a:buNone/>
            </a:pPr>
            <a:r>
              <a:rPr lang="en-US" dirty="0" smtClean="0"/>
              <a:t>   willingness to accept feelings, habits, or beliefs that are different from or conflicting with one’s own.</a:t>
            </a:r>
          </a:p>
          <a:p>
            <a:pPr>
              <a:buNone/>
            </a:pPr>
            <a:r>
              <a:rPr lang="en-US" dirty="0" smtClean="0"/>
              <a:t>*Note that there is a profound difference. </a:t>
            </a:r>
          </a:p>
          <a:p>
            <a:pPr>
              <a:buNone/>
            </a:pPr>
            <a:r>
              <a:rPr lang="en-US" dirty="0" smtClean="0"/>
              <a:t>It leads to the idea that one’s strong opinion or feeling about an issue (religious) should not be aired in the public space.</a:t>
            </a:r>
            <a:endParaRPr lang="en-US"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Anyone who expresses reservation about some behavior especially based on religious persuasion is labeled a “bigot.”</a:t>
            </a:r>
          </a:p>
          <a:p>
            <a:r>
              <a:rPr lang="en-US" dirty="0" smtClean="0"/>
              <a:t>A bigot is an intolerant, extremist, dogmatic etc person.</a:t>
            </a:r>
          </a:p>
          <a:p>
            <a:r>
              <a:rPr lang="en-US" dirty="0" smtClean="0"/>
              <a:t>So in this post modern times, especially in the Western world, expressing publicly the ethics of sexuality based on my religious belief makes me an intolerant person or  </a:t>
            </a:r>
            <a:r>
              <a:rPr lang="en-US" smtClean="0"/>
              <a:t>worse still, a </a:t>
            </a:r>
            <a:r>
              <a:rPr lang="en-US" dirty="0" smtClean="0"/>
              <a:t>bigot.</a:t>
            </a:r>
            <a:endParaRPr 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Alternative Views about the Nature of God: Process or Open Theism</a:t>
            </a:r>
            <a:endParaRPr lang="en-US" dirty="0"/>
          </a:p>
        </p:txBody>
      </p:sp>
      <p:sp>
        <p:nvSpPr>
          <p:cNvPr id="3" name="Content Placeholder 2"/>
          <p:cNvSpPr>
            <a:spLocks noGrp="1"/>
          </p:cNvSpPr>
          <p:nvPr>
            <p:ph idx="1"/>
          </p:nvPr>
        </p:nvSpPr>
        <p:spPr/>
        <p:txBody>
          <a:bodyPr>
            <a:normAutofit lnSpcReduction="10000"/>
          </a:bodyPr>
          <a:lstStyle/>
          <a:p>
            <a:r>
              <a:rPr lang="en-US" dirty="0" smtClean="0"/>
              <a:t>The understanding nature and the character of God is very important.</a:t>
            </a:r>
          </a:p>
          <a:p>
            <a:r>
              <a:rPr lang="en-US" dirty="0" smtClean="0"/>
              <a:t>Deep thinking about who God is necessary to live a positive and meaningful life on earth and also a healthy relationship with the supreme reality.</a:t>
            </a:r>
          </a:p>
          <a:p>
            <a:r>
              <a:rPr lang="en-US" dirty="0" smtClean="0"/>
              <a:t>The lack of proper understanding of the traditionally taught attributes of God creates problems about how God acts in the world.</a:t>
            </a:r>
            <a:endParaRPr lang="en-US"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Attributes of God</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God is:</a:t>
            </a:r>
          </a:p>
          <a:p>
            <a:r>
              <a:rPr lang="en-US" dirty="0" smtClean="0"/>
              <a:t>Omniscient</a:t>
            </a:r>
          </a:p>
          <a:p>
            <a:r>
              <a:rPr lang="en-US" dirty="0" smtClean="0"/>
              <a:t>Omnipotent</a:t>
            </a:r>
          </a:p>
          <a:p>
            <a:r>
              <a:rPr lang="en-US" dirty="0" smtClean="0"/>
              <a:t>Omni-benevolent</a:t>
            </a:r>
          </a:p>
          <a:p>
            <a:r>
              <a:rPr lang="en-US" dirty="0" smtClean="0"/>
              <a:t>Omnipresent</a:t>
            </a:r>
          </a:p>
          <a:p>
            <a:r>
              <a:rPr lang="en-US" dirty="0" smtClean="0"/>
              <a:t>Sovereign</a:t>
            </a:r>
          </a:p>
          <a:p>
            <a:r>
              <a:rPr lang="en-US" dirty="0" smtClean="0"/>
              <a:t>Immutable</a:t>
            </a:r>
          </a:p>
          <a:p>
            <a:r>
              <a:rPr lang="en-US" dirty="0" smtClean="0"/>
              <a:t>Inerrant </a:t>
            </a:r>
            <a:endParaRPr lang="en-US"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Questioning the Attributes of God</a:t>
            </a:r>
            <a:endParaRPr lang="en-US" dirty="0"/>
          </a:p>
        </p:txBody>
      </p:sp>
      <p:sp>
        <p:nvSpPr>
          <p:cNvPr id="3" name="Content Placeholder 2"/>
          <p:cNvSpPr>
            <a:spLocks noGrp="1"/>
          </p:cNvSpPr>
          <p:nvPr>
            <p:ph idx="1"/>
          </p:nvPr>
        </p:nvSpPr>
        <p:spPr/>
        <p:txBody>
          <a:bodyPr>
            <a:normAutofit lnSpcReduction="10000"/>
          </a:bodyPr>
          <a:lstStyle/>
          <a:p>
            <a:r>
              <a:rPr lang="en-US" dirty="0" smtClean="0"/>
              <a:t>Some of these attributes raises concerns about the nature of God such as:</a:t>
            </a:r>
          </a:p>
          <a:p>
            <a:r>
              <a:rPr lang="en-US" b="1" dirty="0" smtClean="0"/>
              <a:t>Does God know everything?</a:t>
            </a:r>
            <a:r>
              <a:rPr lang="en-US" dirty="0" smtClean="0"/>
              <a:t> Omniscient includes knowledge of the past, present and the future. </a:t>
            </a:r>
          </a:p>
          <a:p>
            <a:r>
              <a:rPr lang="en-US" b="1" dirty="0" smtClean="0"/>
              <a:t>Can God really do everything? </a:t>
            </a:r>
            <a:r>
              <a:rPr lang="en-US" dirty="0" smtClean="0"/>
              <a:t>What does that mean? Can God create another God bigger than </a:t>
            </a:r>
            <a:r>
              <a:rPr lang="en-US" dirty="0" err="1" smtClean="0"/>
              <a:t>Godself</a:t>
            </a:r>
            <a:r>
              <a:rPr lang="en-US" dirty="0" smtClean="0"/>
              <a:t>? Can God make a heavy stone God can’t carry? Is this omnipotence?</a:t>
            </a:r>
            <a:endParaRPr 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Open/Process theism</a:t>
            </a:r>
            <a:endParaRPr lang="en-US" dirty="0"/>
          </a:p>
        </p:txBody>
      </p:sp>
      <p:sp>
        <p:nvSpPr>
          <p:cNvPr id="3" name="Content Placeholder 2"/>
          <p:cNvSpPr>
            <a:spLocks noGrp="1"/>
          </p:cNvSpPr>
          <p:nvPr>
            <p:ph idx="1"/>
          </p:nvPr>
        </p:nvSpPr>
        <p:spPr/>
        <p:txBody>
          <a:bodyPr>
            <a:normAutofit lnSpcReduction="10000"/>
          </a:bodyPr>
          <a:lstStyle/>
          <a:p>
            <a:r>
              <a:rPr lang="en-US" dirty="0" smtClean="0"/>
              <a:t>In thinking about the difficulties arising from our understanding about the nature of God, </a:t>
            </a:r>
            <a:r>
              <a:rPr lang="en-US" b="1" dirty="0" smtClean="0"/>
              <a:t>Open/Process Theism</a:t>
            </a:r>
            <a:r>
              <a:rPr lang="en-US" dirty="0" smtClean="0"/>
              <a:t> is developed.</a:t>
            </a:r>
          </a:p>
          <a:p>
            <a:r>
              <a:rPr lang="en-US" dirty="0" smtClean="0"/>
              <a:t>Open/Process Theism evolved from Process Philosophy.</a:t>
            </a:r>
          </a:p>
          <a:p>
            <a:r>
              <a:rPr lang="en-US" dirty="0" smtClean="0"/>
              <a:t>Process Philosophy tries to explain how we understand, comprehend and interact with our world; It is a form of epistemology (study of how we know or acquire truth/knowledge).  </a:t>
            </a:r>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or Open Theology</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Process philosophy</a:t>
            </a:r>
            <a:r>
              <a:rPr lang="en-US" dirty="0" smtClean="0"/>
              <a:t> says that the state of being is dynamic; no thing or person is ever the same. Therefore the whole world and state of existence keep changing in new and dynamic ways.</a:t>
            </a:r>
          </a:p>
          <a:p>
            <a:r>
              <a:rPr lang="en-US" dirty="0" smtClean="0"/>
              <a:t>Process or Open theology: therefore objects to the traditional views about how God knows and relates to the world. </a:t>
            </a:r>
          </a:p>
          <a:p>
            <a:r>
              <a:rPr lang="en-US" dirty="0" smtClean="0"/>
              <a:t>Some Open theists include: Richard Rice, Clark Pinnock, Gregory Boyd and David Bassinger among others.</a:t>
            </a:r>
            <a:endParaRPr lang="en-US"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Theism Objections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God’s Foreknowledge: We traditionally know God as knowing the future; Open theists say it is impossible to know the future because the future does not exist until it happens, therefore it is impossible to know what is not in existence. </a:t>
            </a:r>
          </a:p>
          <a:p>
            <a:r>
              <a:rPr lang="en-US" dirty="0" smtClean="0"/>
              <a:t>Because the material world and the state of existence is always changing, God cannot </a:t>
            </a:r>
            <a:r>
              <a:rPr lang="en-US" smtClean="0"/>
              <a:t>not know </a:t>
            </a:r>
            <a:r>
              <a:rPr lang="en-US" dirty="0" smtClean="0"/>
              <a:t>the future.</a:t>
            </a:r>
          </a:p>
          <a:p>
            <a:r>
              <a:rPr lang="en-US" dirty="0" smtClean="0"/>
              <a:t>The text usually referred to about God knowing the future is misinterpretations of the texts.</a:t>
            </a:r>
            <a:endParaRPr lang="en-US"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Theism</a:t>
            </a:r>
            <a:endParaRPr lang="en-US" dirty="0"/>
          </a:p>
        </p:txBody>
      </p:sp>
      <p:sp>
        <p:nvSpPr>
          <p:cNvPr id="3" name="Content Placeholder 2"/>
          <p:cNvSpPr>
            <a:spLocks noGrp="1"/>
          </p:cNvSpPr>
          <p:nvPr>
            <p:ph idx="1"/>
          </p:nvPr>
        </p:nvSpPr>
        <p:spPr/>
        <p:txBody>
          <a:bodyPr>
            <a:normAutofit fontScale="92500"/>
          </a:bodyPr>
          <a:lstStyle/>
          <a:p>
            <a:r>
              <a:rPr lang="en-US" dirty="0" smtClean="0"/>
              <a:t>The spiritual ethical concern of foreknowledge (predestination- John Calvin): If God foreknows something, God cannot be wrong i.e. humans do not have a role to play about salvation.</a:t>
            </a:r>
          </a:p>
          <a:p>
            <a:pPr>
              <a:buNone/>
            </a:pPr>
            <a:r>
              <a:rPr lang="en-US" dirty="0" smtClean="0"/>
              <a:t>Response to Open Theism: </a:t>
            </a:r>
          </a:p>
          <a:p>
            <a:r>
              <a:rPr lang="en-US" dirty="0" smtClean="0"/>
              <a:t>faithfulness to bible demands belief in God’s foreknowledge.</a:t>
            </a:r>
          </a:p>
          <a:p>
            <a:r>
              <a:rPr lang="en-US" dirty="0" smtClean="0"/>
              <a:t>Prophets’ assignments indicate God’s foreknowledge.</a:t>
            </a:r>
            <a:endParaRPr 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God’s foreknowledge does not mean predestination as John Calvin described it.</a:t>
            </a:r>
          </a:p>
          <a:p>
            <a:r>
              <a:rPr lang="en-US" dirty="0" smtClean="0"/>
              <a:t>God’s foreknowledge does not mean God makes everything on earth happen. Humans have their own will/choice.</a:t>
            </a:r>
          </a:p>
          <a:p>
            <a:r>
              <a:rPr lang="en-US" dirty="0" smtClean="0"/>
              <a:t>But God foreknows humans’ choice, but  did not make them make their choice. It is like the weather man who forecasts the weather.</a:t>
            </a:r>
            <a:endParaRPr lang="en-US"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God’s Immutability: Open theists claim God changes unlike the changelessness description of the traditional position. </a:t>
            </a:r>
          </a:p>
          <a:p>
            <a:pPr>
              <a:buFontTx/>
              <a:buChar char="-"/>
            </a:pPr>
            <a:r>
              <a:rPr lang="en-US" dirty="0" smtClean="0"/>
              <a:t>From the process philosophy, they believe that God experiences the world in new ways every time, therefore God is changing every time.</a:t>
            </a:r>
          </a:p>
          <a:p>
            <a:pPr>
              <a:buFontTx/>
              <a:buChar char="-"/>
            </a:pPr>
            <a:r>
              <a:rPr lang="en-US" dirty="0" smtClean="0"/>
              <a:t> Also the bible records that God “repented.”</a:t>
            </a:r>
            <a:endParaRPr lang="en-US"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dirty="0" smtClean="0"/>
              <a:t>Response to Open Theism: </a:t>
            </a:r>
          </a:p>
          <a:p>
            <a:r>
              <a:rPr lang="en-US" dirty="0" smtClean="0"/>
              <a:t>The emphasis about God’s immutability is focused on reliability and consistence.</a:t>
            </a:r>
          </a:p>
          <a:p>
            <a:r>
              <a:rPr lang="en-US" dirty="0" smtClean="0"/>
              <a:t>God was good yesterday, is good today and will be for ever. God abhors evil all the time; response to evil will always be the same.</a:t>
            </a:r>
          </a:p>
          <a:p>
            <a:r>
              <a:rPr lang="en-US" dirty="0" smtClean="0"/>
              <a:t>Prophecies are conditional; the response of people to God’s messages affects what God will do. But God foreknows how people will respond anyway.</a:t>
            </a:r>
            <a:endParaRPr lang="en-US"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Open Theism’s Objections to Omnipotence.</a:t>
            </a:r>
            <a:endParaRPr lang="en-US" dirty="0"/>
          </a:p>
        </p:txBody>
      </p:sp>
      <p:sp>
        <p:nvSpPr>
          <p:cNvPr id="3" name="Content Placeholder 2"/>
          <p:cNvSpPr>
            <a:spLocks noGrp="1"/>
          </p:cNvSpPr>
          <p:nvPr>
            <p:ph idx="1"/>
          </p:nvPr>
        </p:nvSpPr>
        <p:spPr/>
        <p:txBody>
          <a:bodyPr/>
          <a:lstStyle/>
          <a:p>
            <a:r>
              <a:rPr lang="en-US" dirty="0" smtClean="0"/>
              <a:t>This examines what we mean by omnipotence from logical perspectives; ability depends on what is logically possible. E.g. can God make a round square? Etc</a:t>
            </a:r>
          </a:p>
          <a:p>
            <a:r>
              <a:rPr lang="en-US" dirty="0" smtClean="0"/>
              <a:t>Also talks about the ability of God to know the future which to open theists like Richard Rice is not logical because the future is really non-existence and therefore cannot be known.</a:t>
            </a:r>
            <a:endParaRPr lang="en-US"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Response to the Criticism</a:t>
            </a:r>
            <a:endParaRPr lang="en-US" dirty="0"/>
          </a:p>
        </p:txBody>
      </p:sp>
      <p:sp>
        <p:nvSpPr>
          <p:cNvPr id="3" name="Content Placeholder 2"/>
          <p:cNvSpPr>
            <a:spLocks noGrp="1"/>
          </p:cNvSpPr>
          <p:nvPr>
            <p:ph idx="1"/>
          </p:nvPr>
        </p:nvSpPr>
        <p:spPr/>
        <p:txBody>
          <a:bodyPr/>
          <a:lstStyle/>
          <a:p>
            <a:r>
              <a:rPr lang="en-US" dirty="0" smtClean="0"/>
              <a:t>The omnipotence of God in traditional thought is to emphasize that there is no situation in existence that is beyond the intervention of the Creator. God can solve all problems, can create and recreate and resolve all situations.</a:t>
            </a:r>
          </a:p>
          <a:p>
            <a:r>
              <a:rPr lang="en-US" dirty="0" smtClean="0"/>
              <a:t>The omnipotence of God is not about frivolous and purposeless display of power.</a:t>
            </a:r>
            <a:endParaRPr lang="en-US"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Theism on Inerrancy of God</a:t>
            </a:r>
            <a:endParaRPr lang="en-US" dirty="0"/>
          </a:p>
        </p:txBody>
      </p:sp>
      <p:sp>
        <p:nvSpPr>
          <p:cNvPr id="3" name="Content Placeholder 2"/>
          <p:cNvSpPr>
            <a:spLocks noGrp="1"/>
          </p:cNvSpPr>
          <p:nvPr>
            <p:ph idx="1"/>
          </p:nvPr>
        </p:nvSpPr>
        <p:spPr/>
        <p:txBody>
          <a:bodyPr>
            <a:normAutofit lnSpcReduction="10000"/>
          </a:bodyPr>
          <a:lstStyle/>
          <a:p>
            <a:r>
              <a:rPr lang="en-US" dirty="0" smtClean="0"/>
              <a:t>According to Open theology, God does not know the future exhaustively and concretely, therefore God cannot be inerrant.</a:t>
            </a:r>
          </a:p>
          <a:p>
            <a:endParaRPr lang="en-US" dirty="0" smtClean="0"/>
          </a:p>
          <a:p>
            <a:r>
              <a:rPr lang="en-US" b="1" dirty="0" smtClean="0"/>
              <a:t>Response:</a:t>
            </a:r>
            <a:r>
              <a:rPr lang="en-US" dirty="0" smtClean="0"/>
              <a:t> </a:t>
            </a:r>
          </a:p>
          <a:p>
            <a:pPr>
              <a:buNone/>
            </a:pPr>
            <a:r>
              <a:rPr lang="en-US" dirty="0" smtClean="0"/>
              <a:t>-Open theism objections to inerrancy of God are not solid enough. God knows all and is all good and will make the best and flawless decisions.</a:t>
            </a:r>
            <a:endParaRPr lang="en-US"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God, Human Sexuality&amp; Contemporary Society </a:t>
            </a:r>
            <a:r>
              <a:rPr lang="en-US" smtClean="0"/>
              <a:t>(Chapter 9)</a:t>
            </a:r>
            <a:endParaRPr lang="en-GB" dirty="0"/>
          </a:p>
        </p:txBody>
      </p:sp>
      <p:sp>
        <p:nvSpPr>
          <p:cNvPr id="3" name="Content Placeholder 2"/>
          <p:cNvSpPr>
            <a:spLocks noGrp="1"/>
          </p:cNvSpPr>
          <p:nvPr>
            <p:ph idx="1"/>
          </p:nvPr>
        </p:nvSpPr>
        <p:spPr/>
        <p:txBody>
          <a:bodyPr/>
          <a:lstStyle/>
          <a:p>
            <a:pPr>
              <a:buNone/>
            </a:pPr>
            <a:r>
              <a:rPr lang="en-US" dirty="0" smtClean="0"/>
              <a:t>=&gt; Conversation on sexuality is controversial these days</a:t>
            </a:r>
            <a:endParaRPr lang="en-GB"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Review of chapter 11: the Gospel 0f Christ</a:t>
            </a:r>
            <a:endParaRPr lang="en-US" dirty="0"/>
          </a:p>
        </p:txBody>
      </p:sp>
      <p:sp>
        <p:nvSpPr>
          <p:cNvPr id="3" name="Content Placeholder 2"/>
          <p:cNvSpPr>
            <a:spLocks noGrp="1"/>
          </p:cNvSpPr>
          <p:nvPr>
            <p:ph idx="1"/>
          </p:nvPr>
        </p:nvSpPr>
        <p:spPr/>
        <p:txBody>
          <a:bodyPr>
            <a:normAutofit fontScale="92500"/>
          </a:bodyPr>
          <a:lstStyle/>
          <a:p>
            <a:r>
              <a:rPr lang="en-US" dirty="0" smtClean="0"/>
              <a:t>The Gospel means?</a:t>
            </a:r>
          </a:p>
          <a:p>
            <a:r>
              <a:rPr lang="en-US" dirty="0" smtClean="0"/>
              <a:t>How do you define sin biblically?</a:t>
            </a:r>
          </a:p>
          <a:p>
            <a:r>
              <a:rPr lang="en-US" dirty="0" smtClean="0"/>
              <a:t>What are the essential manifestations of sin?</a:t>
            </a:r>
          </a:p>
          <a:p>
            <a:pPr>
              <a:buNone/>
            </a:pPr>
            <a:r>
              <a:rPr lang="en-US" dirty="0" smtClean="0"/>
              <a:t>-sensuality: the lower nature takes over the higher.</a:t>
            </a:r>
          </a:p>
          <a:p>
            <a:pPr>
              <a:buFontTx/>
              <a:buChar char="-"/>
            </a:pPr>
            <a:r>
              <a:rPr lang="en-US" dirty="0" smtClean="0"/>
              <a:t>selfishness: seeking personal desire regardless of how others or God feels about it.</a:t>
            </a:r>
          </a:p>
          <a:p>
            <a:pPr>
              <a:buFontTx/>
              <a:buChar char="-"/>
            </a:pPr>
            <a:r>
              <a:rPr lang="en-US" dirty="0" smtClean="0"/>
              <a:t>Displacement of God theory: not allowing God to be God in our lives.</a:t>
            </a:r>
            <a:endParaRPr lang="en-US"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Sources of sin: divergent views.</a:t>
            </a:r>
            <a:endParaRPr lang="en-US" dirty="0"/>
          </a:p>
        </p:txBody>
      </p:sp>
      <p:sp>
        <p:nvSpPr>
          <p:cNvPr id="3" name="Content Placeholder 2"/>
          <p:cNvSpPr>
            <a:spLocks noGrp="1"/>
          </p:cNvSpPr>
          <p:nvPr>
            <p:ph idx="1"/>
          </p:nvPr>
        </p:nvSpPr>
        <p:spPr/>
        <p:txBody>
          <a:bodyPr>
            <a:normAutofit fontScale="92500"/>
          </a:bodyPr>
          <a:lstStyle/>
          <a:p>
            <a:pPr marL="514350" indent="-514350">
              <a:buAutoNum type="arabicPeriod"/>
            </a:pPr>
            <a:r>
              <a:rPr lang="en-US" dirty="0" smtClean="0"/>
              <a:t>Animal nature: because we evolved from animals, the tendencies still remain.</a:t>
            </a:r>
          </a:p>
          <a:p>
            <a:pPr marL="514350" indent="-514350">
              <a:buAutoNum type="arabicPeriod"/>
            </a:pPr>
            <a:r>
              <a:rPr lang="en-US" dirty="0" smtClean="0"/>
              <a:t>Anxiety finiteness: a pre-condition for sin; we compare our finitude with nature’s vastness and challenges, and we panic and act wrongly.</a:t>
            </a:r>
          </a:p>
          <a:p>
            <a:pPr marL="514350" indent="-514350">
              <a:buAutoNum type="arabicPeriod"/>
            </a:pPr>
            <a:r>
              <a:rPr lang="en-US" dirty="0" smtClean="0"/>
              <a:t>Existential estrangement: rejects literal interpretation of Gen 3 account. It is to be reinterpreted as falling short of our potentials; inability to live up to our potential. </a:t>
            </a:r>
            <a:endParaRPr lang="en-US"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4. Economic struggle: sees sin as sponsored/caused by evil structures of the society. Sin is never personal but societal/environmental. Sin is rooted in the oppression of the poor.</a:t>
            </a:r>
          </a:p>
          <a:p>
            <a:pPr>
              <a:buNone/>
            </a:pPr>
            <a:r>
              <a:rPr lang="en-US" dirty="0" smtClean="0"/>
              <a:t>5. Individualism and competitiveness: humans are not born with evil or good tendencies; humans are born a-moral. Sin is society made, we learn sin from our societies. It believes that humans are co-workers and co-creators; we should only acknowledge that we use God’s resources for our creativity. Sin is tamed by educating humans, unlearn competitiveness. We need to be complimentary to achieve our goals.</a:t>
            </a: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smtClean="0"/>
              <a:t>The biblical Position on source of sin: Most Christians teach the Gen 3 account (Adam and Eve being the first fallen humans). </a:t>
            </a:r>
          </a:p>
          <a:p>
            <a:pPr>
              <a:buFontTx/>
              <a:buChar char="-"/>
            </a:pPr>
            <a:r>
              <a:rPr lang="en-US" dirty="0" smtClean="0"/>
              <a:t>James 1: 13-15 insists that sin did not originate with God but caused by human choice. See also Romans 5: 12.</a:t>
            </a:r>
          </a:p>
          <a:p>
            <a:pPr>
              <a:buNone/>
            </a:pPr>
            <a:r>
              <a:rPr lang="en-US" dirty="0" smtClean="0"/>
              <a:t>Early church father, philosopher and theologian, </a:t>
            </a:r>
            <a:r>
              <a:rPr lang="en-US" b="1" dirty="0" smtClean="0"/>
              <a:t>St, Augustine described it as the “Original Sin.”</a:t>
            </a:r>
            <a:endParaRPr lang="en-US" b="1"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Cure for Sin</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The proposed cure for sin will be determined by source of sin.</a:t>
            </a:r>
          </a:p>
          <a:p>
            <a:r>
              <a:rPr lang="en-US" dirty="0" smtClean="0"/>
              <a:t>Those who teach evolution or disagree with the literal or historicity of Gen 3 will rather believe in education and other attempts to cure sin.</a:t>
            </a:r>
          </a:p>
          <a:p>
            <a:r>
              <a:rPr lang="en-US" dirty="0" smtClean="0"/>
              <a:t> Christian teaching is that Jesus is the lamb of God for the atonement of sin fir humanity (John 3:16 etc).</a:t>
            </a:r>
            <a:endParaRPr lang="en-US"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The good news (Gospel) is that humans do not have to be under condemnation of sin and death, but through faith in the atoning sacrifice of the Messiah, they can be reconciled to God.</a:t>
            </a:r>
          </a:p>
          <a:p>
            <a:r>
              <a:rPr lang="en-US" dirty="0" smtClean="0"/>
              <a:t>Humans should not accept the deception that they do not need forgiveness nor should they believe that they do not have any hope of being forgiven by God.</a:t>
            </a:r>
            <a:endParaRPr lang="en-US"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God and the Social Gospel</a:t>
            </a:r>
            <a:endParaRPr lang="en-US" dirty="0"/>
          </a:p>
        </p:txBody>
      </p:sp>
      <p:sp>
        <p:nvSpPr>
          <p:cNvPr id="3" name="Content Placeholder 2"/>
          <p:cNvSpPr>
            <a:spLocks noGrp="1"/>
          </p:cNvSpPr>
          <p:nvPr>
            <p:ph idx="1"/>
          </p:nvPr>
        </p:nvSpPr>
        <p:spPr/>
        <p:txBody>
          <a:bodyPr/>
          <a:lstStyle/>
          <a:p>
            <a:pPr>
              <a:buNone/>
            </a:pPr>
            <a:r>
              <a:rPr lang="en-US" dirty="0" smtClean="0"/>
              <a:t>The essence of the social gospel is that God is concerned and responds to societal challenges through his people</a:t>
            </a:r>
          </a:p>
          <a:p>
            <a:r>
              <a:rPr lang="en-US" dirty="0" smtClean="0"/>
              <a:t>Matthew 5: 12 says  Christians are the salt and light of the earth.</a:t>
            </a:r>
          </a:p>
          <a:p>
            <a:r>
              <a:rPr lang="en-US" dirty="0" smtClean="0"/>
              <a:t>There is always good news available to human kind beyond the fact that people will go to heaven some day bye and bye.</a:t>
            </a:r>
            <a:endParaRPr lang="en-US"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God acts in the world to relive suffering through the agency of the Church. Poverty, brokenness and pain can be resolved by the Church in four different stages:</a:t>
            </a:r>
          </a:p>
          <a:p>
            <a:pPr marL="514350" indent="-514350">
              <a:buAutoNum type="arabicPeriod"/>
            </a:pPr>
            <a:r>
              <a:rPr lang="en-US" dirty="0" smtClean="0"/>
              <a:t>Prayers (but not adequate alone).</a:t>
            </a:r>
          </a:p>
          <a:p>
            <a:pPr marL="514350" indent="-514350">
              <a:buAutoNum type="arabicPeriod"/>
            </a:pPr>
            <a:r>
              <a:rPr lang="en-US" dirty="0" smtClean="0"/>
              <a:t>Charity and benevolence (not adequate alone).</a:t>
            </a:r>
          </a:p>
          <a:p>
            <a:pPr marL="514350" indent="-514350">
              <a:buAutoNum type="arabicPeriod"/>
            </a:pPr>
            <a:r>
              <a:rPr lang="en-US" dirty="0" smtClean="0"/>
              <a:t>Empowerment (not adequate alone).</a:t>
            </a:r>
          </a:p>
          <a:p>
            <a:pPr marL="514350" indent="-514350">
              <a:buAutoNum type="arabicPeriod"/>
            </a:pPr>
            <a:r>
              <a:rPr lang="en-US" dirty="0" smtClean="0"/>
              <a:t>Social justice. This includes how a community organizes itself to take care of the excluded, the oppressed and disadvantaged in the process of open market mechanism and other means of wealth distribution.</a:t>
            </a:r>
            <a:endParaRPr lang="en-US" dirty="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of the Class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God is alive and well even though contemporary thought ignores or denies this truth.</a:t>
            </a:r>
          </a:p>
          <a:p>
            <a:r>
              <a:rPr lang="en-US" smtClean="0"/>
              <a:t>Although there </a:t>
            </a:r>
            <a:r>
              <a:rPr lang="en-US" dirty="0" smtClean="0"/>
              <a:t>are points of divergence in how humans understand God.</a:t>
            </a:r>
          </a:p>
          <a:p>
            <a:r>
              <a:rPr lang="en-US" dirty="0" smtClean="0"/>
              <a:t> Christ came to show us who God really is.</a:t>
            </a:r>
          </a:p>
          <a:p>
            <a:r>
              <a:rPr lang="en-US" dirty="0" smtClean="0"/>
              <a:t>God loves creation deeply.</a:t>
            </a:r>
          </a:p>
          <a:p>
            <a:r>
              <a:rPr lang="en-US" dirty="0" smtClean="0"/>
              <a:t>Seeking and learning God’s ways will make the world a better place.</a:t>
            </a:r>
          </a:p>
          <a:p>
            <a:r>
              <a:rPr lang="en-US" dirty="0" smtClean="0"/>
              <a:t>God wants human agencies to demonstrate God’s love to the world.</a:t>
            </a:r>
          </a:p>
          <a:p>
            <a:r>
              <a:rPr lang="en-US" dirty="0" smtClean="0"/>
              <a:t>God loves you personally and wants you to live out that love in contemporary communities.</a:t>
            </a:r>
          </a:p>
          <a:p>
            <a:pPr>
              <a:buNone/>
            </a:pP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8722</TotalTime>
  <Words>8598</Words>
  <Application>Microsoft Office PowerPoint</Application>
  <PresentationFormat>On-screen Show (4:3)</PresentationFormat>
  <Paragraphs>563</Paragraphs>
  <Slides>123</Slides>
  <Notes>0</Notes>
  <HiddenSlides>0</HiddenSlides>
  <MMClips>0</MMClips>
  <ScaleCrop>false</ScaleCrop>
  <HeadingPairs>
    <vt:vector size="4" baseType="variant">
      <vt:variant>
        <vt:lpstr>Theme</vt:lpstr>
      </vt:variant>
      <vt:variant>
        <vt:i4>1</vt:i4>
      </vt:variant>
      <vt:variant>
        <vt:lpstr>Slide Titles</vt:lpstr>
      </vt:variant>
      <vt:variant>
        <vt:i4>123</vt:i4>
      </vt:variant>
    </vt:vector>
  </HeadingPairs>
  <TitlesOfParts>
    <vt:vector size="124" baseType="lpstr">
      <vt:lpstr>Office Theme</vt:lpstr>
      <vt:lpstr>PowerPoint Presentation</vt:lpstr>
      <vt:lpstr>Why People Don’t believe in God</vt:lpstr>
      <vt:lpstr>GES 112 (God in Modern Society)</vt:lpstr>
      <vt:lpstr>GES 112</vt:lpstr>
      <vt:lpstr>The meaning of religion</vt:lpstr>
      <vt:lpstr>GES 122</vt:lpstr>
      <vt:lpstr>3 Critical Analysis of The Phenomenon of Religion (pg 11-19, God Today)</vt:lpstr>
      <vt:lpstr>Karl Marx</vt:lpstr>
      <vt:lpstr>Critical Appraisal of Karl Marx Theory on Religion</vt:lpstr>
      <vt:lpstr>Sigmund Freud</vt:lpstr>
      <vt:lpstr>Freud</vt:lpstr>
      <vt:lpstr>Critical analysis of Freud’s theory on Religion</vt:lpstr>
      <vt:lpstr>Emile Durkheim</vt:lpstr>
      <vt:lpstr>Critical Appraisal of Durkheim’s Theory on Religion</vt:lpstr>
      <vt:lpstr>Discussion Questions</vt:lpstr>
      <vt:lpstr>Etymology of the word “religion.”</vt:lpstr>
      <vt:lpstr>PowerPoint Presentation</vt:lpstr>
      <vt:lpstr>History of religion</vt:lpstr>
      <vt:lpstr>Some definitions of the term</vt:lpstr>
      <vt:lpstr>Philosophical Arguments in Support of the Existence of God</vt:lpstr>
      <vt:lpstr>Teleological argument</vt:lpstr>
      <vt:lpstr>Ontological Argument</vt:lpstr>
      <vt:lpstr>The Religious Argument</vt:lpstr>
      <vt:lpstr>Epistemological Argument</vt:lpstr>
      <vt:lpstr>Question for Discussion</vt:lpstr>
      <vt:lpstr>Definition of Some Concepts and Paradigms of God</vt:lpstr>
      <vt:lpstr>Definition of concepts ctd.</vt:lpstr>
      <vt:lpstr>Definition of concepts ctd.</vt:lpstr>
      <vt:lpstr>Definitions ctd.</vt:lpstr>
      <vt:lpstr>Definitions ctd.</vt:lpstr>
      <vt:lpstr>GES 112 QUIZ (APRIL 9, 2014).</vt:lpstr>
      <vt:lpstr>World Religions and Primary Beliefs</vt:lpstr>
      <vt:lpstr>Judaism</vt:lpstr>
      <vt:lpstr>Judaism</vt:lpstr>
      <vt:lpstr>Judaism</vt:lpstr>
      <vt:lpstr>Judaism </vt:lpstr>
      <vt:lpstr>Judaism</vt:lpstr>
      <vt:lpstr>Judaism</vt:lpstr>
      <vt:lpstr>African Traditional Religion</vt:lpstr>
      <vt:lpstr>ATR</vt:lpstr>
      <vt:lpstr>ATR</vt:lpstr>
      <vt:lpstr>ATR</vt:lpstr>
      <vt:lpstr>Buddhism </vt:lpstr>
      <vt:lpstr>Buddhism</vt:lpstr>
      <vt:lpstr>Buddhism</vt:lpstr>
      <vt:lpstr>Buddhism</vt:lpstr>
      <vt:lpstr>Buddhism</vt:lpstr>
      <vt:lpstr>Buddhism</vt:lpstr>
      <vt:lpstr>Hinduism</vt:lpstr>
      <vt:lpstr>Hinduism</vt:lpstr>
      <vt:lpstr>Hinduism</vt:lpstr>
      <vt:lpstr>Hinduism</vt:lpstr>
      <vt:lpstr>Islam</vt:lpstr>
      <vt:lpstr>Islam</vt:lpstr>
      <vt:lpstr>Islam</vt:lpstr>
      <vt:lpstr>Islam</vt:lpstr>
      <vt:lpstr>Islam: Beliefs and Practices</vt:lpstr>
      <vt:lpstr>5 pillars of Islam</vt:lpstr>
      <vt:lpstr>Christianity</vt:lpstr>
      <vt:lpstr>Christianity</vt:lpstr>
      <vt:lpstr>Christianity</vt:lpstr>
      <vt:lpstr>Christianity</vt:lpstr>
      <vt:lpstr>Christianity and the Revelation of God</vt:lpstr>
      <vt:lpstr>Sources/Avenues of Divine Revelation</vt:lpstr>
      <vt:lpstr>PowerPoint Presentation</vt:lpstr>
      <vt:lpstr>Christianity and Avenues of Revelation of God</vt:lpstr>
      <vt:lpstr>PowerPoint Presentation</vt:lpstr>
      <vt:lpstr>Sources/avenues of Revelation: Conscience</vt:lpstr>
      <vt:lpstr>Sources of Divine Revelation: Scritpture</vt:lpstr>
      <vt:lpstr>Inspiration</vt:lpstr>
      <vt:lpstr>PowerPoint Presentation</vt:lpstr>
      <vt:lpstr>Yardstick for Canonization</vt:lpstr>
      <vt:lpstr>PowerPoint Presentation</vt:lpstr>
      <vt:lpstr>Divine Revelation: The Holy Spirit</vt:lpstr>
      <vt:lpstr>PowerPoint Presentation</vt:lpstr>
      <vt:lpstr>Divine Revelation: Jesus Christ</vt:lpstr>
      <vt:lpstr>God has been given awful image of being mean, violent, uncaring and indifferent. </vt:lpstr>
      <vt:lpstr>PowerPoint Presentation</vt:lpstr>
      <vt:lpstr>PowerPoint Presentation</vt:lpstr>
      <vt:lpstr>PowerPoint Presentation</vt:lpstr>
      <vt:lpstr>God and the Evolution of Human Society</vt:lpstr>
      <vt:lpstr>Middle Ages and Religion</vt:lpstr>
      <vt:lpstr>Middle Ages</vt:lpstr>
      <vt:lpstr>The Renaissance</vt:lpstr>
      <vt:lpstr>Renaissance</vt:lpstr>
      <vt:lpstr>Age of Enlightenment</vt:lpstr>
      <vt:lpstr>Evolution Theory</vt:lpstr>
      <vt:lpstr>Charles Darwin</vt:lpstr>
      <vt:lpstr>Questions raised </vt:lpstr>
      <vt:lpstr>Modernism</vt:lpstr>
      <vt:lpstr>Post Modernism</vt:lpstr>
      <vt:lpstr>Pluralism &amp; Tolerance</vt:lpstr>
      <vt:lpstr>Pluralism &amp; Tolerance</vt:lpstr>
      <vt:lpstr>Pluralism &amp; Tolerance</vt:lpstr>
      <vt:lpstr>Pluralism &amp; Tolerance</vt:lpstr>
      <vt:lpstr>Efforts to Prevent Religious Abuses</vt:lpstr>
      <vt:lpstr>Efforts to Prevent Religious Abuses</vt:lpstr>
      <vt:lpstr>The New Tolerance</vt:lpstr>
      <vt:lpstr>PowerPoint Presentation</vt:lpstr>
      <vt:lpstr>PowerPoint Presentation</vt:lpstr>
      <vt:lpstr>Alternative Views about the Nature of God: Process or Open Theism</vt:lpstr>
      <vt:lpstr>Attributes of God</vt:lpstr>
      <vt:lpstr>Questioning the Attributes of God</vt:lpstr>
      <vt:lpstr>Open/Process theism</vt:lpstr>
      <vt:lpstr>Process or Open Theology</vt:lpstr>
      <vt:lpstr>Open Theism Objections</vt:lpstr>
      <vt:lpstr>Open Theism</vt:lpstr>
      <vt:lpstr>PowerPoint Presentation</vt:lpstr>
      <vt:lpstr>PowerPoint Presentation</vt:lpstr>
      <vt:lpstr>PowerPoint Presentation</vt:lpstr>
      <vt:lpstr>Open Theism’s Objections to Omnipotence.</vt:lpstr>
      <vt:lpstr>Response to the Criticism</vt:lpstr>
      <vt:lpstr>Open Theism on Inerrancy of God</vt:lpstr>
      <vt:lpstr>God, Human Sexuality&amp; Contemporary Society (Chapter 9)</vt:lpstr>
      <vt:lpstr>Review of chapter 11: the Gospel 0f Christ</vt:lpstr>
      <vt:lpstr>Sources of sin: divergent views.</vt:lpstr>
      <vt:lpstr>PowerPoint Presentation</vt:lpstr>
      <vt:lpstr>PowerPoint Presentation</vt:lpstr>
      <vt:lpstr>Cure for Sin </vt:lpstr>
      <vt:lpstr>PowerPoint Presentation</vt:lpstr>
      <vt:lpstr>God and the Social Gospel</vt:lpstr>
      <vt:lpstr>PowerPoint Presentation</vt:lpstr>
      <vt:lpstr>Summary of the Class</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 112 (God in Modern Society)</dc:title>
  <dc:creator>OLUGBENGA EFUNTADE</dc:creator>
  <cp:lastModifiedBy>MARY</cp:lastModifiedBy>
  <cp:revision>203</cp:revision>
  <dcterms:created xsi:type="dcterms:W3CDTF">2014-03-25T13:07:18Z</dcterms:created>
  <dcterms:modified xsi:type="dcterms:W3CDTF">2021-06-23T13:07:38Z</dcterms:modified>
</cp:coreProperties>
</file>